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84.xml" ContentType="application/vnd.openxmlformats-officedocument.presentationml.slide+xml"/>
  <Override PartName="/ppt/slides/slide585.xml" ContentType="application/vnd.openxmlformats-officedocument.presentationml.slide+xml"/>
  <Override PartName="/ppt/slides/slide586.xml" ContentType="application/vnd.openxmlformats-officedocument.presentationml.slide+xml"/>
  <Override PartName="/ppt/slides/slide587.xml" ContentType="application/vnd.openxmlformats-officedocument.presentationml.slide+xml"/>
  <Override PartName="/ppt/slides/slide588.xml" ContentType="application/vnd.openxmlformats-officedocument.presentationml.slide+xml"/>
  <Override PartName="/ppt/slides/slide589.xml" ContentType="application/vnd.openxmlformats-officedocument.presentationml.slide+xml"/>
  <Override PartName="/ppt/slides/slide59.xml" ContentType="application/vnd.openxmlformats-officedocument.presentationml.slide+xml"/>
  <Override PartName="/ppt/slides/slide590.xml" ContentType="application/vnd.openxmlformats-officedocument.presentationml.slide+xml"/>
  <Override PartName="/ppt/slides/slide591.xml" ContentType="application/vnd.openxmlformats-officedocument.presentationml.slide+xml"/>
  <Override PartName="/ppt/slides/slide592.xml" ContentType="application/vnd.openxmlformats-officedocument.presentationml.slide+xml"/>
  <Override PartName="/ppt/slides/slide593.xml" ContentType="application/vnd.openxmlformats-officedocument.presentationml.slide+xml"/>
  <Override PartName="/ppt/slides/slide594.xml" ContentType="application/vnd.openxmlformats-officedocument.presentationml.slide+xml"/>
  <Override PartName="/ppt/slides/slide595.xml" ContentType="application/vnd.openxmlformats-officedocument.presentationml.slide+xml"/>
  <Override PartName="/ppt/slides/slide596.xml" ContentType="application/vnd.openxmlformats-officedocument.presentationml.slide+xml"/>
  <Override PartName="/ppt/slides/slide597.xml" ContentType="application/vnd.openxmlformats-officedocument.presentationml.slide+xml"/>
  <Override PartName="/ppt/slides/slide598.xml" ContentType="application/vnd.openxmlformats-officedocument.presentationml.slide+xml"/>
  <Override PartName="/ppt/slides/slide59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00.xml" ContentType="application/vnd.openxmlformats-officedocument.presentationml.slide+xml"/>
  <Override PartName="/ppt/slides/slide601.xml" ContentType="application/vnd.openxmlformats-officedocument.presentationml.slide+xml"/>
  <Override PartName="/ppt/slides/slide602.xml" ContentType="application/vnd.openxmlformats-officedocument.presentationml.slide+xml"/>
  <Override PartName="/ppt/slides/slide603.xml" ContentType="application/vnd.openxmlformats-officedocument.presentationml.slide+xml"/>
  <Override PartName="/ppt/slides/slide604.xml" ContentType="application/vnd.openxmlformats-officedocument.presentationml.slide+xml"/>
  <Override PartName="/ppt/slides/slide605.xml" ContentType="application/vnd.openxmlformats-officedocument.presentationml.slide+xml"/>
  <Override PartName="/ppt/slides/slide606.xml" ContentType="application/vnd.openxmlformats-officedocument.presentationml.slide+xml"/>
  <Override PartName="/ppt/slides/slide607.xml" ContentType="application/vnd.openxmlformats-officedocument.presentationml.slide+xml"/>
  <Override PartName="/ppt/slides/slide608.xml" ContentType="application/vnd.openxmlformats-officedocument.presentationml.slide+xml"/>
  <Override PartName="/ppt/slides/slide609.xml" ContentType="application/vnd.openxmlformats-officedocument.presentationml.slide+xml"/>
  <Override PartName="/ppt/slides/slide61.xml" ContentType="application/vnd.openxmlformats-officedocument.presentationml.slide+xml"/>
  <Override PartName="/ppt/slides/slide610.xml" ContentType="application/vnd.openxmlformats-officedocument.presentationml.slide+xml"/>
  <Override PartName="/ppt/slides/slide611.xml" ContentType="application/vnd.openxmlformats-officedocument.presentationml.slide+xml"/>
  <Override PartName="/ppt/slides/slide612.xml" ContentType="application/vnd.openxmlformats-officedocument.presentationml.slide+xml"/>
  <Override PartName="/ppt/slides/slide613.xml" ContentType="application/vnd.openxmlformats-officedocument.presentationml.slide+xml"/>
  <Override PartName="/ppt/slides/slide614.xml" ContentType="application/vnd.openxmlformats-officedocument.presentationml.slide+xml"/>
  <Override PartName="/ppt/slides/slide615.xml" ContentType="application/vnd.openxmlformats-officedocument.presentationml.slide+xml"/>
  <Override PartName="/ppt/slides/slide616.xml" ContentType="application/vnd.openxmlformats-officedocument.presentationml.slide+xml"/>
  <Override PartName="/ppt/slides/slide617.xml" ContentType="application/vnd.openxmlformats-officedocument.presentationml.slide+xml"/>
  <Override PartName="/ppt/slides/slide618.xml" ContentType="application/vnd.openxmlformats-officedocument.presentationml.slide+xml"/>
  <Override PartName="/ppt/slides/slide619.xml" ContentType="application/vnd.openxmlformats-officedocument.presentationml.slide+xml"/>
  <Override PartName="/ppt/slides/slide62.xml" ContentType="application/vnd.openxmlformats-officedocument.presentationml.slide+xml"/>
  <Override PartName="/ppt/slides/slide620.xml" ContentType="application/vnd.openxmlformats-officedocument.presentationml.slide+xml"/>
  <Override PartName="/ppt/slides/slide621.xml" ContentType="application/vnd.openxmlformats-officedocument.presentationml.slide+xml"/>
  <Override PartName="/ppt/slides/slide622.xml" ContentType="application/vnd.openxmlformats-officedocument.presentationml.slide+xml"/>
  <Override PartName="/ppt/slides/slide623.xml" ContentType="application/vnd.openxmlformats-officedocument.presentationml.slide+xml"/>
  <Override PartName="/ppt/slides/slide624.xml" ContentType="application/vnd.openxmlformats-officedocument.presentationml.slide+xml"/>
  <Override PartName="/ppt/slides/slide625.xml" ContentType="application/vnd.openxmlformats-officedocument.presentationml.slide+xml"/>
  <Override PartName="/ppt/slides/slide626.xml" ContentType="application/vnd.openxmlformats-officedocument.presentationml.slide+xml"/>
  <Override PartName="/ppt/slides/slide627.xml" ContentType="application/vnd.openxmlformats-officedocument.presentationml.slide+xml"/>
  <Override PartName="/ppt/slides/slide628.xml" ContentType="application/vnd.openxmlformats-officedocument.presentationml.slide+xml"/>
  <Override PartName="/ppt/slides/slide629.xml" ContentType="application/vnd.openxmlformats-officedocument.presentationml.slide+xml"/>
  <Override PartName="/ppt/slides/slide63.xml" ContentType="application/vnd.openxmlformats-officedocument.presentationml.slide+xml"/>
  <Override PartName="/ppt/slides/slide630.xml" ContentType="application/vnd.openxmlformats-officedocument.presentationml.slide+xml"/>
  <Override PartName="/ppt/slides/slide631.xml" ContentType="application/vnd.openxmlformats-officedocument.presentationml.slide+xml"/>
  <Override PartName="/ppt/slides/slide632.xml" ContentType="application/vnd.openxmlformats-officedocument.presentationml.slide+xml"/>
  <Override PartName="/ppt/slides/slide633.xml" ContentType="application/vnd.openxmlformats-officedocument.presentationml.slide+xml"/>
  <Override PartName="/ppt/slides/slide634.xml" ContentType="application/vnd.openxmlformats-officedocument.presentationml.slide+xml"/>
  <Override PartName="/ppt/slides/slide635.xml" ContentType="application/vnd.openxmlformats-officedocument.presentationml.slide+xml"/>
  <Override PartName="/ppt/slides/slide636.xml" ContentType="application/vnd.openxmlformats-officedocument.presentationml.slide+xml"/>
  <Override PartName="/ppt/slides/slide637.xml" ContentType="application/vnd.openxmlformats-officedocument.presentationml.slide+xml"/>
  <Override PartName="/ppt/slides/slide638.xml" ContentType="application/vnd.openxmlformats-officedocument.presentationml.slide+xml"/>
  <Override PartName="/ppt/slides/slide639.xml" ContentType="application/vnd.openxmlformats-officedocument.presentationml.slide+xml"/>
  <Override PartName="/ppt/slides/slide64.xml" ContentType="application/vnd.openxmlformats-officedocument.presentationml.slide+xml"/>
  <Override PartName="/ppt/slides/slide640.xml" ContentType="application/vnd.openxmlformats-officedocument.presentationml.slide+xml"/>
  <Override PartName="/ppt/slides/slide641.xml" ContentType="application/vnd.openxmlformats-officedocument.presentationml.slide+xml"/>
  <Override PartName="/ppt/slides/slide642.xml" ContentType="application/vnd.openxmlformats-officedocument.presentationml.slide+xml"/>
  <Override PartName="/ppt/slides/slide643.xml" ContentType="application/vnd.openxmlformats-officedocument.presentationml.slide+xml"/>
  <Override PartName="/ppt/slides/slide644.xml" ContentType="application/vnd.openxmlformats-officedocument.presentationml.slide+xml"/>
  <Override PartName="/ppt/slides/slide645.xml" ContentType="application/vnd.openxmlformats-officedocument.presentationml.slide+xml"/>
  <Override PartName="/ppt/slides/slide646.xml" ContentType="application/vnd.openxmlformats-officedocument.presentationml.slide+xml"/>
  <Override PartName="/ppt/slides/slide647.xml" ContentType="application/vnd.openxmlformats-officedocument.presentationml.slide+xml"/>
  <Override PartName="/ppt/slides/slide648.xml" ContentType="application/vnd.openxmlformats-officedocument.presentationml.slide+xml"/>
  <Override PartName="/ppt/slides/slide649.xml" ContentType="application/vnd.openxmlformats-officedocument.presentationml.slide+xml"/>
  <Override PartName="/ppt/slides/slide65.xml" ContentType="application/vnd.openxmlformats-officedocument.presentationml.slide+xml"/>
  <Override PartName="/ppt/slides/slide650.xml" ContentType="application/vnd.openxmlformats-officedocument.presentationml.slide+xml"/>
  <Override PartName="/ppt/slides/slide651.xml" ContentType="application/vnd.openxmlformats-officedocument.presentationml.slide+xml"/>
  <Override PartName="/ppt/slides/slide652.xml" ContentType="application/vnd.openxmlformats-officedocument.presentationml.slide+xml"/>
  <Override PartName="/ppt/slides/slide653.xml" ContentType="application/vnd.openxmlformats-officedocument.presentationml.slide+xml"/>
  <Override PartName="/ppt/slides/slide654.xml" ContentType="application/vnd.openxmlformats-officedocument.presentationml.slide+xml"/>
  <Override PartName="/ppt/slides/slide655.xml" ContentType="application/vnd.openxmlformats-officedocument.presentationml.slide+xml"/>
  <Override PartName="/ppt/slides/slide656.xml" ContentType="application/vnd.openxmlformats-officedocument.presentationml.slide+xml"/>
  <Override PartName="/ppt/slides/slide657.xml" ContentType="application/vnd.openxmlformats-officedocument.presentationml.slide+xml"/>
  <Override PartName="/ppt/slides/slide658.xml" ContentType="application/vnd.openxmlformats-officedocument.presentationml.slide+xml"/>
  <Override PartName="/ppt/slides/slide659.xml" ContentType="application/vnd.openxmlformats-officedocument.presentationml.slide+xml"/>
  <Override PartName="/ppt/slides/slide66.xml" ContentType="application/vnd.openxmlformats-officedocument.presentationml.slide+xml"/>
  <Override PartName="/ppt/slides/slide660.xml" ContentType="application/vnd.openxmlformats-officedocument.presentationml.slide+xml"/>
  <Override PartName="/ppt/slides/slide661.xml" ContentType="application/vnd.openxmlformats-officedocument.presentationml.slide+xml"/>
  <Override PartName="/ppt/slides/slide662.xml" ContentType="application/vnd.openxmlformats-officedocument.presentationml.slide+xml"/>
  <Override PartName="/ppt/slides/slide663.xml" ContentType="application/vnd.openxmlformats-officedocument.presentationml.slide+xml"/>
  <Override PartName="/ppt/slides/slide664.xml" ContentType="application/vnd.openxmlformats-officedocument.presentationml.slide+xml"/>
  <Override PartName="/ppt/slides/slide665.xml" ContentType="application/vnd.openxmlformats-officedocument.presentationml.slide+xml"/>
  <Override PartName="/ppt/slides/slide666.xml" ContentType="application/vnd.openxmlformats-officedocument.presentationml.slide+xml"/>
  <Override PartName="/ppt/slides/slide667.xml" ContentType="application/vnd.openxmlformats-officedocument.presentationml.slide+xml"/>
  <Override PartName="/ppt/slides/slide668.xml" ContentType="application/vnd.openxmlformats-officedocument.presentationml.slide+xml"/>
  <Override PartName="/ppt/slides/slide669.xml" ContentType="application/vnd.openxmlformats-officedocument.presentationml.slide+xml"/>
  <Override PartName="/ppt/slides/slide67.xml" ContentType="application/vnd.openxmlformats-officedocument.presentationml.slide+xml"/>
  <Override PartName="/ppt/slides/slide670.xml" ContentType="application/vnd.openxmlformats-officedocument.presentationml.slide+xml"/>
  <Override PartName="/ppt/slides/slide671.xml" ContentType="application/vnd.openxmlformats-officedocument.presentationml.slide+xml"/>
  <Override PartName="/ppt/slides/slide672.xml" ContentType="application/vnd.openxmlformats-officedocument.presentationml.slide+xml"/>
  <Override PartName="/ppt/slides/slide673.xml" ContentType="application/vnd.openxmlformats-officedocument.presentationml.slide+xml"/>
  <Override PartName="/ppt/slides/slide674.xml" ContentType="application/vnd.openxmlformats-officedocument.presentationml.slide+xml"/>
  <Override PartName="/ppt/slides/slide675.xml" ContentType="application/vnd.openxmlformats-officedocument.presentationml.slide+xml"/>
  <Override PartName="/ppt/slides/slide676.xml" ContentType="application/vnd.openxmlformats-officedocument.presentationml.slide+xml"/>
  <Override PartName="/ppt/slides/slide677.xml" ContentType="application/vnd.openxmlformats-officedocument.presentationml.slide+xml"/>
  <Override PartName="/ppt/slides/slide678.xml" ContentType="application/vnd.openxmlformats-officedocument.presentationml.slide+xml"/>
  <Override PartName="/ppt/slides/slide679.xml" ContentType="application/vnd.openxmlformats-officedocument.presentationml.slide+xml"/>
  <Override PartName="/ppt/slides/slide68.xml" ContentType="application/vnd.openxmlformats-officedocument.presentationml.slide+xml"/>
  <Override PartName="/ppt/slides/slide680.xml" ContentType="application/vnd.openxmlformats-officedocument.presentationml.slide+xml"/>
  <Override PartName="/ppt/slides/slide681.xml" ContentType="application/vnd.openxmlformats-officedocument.presentationml.slide+xml"/>
  <Override PartName="/ppt/slides/slide682.xml" ContentType="application/vnd.openxmlformats-officedocument.presentationml.slide+xml"/>
  <Override PartName="/ppt/slides/slide683.xml" ContentType="application/vnd.openxmlformats-officedocument.presentationml.slide+xml"/>
  <Override PartName="/ppt/slides/slide684.xml" ContentType="application/vnd.openxmlformats-officedocument.presentationml.slide+xml"/>
  <Override PartName="/ppt/slides/slide685.xml" ContentType="application/vnd.openxmlformats-officedocument.presentationml.slide+xml"/>
  <Override PartName="/ppt/slides/slide686.xml" ContentType="application/vnd.openxmlformats-officedocument.presentationml.slide+xml"/>
  <Override PartName="/ppt/slides/slide687.xml" ContentType="application/vnd.openxmlformats-officedocument.presentationml.slide+xml"/>
  <Override PartName="/ppt/slides/slide688.xml" ContentType="application/vnd.openxmlformats-officedocument.presentationml.slide+xml"/>
  <Override PartName="/ppt/slides/slide689.xml" ContentType="application/vnd.openxmlformats-officedocument.presentationml.slide+xml"/>
  <Override PartName="/ppt/slides/slide69.xml" ContentType="application/vnd.openxmlformats-officedocument.presentationml.slide+xml"/>
  <Override PartName="/ppt/slides/slide690.xml" ContentType="application/vnd.openxmlformats-officedocument.presentationml.slide+xml"/>
  <Override PartName="/ppt/slides/slide691.xml" ContentType="application/vnd.openxmlformats-officedocument.presentationml.slide+xml"/>
  <Override PartName="/ppt/slides/slide692.xml" ContentType="application/vnd.openxmlformats-officedocument.presentationml.slide+xml"/>
  <Override PartName="/ppt/slides/slide693.xml" ContentType="application/vnd.openxmlformats-officedocument.presentationml.slide+xml"/>
  <Override PartName="/ppt/slides/slide694.xml" ContentType="application/vnd.openxmlformats-officedocument.presentationml.slide+xml"/>
  <Override PartName="/ppt/slides/slide695.xml" ContentType="application/vnd.openxmlformats-officedocument.presentationml.slide+xml"/>
  <Override PartName="/ppt/slides/slide696.xml" ContentType="application/vnd.openxmlformats-officedocument.presentationml.slide+xml"/>
  <Override PartName="/ppt/slides/slide697.xml" ContentType="application/vnd.openxmlformats-officedocument.presentationml.slide+xml"/>
  <Override PartName="/ppt/slides/slide698.xml" ContentType="application/vnd.openxmlformats-officedocument.presentationml.slide+xml"/>
  <Override PartName="/ppt/slides/slide69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00.xml" ContentType="application/vnd.openxmlformats-officedocument.presentationml.slide+xml"/>
  <Override PartName="/ppt/slides/slide701.xml" ContentType="application/vnd.openxmlformats-officedocument.presentationml.slide+xml"/>
  <Override PartName="/ppt/slides/slide702.xml" ContentType="application/vnd.openxmlformats-officedocument.presentationml.slide+xml"/>
  <Override PartName="/ppt/slides/slide703.xml" ContentType="application/vnd.openxmlformats-officedocument.presentationml.slide+xml"/>
  <Override PartName="/ppt/slides/slide704.xml" ContentType="application/vnd.openxmlformats-officedocument.presentationml.slide+xml"/>
  <Override PartName="/ppt/slides/slide705.xml" ContentType="application/vnd.openxmlformats-officedocument.presentationml.slide+xml"/>
  <Override PartName="/ppt/slides/slide706.xml" ContentType="application/vnd.openxmlformats-officedocument.presentationml.slide+xml"/>
  <Override PartName="/ppt/slides/slide707.xml" ContentType="application/vnd.openxmlformats-officedocument.presentationml.slide+xml"/>
  <Override PartName="/ppt/slides/slide708.xml" ContentType="application/vnd.openxmlformats-officedocument.presentationml.slide+xml"/>
  <Override PartName="/ppt/slides/slide709.xml" ContentType="application/vnd.openxmlformats-officedocument.presentationml.slide+xml"/>
  <Override PartName="/ppt/slides/slide71.xml" ContentType="application/vnd.openxmlformats-officedocument.presentationml.slide+xml"/>
  <Override PartName="/ppt/slides/slide710.xml" ContentType="application/vnd.openxmlformats-officedocument.presentationml.slide+xml"/>
  <Override PartName="/ppt/slides/slide711.xml" ContentType="application/vnd.openxmlformats-officedocument.presentationml.slide+xml"/>
  <Override PartName="/ppt/slides/slide712.xml" ContentType="application/vnd.openxmlformats-officedocument.presentationml.slide+xml"/>
  <Override PartName="/ppt/slides/slide713.xml" ContentType="application/vnd.openxmlformats-officedocument.presentationml.slide+xml"/>
  <Override PartName="/ppt/slides/slide714.xml" ContentType="application/vnd.openxmlformats-officedocument.presentationml.slide+xml"/>
  <Override PartName="/ppt/slides/slide715.xml" ContentType="application/vnd.openxmlformats-officedocument.presentationml.slide+xml"/>
  <Override PartName="/ppt/slides/slide716.xml" ContentType="application/vnd.openxmlformats-officedocument.presentationml.slide+xml"/>
  <Override PartName="/ppt/slides/slide717.xml" ContentType="application/vnd.openxmlformats-officedocument.presentationml.slide+xml"/>
  <Override PartName="/ppt/slides/slide718.xml" ContentType="application/vnd.openxmlformats-officedocument.presentationml.slide+xml"/>
  <Override PartName="/ppt/slides/slide719.xml" ContentType="application/vnd.openxmlformats-officedocument.presentationml.slide+xml"/>
  <Override PartName="/ppt/slides/slide72.xml" ContentType="application/vnd.openxmlformats-officedocument.presentationml.slide+xml"/>
  <Override PartName="/ppt/slides/slide720.xml" ContentType="application/vnd.openxmlformats-officedocument.presentationml.slide+xml"/>
  <Override PartName="/ppt/slides/slide721.xml" ContentType="application/vnd.openxmlformats-officedocument.presentationml.slide+xml"/>
  <Override PartName="/ppt/slides/slide722.xml" ContentType="application/vnd.openxmlformats-officedocument.presentationml.slide+xml"/>
  <Override PartName="/ppt/slides/slide723.xml" ContentType="application/vnd.openxmlformats-officedocument.presentationml.slide+xml"/>
  <Override PartName="/ppt/slides/slide724.xml" ContentType="application/vnd.openxmlformats-officedocument.presentationml.slide+xml"/>
  <Override PartName="/ppt/slides/slide725.xml" ContentType="application/vnd.openxmlformats-officedocument.presentationml.slide+xml"/>
  <Override PartName="/ppt/slides/slide726.xml" ContentType="application/vnd.openxmlformats-officedocument.presentationml.slide+xml"/>
  <Override PartName="/ppt/slides/slide727.xml" ContentType="application/vnd.openxmlformats-officedocument.presentationml.slide+xml"/>
  <Override PartName="/ppt/slides/slide728.xml" ContentType="application/vnd.openxmlformats-officedocument.presentationml.slide+xml"/>
  <Override PartName="/ppt/slides/slide729.xml" ContentType="application/vnd.openxmlformats-officedocument.presentationml.slide+xml"/>
  <Override PartName="/ppt/slides/slide73.xml" ContentType="application/vnd.openxmlformats-officedocument.presentationml.slide+xml"/>
  <Override PartName="/ppt/slides/slide730.xml" ContentType="application/vnd.openxmlformats-officedocument.presentationml.slide+xml"/>
  <Override PartName="/ppt/slides/slide731.xml" ContentType="application/vnd.openxmlformats-officedocument.presentationml.slide+xml"/>
  <Override PartName="/ppt/slides/slide732.xml" ContentType="application/vnd.openxmlformats-officedocument.presentationml.slide+xml"/>
  <Override PartName="/ppt/slides/slide733.xml" ContentType="application/vnd.openxmlformats-officedocument.presentationml.slide+xml"/>
  <Override PartName="/ppt/slides/slide734.xml" ContentType="application/vnd.openxmlformats-officedocument.presentationml.slide+xml"/>
  <Override PartName="/ppt/slides/slide735.xml" ContentType="application/vnd.openxmlformats-officedocument.presentationml.slide+xml"/>
  <Override PartName="/ppt/slides/slide736.xml" ContentType="application/vnd.openxmlformats-officedocument.presentationml.slide+xml"/>
  <Override PartName="/ppt/slides/slide737.xml" ContentType="application/vnd.openxmlformats-officedocument.presentationml.slide+xml"/>
  <Override PartName="/ppt/slides/slide738.xml" ContentType="application/vnd.openxmlformats-officedocument.presentationml.slide+xml"/>
  <Override PartName="/ppt/slides/slide739.xml" ContentType="application/vnd.openxmlformats-officedocument.presentationml.slide+xml"/>
  <Override PartName="/ppt/slides/slide74.xml" ContentType="application/vnd.openxmlformats-officedocument.presentationml.slide+xml"/>
  <Override PartName="/ppt/slides/slide740.xml" ContentType="application/vnd.openxmlformats-officedocument.presentationml.slide+xml"/>
  <Override PartName="/ppt/slides/slide741.xml" ContentType="application/vnd.openxmlformats-officedocument.presentationml.slide+xml"/>
  <Override PartName="/ppt/slides/slide742.xml" ContentType="application/vnd.openxmlformats-officedocument.presentationml.slide+xml"/>
  <Override PartName="/ppt/slides/slide743.xml" ContentType="application/vnd.openxmlformats-officedocument.presentationml.slide+xml"/>
  <Override PartName="/ppt/slides/slide744.xml" ContentType="application/vnd.openxmlformats-officedocument.presentationml.slide+xml"/>
  <Override PartName="/ppt/slides/slide745.xml" ContentType="application/vnd.openxmlformats-officedocument.presentationml.slide+xml"/>
  <Override PartName="/ppt/slides/slide746.xml" ContentType="application/vnd.openxmlformats-officedocument.presentationml.slide+xml"/>
  <Override PartName="/ppt/slides/slide747.xml" ContentType="application/vnd.openxmlformats-officedocument.presentationml.slide+xml"/>
  <Override PartName="/ppt/slides/slide748.xml" ContentType="application/vnd.openxmlformats-officedocument.presentationml.slide+xml"/>
  <Override PartName="/ppt/slides/slide749.xml" ContentType="application/vnd.openxmlformats-officedocument.presentationml.slide+xml"/>
  <Override PartName="/ppt/slides/slide75.xml" ContentType="application/vnd.openxmlformats-officedocument.presentationml.slide+xml"/>
  <Override PartName="/ppt/slides/slide750.xml" ContentType="application/vnd.openxmlformats-officedocument.presentationml.slide+xml"/>
  <Override PartName="/ppt/slides/slide751.xml" ContentType="application/vnd.openxmlformats-officedocument.presentationml.slide+xml"/>
  <Override PartName="/ppt/slides/slide752.xml" ContentType="application/vnd.openxmlformats-officedocument.presentationml.slide+xml"/>
  <Override PartName="/ppt/slides/slide753.xml" ContentType="application/vnd.openxmlformats-officedocument.presentationml.slide+xml"/>
  <Override PartName="/ppt/slides/slide754.xml" ContentType="application/vnd.openxmlformats-officedocument.presentationml.slide+xml"/>
  <Override PartName="/ppt/slides/slide755.xml" ContentType="application/vnd.openxmlformats-officedocument.presentationml.slide+xml"/>
  <Override PartName="/ppt/slides/slide756.xml" ContentType="application/vnd.openxmlformats-officedocument.presentationml.slide+xml"/>
  <Override PartName="/ppt/slides/slide757.xml" ContentType="application/vnd.openxmlformats-officedocument.presentationml.slide+xml"/>
  <Override PartName="/ppt/slides/slide758.xml" ContentType="application/vnd.openxmlformats-officedocument.presentationml.slide+xml"/>
  <Override PartName="/ppt/slides/slide759.xml" ContentType="application/vnd.openxmlformats-officedocument.presentationml.slide+xml"/>
  <Override PartName="/ppt/slides/slide76.xml" ContentType="application/vnd.openxmlformats-officedocument.presentationml.slide+xml"/>
  <Override PartName="/ppt/slides/slide760.xml" ContentType="application/vnd.openxmlformats-officedocument.presentationml.slide+xml"/>
  <Override PartName="/ppt/slides/slide761.xml" ContentType="application/vnd.openxmlformats-officedocument.presentationml.slide+xml"/>
  <Override PartName="/ppt/slides/slide762.xml" ContentType="application/vnd.openxmlformats-officedocument.presentationml.slide+xml"/>
  <Override PartName="/ppt/slides/slide763.xml" ContentType="application/vnd.openxmlformats-officedocument.presentationml.slide+xml"/>
  <Override PartName="/ppt/slides/slide764.xml" ContentType="application/vnd.openxmlformats-officedocument.presentationml.slide+xml"/>
  <Override PartName="/ppt/slides/slide765.xml" ContentType="application/vnd.openxmlformats-officedocument.presentationml.slide+xml"/>
  <Override PartName="/ppt/slides/slide766.xml" ContentType="application/vnd.openxmlformats-officedocument.presentationml.slide+xml"/>
  <Override PartName="/ppt/slides/slide767.xml" ContentType="application/vnd.openxmlformats-officedocument.presentationml.slide+xml"/>
  <Override PartName="/ppt/slides/slide768.xml" ContentType="application/vnd.openxmlformats-officedocument.presentationml.slide+xml"/>
  <Override PartName="/ppt/slides/slide769.xml" ContentType="application/vnd.openxmlformats-officedocument.presentationml.slide+xml"/>
  <Override PartName="/ppt/slides/slide77.xml" ContentType="application/vnd.openxmlformats-officedocument.presentationml.slide+xml"/>
  <Override PartName="/ppt/slides/slide770.xml" ContentType="application/vnd.openxmlformats-officedocument.presentationml.slide+xml"/>
  <Override PartName="/ppt/slides/slide771.xml" ContentType="application/vnd.openxmlformats-officedocument.presentationml.slide+xml"/>
  <Override PartName="/ppt/slides/slide772.xml" ContentType="application/vnd.openxmlformats-officedocument.presentationml.slide+xml"/>
  <Override PartName="/ppt/slides/slide773.xml" ContentType="application/vnd.openxmlformats-officedocument.presentationml.slide+xml"/>
  <Override PartName="/ppt/slides/slide774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6" r:id="rId527"/>
    <p:sldId id="777" r:id="rId528"/>
    <p:sldId id="778" r:id="rId529"/>
    <p:sldId id="779" r:id="rId530"/>
    <p:sldId id="780" r:id="rId531"/>
    <p:sldId id="781" r:id="rId532"/>
    <p:sldId id="782" r:id="rId533"/>
    <p:sldId id="783" r:id="rId534"/>
    <p:sldId id="784" r:id="rId535"/>
    <p:sldId id="785" r:id="rId536"/>
    <p:sldId id="786" r:id="rId537"/>
    <p:sldId id="787" r:id="rId538"/>
    <p:sldId id="788" r:id="rId539"/>
    <p:sldId id="789" r:id="rId540"/>
    <p:sldId id="790" r:id="rId541"/>
    <p:sldId id="791" r:id="rId542"/>
    <p:sldId id="792" r:id="rId543"/>
    <p:sldId id="793" r:id="rId544"/>
    <p:sldId id="794" r:id="rId545"/>
    <p:sldId id="795" r:id="rId546"/>
    <p:sldId id="796" r:id="rId547"/>
    <p:sldId id="797" r:id="rId548"/>
    <p:sldId id="798" r:id="rId549"/>
    <p:sldId id="799" r:id="rId550"/>
    <p:sldId id="800" r:id="rId551"/>
    <p:sldId id="801" r:id="rId552"/>
    <p:sldId id="802" r:id="rId553"/>
    <p:sldId id="803" r:id="rId554"/>
    <p:sldId id="804" r:id="rId555"/>
    <p:sldId id="805" r:id="rId556"/>
    <p:sldId id="806" r:id="rId557"/>
    <p:sldId id="807" r:id="rId558"/>
    <p:sldId id="808" r:id="rId559"/>
    <p:sldId id="809" r:id="rId560"/>
    <p:sldId id="810" r:id="rId561"/>
    <p:sldId id="811" r:id="rId562"/>
    <p:sldId id="812" r:id="rId563"/>
    <p:sldId id="813" r:id="rId564"/>
    <p:sldId id="814" r:id="rId565"/>
    <p:sldId id="815" r:id="rId566"/>
    <p:sldId id="816" r:id="rId567"/>
    <p:sldId id="817" r:id="rId568"/>
    <p:sldId id="818" r:id="rId569"/>
    <p:sldId id="819" r:id="rId570"/>
    <p:sldId id="820" r:id="rId571"/>
    <p:sldId id="821" r:id="rId572"/>
    <p:sldId id="822" r:id="rId573"/>
    <p:sldId id="823" r:id="rId574"/>
    <p:sldId id="824" r:id="rId575"/>
    <p:sldId id="825" r:id="rId576"/>
    <p:sldId id="826" r:id="rId577"/>
    <p:sldId id="827" r:id="rId578"/>
    <p:sldId id="828" r:id="rId579"/>
    <p:sldId id="829" r:id="rId580"/>
    <p:sldId id="830" r:id="rId581"/>
    <p:sldId id="831" r:id="rId582"/>
    <p:sldId id="832" r:id="rId583"/>
    <p:sldId id="833" r:id="rId584"/>
    <p:sldId id="834" r:id="rId585"/>
    <p:sldId id="835" r:id="rId586"/>
    <p:sldId id="836" r:id="rId587"/>
    <p:sldId id="837" r:id="rId588"/>
    <p:sldId id="838" r:id="rId589"/>
    <p:sldId id="839" r:id="rId590"/>
    <p:sldId id="840" r:id="rId591"/>
    <p:sldId id="841" r:id="rId592"/>
    <p:sldId id="842" r:id="rId593"/>
    <p:sldId id="843" r:id="rId594"/>
    <p:sldId id="844" r:id="rId595"/>
    <p:sldId id="845" r:id="rId596"/>
    <p:sldId id="846" r:id="rId597"/>
    <p:sldId id="847" r:id="rId598"/>
    <p:sldId id="848" r:id="rId599"/>
    <p:sldId id="849" r:id="rId600"/>
    <p:sldId id="850" r:id="rId601"/>
    <p:sldId id="851" r:id="rId602"/>
    <p:sldId id="852" r:id="rId603"/>
    <p:sldId id="853" r:id="rId604"/>
    <p:sldId id="854" r:id="rId605"/>
    <p:sldId id="855" r:id="rId606"/>
    <p:sldId id="856" r:id="rId607"/>
    <p:sldId id="857" r:id="rId608"/>
    <p:sldId id="858" r:id="rId609"/>
    <p:sldId id="859" r:id="rId610"/>
    <p:sldId id="860" r:id="rId611"/>
    <p:sldId id="861" r:id="rId612"/>
    <p:sldId id="862" r:id="rId613"/>
    <p:sldId id="863" r:id="rId614"/>
    <p:sldId id="864" r:id="rId615"/>
    <p:sldId id="865" r:id="rId616"/>
    <p:sldId id="866" r:id="rId617"/>
    <p:sldId id="867" r:id="rId618"/>
    <p:sldId id="868" r:id="rId619"/>
    <p:sldId id="869" r:id="rId620"/>
    <p:sldId id="870" r:id="rId621"/>
    <p:sldId id="871" r:id="rId622"/>
    <p:sldId id="872" r:id="rId623"/>
    <p:sldId id="873" r:id="rId624"/>
    <p:sldId id="874" r:id="rId625"/>
    <p:sldId id="875" r:id="rId626"/>
    <p:sldId id="876" r:id="rId627"/>
    <p:sldId id="877" r:id="rId628"/>
    <p:sldId id="878" r:id="rId629"/>
    <p:sldId id="879" r:id="rId630"/>
    <p:sldId id="880" r:id="rId631"/>
    <p:sldId id="881" r:id="rId632"/>
    <p:sldId id="882" r:id="rId633"/>
    <p:sldId id="883" r:id="rId634"/>
    <p:sldId id="884" r:id="rId635"/>
    <p:sldId id="885" r:id="rId636"/>
    <p:sldId id="886" r:id="rId637"/>
    <p:sldId id="887" r:id="rId638"/>
    <p:sldId id="888" r:id="rId639"/>
    <p:sldId id="889" r:id="rId640"/>
    <p:sldId id="890" r:id="rId641"/>
    <p:sldId id="891" r:id="rId642"/>
    <p:sldId id="892" r:id="rId643"/>
    <p:sldId id="893" r:id="rId644"/>
    <p:sldId id="894" r:id="rId645"/>
    <p:sldId id="895" r:id="rId646"/>
    <p:sldId id="896" r:id="rId647"/>
    <p:sldId id="897" r:id="rId648"/>
    <p:sldId id="898" r:id="rId649"/>
    <p:sldId id="899" r:id="rId650"/>
    <p:sldId id="900" r:id="rId651"/>
    <p:sldId id="901" r:id="rId652"/>
    <p:sldId id="902" r:id="rId653"/>
    <p:sldId id="903" r:id="rId654"/>
    <p:sldId id="904" r:id="rId655"/>
    <p:sldId id="905" r:id="rId656"/>
    <p:sldId id="906" r:id="rId657"/>
    <p:sldId id="907" r:id="rId658"/>
    <p:sldId id="908" r:id="rId659"/>
    <p:sldId id="909" r:id="rId660"/>
    <p:sldId id="910" r:id="rId661"/>
    <p:sldId id="911" r:id="rId662"/>
    <p:sldId id="912" r:id="rId663"/>
    <p:sldId id="913" r:id="rId664"/>
    <p:sldId id="914" r:id="rId665"/>
    <p:sldId id="915" r:id="rId666"/>
    <p:sldId id="916" r:id="rId667"/>
    <p:sldId id="917" r:id="rId668"/>
    <p:sldId id="918" r:id="rId669"/>
    <p:sldId id="919" r:id="rId670"/>
    <p:sldId id="920" r:id="rId671"/>
    <p:sldId id="921" r:id="rId672"/>
    <p:sldId id="922" r:id="rId673"/>
    <p:sldId id="923" r:id="rId674"/>
    <p:sldId id="924" r:id="rId675"/>
    <p:sldId id="925" r:id="rId676"/>
    <p:sldId id="926" r:id="rId677"/>
    <p:sldId id="927" r:id="rId678"/>
    <p:sldId id="928" r:id="rId679"/>
    <p:sldId id="929" r:id="rId680"/>
    <p:sldId id="930" r:id="rId681"/>
    <p:sldId id="931" r:id="rId682"/>
    <p:sldId id="932" r:id="rId683"/>
    <p:sldId id="933" r:id="rId684"/>
    <p:sldId id="934" r:id="rId685"/>
    <p:sldId id="935" r:id="rId686"/>
    <p:sldId id="936" r:id="rId687"/>
    <p:sldId id="937" r:id="rId688"/>
    <p:sldId id="938" r:id="rId689"/>
    <p:sldId id="939" r:id="rId690"/>
    <p:sldId id="940" r:id="rId691"/>
    <p:sldId id="941" r:id="rId692"/>
    <p:sldId id="942" r:id="rId693"/>
    <p:sldId id="943" r:id="rId694"/>
    <p:sldId id="944" r:id="rId695"/>
    <p:sldId id="945" r:id="rId696"/>
    <p:sldId id="946" r:id="rId697"/>
    <p:sldId id="947" r:id="rId698"/>
    <p:sldId id="948" r:id="rId699"/>
    <p:sldId id="949" r:id="rId700"/>
    <p:sldId id="950" r:id="rId701"/>
    <p:sldId id="951" r:id="rId702"/>
    <p:sldId id="952" r:id="rId703"/>
    <p:sldId id="953" r:id="rId704"/>
    <p:sldId id="954" r:id="rId705"/>
    <p:sldId id="955" r:id="rId706"/>
    <p:sldId id="956" r:id="rId707"/>
    <p:sldId id="957" r:id="rId708"/>
    <p:sldId id="958" r:id="rId709"/>
    <p:sldId id="959" r:id="rId710"/>
    <p:sldId id="960" r:id="rId711"/>
    <p:sldId id="961" r:id="rId712"/>
    <p:sldId id="962" r:id="rId713"/>
    <p:sldId id="963" r:id="rId714"/>
    <p:sldId id="964" r:id="rId715"/>
    <p:sldId id="965" r:id="rId716"/>
    <p:sldId id="966" r:id="rId717"/>
    <p:sldId id="967" r:id="rId718"/>
    <p:sldId id="968" r:id="rId719"/>
    <p:sldId id="969" r:id="rId720"/>
    <p:sldId id="970" r:id="rId721"/>
    <p:sldId id="971" r:id="rId722"/>
    <p:sldId id="972" r:id="rId723"/>
    <p:sldId id="973" r:id="rId724"/>
    <p:sldId id="974" r:id="rId725"/>
    <p:sldId id="975" r:id="rId726"/>
    <p:sldId id="976" r:id="rId727"/>
    <p:sldId id="977" r:id="rId728"/>
    <p:sldId id="978" r:id="rId729"/>
    <p:sldId id="979" r:id="rId730"/>
    <p:sldId id="980" r:id="rId731"/>
    <p:sldId id="981" r:id="rId732"/>
    <p:sldId id="982" r:id="rId733"/>
    <p:sldId id="983" r:id="rId734"/>
    <p:sldId id="984" r:id="rId735"/>
    <p:sldId id="985" r:id="rId736"/>
    <p:sldId id="986" r:id="rId737"/>
    <p:sldId id="987" r:id="rId738"/>
    <p:sldId id="988" r:id="rId739"/>
    <p:sldId id="989" r:id="rId740"/>
    <p:sldId id="990" r:id="rId741"/>
    <p:sldId id="991" r:id="rId742"/>
    <p:sldId id="992" r:id="rId743"/>
    <p:sldId id="993" r:id="rId744"/>
    <p:sldId id="994" r:id="rId745"/>
    <p:sldId id="995" r:id="rId746"/>
    <p:sldId id="996" r:id="rId747"/>
    <p:sldId id="997" r:id="rId748"/>
    <p:sldId id="998" r:id="rId749"/>
    <p:sldId id="999" r:id="rId750"/>
    <p:sldId id="1000" r:id="rId751"/>
    <p:sldId id="1001" r:id="rId752"/>
    <p:sldId id="1002" r:id="rId753"/>
    <p:sldId id="1003" r:id="rId754"/>
    <p:sldId id="1004" r:id="rId755"/>
    <p:sldId id="1005" r:id="rId756"/>
    <p:sldId id="1006" r:id="rId757"/>
    <p:sldId id="1007" r:id="rId758"/>
    <p:sldId id="1008" r:id="rId759"/>
    <p:sldId id="1009" r:id="rId760"/>
    <p:sldId id="1010" r:id="rId761"/>
    <p:sldId id="1011" r:id="rId762"/>
    <p:sldId id="1012" r:id="rId763"/>
    <p:sldId id="1013" r:id="rId764"/>
    <p:sldId id="1014" r:id="rId765"/>
    <p:sldId id="1015" r:id="rId766"/>
    <p:sldId id="1016" r:id="rId767"/>
    <p:sldId id="1017" r:id="rId768"/>
    <p:sldId id="1018" r:id="rId769"/>
    <p:sldId id="1019" r:id="rId770"/>
    <p:sldId id="1020" r:id="rId771"/>
    <p:sldId id="1021" r:id="rId772"/>
    <p:sldId id="1022" r:id="rId773"/>
    <p:sldId id="1023" r:id="rId774"/>
    <p:sldId id="1024" r:id="rId775"/>
    <p:sldId id="1025" r:id="rId776"/>
    <p:sldId id="1026" r:id="rId777"/>
    <p:sldId id="1027" r:id="rId778"/>
    <p:sldId id="1028" r:id="rId779"/>
    <p:sldId id="1029" r:id="rId78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Relationship Id="rId532" Type="http://schemas.openxmlformats.org/officeDocument/2006/relationships/slide" Target="slides/slide526.xml"/><Relationship Id="rId533" Type="http://schemas.openxmlformats.org/officeDocument/2006/relationships/slide" Target="slides/slide527.xml"/><Relationship Id="rId534" Type="http://schemas.openxmlformats.org/officeDocument/2006/relationships/slide" Target="slides/slide528.xml"/><Relationship Id="rId535" Type="http://schemas.openxmlformats.org/officeDocument/2006/relationships/slide" Target="slides/slide529.xml"/><Relationship Id="rId536" Type="http://schemas.openxmlformats.org/officeDocument/2006/relationships/slide" Target="slides/slide530.xml"/><Relationship Id="rId537" Type="http://schemas.openxmlformats.org/officeDocument/2006/relationships/slide" Target="slides/slide531.xml"/><Relationship Id="rId538" Type="http://schemas.openxmlformats.org/officeDocument/2006/relationships/slide" Target="slides/slide532.xml"/><Relationship Id="rId539" Type="http://schemas.openxmlformats.org/officeDocument/2006/relationships/slide" Target="slides/slide533.xml"/><Relationship Id="rId540" Type="http://schemas.openxmlformats.org/officeDocument/2006/relationships/slide" Target="slides/slide534.xml"/><Relationship Id="rId541" Type="http://schemas.openxmlformats.org/officeDocument/2006/relationships/slide" Target="slides/slide535.xml"/><Relationship Id="rId542" Type="http://schemas.openxmlformats.org/officeDocument/2006/relationships/slide" Target="slides/slide536.xml"/><Relationship Id="rId543" Type="http://schemas.openxmlformats.org/officeDocument/2006/relationships/slide" Target="slides/slide537.xml"/><Relationship Id="rId544" Type="http://schemas.openxmlformats.org/officeDocument/2006/relationships/slide" Target="slides/slide538.xml"/><Relationship Id="rId545" Type="http://schemas.openxmlformats.org/officeDocument/2006/relationships/slide" Target="slides/slide539.xml"/><Relationship Id="rId546" Type="http://schemas.openxmlformats.org/officeDocument/2006/relationships/slide" Target="slides/slide540.xml"/><Relationship Id="rId547" Type="http://schemas.openxmlformats.org/officeDocument/2006/relationships/slide" Target="slides/slide541.xml"/><Relationship Id="rId548" Type="http://schemas.openxmlformats.org/officeDocument/2006/relationships/slide" Target="slides/slide542.xml"/><Relationship Id="rId549" Type="http://schemas.openxmlformats.org/officeDocument/2006/relationships/slide" Target="slides/slide543.xml"/><Relationship Id="rId550" Type="http://schemas.openxmlformats.org/officeDocument/2006/relationships/slide" Target="slides/slide544.xml"/><Relationship Id="rId551" Type="http://schemas.openxmlformats.org/officeDocument/2006/relationships/slide" Target="slides/slide545.xml"/><Relationship Id="rId552" Type="http://schemas.openxmlformats.org/officeDocument/2006/relationships/slide" Target="slides/slide546.xml"/><Relationship Id="rId553" Type="http://schemas.openxmlformats.org/officeDocument/2006/relationships/slide" Target="slides/slide547.xml"/><Relationship Id="rId554" Type="http://schemas.openxmlformats.org/officeDocument/2006/relationships/slide" Target="slides/slide548.xml"/><Relationship Id="rId555" Type="http://schemas.openxmlformats.org/officeDocument/2006/relationships/slide" Target="slides/slide549.xml"/><Relationship Id="rId556" Type="http://schemas.openxmlformats.org/officeDocument/2006/relationships/slide" Target="slides/slide550.xml"/><Relationship Id="rId557" Type="http://schemas.openxmlformats.org/officeDocument/2006/relationships/slide" Target="slides/slide551.xml"/><Relationship Id="rId558" Type="http://schemas.openxmlformats.org/officeDocument/2006/relationships/slide" Target="slides/slide552.xml"/><Relationship Id="rId559" Type="http://schemas.openxmlformats.org/officeDocument/2006/relationships/slide" Target="slides/slide553.xml"/><Relationship Id="rId560" Type="http://schemas.openxmlformats.org/officeDocument/2006/relationships/slide" Target="slides/slide554.xml"/><Relationship Id="rId561" Type="http://schemas.openxmlformats.org/officeDocument/2006/relationships/slide" Target="slides/slide555.xml"/><Relationship Id="rId562" Type="http://schemas.openxmlformats.org/officeDocument/2006/relationships/slide" Target="slides/slide556.xml"/><Relationship Id="rId563" Type="http://schemas.openxmlformats.org/officeDocument/2006/relationships/slide" Target="slides/slide557.xml"/><Relationship Id="rId564" Type="http://schemas.openxmlformats.org/officeDocument/2006/relationships/slide" Target="slides/slide558.xml"/><Relationship Id="rId565" Type="http://schemas.openxmlformats.org/officeDocument/2006/relationships/slide" Target="slides/slide559.xml"/><Relationship Id="rId566" Type="http://schemas.openxmlformats.org/officeDocument/2006/relationships/slide" Target="slides/slide560.xml"/><Relationship Id="rId567" Type="http://schemas.openxmlformats.org/officeDocument/2006/relationships/slide" Target="slides/slide561.xml"/><Relationship Id="rId568" Type="http://schemas.openxmlformats.org/officeDocument/2006/relationships/slide" Target="slides/slide562.xml"/><Relationship Id="rId569" Type="http://schemas.openxmlformats.org/officeDocument/2006/relationships/slide" Target="slides/slide563.xml"/><Relationship Id="rId570" Type="http://schemas.openxmlformats.org/officeDocument/2006/relationships/slide" Target="slides/slide564.xml"/><Relationship Id="rId571" Type="http://schemas.openxmlformats.org/officeDocument/2006/relationships/slide" Target="slides/slide565.xml"/><Relationship Id="rId572" Type="http://schemas.openxmlformats.org/officeDocument/2006/relationships/slide" Target="slides/slide566.xml"/><Relationship Id="rId573" Type="http://schemas.openxmlformats.org/officeDocument/2006/relationships/slide" Target="slides/slide567.xml"/><Relationship Id="rId574" Type="http://schemas.openxmlformats.org/officeDocument/2006/relationships/slide" Target="slides/slide568.xml"/><Relationship Id="rId575" Type="http://schemas.openxmlformats.org/officeDocument/2006/relationships/slide" Target="slides/slide569.xml"/><Relationship Id="rId576" Type="http://schemas.openxmlformats.org/officeDocument/2006/relationships/slide" Target="slides/slide570.xml"/><Relationship Id="rId577" Type="http://schemas.openxmlformats.org/officeDocument/2006/relationships/slide" Target="slides/slide571.xml"/><Relationship Id="rId578" Type="http://schemas.openxmlformats.org/officeDocument/2006/relationships/slide" Target="slides/slide572.xml"/><Relationship Id="rId579" Type="http://schemas.openxmlformats.org/officeDocument/2006/relationships/slide" Target="slides/slide573.xml"/><Relationship Id="rId580" Type="http://schemas.openxmlformats.org/officeDocument/2006/relationships/slide" Target="slides/slide574.xml"/><Relationship Id="rId581" Type="http://schemas.openxmlformats.org/officeDocument/2006/relationships/slide" Target="slides/slide575.xml"/><Relationship Id="rId582" Type="http://schemas.openxmlformats.org/officeDocument/2006/relationships/slide" Target="slides/slide576.xml"/><Relationship Id="rId583" Type="http://schemas.openxmlformats.org/officeDocument/2006/relationships/slide" Target="slides/slide577.xml"/><Relationship Id="rId584" Type="http://schemas.openxmlformats.org/officeDocument/2006/relationships/slide" Target="slides/slide578.xml"/><Relationship Id="rId585" Type="http://schemas.openxmlformats.org/officeDocument/2006/relationships/slide" Target="slides/slide579.xml"/><Relationship Id="rId586" Type="http://schemas.openxmlformats.org/officeDocument/2006/relationships/slide" Target="slides/slide580.xml"/><Relationship Id="rId587" Type="http://schemas.openxmlformats.org/officeDocument/2006/relationships/slide" Target="slides/slide581.xml"/><Relationship Id="rId588" Type="http://schemas.openxmlformats.org/officeDocument/2006/relationships/slide" Target="slides/slide582.xml"/><Relationship Id="rId589" Type="http://schemas.openxmlformats.org/officeDocument/2006/relationships/slide" Target="slides/slide583.xml"/><Relationship Id="rId590" Type="http://schemas.openxmlformats.org/officeDocument/2006/relationships/slide" Target="slides/slide584.xml"/><Relationship Id="rId591" Type="http://schemas.openxmlformats.org/officeDocument/2006/relationships/slide" Target="slides/slide585.xml"/><Relationship Id="rId592" Type="http://schemas.openxmlformats.org/officeDocument/2006/relationships/slide" Target="slides/slide586.xml"/><Relationship Id="rId593" Type="http://schemas.openxmlformats.org/officeDocument/2006/relationships/slide" Target="slides/slide587.xml"/><Relationship Id="rId594" Type="http://schemas.openxmlformats.org/officeDocument/2006/relationships/slide" Target="slides/slide588.xml"/><Relationship Id="rId595" Type="http://schemas.openxmlformats.org/officeDocument/2006/relationships/slide" Target="slides/slide589.xml"/><Relationship Id="rId596" Type="http://schemas.openxmlformats.org/officeDocument/2006/relationships/slide" Target="slides/slide590.xml"/><Relationship Id="rId597" Type="http://schemas.openxmlformats.org/officeDocument/2006/relationships/slide" Target="slides/slide591.xml"/><Relationship Id="rId598" Type="http://schemas.openxmlformats.org/officeDocument/2006/relationships/slide" Target="slides/slide592.xml"/><Relationship Id="rId599" Type="http://schemas.openxmlformats.org/officeDocument/2006/relationships/slide" Target="slides/slide593.xml"/><Relationship Id="rId600" Type="http://schemas.openxmlformats.org/officeDocument/2006/relationships/slide" Target="slides/slide594.xml"/><Relationship Id="rId601" Type="http://schemas.openxmlformats.org/officeDocument/2006/relationships/slide" Target="slides/slide595.xml"/><Relationship Id="rId602" Type="http://schemas.openxmlformats.org/officeDocument/2006/relationships/slide" Target="slides/slide596.xml"/><Relationship Id="rId603" Type="http://schemas.openxmlformats.org/officeDocument/2006/relationships/slide" Target="slides/slide597.xml"/><Relationship Id="rId604" Type="http://schemas.openxmlformats.org/officeDocument/2006/relationships/slide" Target="slides/slide598.xml"/><Relationship Id="rId605" Type="http://schemas.openxmlformats.org/officeDocument/2006/relationships/slide" Target="slides/slide599.xml"/><Relationship Id="rId606" Type="http://schemas.openxmlformats.org/officeDocument/2006/relationships/slide" Target="slides/slide600.xml"/><Relationship Id="rId607" Type="http://schemas.openxmlformats.org/officeDocument/2006/relationships/slide" Target="slides/slide601.xml"/><Relationship Id="rId608" Type="http://schemas.openxmlformats.org/officeDocument/2006/relationships/slide" Target="slides/slide602.xml"/><Relationship Id="rId609" Type="http://schemas.openxmlformats.org/officeDocument/2006/relationships/slide" Target="slides/slide603.xml"/><Relationship Id="rId610" Type="http://schemas.openxmlformats.org/officeDocument/2006/relationships/slide" Target="slides/slide604.xml"/><Relationship Id="rId611" Type="http://schemas.openxmlformats.org/officeDocument/2006/relationships/slide" Target="slides/slide605.xml"/><Relationship Id="rId612" Type="http://schemas.openxmlformats.org/officeDocument/2006/relationships/slide" Target="slides/slide606.xml"/><Relationship Id="rId613" Type="http://schemas.openxmlformats.org/officeDocument/2006/relationships/slide" Target="slides/slide607.xml"/><Relationship Id="rId614" Type="http://schemas.openxmlformats.org/officeDocument/2006/relationships/slide" Target="slides/slide608.xml"/><Relationship Id="rId615" Type="http://schemas.openxmlformats.org/officeDocument/2006/relationships/slide" Target="slides/slide609.xml"/><Relationship Id="rId616" Type="http://schemas.openxmlformats.org/officeDocument/2006/relationships/slide" Target="slides/slide610.xml"/><Relationship Id="rId617" Type="http://schemas.openxmlformats.org/officeDocument/2006/relationships/slide" Target="slides/slide611.xml"/><Relationship Id="rId618" Type="http://schemas.openxmlformats.org/officeDocument/2006/relationships/slide" Target="slides/slide612.xml"/><Relationship Id="rId619" Type="http://schemas.openxmlformats.org/officeDocument/2006/relationships/slide" Target="slides/slide613.xml"/><Relationship Id="rId620" Type="http://schemas.openxmlformats.org/officeDocument/2006/relationships/slide" Target="slides/slide614.xml"/><Relationship Id="rId621" Type="http://schemas.openxmlformats.org/officeDocument/2006/relationships/slide" Target="slides/slide615.xml"/><Relationship Id="rId622" Type="http://schemas.openxmlformats.org/officeDocument/2006/relationships/slide" Target="slides/slide616.xml"/><Relationship Id="rId623" Type="http://schemas.openxmlformats.org/officeDocument/2006/relationships/slide" Target="slides/slide617.xml"/><Relationship Id="rId624" Type="http://schemas.openxmlformats.org/officeDocument/2006/relationships/slide" Target="slides/slide618.xml"/><Relationship Id="rId625" Type="http://schemas.openxmlformats.org/officeDocument/2006/relationships/slide" Target="slides/slide619.xml"/><Relationship Id="rId626" Type="http://schemas.openxmlformats.org/officeDocument/2006/relationships/slide" Target="slides/slide620.xml"/><Relationship Id="rId627" Type="http://schemas.openxmlformats.org/officeDocument/2006/relationships/slide" Target="slides/slide621.xml"/><Relationship Id="rId628" Type="http://schemas.openxmlformats.org/officeDocument/2006/relationships/slide" Target="slides/slide622.xml"/><Relationship Id="rId629" Type="http://schemas.openxmlformats.org/officeDocument/2006/relationships/slide" Target="slides/slide623.xml"/><Relationship Id="rId630" Type="http://schemas.openxmlformats.org/officeDocument/2006/relationships/slide" Target="slides/slide624.xml"/><Relationship Id="rId631" Type="http://schemas.openxmlformats.org/officeDocument/2006/relationships/slide" Target="slides/slide625.xml"/><Relationship Id="rId632" Type="http://schemas.openxmlformats.org/officeDocument/2006/relationships/slide" Target="slides/slide626.xml"/><Relationship Id="rId633" Type="http://schemas.openxmlformats.org/officeDocument/2006/relationships/slide" Target="slides/slide627.xml"/><Relationship Id="rId634" Type="http://schemas.openxmlformats.org/officeDocument/2006/relationships/slide" Target="slides/slide628.xml"/><Relationship Id="rId635" Type="http://schemas.openxmlformats.org/officeDocument/2006/relationships/slide" Target="slides/slide629.xml"/><Relationship Id="rId636" Type="http://schemas.openxmlformats.org/officeDocument/2006/relationships/slide" Target="slides/slide630.xml"/><Relationship Id="rId637" Type="http://schemas.openxmlformats.org/officeDocument/2006/relationships/slide" Target="slides/slide631.xml"/><Relationship Id="rId638" Type="http://schemas.openxmlformats.org/officeDocument/2006/relationships/slide" Target="slides/slide632.xml"/><Relationship Id="rId639" Type="http://schemas.openxmlformats.org/officeDocument/2006/relationships/slide" Target="slides/slide633.xml"/><Relationship Id="rId640" Type="http://schemas.openxmlformats.org/officeDocument/2006/relationships/slide" Target="slides/slide634.xml"/><Relationship Id="rId641" Type="http://schemas.openxmlformats.org/officeDocument/2006/relationships/slide" Target="slides/slide635.xml"/><Relationship Id="rId642" Type="http://schemas.openxmlformats.org/officeDocument/2006/relationships/slide" Target="slides/slide636.xml"/><Relationship Id="rId643" Type="http://schemas.openxmlformats.org/officeDocument/2006/relationships/slide" Target="slides/slide637.xml"/><Relationship Id="rId644" Type="http://schemas.openxmlformats.org/officeDocument/2006/relationships/slide" Target="slides/slide638.xml"/><Relationship Id="rId645" Type="http://schemas.openxmlformats.org/officeDocument/2006/relationships/slide" Target="slides/slide639.xml"/><Relationship Id="rId646" Type="http://schemas.openxmlformats.org/officeDocument/2006/relationships/slide" Target="slides/slide640.xml"/><Relationship Id="rId647" Type="http://schemas.openxmlformats.org/officeDocument/2006/relationships/slide" Target="slides/slide641.xml"/><Relationship Id="rId648" Type="http://schemas.openxmlformats.org/officeDocument/2006/relationships/slide" Target="slides/slide642.xml"/><Relationship Id="rId649" Type="http://schemas.openxmlformats.org/officeDocument/2006/relationships/slide" Target="slides/slide643.xml"/><Relationship Id="rId650" Type="http://schemas.openxmlformats.org/officeDocument/2006/relationships/slide" Target="slides/slide644.xml"/><Relationship Id="rId651" Type="http://schemas.openxmlformats.org/officeDocument/2006/relationships/slide" Target="slides/slide645.xml"/><Relationship Id="rId652" Type="http://schemas.openxmlformats.org/officeDocument/2006/relationships/slide" Target="slides/slide646.xml"/><Relationship Id="rId653" Type="http://schemas.openxmlformats.org/officeDocument/2006/relationships/slide" Target="slides/slide647.xml"/><Relationship Id="rId654" Type="http://schemas.openxmlformats.org/officeDocument/2006/relationships/slide" Target="slides/slide648.xml"/><Relationship Id="rId655" Type="http://schemas.openxmlformats.org/officeDocument/2006/relationships/slide" Target="slides/slide649.xml"/><Relationship Id="rId656" Type="http://schemas.openxmlformats.org/officeDocument/2006/relationships/slide" Target="slides/slide650.xml"/><Relationship Id="rId657" Type="http://schemas.openxmlformats.org/officeDocument/2006/relationships/slide" Target="slides/slide651.xml"/><Relationship Id="rId658" Type="http://schemas.openxmlformats.org/officeDocument/2006/relationships/slide" Target="slides/slide652.xml"/><Relationship Id="rId659" Type="http://schemas.openxmlformats.org/officeDocument/2006/relationships/slide" Target="slides/slide653.xml"/><Relationship Id="rId660" Type="http://schemas.openxmlformats.org/officeDocument/2006/relationships/slide" Target="slides/slide654.xml"/><Relationship Id="rId661" Type="http://schemas.openxmlformats.org/officeDocument/2006/relationships/slide" Target="slides/slide655.xml"/><Relationship Id="rId662" Type="http://schemas.openxmlformats.org/officeDocument/2006/relationships/slide" Target="slides/slide656.xml"/><Relationship Id="rId663" Type="http://schemas.openxmlformats.org/officeDocument/2006/relationships/slide" Target="slides/slide657.xml"/><Relationship Id="rId664" Type="http://schemas.openxmlformats.org/officeDocument/2006/relationships/slide" Target="slides/slide658.xml"/><Relationship Id="rId665" Type="http://schemas.openxmlformats.org/officeDocument/2006/relationships/slide" Target="slides/slide659.xml"/><Relationship Id="rId666" Type="http://schemas.openxmlformats.org/officeDocument/2006/relationships/slide" Target="slides/slide660.xml"/><Relationship Id="rId667" Type="http://schemas.openxmlformats.org/officeDocument/2006/relationships/slide" Target="slides/slide661.xml"/><Relationship Id="rId668" Type="http://schemas.openxmlformats.org/officeDocument/2006/relationships/slide" Target="slides/slide662.xml"/><Relationship Id="rId669" Type="http://schemas.openxmlformats.org/officeDocument/2006/relationships/slide" Target="slides/slide663.xml"/><Relationship Id="rId670" Type="http://schemas.openxmlformats.org/officeDocument/2006/relationships/slide" Target="slides/slide664.xml"/><Relationship Id="rId671" Type="http://schemas.openxmlformats.org/officeDocument/2006/relationships/slide" Target="slides/slide665.xml"/><Relationship Id="rId672" Type="http://schemas.openxmlformats.org/officeDocument/2006/relationships/slide" Target="slides/slide666.xml"/><Relationship Id="rId673" Type="http://schemas.openxmlformats.org/officeDocument/2006/relationships/slide" Target="slides/slide667.xml"/><Relationship Id="rId674" Type="http://schemas.openxmlformats.org/officeDocument/2006/relationships/slide" Target="slides/slide668.xml"/><Relationship Id="rId675" Type="http://schemas.openxmlformats.org/officeDocument/2006/relationships/slide" Target="slides/slide669.xml"/><Relationship Id="rId676" Type="http://schemas.openxmlformats.org/officeDocument/2006/relationships/slide" Target="slides/slide670.xml"/><Relationship Id="rId677" Type="http://schemas.openxmlformats.org/officeDocument/2006/relationships/slide" Target="slides/slide671.xml"/><Relationship Id="rId678" Type="http://schemas.openxmlformats.org/officeDocument/2006/relationships/slide" Target="slides/slide672.xml"/><Relationship Id="rId679" Type="http://schemas.openxmlformats.org/officeDocument/2006/relationships/slide" Target="slides/slide673.xml"/><Relationship Id="rId680" Type="http://schemas.openxmlformats.org/officeDocument/2006/relationships/slide" Target="slides/slide674.xml"/><Relationship Id="rId681" Type="http://schemas.openxmlformats.org/officeDocument/2006/relationships/slide" Target="slides/slide675.xml"/><Relationship Id="rId682" Type="http://schemas.openxmlformats.org/officeDocument/2006/relationships/slide" Target="slides/slide676.xml"/><Relationship Id="rId683" Type="http://schemas.openxmlformats.org/officeDocument/2006/relationships/slide" Target="slides/slide677.xml"/><Relationship Id="rId684" Type="http://schemas.openxmlformats.org/officeDocument/2006/relationships/slide" Target="slides/slide678.xml"/><Relationship Id="rId685" Type="http://schemas.openxmlformats.org/officeDocument/2006/relationships/slide" Target="slides/slide679.xml"/><Relationship Id="rId686" Type="http://schemas.openxmlformats.org/officeDocument/2006/relationships/slide" Target="slides/slide680.xml"/><Relationship Id="rId687" Type="http://schemas.openxmlformats.org/officeDocument/2006/relationships/slide" Target="slides/slide681.xml"/><Relationship Id="rId688" Type="http://schemas.openxmlformats.org/officeDocument/2006/relationships/slide" Target="slides/slide682.xml"/><Relationship Id="rId689" Type="http://schemas.openxmlformats.org/officeDocument/2006/relationships/slide" Target="slides/slide683.xml"/><Relationship Id="rId690" Type="http://schemas.openxmlformats.org/officeDocument/2006/relationships/slide" Target="slides/slide684.xml"/><Relationship Id="rId691" Type="http://schemas.openxmlformats.org/officeDocument/2006/relationships/slide" Target="slides/slide685.xml"/><Relationship Id="rId692" Type="http://schemas.openxmlformats.org/officeDocument/2006/relationships/slide" Target="slides/slide686.xml"/><Relationship Id="rId693" Type="http://schemas.openxmlformats.org/officeDocument/2006/relationships/slide" Target="slides/slide687.xml"/><Relationship Id="rId694" Type="http://schemas.openxmlformats.org/officeDocument/2006/relationships/slide" Target="slides/slide688.xml"/><Relationship Id="rId695" Type="http://schemas.openxmlformats.org/officeDocument/2006/relationships/slide" Target="slides/slide689.xml"/><Relationship Id="rId696" Type="http://schemas.openxmlformats.org/officeDocument/2006/relationships/slide" Target="slides/slide690.xml"/><Relationship Id="rId697" Type="http://schemas.openxmlformats.org/officeDocument/2006/relationships/slide" Target="slides/slide691.xml"/><Relationship Id="rId698" Type="http://schemas.openxmlformats.org/officeDocument/2006/relationships/slide" Target="slides/slide692.xml"/><Relationship Id="rId699" Type="http://schemas.openxmlformats.org/officeDocument/2006/relationships/slide" Target="slides/slide693.xml"/><Relationship Id="rId700" Type="http://schemas.openxmlformats.org/officeDocument/2006/relationships/slide" Target="slides/slide694.xml"/><Relationship Id="rId701" Type="http://schemas.openxmlformats.org/officeDocument/2006/relationships/slide" Target="slides/slide695.xml"/><Relationship Id="rId702" Type="http://schemas.openxmlformats.org/officeDocument/2006/relationships/slide" Target="slides/slide696.xml"/><Relationship Id="rId703" Type="http://schemas.openxmlformats.org/officeDocument/2006/relationships/slide" Target="slides/slide697.xml"/><Relationship Id="rId704" Type="http://schemas.openxmlformats.org/officeDocument/2006/relationships/slide" Target="slides/slide698.xml"/><Relationship Id="rId705" Type="http://schemas.openxmlformats.org/officeDocument/2006/relationships/slide" Target="slides/slide699.xml"/><Relationship Id="rId706" Type="http://schemas.openxmlformats.org/officeDocument/2006/relationships/slide" Target="slides/slide700.xml"/><Relationship Id="rId707" Type="http://schemas.openxmlformats.org/officeDocument/2006/relationships/slide" Target="slides/slide701.xml"/><Relationship Id="rId708" Type="http://schemas.openxmlformats.org/officeDocument/2006/relationships/slide" Target="slides/slide702.xml"/><Relationship Id="rId709" Type="http://schemas.openxmlformats.org/officeDocument/2006/relationships/slide" Target="slides/slide703.xml"/><Relationship Id="rId710" Type="http://schemas.openxmlformats.org/officeDocument/2006/relationships/slide" Target="slides/slide704.xml"/><Relationship Id="rId711" Type="http://schemas.openxmlformats.org/officeDocument/2006/relationships/slide" Target="slides/slide705.xml"/><Relationship Id="rId712" Type="http://schemas.openxmlformats.org/officeDocument/2006/relationships/slide" Target="slides/slide706.xml"/><Relationship Id="rId713" Type="http://schemas.openxmlformats.org/officeDocument/2006/relationships/slide" Target="slides/slide707.xml"/><Relationship Id="rId714" Type="http://schemas.openxmlformats.org/officeDocument/2006/relationships/slide" Target="slides/slide708.xml"/><Relationship Id="rId715" Type="http://schemas.openxmlformats.org/officeDocument/2006/relationships/slide" Target="slides/slide709.xml"/><Relationship Id="rId716" Type="http://schemas.openxmlformats.org/officeDocument/2006/relationships/slide" Target="slides/slide710.xml"/><Relationship Id="rId717" Type="http://schemas.openxmlformats.org/officeDocument/2006/relationships/slide" Target="slides/slide711.xml"/><Relationship Id="rId718" Type="http://schemas.openxmlformats.org/officeDocument/2006/relationships/slide" Target="slides/slide712.xml"/><Relationship Id="rId719" Type="http://schemas.openxmlformats.org/officeDocument/2006/relationships/slide" Target="slides/slide713.xml"/><Relationship Id="rId720" Type="http://schemas.openxmlformats.org/officeDocument/2006/relationships/slide" Target="slides/slide714.xml"/><Relationship Id="rId721" Type="http://schemas.openxmlformats.org/officeDocument/2006/relationships/slide" Target="slides/slide715.xml"/><Relationship Id="rId722" Type="http://schemas.openxmlformats.org/officeDocument/2006/relationships/slide" Target="slides/slide716.xml"/><Relationship Id="rId723" Type="http://schemas.openxmlformats.org/officeDocument/2006/relationships/slide" Target="slides/slide717.xml"/><Relationship Id="rId724" Type="http://schemas.openxmlformats.org/officeDocument/2006/relationships/slide" Target="slides/slide718.xml"/><Relationship Id="rId725" Type="http://schemas.openxmlformats.org/officeDocument/2006/relationships/slide" Target="slides/slide719.xml"/><Relationship Id="rId726" Type="http://schemas.openxmlformats.org/officeDocument/2006/relationships/slide" Target="slides/slide720.xml"/><Relationship Id="rId727" Type="http://schemas.openxmlformats.org/officeDocument/2006/relationships/slide" Target="slides/slide721.xml"/><Relationship Id="rId728" Type="http://schemas.openxmlformats.org/officeDocument/2006/relationships/slide" Target="slides/slide722.xml"/><Relationship Id="rId729" Type="http://schemas.openxmlformats.org/officeDocument/2006/relationships/slide" Target="slides/slide723.xml"/><Relationship Id="rId730" Type="http://schemas.openxmlformats.org/officeDocument/2006/relationships/slide" Target="slides/slide724.xml"/><Relationship Id="rId731" Type="http://schemas.openxmlformats.org/officeDocument/2006/relationships/slide" Target="slides/slide725.xml"/><Relationship Id="rId732" Type="http://schemas.openxmlformats.org/officeDocument/2006/relationships/slide" Target="slides/slide726.xml"/><Relationship Id="rId733" Type="http://schemas.openxmlformats.org/officeDocument/2006/relationships/slide" Target="slides/slide727.xml"/><Relationship Id="rId734" Type="http://schemas.openxmlformats.org/officeDocument/2006/relationships/slide" Target="slides/slide728.xml"/><Relationship Id="rId735" Type="http://schemas.openxmlformats.org/officeDocument/2006/relationships/slide" Target="slides/slide729.xml"/><Relationship Id="rId736" Type="http://schemas.openxmlformats.org/officeDocument/2006/relationships/slide" Target="slides/slide730.xml"/><Relationship Id="rId737" Type="http://schemas.openxmlformats.org/officeDocument/2006/relationships/slide" Target="slides/slide731.xml"/><Relationship Id="rId738" Type="http://schemas.openxmlformats.org/officeDocument/2006/relationships/slide" Target="slides/slide732.xml"/><Relationship Id="rId739" Type="http://schemas.openxmlformats.org/officeDocument/2006/relationships/slide" Target="slides/slide733.xml"/><Relationship Id="rId740" Type="http://schemas.openxmlformats.org/officeDocument/2006/relationships/slide" Target="slides/slide734.xml"/><Relationship Id="rId741" Type="http://schemas.openxmlformats.org/officeDocument/2006/relationships/slide" Target="slides/slide735.xml"/><Relationship Id="rId742" Type="http://schemas.openxmlformats.org/officeDocument/2006/relationships/slide" Target="slides/slide736.xml"/><Relationship Id="rId743" Type="http://schemas.openxmlformats.org/officeDocument/2006/relationships/slide" Target="slides/slide737.xml"/><Relationship Id="rId744" Type="http://schemas.openxmlformats.org/officeDocument/2006/relationships/slide" Target="slides/slide738.xml"/><Relationship Id="rId745" Type="http://schemas.openxmlformats.org/officeDocument/2006/relationships/slide" Target="slides/slide739.xml"/><Relationship Id="rId746" Type="http://schemas.openxmlformats.org/officeDocument/2006/relationships/slide" Target="slides/slide740.xml"/><Relationship Id="rId747" Type="http://schemas.openxmlformats.org/officeDocument/2006/relationships/slide" Target="slides/slide741.xml"/><Relationship Id="rId748" Type="http://schemas.openxmlformats.org/officeDocument/2006/relationships/slide" Target="slides/slide742.xml"/><Relationship Id="rId749" Type="http://schemas.openxmlformats.org/officeDocument/2006/relationships/slide" Target="slides/slide743.xml"/><Relationship Id="rId750" Type="http://schemas.openxmlformats.org/officeDocument/2006/relationships/slide" Target="slides/slide744.xml"/><Relationship Id="rId751" Type="http://schemas.openxmlformats.org/officeDocument/2006/relationships/slide" Target="slides/slide745.xml"/><Relationship Id="rId752" Type="http://schemas.openxmlformats.org/officeDocument/2006/relationships/slide" Target="slides/slide746.xml"/><Relationship Id="rId753" Type="http://schemas.openxmlformats.org/officeDocument/2006/relationships/slide" Target="slides/slide747.xml"/><Relationship Id="rId754" Type="http://schemas.openxmlformats.org/officeDocument/2006/relationships/slide" Target="slides/slide748.xml"/><Relationship Id="rId755" Type="http://schemas.openxmlformats.org/officeDocument/2006/relationships/slide" Target="slides/slide749.xml"/><Relationship Id="rId756" Type="http://schemas.openxmlformats.org/officeDocument/2006/relationships/slide" Target="slides/slide750.xml"/><Relationship Id="rId757" Type="http://schemas.openxmlformats.org/officeDocument/2006/relationships/slide" Target="slides/slide751.xml"/><Relationship Id="rId758" Type="http://schemas.openxmlformats.org/officeDocument/2006/relationships/slide" Target="slides/slide752.xml"/><Relationship Id="rId759" Type="http://schemas.openxmlformats.org/officeDocument/2006/relationships/slide" Target="slides/slide753.xml"/><Relationship Id="rId760" Type="http://schemas.openxmlformats.org/officeDocument/2006/relationships/slide" Target="slides/slide754.xml"/><Relationship Id="rId761" Type="http://schemas.openxmlformats.org/officeDocument/2006/relationships/slide" Target="slides/slide755.xml"/><Relationship Id="rId762" Type="http://schemas.openxmlformats.org/officeDocument/2006/relationships/slide" Target="slides/slide756.xml"/><Relationship Id="rId763" Type="http://schemas.openxmlformats.org/officeDocument/2006/relationships/slide" Target="slides/slide757.xml"/><Relationship Id="rId764" Type="http://schemas.openxmlformats.org/officeDocument/2006/relationships/slide" Target="slides/slide758.xml"/><Relationship Id="rId765" Type="http://schemas.openxmlformats.org/officeDocument/2006/relationships/slide" Target="slides/slide759.xml"/><Relationship Id="rId766" Type="http://schemas.openxmlformats.org/officeDocument/2006/relationships/slide" Target="slides/slide760.xml"/><Relationship Id="rId767" Type="http://schemas.openxmlformats.org/officeDocument/2006/relationships/slide" Target="slides/slide761.xml"/><Relationship Id="rId768" Type="http://schemas.openxmlformats.org/officeDocument/2006/relationships/slide" Target="slides/slide762.xml"/><Relationship Id="rId769" Type="http://schemas.openxmlformats.org/officeDocument/2006/relationships/slide" Target="slides/slide763.xml"/><Relationship Id="rId770" Type="http://schemas.openxmlformats.org/officeDocument/2006/relationships/slide" Target="slides/slide764.xml"/><Relationship Id="rId771" Type="http://schemas.openxmlformats.org/officeDocument/2006/relationships/slide" Target="slides/slide765.xml"/><Relationship Id="rId772" Type="http://schemas.openxmlformats.org/officeDocument/2006/relationships/slide" Target="slides/slide766.xml"/><Relationship Id="rId773" Type="http://schemas.openxmlformats.org/officeDocument/2006/relationships/slide" Target="slides/slide767.xml"/><Relationship Id="rId774" Type="http://schemas.openxmlformats.org/officeDocument/2006/relationships/slide" Target="slides/slide768.xml"/><Relationship Id="rId775" Type="http://schemas.openxmlformats.org/officeDocument/2006/relationships/slide" Target="slides/slide769.xml"/><Relationship Id="rId776" Type="http://schemas.openxmlformats.org/officeDocument/2006/relationships/slide" Target="slides/slide770.xml"/><Relationship Id="rId777" Type="http://schemas.openxmlformats.org/officeDocument/2006/relationships/slide" Target="slides/slide771.xml"/><Relationship Id="rId778" Type="http://schemas.openxmlformats.org/officeDocument/2006/relationships/slide" Target="slides/slide772.xml"/><Relationship Id="rId779" Type="http://schemas.openxmlformats.org/officeDocument/2006/relationships/slide" Target="slides/slide773.xml"/><Relationship Id="rId780" Type="http://schemas.openxmlformats.org/officeDocument/2006/relationships/slide" Target="slides/slide77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Sarah applies for a life insurance</a:t>
            </a:r>
          </a:p>
          <a:p>
            <a:r>
              <a:t>policy on June 1 and pays the initial</a:t>
            </a:r>
          </a:p>
          <a:p>
            <a:r>
              <a:t>premium. She completes the required</a:t>
            </a:r>
          </a:p>
          <a:p>
            <a:r>
              <a:t>medical exam on June 3. If the insurer</a:t>
            </a:r>
          </a:p>
          <a:p>
            <a:r>
              <a:t>finds her insurable as of June 1, when</a:t>
            </a:r>
          </a:p>
          <a:p>
            <a:r>
              <a:t>does her coverage become effective?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Upon policy delivery</a:t>
            </a:r>
          </a:p>
          <a:p>
            <a:r>
              <a:t>☐ After first premium payment</a:t>
            </a:r>
          </a:p>
          <a:p>
            <a:r>
              <a:t>☐ June 3</a:t>
            </a:r>
          </a:p>
          <a:p>
            <a:br/>
            <a:pPr>
              <a:defRPr sz="1200" i="1"/>
            </a:pPr>
            <a:r>
              <a:t>Note: her insurable as of June 1, when</a:t>
            </a:r>
            <a:br/>
            <a:r>
              <a:t>does her coverage become effective?</a:t>
            </a:r>
            <a:br/>
            <a:r>
              <a:t>Upon policy delivery</a:t>
            </a:r>
            <a:br/>
            <a:r>
              <a:t>After first premium payment</a:t>
            </a:r>
            <a:br/>
            <a:r>
              <a:t>June 3</a:t>
            </a:r>
            <a:br/>
            <a:r>
              <a:t>A</a:t>
            </a:r>
            <a:br/>
            <a:r>
              <a:t>% 4 ...rancelicense.myabsorb.com </a:t>
            </a:r>
            <a:br/>
            <a:r>
              <a:t>&lt; &gt; + 5]...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Medical Information Bureau (MIB)</a:t>
            </a:r>
          </a:p>
          <a:p>
            <a:r>
              <a:t>provides: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Medical history information shared among</a:t>
            </a:r>
          </a:p>
          <a:p>
            <a:r>
              <a:t>☐ nsurers</a:t>
            </a:r>
          </a:p>
          <a:p>
            <a:r>
              <a:t>☐ None of the above</a:t>
            </a:r>
          </a:p>
          <a:p>
            <a:r>
              <a:t>☐ Information on an applicant’s financial</a:t>
            </a:r>
            <a:br/>
            <a:r>
              <a:t>history</a:t>
            </a:r>
          </a:p>
          <a:p>
            <a:r>
              <a:t>☐ Details about the insurer’s financial status</a:t>
            </a:r>
          </a:p>
          <a:p>
            <a:br/>
            <a:pPr>
              <a:defRPr sz="1200" i="1"/>
            </a:pPr>
            <a:r>
              <a:t>Note: The Medical Information Bureau (MIB) is a</a:t>
            </a:r>
            <a:br/>
            <a:r>
              <a:t>resource used by insurance companies to share</a:t>
            </a:r>
            <a:br/>
            <a:r>
              <a:t>medical history information about applicants to</a:t>
            </a:r>
            <a:br/>
            <a:r>
              <a:t>prevent fraud and ensure underwriting decisions are</a:t>
            </a:r>
            <a:br/>
            <a:r>
              <a:t>&amp; a ..rancelicense.myabsorb.com (</a:t>
            </a:r>
            <a:br/>
            <a:r>
              <a:t>&lt; &gt; + 5]...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Adverse selection refers to: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Offering policies at lower premiums</a:t>
            </a:r>
          </a:p>
          <a:p>
            <a:r>
              <a:t>☐ None of the above</a:t>
            </a:r>
          </a:p>
          <a:p>
            <a:r>
              <a:t>☐ Rejecting all high-risk applicants</a:t>
            </a:r>
            <a:br/>
            <a:br/>
            <a:r>
              <a:t>Insuring high-risk individuals more</a:t>
            </a:r>
            <a:br/>
            <a:r>
              <a:t>frequently</a:t>
            </a:r>
          </a:p>
          <a:p>
            <a:br/>
            <a:pPr>
              <a:defRPr sz="1200" i="1"/>
            </a:pPr>
            <a:r>
              <a:t>Note: Adverse selection occurs when insurers end up</a:t>
            </a:r>
            <a:br/>
            <a:r>
              <a:t>covering more high-risk individuals than average-risk</a:t>
            </a:r>
            <a:br/>
            <a:r>
              <a:t>or low-risk ones. This situation can lead to increased</a:t>
            </a:r>
            <a:br/>
            <a:r>
              <a:t>losses and is a phenomenon that insurers aim to</a:t>
            </a:r>
            <a:br/>
            <a:r>
              <a:t>minimize through careful underwriting. It is di...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provides immediate,</a:t>
            </a:r>
          </a:p>
          <a:p>
            <a:r>
              <a:t>albeit temporary, coverage until the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nsurer formally rejects the application.</a:t>
            </a:r>
          </a:p>
          <a:p>
            <a:pPr>
              <a:defRPr b="1"/>
            </a:pPr>
            <a:r>
              <a:t>✅ Binding receipt</a:t>
            </a:r>
          </a:p>
          <a:p>
            <a:r>
              <a:t>☐ Inspection receipt</a:t>
            </a:r>
          </a:p>
          <a:p>
            <a:r>
              <a:t>☐ Premium receipt</a:t>
            </a:r>
          </a:p>
          <a:p>
            <a:r>
              <a:t>☐ Conditional receipt</a:t>
            </a:r>
          </a:p>
          <a:p>
            <a:br/>
            <a:pPr>
              <a:defRPr sz="1200" i="1"/>
            </a:pPr>
            <a:r>
              <a:t>Note: A binding receipt provides immediate temporary</a:t>
            </a:r>
            <a:br/>
            <a:r>
              <a:t>coverage from the time an application and initial</a:t>
            </a:r>
            <a:br/>
            <a:r>
              <a:t>premium are received until a formal decision on the</a:t>
            </a:r>
            <a:br/>
            <a:r>
              <a:t>application is made by the insurer. This ensures that</a:t>
            </a:r>
            <a:br/>
            <a:r>
              <a:t>&amp; a ..rancelicense.myabsorb.com (</a:t>
            </a:r>
            <a:br/>
            <a:r>
              <a:t>&lt; &gt; + 5]...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principle that larger numbers of</a:t>
            </a:r>
          </a:p>
          <a:p>
            <a:r>
              <a:t>similar risks make losses more</a:t>
            </a:r>
          </a:p>
          <a:p>
            <a:r>
              <a:t>predictable is known as:</a:t>
            </a:r>
          </a:p>
          <a:p>
            <a:r>
              <a:t>' ¢) Risk classification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Law of large numbers</a:t>
            </a:r>
            <a:br/>
            <a:r>
              <a:t>@ Risk pooling</a:t>
            </a:r>
          </a:p>
          <a:p>
            <a:r>
              <a:t>☐ Adverse selection</a:t>
            </a:r>
          </a:p>
          <a:p>
            <a:br/>
            <a:pPr>
              <a:defRPr sz="1200" i="1"/>
            </a:pPr>
            <a:r>
              <a:t>Note: known as:</a:t>
            </a:r>
            <a:br/>
            <a:r>
              <a:t>' ¢) Risk classification</a:t>
            </a:r>
            <a:br/>
            <a:r>
              <a:t>g Law of large numbers</a:t>
            </a:r>
            <a:br/>
            <a:r>
              <a:t>@ Risk pooling</a:t>
            </a:r>
            <a:br/>
            <a:r>
              <a:t>x) Adverse selection</a:t>
            </a:r>
            <a:br/>
            <a:r>
              <a:t>Proceed a</a:t>
            </a:r>
            <a:br/>
            <a:r>
              <a:t>ds The Law of large numbers is a statistical concept</a:t>
            </a:r>
            <a:br/>
            <a:r>
              <a:t>used in insurance to predict losses more accurately</a:t>
            </a:r>
            <a:br/>
            <a:r>
              <a:t>over large groups. This principle helps i...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Insurers use the to</a:t>
            </a:r>
          </a:p>
          <a:p>
            <a:r>
              <a:t>predict the likelihood of death based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Mortality tables</a:t>
            </a:r>
          </a:p>
          <a:p>
            <a:r>
              <a:t>☐ Medical Information Bureau</a:t>
            </a:r>
            <a:br/>
            <a:r>
              <a:t>@ Attending Physician's Statement</a:t>
            </a:r>
          </a:p>
          <a:p>
            <a:r>
              <a:t>☐ Law of large numbers</a:t>
            </a:r>
          </a:p>
          <a:p>
            <a:br/>
            <a:pPr>
              <a:defRPr sz="1200" i="1"/>
            </a:pPr>
            <a:r>
              <a:t>Note: Mortality tables are used by insurers to predict</a:t>
            </a:r>
            <a:br/>
            <a:r>
              <a:t>the likelihood of death based on various</a:t>
            </a:r>
            <a:br/>
            <a:r>
              <a:t>demographic and health factors. These statistical</a:t>
            </a:r>
            <a:br/>
            <a:r>
              <a:t>tables help determine life expectancy and are crucial</a:t>
            </a:r>
            <a:br/>
            <a:r>
              <a:t>&amp; a ..rancelicense.myabsorb.com (</a:t>
            </a:r>
            <a:br/>
            <a:r>
              <a:t>&lt; &gt; +...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statements is</a:t>
            </a:r>
          </a:p>
          <a:p>
            <a:r>
              <a:t>true about insurable interest?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It is required at the time of loss</a:t>
            </a:r>
          </a:p>
          <a:p>
            <a:r>
              <a:t>☐ It is not required</a:t>
            </a:r>
          </a:p>
          <a:p>
            <a:r>
              <a:t>☐ It is required at the time of policy issuance</a:t>
            </a:r>
            <a:br/>
            <a:r>
              <a:t>%) It is required at the time of application only</a:t>
            </a:r>
          </a:p>
          <a:p>
            <a:r>
              <a:t>☐ ssuance to validate an insurance contract. This</a:t>
            </a:r>
            <a:br/>
            <a:br/>
            <a:r>
              <a:t>requirement ensures that there is a legitimate risk of</a:t>
            </a:r>
            <a:br/>
            <a:r>
              <a:t>financial loss to the policyholder if the insured event</a:t>
            </a:r>
            <a:br/>
            <a:br/>
            <a:r>
              <a:t>occurs, making the insurance contract legally and</a:t>
            </a:r>
            <a:br/>
            <a:br/>
            <a:r>
              <a:t>% aa ...rancelicense.myabsorb.com</a:t>
            </a:r>
            <a:br/>
            <a:br/>
            <a:r>
              <a:t>&lt; &gt; +</a:t>
            </a:r>
            <a:br/>
            <a:br/>
            <a:r>
              <a:t>6</a:t>
            </a:r>
          </a:p>
          <a:p>
            <a:br/>
            <a:pPr>
              <a:defRPr sz="1200" i="1"/>
            </a:pPr>
            <a:r>
              <a:t>Note: true about insurable interest?</a:t>
            </a:r>
            <a:br/>
            <a:r>
              <a:t>x) It is required at the time of loss</a:t>
            </a:r>
            <a:br/>
            <a:r>
              <a:t>x) It is not required</a:t>
            </a:r>
            <a:br/>
            <a:r>
              <a:t>g It is required at the time of policy issuance</a:t>
            </a:r>
            <a:br/>
            <a:r>
              <a:t>%) It is required at the time of application only</a:t>
            </a:r>
            <a:br/>
            <a:r>
              <a:t>Proceed —_</a:t>
            </a:r>
            <a:br/>
            <a:r>
              <a:t>de Insurable interest must exist at the time of po...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agent submits an application</a:t>
            </a:r>
          </a:p>
          <a:p>
            <a:r>
              <a:t>without collecting the initial premium.</a:t>
            </a:r>
          </a:p>
          <a:p>
            <a:r>
              <a:t>This type of application is Known as:</a:t>
            </a:r>
          </a:p>
          <a:p>
            <a:r>
              <a:t>€  Conditional application</a:t>
            </a:r>
          </a:p>
          <a:p>
            <a:r>
              <a:t>Nonmedical application</a:t>
            </a:r>
          </a:p>
          <a:p>
            <a:r>
              <a:t>Trial application</a:t>
            </a:r>
          </a:p>
          <a:p>
            <a:r>
              <a:t>Temporary application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type of application is Known as:</a:t>
            </a:r>
            <a:br/>
            <a:r>
              <a:t>€  Conditional application</a:t>
            </a:r>
            <a:br/>
            <a:r>
              <a:t>Nonmedical application</a:t>
            </a:r>
            <a:br/>
            <a:r>
              <a:t>Trial application</a:t>
            </a:r>
            <a:br/>
            <a:r>
              <a:t>Temporary application</a:t>
            </a:r>
            <a:br/>
            <a:r>
              <a:t>Proceed =&gt;</a:t>
            </a:r>
            <a:br/>
            <a:r>
              <a:t>% When an agent submits an application without</a:t>
            </a:r>
            <a:br/>
            <a:r>
              <a:t>collecting the initial premium, this is typically referred</a:t>
            </a:r>
            <a:br/>
            <a:r>
              <a:t>to as atri...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Errors and Omissions insurance is</a:t>
            </a:r>
          </a:p>
          <a:p>
            <a:r>
              <a:t>recommended for: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Question 13 Select the appropriate response</a:t>
            </a:r>
            <a:br/>
            <a:br/>
            <a:r>
              <a:t>Errors and Omissions insurance is</a:t>
            </a:r>
            <a:br/>
            <a:r>
              <a:t>recommended for:</a:t>
            </a:r>
          </a:p>
          <a:p>
            <a:pPr>
              <a:defRPr b="1"/>
            </a:pPr>
            <a:r>
              <a:t>✅ Underwriters</a:t>
            </a:r>
          </a:p>
          <a:p>
            <a:r>
              <a:t>☐ Policyholders</a:t>
            </a:r>
          </a:p>
          <a:p>
            <a:r>
              <a:t>☐ Beneficiaries</a:t>
            </a:r>
          </a:p>
          <a:p>
            <a:r>
              <a:t>☐ Insurance agents</a:t>
            </a:r>
          </a:p>
          <a:p>
            <a:br/>
            <a:pPr>
              <a:defRPr sz="1200" i="1"/>
            </a:pPr>
            <a:r>
              <a:t>Note: recommended for:</a:t>
            </a:r>
            <a:br/>
            <a:r>
              <a:t>x) Underwriters</a:t>
            </a:r>
            <a:br/>
            <a:r>
              <a:t>x) Policyholders</a:t>
            </a:r>
            <a:br/>
            <a:r>
              <a:t>x) Beneficiaries</a:t>
            </a:r>
            <a:br/>
            <a:r>
              <a:t>g Insurance agents</a:t>
            </a:r>
            <a:br/>
            <a:r>
              <a:t>Proceed —_</a:t>
            </a:r>
            <a:br/>
            <a:r>
              <a:t>ds Errors and Omissions (E&amp;O) insurance is highly</a:t>
            </a:r>
            <a:br/>
            <a:r>
              <a:t>recommended for insurance agents because it</a:t>
            </a:r>
            <a:br/>
            <a:r>
              <a:t>protects them against liability for mistakes or</a:t>
            </a:r>
            <a:br/>
            <a:r>
              <a:t>omissions t...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is NOT typically</a:t>
            </a:r>
          </a:p>
          <a:p>
            <a:r>
              <a:t>reviewed by an underwriter?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Applicant’s hobbies</a:t>
            </a:r>
          </a:p>
          <a:p>
            <a:r>
              <a:t>☐ Applicant’s health</a:t>
            </a:r>
          </a:p>
          <a:p>
            <a:r>
              <a:t>☐ Applicant’s political views</a:t>
            </a:r>
            <a:br/>
            <a:br/>
            <a:r>
              <a:t>%) Applicant's lifestyle</a:t>
            </a:r>
          </a:p>
          <a:p>
            <a:br/>
            <a:pPr>
              <a:defRPr sz="1200" i="1"/>
            </a:pPr>
            <a:r>
              <a:t>Note: NOT typically</a:t>
            </a:r>
            <a:br/>
            <a:r>
              <a:t>reviewed by an underwriter?</a:t>
            </a:r>
            <a:br/>
            <a:r>
              <a:t>x) Applicant’s hobbies</a:t>
            </a:r>
            <a:br/>
            <a:r>
              <a:t>x) Applicant’s health</a:t>
            </a:r>
            <a:br/>
            <a:r>
              <a:t>g Applicant’s political views</a:t>
            </a:r>
            <a:br/>
            <a:r>
              <a:t>%) Applicant's lifestyle</a:t>
            </a:r>
            <a:br/>
            <a:r>
              <a:t>Proceed —_</a:t>
            </a:r>
            <a:br/>
            <a:r>
              <a:t>ds 'n the underwriting process, the applicant’s</a:t>
            </a:r>
            <a:br/>
            <a:r>
              <a:t>political views are generally irrelevant and ther...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insurability type conditional receipt</a:t>
            </a:r>
          </a:p>
          <a:p>
            <a:r>
              <a:t>provides coverage: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Only after policy approval</a:t>
            </a:r>
          </a:p>
          <a:p>
            <a:r>
              <a:t>☐ After the first premium payment is made</a:t>
            </a:r>
          </a:p>
          <a:p>
            <a:pPr>
              <a:defRPr b="1"/>
            </a:pPr>
            <a:r>
              <a:t>✅ As of the date of application or medical</a:t>
            </a:r>
            <a:br/>
            <a:r>
              <a:t>exam, subject to insurability</a:t>
            </a:r>
          </a:p>
          <a:p>
            <a:r>
              <a:t>☐ From the date the policy is delivered</a:t>
            </a:r>
          </a:p>
          <a:p>
            <a:br/>
            <a:pPr>
              <a:defRPr sz="1200" i="1"/>
            </a:pPr>
            <a:r>
              <a:t>Note: made</a:t>
            </a:r>
            <a:br/>
            <a:r>
              <a:t>g As of the date of application or medical</a:t>
            </a:r>
            <a:br/>
            <a:r>
              <a:t>exam, subject to insurability</a:t>
            </a:r>
            <a:br/>
            <a:r>
              <a:t>x) From the date the policy is delivered</a:t>
            </a:r>
            <a:br/>
            <a:r>
              <a:t>ds An insurability type conditional receipt provides</a:t>
            </a:r>
            <a:br/>
            <a:r>
              <a:t>temporary coverage from the date of the application</a:t>
            </a:r>
            <a:br/>
            <a:r>
              <a:t>or medical examination, co...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term for the test that</a:t>
            </a:r>
          </a:p>
          <a:p>
            <a:r>
              <a:t>ensures a life insurance policy does</a:t>
            </a:r>
          </a:p>
          <a:p>
            <a:r>
              <a:t>not become overfunded within the first</a:t>
            </a:r>
          </a:p>
          <a:p>
            <a:r>
              <a:t>seven years?</a:t>
            </a:r>
          </a:p>
          <a:p>
            <a:r>
              <a:t>MEC test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Question 1 Select the appropriate response</a:t>
            </a:r>
            <a:br/>
            <a:br/>
            <a:r>
              <a:t>What is the term for the test that</a:t>
            </a:r>
            <a:br/>
            <a:r>
              <a:t>ensures a life insurance policy does</a:t>
            </a:r>
            <a:br/>
            <a:r>
              <a:t>not become overfunded within the first</a:t>
            </a:r>
            <a:br/>
            <a:r>
              <a:t>seven years?</a:t>
            </a:r>
            <a:br/>
            <a:br/>
            <a:r>
              <a:t>MEC test</a:t>
            </a:r>
          </a:p>
          <a:p>
            <a:r>
              <a:t>☐ 7-Pay test</a:t>
            </a:r>
            <a:br/>
            <a:r>
              <a:t>Convertible test</a:t>
            </a:r>
            <a:br/>
            <a:br/>
            <a:r>
              <a:t>Premium test</a:t>
            </a:r>
          </a:p>
          <a:p>
            <a:r>
              <a:t>☐ f a life insurance policy is classified as a Modified</a:t>
            </a:r>
            <a:br/>
            <a:r>
              <a:t>Endowment Contract (MEC). This test checks</a:t>
            </a:r>
            <a:br/>
            <a:br/>
            <a:r>
              <a:t>&gt;|</a:t>
            </a:r>
            <a:br/>
            <a:br/>
            <a:r>
              <a:t>% 4a ..rancelicense.myabsorb.com (©</a:t>
            </a:r>
            <a:br/>
            <a:br/>
            <a:r>
              <a:t>&lt; +</a:t>
            </a:r>
          </a:p>
          <a:p>
            <a:br/>
            <a:pPr>
              <a:defRPr sz="1200" i="1"/>
            </a:pPr>
            <a:r>
              <a:t>Note: the term for the test that</a:t>
            </a:r>
            <a:br/>
            <a:r>
              <a:t>ensures a life insurance policy does</a:t>
            </a:r>
            <a:br/>
            <a:r>
              <a:t>not become overfunded within the first</a:t>
            </a:r>
            <a:br/>
            <a:r>
              <a:t>seven years?</a:t>
            </a:r>
            <a:br/>
            <a:r>
              <a:t>MEC test</a:t>
            </a:r>
            <a:br/>
            <a:r>
              <a:t>g 7-Pay test</a:t>
            </a:r>
            <a:br/>
            <a:r>
              <a:t>Convertible test</a:t>
            </a:r>
            <a:br/>
            <a:r>
              <a:t>Premium test</a:t>
            </a:r>
            <a:br/>
            <a:r>
              <a:t>Proceed =&gt;</a:t>
            </a:r>
            <a:br/>
            <a:r>
              <a:t>ds The 7-Pay test is a guideline used to determine</a:t>
            </a:r>
            <a:br/>
            <a:r>
              <a:t>if a life insurance ...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Sarah has a whole life policy with a</a:t>
            </a:r>
          </a:p>
          <a:p>
            <a:r>
              <a:t>face amount of $120,000. After 10</a:t>
            </a:r>
          </a:p>
          <a:p>
            <a:r>
              <a:t>years, her cash value is $18,000.</a:t>
            </a:r>
          </a:p>
          <a:p>
            <a:r>
              <a:t>What is the insurer’s liability at this</a:t>
            </a:r>
          </a:p>
          <a:p>
            <a:r>
              <a:t>point?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— $60,000</a:t>
            </a:r>
            <a:br/>
            <a:r>
              <a:t>@ «© $102,000</a:t>
            </a:r>
          </a:p>
          <a:p>
            <a:pPr>
              <a:defRPr b="1"/>
            </a:pPr>
            <a:r>
              <a:t>✅ ] $120,000</a:t>
            </a:r>
          </a:p>
          <a:p>
            <a:r>
              <a:t>☐ ] $18,000</a:t>
            </a:r>
          </a:p>
          <a:p>
            <a:br/>
            <a:pPr>
              <a:defRPr sz="1200" i="1"/>
            </a:pPr>
            <a:r>
              <a:t>Note: $18,000.</a:t>
            </a:r>
            <a:br/>
            <a:r>
              <a:t>What is the insurer’s liability at this</a:t>
            </a:r>
            <a:br/>
            <a:r>
              <a:t>point?</a:t>
            </a:r>
            <a:br/>
            <a:r>
              <a:t>— $60,000</a:t>
            </a:r>
            <a:br/>
            <a:r>
              <a:t>@ « $102,000</a:t>
            </a:r>
            <a:br/>
            <a:r>
              <a:t>x] $120,000</a:t>
            </a:r>
            <a:br/>
            <a:r>
              <a:t>ix] $18,000</a:t>
            </a:r>
            <a:br/>
            <a:r>
              <a:t>Proceed =&gt;</a:t>
            </a:r>
            <a:br/>
            <a:r>
              <a:t>és In this scenario, Sarah's whole life policy has a</a:t>
            </a:r>
            <a:br/>
            <a:r>
              <a:t>total face amount of $120,000, and she has</a:t>
            </a:r>
            <a:br/>
            <a:r>
              <a:t>A &gt;|</a:t>
            </a:r>
            <a:br/>
            <a:r>
              <a:t>&amp; a ..rancelicense.myabsorb.com (</a:t>
            </a:r>
            <a:br/>
            <a:r>
              <a:t>&lt;...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policy allows partial withdrawals</a:t>
            </a:r>
          </a:p>
          <a:p>
            <a:r>
              <a:t>from the cash value account?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Universal life insurance</a:t>
            </a:r>
          </a:p>
          <a:p>
            <a:r>
              <a:t>☐ Term life insurance</a:t>
            </a:r>
            <a:br/>
            <a:r>
              <a:t>) Variable life insurance</a:t>
            </a:r>
            <a:br/>
            <a:br/>
            <a:r>
              <a:t>' ¢) Whole life insurance</a:t>
            </a:r>
          </a:p>
          <a:p>
            <a:br/>
            <a:pPr>
              <a:defRPr sz="1200" i="1"/>
            </a:pPr>
            <a:r>
              <a:t>Note: Universal Life Insurance policies are flexible and</a:t>
            </a:r>
            <a:br/>
            <a:r>
              <a:t>allow the policyholder to make partial withdrawals</a:t>
            </a:r>
            <a:br/>
            <a:r>
              <a:t>from the cash value account, which can adjust the</a:t>
            </a:r>
            <a:br/>
            <a:r>
              <a:t>premiums and death benefits according to the</a:t>
            </a:r>
            <a:br/>
            <a:r>
              <a:t>policyholder’s needs. This feature is not typically</a:t>
            </a:r>
            <a:br/>
            <a:r>
              <a:t>a...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main advantage of a</a:t>
            </a:r>
          </a:p>
          <a:p>
            <a:r>
              <a:t>single-premium whole life policy?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No cash value</a:t>
            </a:r>
          </a:p>
          <a:p>
            <a:r>
              <a:t>☐ Variable death benefit</a:t>
            </a:r>
          </a:p>
          <a:p>
            <a:r>
              <a:t>☐ Higher ongoing premiums</a:t>
            </a:r>
          </a:p>
          <a:p>
            <a:r>
              <a:t>☐ Lower total cost</a:t>
            </a:r>
          </a:p>
          <a:p>
            <a:r>
              <a:t>☐ s a distinctive benefit over policies that require</a:t>
            </a:r>
            <a:br/>
            <a:br/>
            <a:r>
              <a:t>&gt;|</a:t>
            </a:r>
          </a:p>
          <a:p>
            <a:r>
              <a:t>☐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the main advantage of a</a:t>
            </a:r>
            <a:br/>
            <a:r>
              <a:t>single-premium whole life policy?</a:t>
            </a:r>
            <a:br/>
            <a:r>
              <a:t>x) No cash value</a:t>
            </a:r>
            <a:br/>
            <a:r>
              <a:t>x) Variable death benefit</a:t>
            </a:r>
            <a:br/>
            <a:r>
              <a:t>x) Higher ongoing premiums</a:t>
            </a:r>
            <a:br/>
            <a:r>
              <a:t>g Lower total cost</a:t>
            </a:r>
            <a:br/>
            <a:r>
              <a:t>Proceed =</a:t>
            </a:r>
            <a:br/>
            <a:r>
              <a:t>% The main advantage of a Single-Premium Whole</a:t>
            </a:r>
            <a:br/>
            <a:r>
              <a:t>Life Policy is that it may result in a lower t...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does a graded premium whole</a:t>
            </a:r>
          </a:p>
          <a:p>
            <a:r>
              <a:t>life policy structure its premiums?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Increasing premiums initially, then level</a:t>
            </a:r>
            <a:br/>
            <a:r>
              <a:t>' ¢) Premiums based on policyholder's age</a:t>
            </a:r>
          </a:p>
          <a:p>
            <a:pPr>
              <a:defRPr b="1"/>
            </a:pPr>
            <a:r>
              <a:t>✅ Level premiums throughout</a:t>
            </a:r>
          </a:p>
          <a:p>
            <a:r>
              <a:t>☐ Decreasing premiums over time</a:t>
            </a:r>
          </a:p>
          <a:p>
            <a:r>
              <a:t>☐ AGraded Premium Whole Life Policy typically</a:t>
            </a:r>
            <a:br/>
            <a:r>
              <a:t>starts with lower premiums that increase over a</a:t>
            </a:r>
            <a:br/>
            <a:r>
              <a:t>specified period before leveling off. This structure</a:t>
            </a:r>
            <a:br/>
            <a:br/>
            <a:r>
              <a:t>makes the policy more affordable initially, becoming</a:t>
            </a:r>
            <a:br/>
            <a:r>
              <a:t>stable as the premiums level off, which is different</a:t>
            </a:r>
            <a:br/>
            <a:r>
              <a:t>from policies with level premiums throughout,</a:t>
            </a:r>
            <a:br/>
            <a:br/>
            <a:r>
              <a:t>&gt;|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structure</a:t>
            </a:r>
            <a:br/>
            <a:r>
              <a:t>makes the policy more affordable initially, becoming</a:t>
            </a:r>
            <a:br/>
            <a:r>
              <a:t>stable as the premiums level off, which is different</a:t>
            </a:r>
            <a:br/>
            <a:r>
              <a:t>from policies with level premiums throughout,</a:t>
            </a:r>
            <a:br/>
            <a:r>
              <a:t>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type of insurance policy is</a:t>
            </a:r>
          </a:p>
          <a:p>
            <a:r>
              <a:t>designed to provide coverage for a set</a:t>
            </a:r>
          </a:p>
          <a:p>
            <a:r>
              <a:t>period and then terminate?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Whole Life Insurance</a:t>
            </a:r>
          </a:p>
          <a:p>
            <a:r>
              <a:t>☐ Variable Life Insurance</a:t>
            </a:r>
            <a:br/>
            <a:r>
              <a:t>%) Universal Life Insurance</a:t>
            </a:r>
          </a:p>
          <a:p>
            <a:r>
              <a:t>☐ Term Life Insurance</a:t>
            </a:r>
          </a:p>
          <a:p>
            <a:br/>
            <a:pPr>
              <a:defRPr sz="1200" i="1"/>
            </a:pPr>
            <a:r>
              <a:t>Note: designed to provide coverage for a set</a:t>
            </a:r>
            <a:br/>
            <a:r>
              <a:t>period and then terminate?</a:t>
            </a:r>
            <a:br/>
            <a:r>
              <a:t>x) Whole Life Insurance</a:t>
            </a:r>
            <a:br/>
            <a:r>
              <a:t>x) Variable Life Insurance</a:t>
            </a:r>
            <a:br/>
            <a:r>
              <a:t>%) Universal Life Insurance</a:t>
            </a:r>
            <a:br/>
            <a:r>
              <a:t>g Term Life Insurance</a:t>
            </a:r>
            <a:br/>
            <a:r>
              <a:t>ds Term Life Insurance is specifically designed to</a:t>
            </a:r>
            <a:br/>
            <a:r>
              <a:t>offer coverage for a predetermin...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policy provides</a:t>
            </a:r>
          </a:p>
          <a:p>
            <a:r>
              <a:t>coverage for two individuals and pays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nsured.</a:t>
            </a:r>
            <a:br/>
            <a:br/>
            <a:r>
              <a:t>&gt;) Joint life</a:t>
            </a:r>
          </a:p>
          <a:p>
            <a:r>
              <a:t>☐ Universal life</a:t>
            </a:r>
            <a:br/>
            <a:br/>
            <a:r>
              <a:t>@ © Sunivorship life</a:t>
            </a:r>
            <a:br/>
            <a:br/>
            <a:r>
              <a:t>' ¢) Variable life</a:t>
            </a:r>
          </a:p>
          <a:p>
            <a:br/>
            <a:pPr>
              <a:defRPr sz="1200" i="1"/>
            </a:pPr>
            <a:r>
              <a:t>Note: A Survivorship Life policy, also known as</a:t>
            </a:r>
            <a:br/>
            <a:r>
              <a:t>second-to-die life insurance, covers two individuals</a:t>
            </a:r>
            <a:br/>
            <a:r>
              <a:t>and is designed to pay out the death benefit after the</a:t>
            </a:r>
            <a:br/>
            <a:r>
              <a:t>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key feature of an equity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ndex universal life insurance policy?</a:t>
            </a:r>
          </a:p>
          <a:p>
            <a:r>
              <a:t>☐ Tied to an equity index</a:t>
            </a:r>
          </a:p>
          <a:p>
            <a:r>
              <a:t>☐ Fixed interest rate</a:t>
            </a:r>
          </a:p>
          <a:p>
            <a:r>
              <a:t>☐ No cash value</a:t>
            </a:r>
          </a:p>
          <a:p>
            <a:r>
              <a:t>☐ Guaranteed death benefit</a:t>
            </a:r>
          </a:p>
          <a:p>
            <a:r>
              <a:t>☐ s linked to a stock market index, such as the S&amp;P</a:t>
            </a:r>
            <a:br/>
            <a:br/>
            <a:r>
              <a:t>500. This allows the cash value to potentially</a:t>
            </a:r>
          </a:p>
          <a:p>
            <a:r>
              <a:t>☐ ncrease based on the performance of the index,</a:t>
            </a:r>
            <a:br/>
            <a:r>
              <a:t>although typically with certain protections against</a:t>
            </a:r>
            <a:br/>
            <a:br/>
            <a:r>
              <a:t>&gt;|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the key feature of an equity</a:t>
            </a:r>
            <a:br/>
            <a:r>
              <a:t>index universal life insurance policy?</a:t>
            </a:r>
            <a:br/>
            <a:r>
              <a:t>g Tied to an equity index</a:t>
            </a:r>
            <a:br/>
            <a:r>
              <a:t>x) Fixed interest rate</a:t>
            </a:r>
            <a:br/>
            <a:r>
              <a:t>x) No cash value</a:t>
            </a:r>
            <a:br/>
            <a:r>
              <a:t>x) Guaranteed death benefit</a:t>
            </a:r>
            <a:br/>
            <a:r>
              <a:t>Proceed and</a:t>
            </a:r>
            <a:br/>
            <a:r>
              <a:t>ds The distinctive feature of an Equity Index</a:t>
            </a:r>
            <a:br/>
            <a:r>
              <a:t>Universal Life Insurance polic...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'Convertible Term'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allow the policy owner to</a:t>
            </a:r>
            <a:br/>
            <a:r>
              <a:t>do?</a:t>
            </a:r>
          </a:p>
          <a:p>
            <a:pPr>
              <a:defRPr b="1"/>
            </a:pPr>
            <a:r>
              <a:t>✅ Transfer the policy to another individual.</a:t>
            </a:r>
            <a:br/>
            <a:br/>
            <a:r>
              <a:t>@ © Convert the term policy into a permanent</a:t>
            </a:r>
            <a:br/>
            <a:r>
              <a:t>policy without proof of insurability.</a:t>
            </a:r>
            <a:br/>
            <a:br/>
            <a:r>
              <a:t>Extend the term indefinitely without</a:t>
            </a:r>
            <a:br/>
            <a:r>
              <a:t>additional premiums.</a:t>
            </a:r>
          </a:p>
          <a:p>
            <a:r>
              <a:t>☐ Increase the face amount without additional</a:t>
            </a:r>
            <a:br/>
            <a:r>
              <a:t>underwriting.</a:t>
            </a:r>
          </a:p>
          <a:p>
            <a:br/>
            <a:pPr>
              <a:defRPr sz="1200" i="1"/>
            </a:pPr>
            <a:r>
              <a:t>Note: ‘Convertible Term' insurance allows the</a:t>
            </a:r>
            <a:br/>
            <a:r>
              <a:t>policyowner to convert the term policy into a</a:t>
            </a:r>
            <a:br/>
            <a:r>
              <a:t>permanent policy without providing proof of</a:t>
            </a:r>
            <a:br/>
            <a:r>
              <a:t>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type of insurance policy</a:t>
            </a:r>
          </a:p>
          <a:p>
            <a:r>
              <a:t>provides a lump sum death benefit and</a:t>
            </a:r>
          </a:p>
          <a:p>
            <a:r>
              <a:t>an income stream for a specified</a:t>
            </a:r>
          </a:p>
          <a:p>
            <a:r>
              <a:t>period?</a:t>
            </a:r>
          </a:p>
          <a:p>
            <a:r>
              <a:t>Equity indexed life insurance</a:t>
            </a:r>
          </a:p>
          <a:p>
            <a:r>
              <a:t>Family plan policy</a:t>
            </a:r>
          </a:p>
          <a:p>
            <a:r>
              <a:t>Universal life insurance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Question 11 Select the appropriate response</a:t>
            </a:r>
            <a:br/>
            <a:br/>
            <a:r>
              <a:t>Which type of insurance policy</a:t>
            </a:r>
            <a:br/>
            <a:r>
              <a:t>provides a lump sum death benefit and</a:t>
            </a:r>
            <a:br/>
            <a:r>
              <a:t>an income stream for a specified</a:t>
            </a:r>
            <a:br/>
            <a:r>
              <a:t>period?</a:t>
            </a:r>
            <a:br/>
            <a:br/>
            <a:r>
              <a:t>Equity indexed life insurance</a:t>
            </a:r>
            <a:br/>
            <a:r>
              <a:t>Family plan policy</a:t>
            </a:r>
            <a:br/>
            <a:r>
              <a:t>Universal life insurance</a:t>
            </a:r>
          </a:p>
          <a:p>
            <a:pPr>
              <a:defRPr b="1"/>
            </a:pPr>
            <a:r>
              <a:t>✅ Family income policy</a:t>
            </a:r>
          </a:p>
          <a:p>
            <a:br/>
            <a:pPr>
              <a:defRPr sz="1200" i="1"/>
            </a:pPr>
            <a:r>
              <a:t>Note: A Family Income Policy provides a lump sum</a:t>
            </a:r>
            <a:br/>
            <a:r>
              <a:t>death benefit and also establishes an income stream</a:t>
            </a:r>
            <a:br/>
            <a:r>
              <a:t>for the beneficiaries for a specified period after the</a:t>
            </a:r>
            <a:br/>
            <a:r>
              <a:t>&gt;|</a:t>
            </a:r>
            <a:br/>
            <a:r>
              <a:t>% 4a ..rancelicense.myabsorb.com (</a:t>
            </a:r>
            <a:br/>
            <a:r>
              <a:t>&lt; + (21)...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type of term life insurance is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Increasing term</a:t>
            </a:r>
          </a:p>
          <a:p>
            <a:r>
              <a:t>☐ Level term</a:t>
            </a:r>
          </a:p>
          <a:p>
            <a:r>
              <a:t>☐ Renewable term</a:t>
            </a:r>
          </a:p>
          <a:p>
            <a:r>
              <a:t>☐ Decreasing term</a:t>
            </a:r>
          </a:p>
          <a:p>
            <a:br/>
            <a:pPr>
              <a:defRPr sz="1200" i="1"/>
            </a:pPr>
            <a:r>
              <a:t>Note: often used to protect a mortgage?</a:t>
            </a:r>
            <a:br/>
            <a:r>
              <a:t>x) Increasing term</a:t>
            </a:r>
            <a:br/>
            <a:r>
              <a:t>x) Level term</a:t>
            </a:r>
            <a:br/>
            <a:r>
              <a:t>x) Renewable term</a:t>
            </a:r>
            <a:br/>
            <a:r>
              <a:t>g Decreasing term</a:t>
            </a:r>
            <a:br/>
            <a:r>
              <a:t>Proceed —_</a:t>
            </a:r>
            <a:br/>
            <a:r>
              <a:t>ds Decreasing Term Life Insurance is often used to</a:t>
            </a:r>
            <a:br/>
            <a:r>
              <a:t>protect a mortgage because the policy’s death</a:t>
            </a:r>
            <a:br/>
            <a:r>
              <a:t>benefit decreases over time, roughly al...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feature in a term</a:t>
            </a:r>
          </a:p>
          <a:p>
            <a:r>
              <a:t>policy allows the policyholder to renew</a:t>
            </a:r>
          </a:p>
          <a:p>
            <a:r>
              <a:t>without proving insurability.</a:t>
            </a:r>
          </a:p>
          <a:p>
            <a:r>
              <a:t>' ¢) Convertible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Equity indexed</a:t>
            </a:r>
          </a:p>
          <a:p>
            <a:pPr>
              <a:defRPr b="1"/>
            </a:pPr>
            <a:r>
              <a:t>✅ Renewable</a:t>
            </a:r>
          </a:p>
          <a:p>
            <a:r>
              <a:t>☐ Adjustable</a:t>
            </a:r>
          </a:p>
          <a:p>
            <a:br/>
            <a:pPr>
              <a:defRPr sz="1200" i="1"/>
            </a:pPr>
            <a:r>
              <a:t>Note: The Renewable feature in a term life insurance</a:t>
            </a:r>
            <a:br/>
            <a:r>
              <a:t>policy allows the policyholder to renew the policy for</a:t>
            </a:r>
            <a:br/>
            <a:r>
              <a:t>additional terms without having to provide evidence</a:t>
            </a:r>
            <a:br/>
            <a:r>
              <a:t>of insurability, securing ongoing coverage despite</a:t>
            </a:r>
            <a:br/>
            <a:r>
              <a:t>&gt;|</a:t>
            </a:r>
            <a:br/>
            <a:r>
              <a:t>&amp; a ..rancelicense.myabsorb.com (</a:t>
            </a:r>
            <a:br/>
            <a:r>
              <a:t>&lt; &gt; + (2...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the 'Payor Provision’ in</a:t>
            </a:r>
          </a:p>
          <a:p>
            <a:r>
              <a:t>Juvenile Insurance policies ensure?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Premiums will be waived if the adult payor</a:t>
            </a:r>
            <a:br/>
            <a:r>
              <a:t>dies or becomes disabled.</a:t>
            </a:r>
            <a:br/>
            <a:br/>
            <a:r>
              <a:t>Children can pay their premiums when they</a:t>
            </a:r>
            <a:br/>
            <a:r>
              <a:t>reach adulthood.</a:t>
            </a:r>
            <a:br/>
            <a:br/>
            <a:r>
              <a:t>Premiums will be invested in high-yield</a:t>
            </a:r>
            <a:br/>
            <a:r>
              <a:t>funds.</a:t>
            </a:r>
            <a:br/>
            <a:br/>
            <a:r>
              <a:t>The policy matures when the child reaches</a:t>
            </a:r>
            <a:br/>
            <a:r>
              <a:t>a certain age</a:t>
            </a:r>
          </a:p>
          <a:p>
            <a:br/>
            <a:pPr>
              <a:defRPr sz="1200" i="1"/>
            </a:pPr>
            <a:r>
              <a:t>Note: The 'Payor Provision' in Juvenile Insurance</a:t>
            </a:r>
            <a:br/>
            <a:r>
              <a:t>nolicies ancures that nremiums will he waived if the</a:t>
            </a:r>
            <a:br/>
            <a:r>
              <a:t>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clause protects the policyholder</a:t>
            </a:r>
          </a:p>
          <a:p>
            <a:r>
              <a:t>from the insurer contesting the policy</a:t>
            </a:r>
          </a:p>
          <a:p>
            <a:r>
              <a:t>after a specified period?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Question 1 Select the appropriate response</a:t>
            </a:r>
            <a:br/>
            <a:br/>
            <a:r>
              <a:t>Which clause protects the policyholder</a:t>
            </a:r>
            <a:br/>
            <a:r>
              <a:t>from the insurer contesting the policy</a:t>
            </a:r>
            <a:br/>
            <a:r>
              <a:t>after a specified period?</a:t>
            </a:r>
          </a:p>
          <a:p>
            <a:r>
              <a:t>☐ Consideration clause</a:t>
            </a:r>
          </a:p>
          <a:p>
            <a:r>
              <a:t>☐ Suicide clause</a:t>
            </a:r>
          </a:p>
          <a:p>
            <a:r>
              <a:t>☐ Misstatement of age or sex provision</a:t>
            </a:r>
          </a:p>
          <a:p>
            <a:pPr>
              <a:defRPr b="1"/>
            </a:pPr>
            <a:r>
              <a:t>✅ Incontestable clause</a:t>
            </a:r>
          </a:p>
          <a:p>
            <a:r>
              <a:t>☐ nsurer can contest the validity of the insurance</a:t>
            </a:r>
            <a:br/>
            <a:r>
              <a:t>policy, usually to two years. After this period, the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The Incontestable Clause protects the</a:t>
            </a:r>
            <a:br/>
            <a:r>
              <a:t>policyholder by limiting the time during which an</a:t>
            </a:r>
            <a:br/>
            <a:r>
              <a:t>insurer can contest the validity of the insurance</a:t>
            </a:r>
            <a:br/>
            <a:r>
              <a:t>policy, usually to two years. After this period, the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does the Consideration Clause in</a:t>
            </a:r>
          </a:p>
          <a:p>
            <a:r>
              <a:t>a life insurance policy function?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It sets the terms for policy cancellation.</a:t>
            </a:r>
            <a:br/>
            <a:br/>
            <a:r>
              <a:t>It states the premium and application</a:t>
            </a:r>
            <a:br/>
            <a:r>
              <a:t>completion as part of the policyowner's</a:t>
            </a:r>
            <a:br/>
            <a:r>
              <a:t>payment.</a:t>
            </a:r>
            <a:br/>
            <a:br/>
            <a:r>
              <a:t>It outlines the insurer's investment</a:t>
            </a:r>
            <a:br/>
            <a:r>
              <a:t>strategies.</a:t>
            </a:r>
            <a:br/>
            <a:br/>
            <a:r>
              <a:t>It determines the beneficiary's rights.</a:t>
            </a:r>
          </a:p>
          <a:p>
            <a:r>
              <a:t>☐ &lt; A &gt;|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purpose of the</a:t>
            </a:r>
          </a:p>
          <a:p>
            <a:r>
              <a:t>Discretionary Provision in life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nsurance policies?</a:t>
            </a:r>
          </a:p>
          <a:p>
            <a:r>
              <a:t>☐ e To give the insurer authority in determining</a:t>
            </a:r>
            <a:br/>
            <a:r>
              <a:t>benefit eligibility</a:t>
            </a:r>
            <a:br/>
            <a:br/>
            <a:r>
              <a:t>To provide flexibility in choosing</a:t>
            </a:r>
            <a:br/>
            <a:r>
              <a:t>beneficiaries</a:t>
            </a:r>
            <a:br/>
            <a:br/>
            <a:r>
              <a:t>To adjust premiums based on policy</a:t>
            </a:r>
            <a:br/>
            <a:r>
              <a:t>performance</a:t>
            </a:r>
            <a:br/>
            <a:br/>
            <a:r>
              <a:t>To allow for investment options</a:t>
            </a:r>
          </a:p>
          <a:p>
            <a:br/>
            <a:pPr>
              <a:defRPr sz="1200" i="1"/>
            </a:pPr>
            <a:r>
              <a:t>Note: the purpose of the</a:t>
            </a:r>
            <a:br/>
            <a:r>
              <a:t>Discretionary Provision in life</a:t>
            </a:r>
            <a:br/>
            <a:r>
              <a:t>insurance policies?</a:t>
            </a:r>
            <a:br/>
            <a:r>
              <a:t>g e To give the insurer authority in determining</a:t>
            </a:r>
            <a:br/>
            <a:r>
              <a:t>benefit eligibility</a:t>
            </a:r>
            <a:br/>
            <a:r>
              <a:t>To provide flexibility in choosing</a:t>
            </a:r>
            <a:br/>
            <a:r>
              <a:t>beneficiaries</a:t>
            </a:r>
            <a:br/>
            <a:r>
              <a:t>To adjust premiums based on policy</a:t>
            </a:r>
            <a:br/>
            <a:r>
              <a:t>performance</a:t>
            </a:r>
            <a:br/>
            <a:r>
              <a:t>To allow for i...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rider waives</a:t>
            </a:r>
          </a:p>
          <a:p>
            <a:r>
              <a:t>premium payments if the insured</a:t>
            </a:r>
          </a:p>
          <a:p>
            <a:r>
              <a:t>becomes totally disabled.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Cash value</a:t>
            </a:r>
          </a:p>
          <a:p>
            <a:pPr>
              <a:defRPr b="1"/>
            </a:pPr>
            <a:r>
              <a:t>✅ Waiver of premium</a:t>
            </a:r>
          </a:p>
          <a:p>
            <a:r>
              <a:t>☐ Accelerated benefits</a:t>
            </a:r>
          </a:p>
          <a:p>
            <a:r>
              <a:t>☐ Long-term care</a:t>
            </a:r>
          </a:p>
          <a:p>
            <a:br/>
            <a:pPr>
              <a:defRPr sz="1200" i="1"/>
            </a:pPr>
            <a:r>
              <a:t>Note: The waiver of premium rider is specifically</a:t>
            </a:r>
            <a:br/>
            <a:r>
              <a:t>designed to waive premium payments if the insured</a:t>
            </a:r>
            <a:br/>
            <a:r>
              <a:t>becomes totally disabled, ensuring that the policy</a:t>
            </a:r>
            <a:br/>
            <a:r>
              <a:t>remains in force without the need for further premium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is the death benefit affected if</a:t>
            </a:r>
          </a:p>
          <a:p>
            <a:r>
              <a:t>there is an outstanding policy loan?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Question 6 Select the appropriate response</a:t>
            </a:r>
            <a:br/>
            <a:br/>
            <a:r>
              <a:t>How is the death benefit affected if</a:t>
            </a:r>
            <a:br/>
            <a:r>
              <a:t>there is an outstanding policy loan?</a:t>
            </a:r>
          </a:p>
          <a:p>
            <a:pPr>
              <a:defRPr b="1"/>
            </a:pPr>
            <a:r>
              <a:t>✅ It is reduced by the loan amount plus</a:t>
            </a:r>
          </a:p>
          <a:p>
            <a:r>
              <a:t>☐ nterest</a:t>
            </a:r>
          </a:p>
          <a:p>
            <a:r>
              <a:t>☐ It remains the same</a:t>
            </a:r>
          </a:p>
          <a:p>
            <a:r>
              <a:t>☐ It is increased</a:t>
            </a:r>
            <a:br/>
            <a:br/>
            <a:r>
              <a:t>%) It is waived</a:t>
            </a:r>
          </a:p>
          <a:p>
            <a:br/>
            <a:pPr>
              <a:defRPr sz="1200" i="1"/>
            </a:pPr>
            <a:r>
              <a:t>Note: the death benefit affected if</a:t>
            </a:r>
            <a:br/>
            <a:r>
              <a:t>there is an outstanding policy loan?</a:t>
            </a:r>
            <a:br/>
            <a:r>
              <a:t>iv) It is reduced by the loan amount plus</a:t>
            </a:r>
            <a:br/>
            <a:r>
              <a:t>interest</a:t>
            </a:r>
            <a:br/>
            <a:r>
              <a:t>x) It remains the same</a:t>
            </a:r>
            <a:br/>
            <a:r>
              <a:t>x) It is increased</a:t>
            </a:r>
            <a:br/>
            <a:r>
              <a:t>%) It is waived</a:t>
            </a:r>
            <a:br/>
            <a:r>
              <a:t>Proceed and</a:t>
            </a:r>
            <a:br/>
            <a:r>
              <a:t>ds 'f there is an outstanding policy loan, the death</a:t>
            </a:r>
            <a:br/>
            <a:r>
              <a:t>benefit i...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provision allows</a:t>
            </a:r>
          </a:p>
          <a:p>
            <a:r>
              <a:t>the policy owner to transfer ownership</a:t>
            </a:r>
          </a:p>
          <a:p>
            <a:r>
              <a:t>rights to another person.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Assignment</a:t>
            </a:r>
          </a:p>
          <a:p>
            <a:r>
              <a:t>☐ Grace period</a:t>
            </a:r>
          </a:p>
          <a:p>
            <a:r>
              <a:t>☐ Nonforfeiture</a:t>
            </a:r>
          </a:p>
          <a:p>
            <a:r>
              <a:t>☐ Reinstatement</a:t>
            </a:r>
          </a:p>
          <a:p>
            <a:r>
              <a:t>☐ nsurance policy to another person. This can be used</a:t>
            </a:r>
            <a:br/>
            <a:r>
              <a:t>for various personal or business reasons, providing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The assignment provision allows a policy owner</a:t>
            </a:r>
            <a:br/>
            <a:r>
              <a:t>to transfer ownership rights and responsibilities of the</a:t>
            </a:r>
            <a:br/>
            <a:r>
              <a:t>insurance policy to another person. This can be used</a:t>
            </a:r>
            <a:br/>
            <a:r>
              <a:t>for various personal or business reasons, providing</a:t>
            </a:r>
            <a:br/>
            <a:r>
              <a:t>&amp; a ..rancelicense.myabsorb.com (</a:t>
            </a:r>
            <a:br/>
            <a:r>
              <a:t>&lt; &gt; + (...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required for the automatic</a:t>
            </a:r>
          </a:p>
          <a:p>
            <a:r>
              <a:t>premium loan provision to function?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Question 8 Select the appropriate response</a:t>
            </a:r>
            <a:br/>
            <a:br/>
            <a:r>
              <a:t>What is required for the automatic</a:t>
            </a:r>
            <a:br/>
            <a:r>
              <a:t>premium loan provision to function?</a:t>
            </a:r>
          </a:p>
          <a:p>
            <a:r>
              <a:t>☐ Sufficient cash value in the policy</a:t>
            </a:r>
            <a:br/>
            <a:br/>
            <a:r>
              <a:t>Anew policy application</a:t>
            </a:r>
            <a:br/>
            <a:br/>
            <a:r>
              <a:t>Approval from the insurer</a:t>
            </a:r>
            <a:br/>
            <a:br/>
            <a:r>
              <a:t>L)</a:t>
            </a:r>
          </a:p>
          <a:p>
            <a:pPr>
              <a:defRPr b="1"/>
            </a:pPr>
            <a:r>
              <a:t>✅ Proof of insurability</a:t>
            </a:r>
            <a:br/>
            <a:r>
              <a:t>L)</a:t>
            </a:r>
          </a:p>
          <a:p>
            <a:br/>
            <a:pPr>
              <a:defRPr sz="1200" i="1"/>
            </a:pPr>
            <a:r>
              <a:t>Note: required for the automatic</a:t>
            </a:r>
            <a:br/>
            <a:r>
              <a:t>premium loan provision to function?</a:t>
            </a:r>
            <a:br/>
            <a:r>
              <a:t>iv) Sufficient cash value in the policy</a:t>
            </a:r>
            <a:br/>
            <a:r>
              <a:t>Anew policy application</a:t>
            </a:r>
            <a:br/>
            <a:r>
              <a:t>Approval from the insurer</a:t>
            </a:r>
            <a:br/>
            <a:r>
              <a:t>L)</a:t>
            </a:r>
            <a:br/>
            <a:r>
              <a:t>x) Proof of insurability</a:t>
            </a:r>
            <a:br/>
            <a:r>
              <a:t>L)</a:t>
            </a:r>
            <a:br/>
            <a:r>
              <a:t>Proceed —_</a:t>
            </a:r>
            <a:br/>
            <a:r>
              <a:t>de For the automatic premium loan provision to</a:t>
            </a:r>
            <a:br/>
            <a:r>
              <a:t>function...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Sarah's policy has a grace period of 31</a:t>
            </a:r>
          </a:p>
          <a:p>
            <a:r>
              <a:t>days. She misses her premium</a:t>
            </a:r>
          </a:p>
          <a:p>
            <a:r>
              <a:t>payment, but pays it within the grace</a:t>
            </a:r>
          </a:p>
          <a:p>
            <a:r>
              <a:t>period. What happens to her policy?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Question 9 Select the appropriate response</a:t>
            </a:r>
            <a:br/>
            <a:br/>
            <a:r>
              <a:t>Sarah's policy has a grace period of 31</a:t>
            </a:r>
            <a:br/>
            <a:r>
              <a:t>days. She misses her premium</a:t>
            </a:r>
            <a:br/>
            <a:r>
              <a:t>payment, but pays it within the grace</a:t>
            </a:r>
            <a:br/>
            <a:r>
              <a:t>period. What happens to her policy?</a:t>
            </a:r>
            <a:br/>
            <a:br/>
            <a:r>
              <a:t>It is reinstated</a:t>
            </a:r>
            <a:br/>
            <a:r>
              <a:t>It is canceled</a:t>
            </a:r>
          </a:p>
          <a:p>
            <a:r>
              <a:t>☐ It remains in force</a:t>
            </a:r>
            <a:br/>
            <a:br/>
            <a:r>
              <a:t>It is modified</a:t>
            </a:r>
          </a:p>
          <a:p>
            <a:r>
              <a:t>☐ nterruption. This provision prevents the policy from</a:t>
            </a:r>
            <a:br/>
            <a:br/>
            <a:r>
              <a:t>I&lt;</a:t>
            </a:r>
            <a:br/>
            <a:br/>
            <a:r>
              <a:t>% 4a ..rancelicense.myabsorb.com (©</a:t>
            </a:r>
            <a:br/>
            <a:br/>
            <a:r>
              <a:t>&lt; + (21)</a:t>
            </a:r>
          </a:p>
          <a:p>
            <a:br/>
            <a:pPr>
              <a:defRPr sz="1200" i="1"/>
            </a:pPr>
            <a:r>
              <a:t>Note: reinstated</a:t>
            </a:r>
            <a:br/>
            <a:r>
              <a:t>It is canceled</a:t>
            </a:r>
            <a:br/>
            <a:r>
              <a:t>g It remains in force</a:t>
            </a:r>
            <a:br/>
            <a:r>
              <a:t>It is modified</a:t>
            </a:r>
            <a:br/>
            <a:r>
              <a:t>Proceed =&gt;</a:t>
            </a:r>
            <a:br/>
            <a:r>
              <a:t>ds Since Sarah pays her missed premium within</a:t>
            </a:r>
            <a:br/>
            <a:r>
              <a:t>the 31-day grace period, her policy continues without</a:t>
            </a:r>
            <a:br/>
            <a:r>
              <a:t>interruption. This provision prevents the policy from</a:t>
            </a:r>
            <a:br/>
            <a:r>
              <a:t>I&lt;</a:t>
            </a:r>
            <a:br/>
            <a:r>
              <a:t>% 4a ..rancelicense...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does the excess interest</a:t>
            </a:r>
          </a:p>
          <a:p>
            <a:r>
              <a:t>provision benefit the policy owner?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Question 10 Select the appropriate response</a:t>
            </a:r>
            <a:br/>
            <a:br/>
            <a:r>
              <a:t>How does the excess interest</a:t>
            </a:r>
            <a:br/>
            <a:r>
              <a:t>provision benefit the policy owner?</a:t>
            </a:r>
          </a:p>
          <a:p>
            <a:pPr>
              <a:defRPr b="1"/>
            </a:pPr>
            <a:r>
              <a:t>✅ By increasing cash value growth beyond the</a:t>
            </a:r>
          </a:p>
          <a:p>
            <a:r>
              <a:t>☐ uaranteed rate</a:t>
            </a:r>
          </a:p>
          <a:p>
            <a:r>
              <a:t>☐ By extending the grace period</a:t>
            </a:r>
          </a:p>
          <a:p>
            <a:r>
              <a:t>☐ By reducing premiums</a:t>
            </a:r>
            <a:br/>
            <a:br/>
            <a:r>
              <a:t>By allowing policy modifications</a:t>
            </a:r>
          </a:p>
          <a:p>
            <a:r>
              <a:t>☐ uaranteed minimum rate. This feature allows</a:t>
            </a:r>
            <a:br/>
            <a:r>
              <a:t>policyholders to benefit from higher returns in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The excess interest provision benefits the policy</a:t>
            </a:r>
            <a:br/>
            <a:r>
              <a:t>owner by increasing cash value growth beyond the</a:t>
            </a:r>
            <a:br/>
            <a:r>
              <a:t>guaranteed minimum rate. This feature allows</a:t>
            </a:r>
            <a:br/>
            <a:r>
              <a:t>policyholders to benefit from higher returns in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has the authority to modify a life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Question 11 Select the appropriate response</a:t>
            </a:r>
            <a:br/>
            <a:br/>
            <a:r>
              <a:t>Who has the authority to modify a life</a:t>
            </a:r>
          </a:p>
          <a:p>
            <a:r>
              <a:t>☐ nsurance policy before its approval?</a:t>
            </a:r>
          </a:p>
          <a:p>
            <a:r>
              <a:t>☐ Beneficiary</a:t>
            </a:r>
            <a:br/>
            <a:br/>
            <a:r>
              <a:t>Insurance agent</a:t>
            </a:r>
          </a:p>
          <a:p>
            <a:r>
              <a:t>☐ Authorized company officers</a:t>
            </a:r>
            <a:br/>
            <a:r>
              <a:t>&amp; Policy owner</a:t>
            </a:r>
          </a:p>
          <a:p>
            <a:r>
              <a:t>☐ ndividuals who have the authority to make</a:t>
            </a:r>
            <a:br/>
            <a:r>
              <a:t>modifications to a life insurance policy before it is</a:t>
            </a:r>
            <a:br/>
            <a:r>
              <a:t>finalized and issued. This ensures that any changes</a:t>
            </a:r>
            <a:br/>
            <a:r>
              <a:t>are officially sanctioned and properly documented,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finalized and issued. This ensures that any changes</a:t>
            </a:r>
            <a:br/>
            <a:r>
              <a:t>are officially sanctioned and properly documented,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option does a policy owner have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f they stop paying premiums ona</a:t>
            </a:r>
            <a:br/>
            <a:r>
              <a:t>whole life policy?</a:t>
            </a:r>
            <a:br/>
            <a:br/>
            <a:r>
              <a:t>Surrender the policy for cash value</a:t>
            </a:r>
            <a:br/>
            <a:r>
              <a:t>Increase the policy face amount</a:t>
            </a:r>
            <a:br/>
            <a:br/>
            <a:r>
              <a:t>Modify the insuring clause</a:t>
            </a:r>
            <a:br/>
            <a:br/>
            <a:r>
              <a:t>€ © Assign the policy to another party</a:t>
            </a:r>
          </a:p>
          <a:p>
            <a:r>
              <a:t>☐ &lt; A &gt;|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to surrender</a:t>
            </a:r>
            <a:br/>
            <a:r>
              <a:t>the policy for its cash value. This allows the</a:t>
            </a:r>
            <a:br/>
            <a:r>
              <a:t>policyholder to access the accumulated funds in the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provision protects</a:t>
            </a:r>
          </a:p>
          <a:p>
            <a:r>
              <a:t>the policy from lapsing due toa</a:t>
            </a:r>
          </a:p>
          <a:p>
            <a:r>
              <a:t>missed premium payment by using the</a:t>
            </a:r>
          </a:p>
          <a:p>
            <a:r>
              <a:t>policy's cash value.</a:t>
            </a:r>
          </a:p>
          <a:p>
            <a:r>
              <a:t>Misstatement of age</a:t>
            </a:r>
          </a:p>
          <a:p>
            <a:r>
              <a:t>Waiver of premium</a:t>
            </a:r>
          </a:p>
          <a:p>
            <a:r>
              <a:t>Accelerated benefits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Automatic premium loan</a:t>
            </a:r>
          </a:p>
          <a:p>
            <a:br/>
            <a:pPr>
              <a:defRPr sz="1200" i="1"/>
            </a:pPr>
            <a:r>
              <a:t>Note: The automatic premium loan provision helps</a:t>
            </a:r>
            <a:br/>
            <a:r>
              <a:t>prevent a policy from lapsing by automatically</a:t>
            </a:r>
            <a:br/>
            <a:r>
              <a:t>applying a loan against the policy’s cash value to</a:t>
            </a:r>
            <a:br/>
            <a:r>
              <a:t>I&lt;</a:t>
            </a:r>
            <a:br/>
            <a:r>
              <a:t>% 4a ..rancelicense.myabsorb.com (</a:t>
            </a:r>
            <a:br/>
            <a:r>
              <a:t>&lt; + (21)...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the suicide clause stipulate</a:t>
            </a:r>
          </a:p>
          <a:p>
            <a:r>
              <a:t>about death caused by suicide within</a:t>
            </a:r>
          </a:p>
          <a:p>
            <a:r>
              <a:t>the initial policy period?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Question 14 Select the appropriate response</a:t>
            </a:r>
            <a:br/>
            <a:br/>
            <a:r>
              <a:t>What does the suicide clause stipulate</a:t>
            </a:r>
            <a:br/>
            <a:r>
              <a:t>about death caused by suicide within</a:t>
            </a:r>
            <a:br/>
            <a:r>
              <a:t>the initial policy period?</a:t>
            </a:r>
          </a:p>
          <a:p>
            <a:r>
              <a:t>☐ It is covered</a:t>
            </a:r>
          </a:p>
          <a:p>
            <a:pPr>
              <a:defRPr b="1"/>
            </a:pPr>
            <a:r>
              <a:t>✅ The death benefit is doubled</a:t>
            </a:r>
          </a:p>
          <a:p>
            <a:r>
              <a:t>☐ The premiums are refunded with interest</a:t>
            </a:r>
          </a:p>
          <a:p>
            <a:r>
              <a:t>☐ It is excluded from coverage</a:t>
            </a:r>
          </a:p>
          <a:p>
            <a:br/>
            <a:pPr>
              <a:defRPr sz="1200" i="1"/>
            </a:pPr>
            <a:r>
              <a:t>Note: covered</a:t>
            </a:r>
            <a:br/>
            <a:r>
              <a:t>x) The death benefit is doubled</a:t>
            </a:r>
            <a:br/>
            <a:r>
              <a:t>x) The premiums are refunded with interest</a:t>
            </a:r>
            <a:br/>
            <a:r>
              <a:t>g It is excluded from coverage</a:t>
            </a:r>
            <a:br/>
            <a:r>
              <a:t>Proceed =</a:t>
            </a:r>
            <a:br/>
            <a:r>
              <a:t>és The suicide clause specifically excludes</a:t>
            </a:r>
            <a:br/>
            <a:r>
              <a:t>coverage for deaths due to suicide within the initial</a:t>
            </a:r>
            <a:br/>
            <a:r>
              <a:t>policy period, typically set...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happens if the insured's age is</a:t>
            </a:r>
          </a:p>
          <a:p>
            <a:r>
              <a:t>misstated in the policy application?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Question 15 Select the appropriate response</a:t>
            </a:r>
            <a:br/>
            <a:br/>
            <a:r>
              <a:t>What happens if the insured's age is</a:t>
            </a:r>
            <a:br/>
            <a:r>
              <a:t>misstated in the policy application?</a:t>
            </a:r>
          </a:p>
          <a:p>
            <a:pPr>
              <a:defRPr b="1"/>
            </a:pPr>
            <a:r>
              <a:t>✅ The insured must prove insurability</a:t>
            </a:r>
          </a:p>
          <a:p>
            <a:r>
              <a:t>☐ The premiums or death benefit (after death)</a:t>
            </a:r>
            <a:br/>
            <a:r>
              <a:t>are adjusted</a:t>
            </a:r>
          </a:p>
          <a:p>
            <a:r>
              <a:t>☐ The death benefit is increased</a:t>
            </a:r>
            <a:br/>
            <a:br/>
            <a:r>
              <a:t>%) The policy is voided</a:t>
            </a:r>
          </a:p>
          <a:p>
            <a:br/>
            <a:pPr>
              <a:defRPr sz="1200" i="1"/>
            </a:pPr>
            <a:r>
              <a:t>Note: misstated in the policy application?</a:t>
            </a:r>
            <a:br/>
            <a:r>
              <a:t>x) The insured must prove insurability</a:t>
            </a:r>
            <a:br/>
            <a:r>
              <a:t>g The premiums or death benefit (after death)</a:t>
            </a:r>
            <a:br/>
            <a:r>
              <a:t>are adjusted</a:t>
            </a:r>
            <a:br/>
            <a:r>
              <a:t>x) The death benefit is increased</a:t>
            </a:r>
            <a:br/>
            <a:r>
              <a:t>%) The policy is voided</a:t>
            </a:r>
            <a:br/>
            <a:r>
              <a:t>ds |f the insured's age is misstated on the</a:t>
            </a:r>
            <a:br/>
            <a:r>
              <a:t>application, ...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group is NOT typically eligible</a:t>
            </a:r>
          </a:p>
          <a:p>
            <a:r>
              <a:t>for group life insurance?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Question 1 Select the appropriate response</a:t>
            </a:r>
            <a:br/>
            <a:br/>
            <a:r>
              <a:t>Which group is NOT typically eligible</a:t>
            </a:r>
            <a:br/>
            <a:r>
              <a:t>for group life insurance?</a:t>
            </a:r>
          </a:p>
          <a:p>
            <a:pPr>
              <a:defRPr b="1"/>
            </a:pPr>
            <a:r>
              <a:t>✅ Individuals with no common association</a:t>
            </a:r>
          </a:p>
          <a:p>
            <a:r>
              <a:t>☐ Employees of a single employer</a:t>
            </a:r>
          </a:p>
          <a:p>
            <a:r>
              <a:t>☐ Members of a labor union</a:t>
            </a:r>
            <a:br/>
            <a:br/>
            <a:r>
              <a:t>Members of a credit union</a:t>
            </a:r>
          </a:p>
          <a:p>
            <a:br/>
            <a:pPr>
              <a:defRPr sz="1200" i="1"/>
            </a:pPr>
            <a:r>
              <a:t>Note: NOT typically eligible</a:t>
            </a:r>
            <a:br/>
            <a:r>
              <a:t>for group life insurance?</a:t>
            </a:r>
            <a:br/>
            <a:r>
              <a:t>iv) Individuals with no common association</a:t>
            </a:r>
            <a:br/>
            <a:r>
              <a:t>x) Employees of a single employer</a:t>
            </a:r>
            <a:br/>
            <a:r>
              <a:t>x) Members of a labor union</a:t>
            </a:r>
            <a:br/>
            <a:r>
              <a:t>Members of a credit union</a:t>
            </a:r>
            <a:br/>
            <a:r>
              <a:t>Proceed —_</a:t>
            </a:r>
            <a:br/>
            <a:r>
              <a:t>ds ndividuals with no common association are not</a:t>
            </a:r>
            <a:br/>
            <a:r>
              <a:t>typically ...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primary purpose of the Master</a:t>
            </a:r>
          </a:p>
          <a:p>
            <a:r>
              <a:t>Policy in a group life insurance plan?</a:t>
            </a:r>
          </a:p>
          <a:p>
            <a:r>
              <a:t>To cover independent contractors only</a:t>
            </a:r>
          </a:p>
          <a:p>
            <a:r>
              <a:t>To provide health insurance</a:t>
            </a:r>
          </a:p>
          <a:p>
            <a:r>
              <a:t>To provide individual coverage to each</a:t>
            </a:r>
          </a:p>
          <a:p>
            <a:r>
              <a:t>employee's children.</a:t>
            </a:r>
          </a:p>
          <a:p>
            <a:r>
              <a:t>° 8 8 8</a:t>
            </a:r>
          </a:p>
          <a:p>
            <a:r>
              <a:t>To insure several people under one</a:t>
            </a:r>
          </a:p>
          <a:p>
            <a:r>
              <a:t>contract.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nsures multiple people under one contract,</a:t>
            </a:r>
            <a:br/>
            <a:br/>
            <a:r>
              <a:t>&gt;|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the primary purpose of the Master</a:t>
            </a:r>
            <a:br/>
            <a:r>
              <a:t>Policy in a group life insurance plan?</a:t>
            </a:r>
            <a:br/>
            <a:r>
              <a:t>To cover independent contractors only</a:t>
            </a:r>
            <a:br/>
            <a:r>
              <a:t>To provide health insurance</a:t>
            </a:r>
            <a:br/>
            <a:r>
              <a:t>To provide individual coverage to each</a:t>
            </a:r>
            <a:br/>
            <a:r>
              <a:t>employee's children.</a:t>
            </a:r>
            <a:br/>
            <a:r>
              <a:t>° 8 8 8</a:t>
            </a:r>
            <a:br/>
            <a:r>
              <a:t>To insure several people under one</a:t>
            </a:r>
            <a:br/>
            <a:r>
              <a:t>contract...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type of life insurance is typically</a:t>
            </a:r>
          </a:p>
          <a:p>
            <a:r>
              <a:t>used in group credit life insurance?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Question 3 Select the appropriate response</a:t>
            </a:r>
            <a:br/>
            <a:br/>
            <a:r>
              <a:t>What type of life insurance is typically</a:t>
            </a:r>
            <a:br/>
            <a:r>
              <a:t>used in group credit life insurance?</a:t>
            </a:r>
          </a:p>
          <a:p>
            <a:r>
              <a:t>☐ Whole life insurance</a:t>
            </a:r>
            <a:br/>
            <a:br/>
            <a:r>
              <a:t>Decreasing term insurance</a:t>
            </a:r>
            <a:br/>
            <a:br/>
            <a:r>
              <a:t>Endowment insurance</a:t>
            </a:r>
            <a:br/>
            <a:br/>
            <a:r>
              <a:t>Vv)</a:t>
            </a:r>
          </a:p>
          <a:p>
            <a:pPr>
              <a:defRPr b="1"/>
            </a:pPr>
            <a:r>
              <a:t>✅ Increasing term insurance</a:t>
            </a:r>
            <a:br/>
            <a:r>
              <a:t>L)</a:t>
            </a:r>
          </a:p>
          <a:p>
            <a:r>
              <a:t>☐ roup credit life insurance as it aligns the decreasing</a:t>
            </a:r>
          </a:p>
          <a:p>
            <a:r>
              <a:t>☐ nsurance coverage amount with the diminishing loan</a:t>
            </a:r>
            <a:br/>
            <a:r>
              <a:t>balances of the insured members. This specific use</a:t>
            </a:r>
            <a:br/>
            <a:r>
              <a:t>contrasts with Whole life insurance, which provides a</a:t>
            </a:r>
            <a:br/>
            <a:br/>
            <a:r>
              <a:t>&gt;|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typically</a:t>
            </a:r>
            <a:br/>
            <a:r>
              <a:t>used in group credit life insurance?</a:t>
            </a:r>
            <a:br/>
            <a:r>
              <a:t>x) Whole life insurance</a:t>
            </a:r>
            <a:br/>
            <a:r>
              <a:t>Decreasing term insurance</a:t>
            </a:r>
            <a:br/>
            <a:r>
              <a:t>Endowment insurance</a:t>
            </a:r>
            <a:br/>
            <a:r>
              <a:t>Vv)</a:t>
            </a:r>
            <a:br/>
            <a:r>
              <a:t>x) Increasing term insurance</a:t>
            </a:r>
            <a:br/>
            <a:r>
              <a:t>L)</a:t>
            </a:r>
            <a:br/>
            <a:r>
              <a:t>Proceed —_</a:t>
            </a:r>
            <a:br/>
            <a:r>
              <a:t>ds Decreasing term insurance is most suitable for</a:t>
            </a:r>
            <a:br/>
            <a:r>
              <a:t>group credit life insurance as it al...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plan is where the employer</a:t>
            </a:r>
          </a:p>
          <a:p>
            <a:r>
              <a:t>bears the entire cost of insurance</a:t>
            </a:r>
          </a:p>
          <a:p>
            <a:r>
              <a:t>premiums.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noncontributory</a:t>
            </a:r>
          </a:p>
          <a:p>
            <a:r>
              <a:t>☐ participatory</a:t>
            </a:r>
          </a:p>
          <a:p>
            <a:r>
              <a:t>☐ collaborative</a:t>
            </a:r>
          </a:p>
          <a:p>
            <a:r>
              <a:t>☐ contributory</a:t>
            </a:r>
          </a:p>
          <a:p>
            <a:br/>
            <a:pPr>
              <a:defRPr sz="1200" i="1"/>
            </a:pPr>
            <a:r>
              <a:t>Note: where the employer</a:t>
            </a:r>
            <a:br/>
            <a:r>
              <a:t>bears the entire cost of insurance</a:t>
            </a:r>
            <a:br/>
            <a:r>
              <a:t>premiums.</a:t>
            </a:r>
            <a:br/>
            <a:r>
              <a:t>g noncontributory</a:t>
            </a:r>
            <a:br/>
            <a:r>
              <a:t>x) participatory</a:t>
            </a:r>
            <a:br/>
            <a:r>
              <a:t>x) collaborative</a:t>
            </a:r>
            <a:br/>
            <a:r>
              <a:t>x) contributory</a:t>
            </a:r>
            <a:br/>
            <a:r>
              <a:t>Proceed =</a:t>
            </a:r>
            <a:br/>
            <a:r>
              <a:t>és Anoncontributory plan is one where the</a:t>
            </a:r>
            <a:br/>
            <a:r>
              <a:t>employer bears the entire cost of insurance</a:t>
            </a:r>
            <a:br/>
            <a:r>
              <a:t>premiums, making it a ...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must a terminated employee do</a:t>
            </a:r>
          </a:p>
          <a:p>
            <a:r>
              <a:t>within 31 days to maintain coverage?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Reapply for group coverage</a:t>
            </a:r>
          </a:p>
          <a:p>
            <a:r>
              <a:t>☐ Provide proof of insurability</a:t>
            </a:r>
          </a:p>
          <a:p>
            <a:pPr>
              <a:defRPr b="1"/>
            </a:pPr>
            <a:r>
              <a:t>✅ Convert the group policy to an individual</a:t>
            </a:r>
            <a:br/>
            <a:r>
              <a:t>policy</a:t>
            </a:r>
            <a:br/>
            <a:br/>
            <a:r>
              <a:t>%) Pay a conversion fee</a:t>
            </a:r>
          </a:p>
          <a:p>
            <a:r>
              <a:t>☐ roup policy to an individual policy within 31 days to</a:t>
            </a:r>
            <a:br/>
            <a:br/>
            <a:r>
              <a:t>maintain continuous life insurance coverage. This is</a:t>
            </a:r>
            <a:br/>
            <a:r>
              <a:t>critical as it ensures coverage continuity independent</a:t>
            </a:r>
            <a:br/>
            <a:br/>
            <a:r>
              <a:t>&gt;|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is</a:t>
            </a:r>
            <a:br/>
            <a:r>
              <a:t>critical as it ensures coverage continuity independent</a:t>
            </a:r>
            <a:br/>
            <a:r>
              <a:t>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 Retired Lives Reserve</a:t>
            </a:r>
          </a:p>
          <a:p>
            <a:r>
              <a:t>(RLR)?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group life insurance product providing</a:t>
            </a:r>
            <a:br/>
            <a:r>
              <a:t>coverage beyond retirement</a:t>
            </a:r>
          </a:p>
          <a:p>
            <a:r>
              <a:t>☐ A type of whole life insurance policy</a:t>
            </a:r>
          </a:p>
          <a:p>
            <a:r>
              <a:t>☐ e Agroup health insurance product</a:t>
            </a:r>
            <a:br/>
            <a:br/>
            <a:r>
              <a:t>%) An individual retirement account</a:t>
            </a:r>
          </a:p>
          <a:p>
            <a:r>
              <a:t>☐ A Retired Lives Reserve (RLR) is a group life</a:t>
            </a:r>
          </a:p>
          <a:p>
            <a:r>
              <a:t>☐ nsurance product that provides coverage to</a:t>
            </a:r>
            <a:br/>
            <a:r>
              <a:t>employees even after they retire, ensuring that they</a:t>
            </a:r>
            <a:br/>
            <a:r>
              <a:t>continue to have life insurance protection into</a:t>
            </a:r>
            <a:br/>
            <a:br/>
            <a:r>
              <a:t>Pe ee ee eee ee ee ee oe ee eee ee ee</a:t>
            </a:r>
            <a:br/>
            <a:br/>
            <a:r>
              <a:t>ld A &gt;|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a Retired Lives Reserve</a:t>
            </a:r>
            <a:br/>
            <a:r>
              <a:t>(RLR)?</a:t>
            </a:r>
            <a:br/>
            <a:r>
              <a:t>iv) A group life insurance product providing</a:t>
            </a:r>
            <a:br/>
            <a:r>
              <a:t>coverage beyond retirement</a:t>
            </a:r>
            <a:br/>
            <a:r>
              <a:t>x) A type of whole life insurance policy</a:t>
            </a:r>
            <a:br/>
            <a:r>
              <a:t>x) e Agroup health insurance product</a:t>
            </a:r>
            <a:br/>
            <a:r>
              <a:t>%) An individual retirement account</a:t>
            </a:r>
            <a:br/>
            <a:r>
              <a:t>Proceed —_</a:t>
            </a:r>
            <a:br/>
            <a:r>
              <a:t>x A Retired Lives Rese...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Lisa's employer offers a</a:t>
            </a:r>
          </a:p>
          <a:p>
            <a:r>
              <a:t>noncontributory group life insurance</a:t>
            </a:r>
          </a:p>
          <a:p>
            <a:r>
              <a:t>plan. What does this mean for Lisa?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She must pay the full cost of premiums</a:t>
            </a:r>
          </a:p>
          <a:p>
            <a:r>
              <a:t>☐ She must share the cost with her employer</a:t>
            </a:r>
          </a:p>
          <a:p>
            <a:r>
              <a:t>☐ She does not contribute to the premium</a:t>
            </a:r>
            <a:br/>
            <a:r>
              <a:t>payments</a:t>
            </a:r>
          </a:p>
          <a:p>
            <a:r>
              <a:t>☐ She must provide proof of insurability</a:t>
            </a:r>
          </a:p>
          <a:p>
            <a:br/>
            <a:pPr>
              <a:defRPr sz="1200" i="1"/>
            </a:pPr>
            <a:r>
              <a:t>Note: mean for Lisa?</a:t>
            </a:r>
            <a:br/>
            <a:r>
              <a:t>x) She must pay the full cost of premiums</a:t>
            </a:r>
            <a:br/>
            <a:r>
              <a:t>x) She must share the cost with her employer</a:t>
            </a:r>
            <a:br/>
            <a:r>
              <a:t>g She does not contribute to the premium</a:t>
            </a:r>
            <a:br/>
            <a:r>
              <a:t>payments</a:t>
            </a:r>
            <a:br/>
            <a:r>
              <a:t>x) She must provide proof of insurability</a:t>
            </a:r>
            <a:br/>
            <a:r>
              <a:t>Proceed =&gt;</a:t>
            </a:r>
            <a:br/>
            <a:r>
              <a:t>és In anoncontributory group life insurance p...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kind of group insurance plan</a:t>
            </a:r>
          </a:p>
          <a:p>
            <a:r>
              <a:t>requires employees to contribute to</a:t>
            </a:r>
          </a:p>
          <a:p>
            <a:r>
              <a:t>the cost?</a:t>
            </a:r>
          </a:p>
          <a:p>
            <a:r>
              <a:t>Non-Contributory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The type of group insurance plan where</a:t>
            </a:r>
            <a:br/>
            <a:r>
              <a:t>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can be the policy owner in group</a:t>
            </a:r>
          </a:p>
          <a:p>
            <a:r>
              <a:t>life insurance?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The beneficiary</a:t>
            </a:r>
            <a:br/>
            <a:br/>
            <a:r>
              <a:t>The employer or plan sponsor</a:t>
            </a:r>
            <a:br/>
            <a:br/>
            <a:r>
              <a:t>The insurance company</a:t>
            </a:r>
          </a:p>
          <a:p>
            <a:r>
              <a:t>☐ The employee</a:t>
            </a:r>
            <a:br/>
            <a:r>
              <a:t>(x)</a:t>
            </a:r>
          </a:p>
          <a:p>
            <a:r>
              <a:t>☐ nsurer. This central ownership facilitates</a:t>
            </a:r>
            <a:br/>
            <a:r>
              <a:t>administrative oversight and collective bargaining</a:t>
            </a:r>
            <a:br/>
            <a:br/>
            <a:r>
              <a:t>&gt;|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the</a:t>
            </a:r>
            <a:br/>
            <a:r>
              <a:t>policy ownership in a group life insurance setup, as</a:t>
            </a:r>
            <a:br/>
            <a:r>
              <a:t>they are responsible for the master contract with the</a:t>
            </a:r>
            <a:br/>
            <a:r>
              <a:t>insurer. This central ownership facilitates</a:t>
            </a:r>
            <a:br/>
            <a:r>
              <a:t>administrative oversight and collective bargaining</a:t>
            </a:r>
            <a:br/>
            <a:r>
              <a:t>&gt;|</a:t>
            </a:r>
            <a:br/>
            <a:r>
              <a:t>&amp; a ..rancelicense.myabsorb.com (</a:t>
            </a:r>
            <a:br/>
            <a:r>
              <a:t>&lt; &gt; + (...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Michael, an employee of a</a:t>
            </a:r>
          </a:p>
          <a:p>
            <a:r>
              <a:t>manufacturing company, receives a</a:t>
            </a:r>
          </a:p>
          <a:p>
            <a:r>
              <a:t>certificate of insurance. What does this</a:t>
            </a:r>
          </a:p>
          <a:p>
            <a:r>
              <a:t>signify?</a:t>
            </a:r>
          </a:p>
          <a:p>
            <a:r>
              <a:t>He is covered under the group life insurance</a:t>
            </a:r>
          </a:p>
          <a:p>
            <a:r>
              <a:t>plan</a:t>
            </a:r>
          </a:p>
          <a:p>
            <a:r>
              <a:t>He must pay all premiums</a:t>
            </a:r>
          </a:p>
          <a:p>
            <a:r>
              <a:t>He is the beneficiary of the policy</a:t>
            </a:r>
          </a:p>
          <a:p>
            <a:r>
              <a:t>€  He owns the master policy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nsurance, it signifies that he is covered under the</a:t>
            </a:r>
            <a:br/>
            <a:br/>
            <a:r>
              <a:t>ae He ae ee eee ee Pe eee el ee tee eee</a:t>
            </a:r>
            <a:br/>
            <a:br/>
            <a:r>
              <a:t>ld A &gt;|</a:t>
            </a:r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signify?</a:t>
            </a:r>
            <a:br/>
            <a:r>
              <a:t>He is covered under the group life insurance</a:t>
            </a:r>
            <a:br/>
            <a:r>
              <a:t>plan</a:t>
            </a:r>
            <a:br/>
            <a:r>
              <a:t>He must pay all premiums</a:t>
            </a:r>
            <a:br/>
            <a:r>
              <a:t>He is the beneficiary of the policy</a:t>
            </a:r>
            <a:br/>
            <a:r>
              <a:t>€  He owns the master policy</a:t>
            </a:r>
            <a:br/>
            <a:r>
              <a:t>Proceed —_</a:t>
            </a:r>
            <a:br/>
            <a:r>
              <a:t>% When Michael receives a certificate of</a:t>
            </a:r>
            <a:br/>
            <a:r>
              <a:t>insurance, it signifies that he is covered under ...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John is leaving his job and has 31</a:t>
            </a:r>
          </a:p>
          <a:p>
            <a:r>
              <a:t>days to convert his group life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to an individual policy. What</a:t>
            </a:r>
            <a:br/>
            <a:r>
              <a:t>happens if he dies during this period?</a:t>
            </a:r>
            <a:br/>
            <a:br/>
            <a:r>
              <a:t>&gt;) The death benefit is reduced</a:t>
            </a:r>
            <a:br/>
            <a:r>
              <a:t>The death benefit is not paid</a:t>
            </a:r>
            <a:br/>
            <a:br/>
            <a:r>
              <a:t>The death benefit is paid under the group</a:t>
            </a:r>
            <a:br/>
            <a:r>
              <a:t>policy</a:t>
            </a:r>
            <a:br/>
            <a:br/>
            <a:r>
              <a:t>The death benefit is paid under a new</a:t>
            </a:r>
          </a:p>
          <a:p>
            <a:pPr>
              <a:defRPr b="1"/>
            </a:pPr>
            <a:r>
              <a:t>✅ ndividual policy</a:t>
            </a:r>
          </a:p>
          <a:p>
            <a:br/>
            <a:pPr>
              <a:defRPr sz="1200" i="1"/>
            </a:pPr>
            <a:r>
              <a:t>Note: leaving his job and has 31</a:t>
            </a:r>
            <a:br/>
            <a:r>
              <a:t>days to convert his group life</a:t>
            </a:r>
            <a:br/>
            <a:r>
              <a:t>insurance to an individual policy. What</a:t>
            </a:r>
            <a:br/>
            <a:r>
              <a:t>happens if he dies during this period?</a:t>
            </a:r>
            <a:br/>
            <a:r>
              <a:t>&gt;) The death benefit is reduced</a:t>
            </a:r>
            <a:br/>
            <a:r>
              <a:t>The death benefit is not paid</a:t>
            </a:r>
            <a:br/>
            <a:r>
              <a:t>The death benefit is paid under the group</a:t>
            </a:r>
            <a:br/>
            <a:r>
              <a:t>policy</a:t>
            </a:r>
            <a:br/>
            <a:r>
              <a:t>Th...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 key characteristic of</a:t>
            </a:r>
          </a:p>
          <a:p>
            <a:r>
              <a:t>franchise life insurance?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e  Itrequires proof of insurability for each</a:t>
            </a:r>
            <a:br/>
            <a:r>
              <a:t>participant</a:t>
            </a:r>
            <a:br/>
            <a:br/>
            <a:r>
              <a:t>It excludes employees with physical</a:t>
            </a:r>
          </a:p>
          <a:p>
            <a:r>
              <a:t>☐ mpairments</a:t>
            </a:r>
            <a:br/>
            <a:br/>
            <a:r>
              <a:t>It issues a master policy to the employer</a:t>
            </a:r>
          </a:p>
          <a:p>
            <a:r>
              <a:t>☐ ssuing individual policies to participants rather than a</a:t>
            </a:r>
            <a:br/>
            <a:r>
              <a:t>single master policy. This structure allows each</a:t>
            </a:r>
            <a:br/>
            <a:r>
              <a:t>member to have a policy tailored to their specific</a:t>
            </a:r>
            <a:br/>
            <a:r>
              <a:t>needs and situations, unlike group policies that are</a:t>
            </a:r>
            <a:br/>
            <a:r>
              <a:t>uniform. This differs from a setup where a master</a:t>
            </a:r>
            <a:br/>
            <a:br/>
            <a:r>
              <a:t>EAN Ne ae ee ee ee</a:t>
            </a:r>
            <a:br/>
            <a:br/>
            <a:r>
              <a:t>I&lt; A &gt;|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a key characteristic of</a:t>
            </a:r>
            <a:br/>
            <a:r>
              <a:t>franchise life insurance?</a:t>
            </a:r>
            <a:br/>
            <a:r>
              <a:t>x) e  Itrequires proof of insurability for each</a:t>
            </a:r>
            <a:br/>
            <a:r>
              <a:t>participant</a:t>
            </a:r>
            <a:br/>
            <a:r>
              <a:t>It excludes employees with physical</a:t>
            </a:r>
            <a:br/>
            <a:r>
              <a:t>impairments</a:t>
            </a:r>
            <a:br/>
            <a:r>
              <a:t>It issues a master policy to the employer</a:t>
            </a:r>
            <a:br/>
            <a:r>
              <a:t>% Franchise life insurance is characterized by</a:t>
            </a:r>
            <a:br/>
            <a:r>
              <a:t>iss...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an Irrevocable Beneficiary?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Question 1 Select the appropriate response</a:t>
            </a:r>
            <a:br/>
            <a:br/>
            <a:r>
              <a:t>What is an Irrevocable Beneficiary?</a:t>
            </a:r>
          </a:p>
          <a:p>
            <a:r>
              <a:t>☐ A beneficiary designated by the insurer</a:t>
            </a:r>
            <a:br/>
            <a:br/>
            <a:r>
              <a:t>A beneficiary that cannot be changed</a:t>
            </a:r>
            <a:br/>
            <a:r>
              <a:t>without their consent</a:t>
            </a:r>
          </a:p>
          <a:p>
            <a:pPr>
              <a:defRPr b="1"/>
            </a:pPr>
            <a:r>
              <a:t>✅ %) A secondary beneficiary</a:t>
            </a:r>
          </a:p>
          <a:p>
            <a:r>
              <a:t>☐ A beneficiary that can be changed at any</a:t>
            </a:r>
            <a:br/>
            <a:r>
              <a:t>time</a:t>
            </a:r>
          </a:p>
          <a:p>
            <a:br/>
            <a:pPr>
              <a:defRPr sz="1200" i="1"/>
            </a:pPr>
            <a:r>
              <a:t>Note: an Irrevocable Beneficiary?</a:t>
            </a:r>
            <a:br/>
            <a:r>
              <a:t>x) A beneficiary designated by the insurer</a:t>
            </a:r>
            <a:br/>
            <a:r>
              <a:t>A beneficiary that cannot be changed</a:t>
            </a:r>
            <a:br/>
            <a:r>
              <a:t>without their consent</a:t>
            </a:r>
            <a:br/>
            <a:r>
              <a:t>v)</a:t>
            </a:r>
            <a:br/>
            <a:r>
              <a:t>%) A secondary beneficiary</a:t>
            </a:r>
            <a:br/>
            <a:r>
              <a:t>x)</a:t>
            </a:r>
            <a:br/>
            <a:r>
              <a:t>A beneficiary that can be changed at any</a:t>
            </a:r>
            <a:br/>
            <a:r>
              <a:t>time</a:t>
            </a:r>
            <a:br/>
            <a:r>
              <a:t>és An irrevocable beneficiary designation...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option allows the insurance</a:t>
            </a:r>
          </a:p>
          <a:p>
            <a:r>
              <a:t>company to hold the death proceeds</a:t>
            </a:r>
          </a:p>
          <a:p>
            <a:r>
              <a:t>and pay only the interest earned to the</a:t>
            </a:r>
          </a:p>
          <a:p>
            <a:r>
              <a:t>beneficiary.</a:t>
            </a:r>
          </a:p>
          <a:p>
            <a:r>
              <a:t>Lump Sum</a:t>
            </a:r>
          </a:p>
          <a:p>
            <a:r>
              <a:t>Fixed Period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Interest Only</a:t>
            </a:r>
            <a:br/>
            <a:br/>
            <a:r>
              <a:t>Fixed Amount</a:t>
            </a:r>
          </a:p>
          <a:p>
            <a:br/>
            <a:pPr>
              <a:defRPr sz="1200" i="1"/>
            </a:pPr>
            <a:r>
              <a:t>Note: and pay only the interest earned to the</a:t>
            </a:r>
            <a:br/>
            <a:r>
              <a:t>beneficiary.</a:t>
            </a:r>
            <a:br/>
            <a:r>
              <a:t>Lump Sum</a:t>
            </a:r>
            <a:br/>
            <a:r>
              <a:t>Fixed Period</a:t>
            </a:r>
            <a:br/>
            <a:r>
              <a:t>g Interest Only</a:t>
            </a:r>
            <a:br/>
            <a:r>
              <a:t>Fixed Amount</a:t>
            </a:r>
            <a:br/>
            <a:r>
              <a:t>Proceed =&gt;</a:t>
            </a:r>
            <a:br/>
            <a:r>
              <a:t>és The Interest Only option involves the insurance</a:t>
            </a:r>
            <a:br/>
            <a:r>
              <a:t>company holding the entire death benefit and paying</a:t>
            </a:r>
            <a:br/>
            <a:r>
              <a:t>out only the interest earned on ...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Sarah is terminally ill and wants to</a:t>
            </a:r>
          </a:p>
          <a:p>
            <a:r>
              <a:t>access her life insurance benefits to</a:t>
            </a:r>
          </a:p>
          <a:p>
            <a:r>
              <a:t>cover her medical expenses. Which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Question 3 Select the appropriate response</a:t>
            </a:r>
            <a:br/>
            <a:br/>
            <a:r>
              <a:t>Sarah is terminally ill and wants to</a:t>
            </a:r>
            <a:br/>
            <a:r>
              <a:t>access her life insurance benefits to</a:t>
            </a:r>
            <a:br/>
            <a:r>
              <a:t>cover her medical expenses. Which</a:t>
            </a:r>
            <a:br/>
            <a:r>
              <a:t>option allows her to do this?</a:t>
            </a:r>
          </a:p>
          <a:p>
            <a:r>
              <a:t>☐ Accelerated Benefit Rider</a:t>
            </a:r>
            <a:br/>
            <a:r>
              <a:t>Interest Only Option</a:t>
            </a:r>
            <a:br/>
            <a:r>
              <a:t>Fixed Period Option</a:t>
            </a:r>
            <a:br/>
            <a:br/>
            <a:r>
              <a:t>Lump Sum Option</a:t>
            </a:r>
          </a:p>
          <a:p>
            <a:r>
              <a:t>☐ llness necessitates early access to life insurance</a:t>
            </a:r>
            <a:br/>
            <a:br/>
            <a:r>
              <a:t>&gt;|</a:t>
            </a:r>
            <a:br/>
            <a:br/>
            <a:r>
              <a:t>% 4a ..rancelicense.myabsorb.com (©</a:t>
            </a:r>
            <a:br/>
            <a:br/>
            <a:r>
              <a:t>&lt; + (21)</a:t>
            </a:r>
          </a:p>
          <a:p>
            <a:br/>
            <a:pPr>
              <a:defRPr sz="1200" i="1"/>
            </a:pPr>
            <a:r>
              <a:t>Note: terminally ill and wants to</a:t>
            </a:r>
            <a:br/>
            <a:r>
              <a:t>access her life insurance benefits to</a:t>
            </a:r>
            <a:br/>
            <a:r>
              <a:t>cover her medical expenses. Which</a:t>
            </a:r>
            <a:br/>
            <a:r>
              <a:t>option allows her to do this?</a:t>
            </a:r>
            <a:br/>
            <a:r>
              <a:t>g Accelerated Benefit Rider</a:t>
            </a:r>
            <a:br/>
            <a:r>
              <a:t>Interest Only Option</a:t>
            </a:r>
            <a:br/>
            <a:r>
              <a:t>Fixed Period Option</a:t>
            </a:r>
            <a:br/>
            <a:r>
              <a:t>Lump Sum Option</a:t>
            </a:r>
            <a:br/>
            <a:r>
              <a:t>Proceed =&gt;</a:t>
            </a:r>
            <a:br/>
            <a:r>
              <a:t>ds The Accelerated Benef...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clause prevents creditors</a:t>
            </a:r>
          </a:p>
          <a:p>
            <a:r>
              <a:t>from obtaining policy proceeds upon</a:t>
            </a:r>
          </a:p>
          <a:p>
            <a:r>
              <a:t>the insured's death.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Irrevocable Beneficiary</a:t>
            </a:r>
          </a:p>
          <a:p>
            <a:r>
              <a:t>☐ Facility of Payment</a:t>
            </a:r>
          </a:p>
          <a:p>
            <a:r>
              <a:t>☐ Spendthrift</a:t>
            </a:r>
          </a:p>
          <a:p>
            <a:r>
              <a:t>☐ Common Disaster</a:t>
            </a:r>
          </a:p>
          <a:p>
            <a:br/>
            <a:pPr>
              <a:defRPr sz="1200" i="1"/>
            </a:pPr>
            <a:r>
              <a:t>Note: upon</a:t>
            </a:r>
            <a:br/>
            <a:r>
              <a:t>the insured's death.</a:t>
            </a:r>
            <a:br/>
            <a:r>
              <a:t>x) Irrevocable Beneficiary</a:t>
            </a:r>
            <a:br/>
            <a:r>
              <a:t>x) Facility of Payment</a:t>
            </a:r>
            <a:br/>
            <a:r>
              <a:t>g Spendthrift</a:t>
            </a:r>
            <a:br/>
            <a:r>
              <a:t>x) Common Disaster</a:t>
            </a:r>
            <a:br/>
            <a:r>
              <a:t>Proceed =</a:t>
            </a:r>
            <a:br/>
            <a:r>
              <a:t>ds The Spendthrift Clause is specifically designed</a:t>
            </a:r>
            <a:br/>
            <a:r>
              <a:t>to protect life insurance proceeds from being claimed</a:t>
            </a:r>
            <a:br/>
            <a:r>
              <a:t>by creditors after the ins...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 Life Settlement?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The purchase of additional coverage</a:t>
            </a:r>
            <a:br/>
            <a:br/>
            <a:r>
              <a:t>The transfer of a policy to a family member</a:t>
            </a:r>
          </a:p>
          <a:p>
            <a:r>
              <a:t>☐ The sale of a life insurance policy to a third</a:t>
            </a:r>
            <a:br/>
            <a:r>
              <a:t>party for more than its cash surrender value</a:t>
            </a:r>
            <a:br/>
            <a:br/>
            <a:r>
              <a:t>The conversion of a term policy to a whole</a:t>
            </a:r>
            <a:br/>
            <a:r>
              <a:t>life policy</a:t>
            </a:r>
          </a:p>
          <a:p>
            <a:pPr>
              <a:defRPr b="1"/>
            </a:pPr>
            <a:r>
              <a:t>✅ nsurance policy by the policyholder to a third party</a:t>
            </a:r>
            <a:br/>
            <a:r>
              <a:t>for an amount that is greater than the cash surrender</a:t>
            </a:r>
          </a:p>
          <a:p>
            <a:r>
              <a:t>☐ alue but typically less than the death benefit. This</a:t>
            </a:r>
            <a:br/>
            <a:r>
              <a:t>provides an option for policyholders who no longer</a:t>
            </a:r>
            <a:br/>
            <a:br/>
            <a:r>
              <a:t>&gt;|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a Life Settlement?</a:t>
            </a:r>
            <a:br/>
            <a:r>
              <a:t>x) The purchase of additional coverage</a:t>
            </a:r>
            <a:br/>
            <a:r>
              <a:t>The transfer of a policy to a family member</a:t>
            </a:r>
            <a:br/>
            <a:r>
              <a:t>g The sale of a life insurance policy to a third</a:t>
            </a:r>
            <a:br/>
            <a:r>
              <a:t>party for more than its cash surrender value</a:t>
            </a:r>
            <a:br/>
            <a:r>
              <a:t>The conversion of a term policy to a whole</a:t>
            </a:r>
            <a:br/>
            <a:r>
              <a:t>life policy...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happens if a life insurance</a:t>
            </a:r>
          </a:p>
          <a:p>
            <a:r>
              <a:t>policy's cash value is surrendered?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The entire amount is tax-free</a:t>
            </a:r>
          </a:p>
          <a:p>
            <a:r>
              <a:t>☐ It automatically reinvests</a:t>
            </a:r>
          </a:p>
          <a:p>
            <a:r>
              <a:t>☐ The portion that exceeds the premiums paid</a:t>
            </a:r>
          </a:p>
          <a:p>
            <a:r>
              <a:t>☐ s taxable</a:t>
            </a:r>
            <a:br/>
            <a:br/>
            <a:r>
              <a:t>%) It is considered a loan</a:t>
            </a:r>
          </a:p>
          <a:p>
            <a:br/>
            <a:pPr>
              <a:defRPr sz="1200" i="1"/>
            </a:pPr>
            <a:r>
              <a:t>Note: surrendered?</a:t>
            </a:r>
            <a:br/>
            <a:r>
              <a:t>x) The entire amount is tax-free</a:t>
            </a:r>
            <a:br/>
            <a:r>
              <a:t>x) It automatically reinvests</a:t>
            </a:r>
            <a:br/>
            <a:r>
              <a:t>g The portion that exceeds the premiums paid</a:t>
            </a:r>
            <a:br/>
            <a:r>
              <a:t>is taxable</a:t>
            </a:r>
            <a:br/>
            <a:r>
              <a:t>%) It is considered a loan</a:t>
            </a:r>
            <a:br/>
            <a:r>
              <a:t>Proceed and</a:t>
            </a:r>
            <a:br/>
            <a:r>
              <a:t>ds When a life insurance policy's cash value is</a:t>
            </a:r>
            <a:br/>
            <a:r>
              <a:t>surrendered, the amount receive...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Earned Premium in life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nsurance?</a:t>
            </a:r>
          </a:p>
          <a:p>
            <a:r>
              <a:t>☐ Future premium payments</a:t>
            </a:r>
          </a:p>
          <a:p>
            <a:r>
              <a:t>☐ Premium for coverage already received</a:t>
            </a:r>
          </a:p>
          <a:p>
            <a:r>
              <a:t>☐ Total premium due</a:t>
            </a:r>
          </a:p>
          <a:p>
            <a:r>
              <a:t>☐ Refunded premium</a:t>
            </a:r>
          </a:p>
          <a:p>
            <a:br/>
            <a:pPr>
              <a:defRPr sz="1200" i="1"/>
            </a:pPr>
            <a:r>
              <a:t>Note: Earned Premium in life</a:t>
            </a:r>
            <a:br/>
            <a:r>
              <a:t>insurance?</a:t>
            </a:r>
            <a:br/>
            <a:r>
              <a:t>x) Future premium payments</a:t>
            </a:r>
            <a:br/>
            <a:r>
              <a:t>g Premium for coverage already received</a:t>
            </a:r>
            <a:br/>
            <a:r>
              <a:t>x) Total premium due</a:t>
            </a:r>
            <a:br/>
            <a:r>
              <a:t>x) Refunded premium</a:t>
            </a:r>
            <a:br/>
            <a:r>
              <a:t>Proceed =</a:t>
            </a:r>
            <a:br/>
            <a:r>
              <a:t>és Earned Premium in life insurance refers to the</a:t>
            </a:r>
            <a:br/>
            <a:r>
              <a:t>premium paid for coverage that has already been</a:t>
            </a:r>
            <a:br/>
            <a:r>
              <a:t>...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implication of designating</a:t>
            </a:r>
          </a:p>
          <a:p>
            <a:r>
              <a:t>an Irrevocable Beneficiary?</a:t>
            </a:r>
          </a:p>
          <a:p>
            <a:r>
              <a:t>Temporary beneficiary status</a:t>
            </a:r>
          </a:p>
          <a:p>
            <a:r>
              <a:t>Flexibility in changing beneficiaries</a:t>
            </a:r>
          </a:p>
          <a:p>
            <a:r>
              <a:t>Permanent beneficiary designation without</a:t>
            </a:r>
          </a:p>
          <a:p>
            <a:r>
              <a:t>alteration unless consented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Question 8 Select the appropriate response</a:t>
            </a:r>
            <a:br/>
            <a:br/>
            <a:r>
              <a:t>What is the implication of designating</a:t>
            </a:r>
            <a:br/>
            <a:r>
              <a:t>an Irrevocable Beneficiary?</a:t>
            </a:r>
            <a:br/>
            <a:br/>
            <a:r>
              <a:t>Temporary beneficiary status</a:t>
            </a:r>
            <a:br/>
            <a:br/>
            <a:r>
              <a:t>Flexibility in changing beneficiaries</a:t>
            </a:r>
            <a:br/>
            <a:br/>
            <a:r>
              <a:t>Permanent beneficiary designation without</a:t>
            </a:r>
            <a:br/>
            <a:r>
              <a:t>alteration unless consented</a:t>
            </a:r>
          </a:p>
          <a:p>
            <a:r>
              <a:t>☐ Vv)</a:t>
            </a:r>
          </a:p>
          <a:p>
            <a:br/>
            <a:pPr>
              <a:defRPr sz="1200" i="1"/>
            </a:pPr>
            <a:r>
              <a:t>Note: the implication of designating</a:t>
            </a:r>
            <a:br/>
            <a:r>
              <a:t>an Irrevocable Beneficiary?</a:t>
            </a:r>
            <a:br/>
            <a:r>
              <a:t>Temporary beneficiary status</a:t>
            </a:r>
            <a:br/>
            <a:r>
              <a:t>Flexibility in changing beneficiaries</a:t>
            </a:r>
            <a:br/>
            <a:r>
              <a:t>Permanent beneficiary designation without</a:t>
            </a:r>
            <a:br/>
            <a:r>
              <a:t>alteration unless consented</a:t>
            </a:r>
            <a:br/>
            <a:r>
              <a:t>x)</a:t>
            </a:r>
            <a:br/>
            <a:r>
              <a:t>x)</a:t>
            </a:r>
            <a:br/>
            <a:r>
              <a:t>Vv)</a:t>
            </a:r>
            <a:br/>
            <a:r>
              <a:t>x)</a:t>
            </a:r>
            <a:br/>
            <a:r>
              <a:t>Proceed —_</a:t>
            </a:r>
            <a:br/>
            <a:r>
              <a:t>Automatic beneficiary updates</a:t>
            </a:r>
            <a:br/>
            <a:r>
              <a:t>...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is the person or entity designated</a:t>
            </a:r>
          </a:p>
          <a:p>
            <a:r>
              <a:t>to receive the death proceeds of a life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nsurance policy?</a:t>
            </a:r>
          </a:p>
          <a:p>
            <a:r>
              <a:t>☐ Insurer</a:t>
            </a:r>
          </a:p>
          <a:p>
            <a:r>
              <a:t>☐ Beneficiary</a:t>
            </a:r>
          </a:p>
          <a:p>
            <a:r>
              <a:t>☐ Policyowner</a:t>
            </a:r>
          </a:p>
          <a:p>
            <a:r>
              <a:t>☐ Underwriter</a:t>
            </a:r>
          </a:p>
          <a:p>
            <a:r>
              <a:t>☐ nsurer, who provides the coverage; the policyowner,</a:t>
            </a:r>
            <a:br/>
            <a:br/>
            <a:r>
              <a:t>&gt;|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the person or entity designated</a:t>
            </a:r>
            <a:br/>
            <a:r>
              <a:t>to receive the death proceeds of a life</a:t>
            </a:r>
            <a:br/>
            <a:r>
              <a:t>insurance policy?</a:t>
            </a:r>
            <a:br/>
            <a:r>
              <a:t>x) Insurer</a:t>
            </a:r>
            <a:br/>
            <a:r>
              <a:t>g Beneficiary</a:t>
            </a:r>
            <a:br/>
            <a:r>
              <a:t>x) Policyowner</a:t>
            </a:r>
            <a:br/>
            <a:r>
              <a:t>x) Underwriter</a:t>
            </a:r>
            <a:br/>
            <a:r>
              <a:t>Proceed =</a:t>
            </a:r>
            <a:br/>
            <a:r>
              <a:t>és The beneficiary is the designated person or</a:t>
            </a:r>
            <a:br/>
            <a:r>
              <a:t>entity intended to receive the death proceeds up...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term refers to the frequency</a:t>
            </a:r>
          </a:p>
          <a:p>
            <a:r>
              <a:t>with which a policyowner elects to pay</a:t>
            </a:r>
          </a:p>
          <a:p>
            <a:r>
              <a:t>premiums?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Premium Calculation</a:t>
            </a:r>
          </a:p>
          <a:p>
            <a:r>
              <a:t>☐ Expense Factor</a:t>
            </a:r>
          </a:p>
          <a:p>
            <a:r>
              <a:t>☐ Cash Value</a:t>
            </a:r>
          </a:p>
          <a:p>
            <a:pPr>
              <a:defRPr b="1"/>
            </a:pPr>
            <a:r>
              <a:t>✅ Premium Mode</a:t>
            </a:r>
          </a:p>
          <a:p>
            <a:br/>
            <a:pPr>
              <a:defRPr sz="1200" i="1"/>
            </a:pPr>
            <a:r>
              <a:t>Note: Premium Mode refers to the frequency at which</a:t>
            </a:r>
            <a:br/>
            <a:r>
              <a:t>a policyowner opts to pay premiums, such as</a:t>
            </a:r>
            <a:br/>
            <a:r>
              <a:t>monthly, quarterly, semiannually, or annually. This</a:t>
            </a:r>
            <a:br/>
            <a:r>
              <a:t>term is specifically about the timing of payments,</a:t>
            </a:r>
            <a:br/>
            <a:r>
              <a:t>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option provides the</a:t>
            </a:r>
          </a:p>
          <a:p>
            <a:r>
              <a:t>beneficiary with an income that they</a:t>
            </a:r>
          </a:p>
          <a:p>
            <a:r>
              <a:t>cannot outlive.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Interest Only</a:t>
            </a:r>
          </a:p>
          <a:p>
            <a:r>
              <a:t>☐ Fixed Period</a:t>
            </a:r>
          </a:p>
          <a:p>
            <a:pPr>
              <a:defRPr b="1"/>
            </a:pPr>
            <a:r>
              <a:t>✅ Life Income</a:t>
            </a:r>
          </a:p>
          <a:p>
            <a:r>
              <a:t>☐ Lump Sum</a:t>
            </a:r>
          </a:p>
          <a:p>
            <a:br/>
            <a:pPr>
              <a:defRPr sz="1200" i="1"/>
            </a:pPr>
            <a:r>
              <a:t>Note: The Life Income option ensures that</a:t>
            </a:r>
            <a:br/>
            <a:r>
              <a:t>beneficiaries receive a regular income for the</a:t>
            </a:r>
            <a:br/>
            <a:r>
              <a:t>remainder of their lives, regardless of how long they</a:t>
            </a:r>
            <a:br/>
            <a:r>
              <a:t>live. This provides a steady and reliable financial</a:t>
            </a:r>
            <a:br/>
            <a:r>
              <a:t>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Cash Value in a life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nsurance policy?</a:t>
            </a:r>
          </a:p>
          <a:p>
            <a:r>
              <a:t>☐ e The initial premium paid by the policyowner</a:t>
            </a:r>
            <a:br/>
            <a:br/>
            <a:r>
              <a:t>The equity or savings element of whole life</a:t>
            </a:r>
          </a:p>
          <a:p>
            <a:r>
              <a:t>☐ nsurance policies</a:t>
            </a:r>
            <a:br/>
            <a:br/>
            <a:r>
              <a:t>The amount paid to the beneficiary</a:t>
            </a:r>
            <a:br/>
            <a:br/>
            <a:r>
              <a:t>The face value of the policy</a:t>
            </a:r>
          </a:p>
          <a:p>
            <a:r>
              <a:t>☐ n whole life and other forms of permanent life</a:t>
            </a:r>
          </a:p>
          <a:p>
            <a:r>
              <a:t>☐ nsurance. This accumulated amount can be used for</a:t>
            </a:r>
            <a:br/>
            <a:br/>
            <a:r>
              <a:t>Ee ee ee ee ee ee ee</a:t>
            </a:r>
            <a:br/>
            <a:br/>
            <a:r>
              <a:t>ld A &gt;|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the Cash Value in a life</a:t>
            </a:r>
            <a:br/>
            <a:r>
              <a:t>insurance policy?</a:t>
            </a:r>
            <a:br/>
            <a:r>
              <a:t>x) e The initial premium paid by the policyowner</a:t>
            </a:r>
            <a:br/>
            <a:r>
              <a:t>The equity or savings element of whole life</a:t>
            </a:r>
            <a:br/>
            <a:r>
              <a:t>insurance policies</a:t>
            </a:r>
            <a:br/>
            <a:r>
              <a:t>The amount paid to the beneficiary</a:t>
            </a:r>
            <a:br/>
            <a:r>
              <a:t>The face value of the policy</a:t>
            </a:r>
            <a:br/>
            <a:r>
              <a:t>Proceed —</a:t>
            </a:r>
            <a:br/>
            <a:r>
              <a:t>% Cash Value in a lif...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tax implication for death</a:t>
            </a:r>
          </a:p>
          <a:p>
            <a:r>
              <a:t>benefit installments in life insurance?</a:t>
            </a:r>
          </a:p>
          <a:p>
            <a:r>
              <a:t>Entire amount is taxable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the tax implication for death</a:t>
            </a:r>
            <a:br/>
            <a:r>
              <a:t>benefit installments in life insurance?</a:t>
            </a:r>
            <a:br/>
            <a:r>
              <a:t>Entire amount is taxable</a:t>
            </a:r>
            <a:br/>
            <a:r>
              <a:t>% For death benefit installments in life insurance,</a:t>
            </a:r>
            <a:br/>
            <a:r>
              <a:t>the interest component of the payments is taxable.</a:t>
            </a:r>
            <a:br/>
            <a:r>
              <a:t>While the principal amount of the death benefit</a:t>
            </a:r>
            <a:br/>
            <a:r>
              <a:t>rema...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Human Life Value Approach</a:t>
            </a:r>
          </a:p>
          <a:p>
            <a:r>
              <a:t>estimates the capitalized value of an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Question 1 Select the appropriate response</a:t>
            </a:r>
            <a:br/>
            <a:br/>
            <a:r>
              <a:t>The Human Life Value Approach</a:t>
            </a:r>
            <a:br/>
            <a:r>
              <a:t>estimates the capitalized value of an</a:t>
            </a:r>
          </a:p>
          <a:p>
            <a:r>
              <a:t>☐ ndividual's future net</a:t>
            </a:r>
          </a:p>
          <a:p>
            <a:pPr>
              <a:defRPr b="1"/>
            </a:pPr>
            <a:r>
              <a:t>✅ Earnings</a:t>
            </a:r>
          </a:p>
          <a:p>
            <a:r>
              <a:t>☐ Expenses</a:t>
            </a:r>
          </a:p>
          <a:p>
            <a:r>
              <a:t>☐ Assets</a:t>
            </a:r>
          </a:p>
          <a:p>
            <a:r>
              <a:t>☐ Debts</a:t>
            </a:r>
          </a:p>
          <a:p>
            <a:br/>
            <a:pPr>
              <a:defRPr sz="1200" i="1"/>
            </a:pPr>
            <a:r>
              <a:t>Note: The Human Life Value Approach estimates the</a:t>
            </a:r>
            <a:br/>
            <a:r>
              <a:t>capitalized value of an individual's future net</a:t>
            </a:r>
            <a:br/>
            <a:r>
              <a:t>earnings. This method calculates the economic value</a:t>
            </a:r>
            <a:br/>
            <a:r>
              <a:t>of an individual by projecting their future income and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Executive Bonus Plan provides a</a:t>
            </a:r>
          </a:p>
          <a:p>
            <a:r>
              <a:t>compensation bonus to an employee,</a:t>
            </a:r>
          </a:p>
          <a:p>
            <a:r>
              <a:t>who uses it to pay on a life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Question 2 Select the appropriate response</a:t>
            </a:r>
            <a:br/>
            <a:br/>
            <a:r>
              <a:t>An Executive Bonus Plan provides a</a:t>
            </a:r>
            <a:br/>
            <a:br/>
            <a:r>
              <a:t>compensation bonus to an employee,</a:t>
            </a:r>
            <a:br/>
            <a:r>
              <a:t>who uses it to pay on a life</a:t>
            </a:r>
          </a:p>
          <a:p>
            <a:r>
              <a:t>☐ nsurance policy.</a:t>
            </a:r>
            <a:br/>
            <a:br/>
            <a:r>
              <a:t>Claims</a:t>
            </a:r>
          </a:p>
          <a:p>
            <a:r>
              <a:t>☐ Premiums</a:t>
            </a:r>
            <a:br/>
            <a:r>
              <a:t>Dividends</a:t>
            </a:r>
            <a:br/>
            <a:br/>
            <a:r>
              <a:t>Loans</a:t>
            </a:r>
          </a:p>
          <a:p>
            <a:br/>
            <a:pPr>
              <a:defRPr sz="1200" i="1"/>
            </a:pPr>
            <a:r>
              <a:t>Note: Loans</a:t>
            </a:r>
            <a:br/>
            <a:r>
              <a:t>Proceed =&gt;</a:t>
            </a:r>
            <a:br/>
            <a:r>
              <a:t>ds An Executive Bonus Plan provides a</a:t>
            </a:r>
            <a:br/>
            <a:r>
              <a:t>compensation bonus to an employee, who uses it to</a:t>
            </a:r>
            <a:br/>
            <a:r>
              <a:t>pay premiums on a life insurance policy. This bonus</a:t>
            </a:r>
            <a:br/>
            <a:r>
              <a:t>% 4a ..rancelicense.myabsorb.com (</a:t>
            </a:r>
            <a:br/>
            <a:r>
              <a:t>&lt; + (21)...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employee insurance helps to</a:t>
            </a:r>
          </a:p>
          <a:p>
            <a:r>
              <a:t>mitigate the financial impact of the</a:t>
            </a:r>
          </a:p>
          <a:p>
            <a:r>
              <a:t>death of a key employee by providing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Financial stability</a:t>
            </a:r>
            <a:br/>
            <a:r>
              <a:t>Deferred bonuses</a:t>
            </a:r>
            <a:br/>
            <a:br/>
            <a:r>
              <a:t>Salary continuation</a:t>
            </a:r>
            <a:br/>
            <a:br/>
            <a:r>
              <a:t>Lower premiums</a:t>
            </a:r>
          </a:p>
          <a:p>
            <a:br/>
            <a:pPr>
              <a:defRPr sz="1200" i="1"/>
            </a:pPr>
            <a:r>
              <a:t>Note: Key employee insurance helps to mitigate the</a:t>
            </a:r>
            <a:br/>
            <a:r>
              <a:t>financial impact of the death of a key employee by</a:t>
            </a:r>
            <a:br/>
            <a:r>
              <a:t>providing financial stability. The proceeds from the</a:t>
            </a:r>
            <a:br/>
            <a:r>
              <a:t>% a ..rancelicense.myabsorb.com</a:t>
            </a:r>
            <a:br/>
            <a:r>
              <a:t>&lt; + (21)</a:t>
            </a:r>
            <a:br/>
            <a:r>
              <a:t>6...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Human Life Value Approach</a:t>
            </a:r>
          </a:p>
          <a:p>
            <a:r>
              <a:t>primarily calculates the economic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Question 4 Select the appropriate response</a:t>
            </a:r>
            <a:br/>
            <a:br/>
            <a:r>
              <a:t>The Human Life Value Approach</a:t>
            </a:r>
            <a:br/>
            <a:r>
              <a:t>primarily calculates the economic</a:t>
            </a:r>
          </a:p>
          <a:p>
            <a:r>
              <a:t>☐ alue of which of the following?</a:t>
            </a:r>
          </a:p>
          <a:p>
            <a:r>
              <a:t>☐ Insurance premiums</a:t>
            </a:r>
          </a:p>
          <a:p>
            <a:r>
              <a:t>☐ Current assets</a:t>
            </a:r>
          </a:p>
          <a:p>
            <a:pPr>
              <a:defRPr b="1"/>
            </a:pPr>
            <a:r>
              <a:t>✅ Future earnings and contributions</a:t>
            </a:r>
          </a:p>
          <a:p>
            <a:r>
              <a:t>☐ Future expenses</a:t>
            </a:r>
          </a:p>
          <a:p>
            <a:br/>
            <a:pPr>
              <a:defRPr sz="1200" i="1"/>
            </a:pPr>
            <a:r>
              <a:t>Note: The Human Life Value Approach primarily</a:t>
            </a:r>
            <a:br/>
            <a:r>
              <a:t>calculates the economic value of future earnings and</a:t>
            </a:r>
            <a:br/>
            <a:r>
              <a:t>contributions. This method estimates the income that</a:t>
            </a:r>
            <a:br/>
            <a:r>
              <a:t>would be lost if the insured were to pass away,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primary purpose of key</a:t>
            </a:r>
          </a:p>
          <a:p>
            <a:r>
              <a:t>employee insurance?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Enhancing executive bonuses</a:t>
            </a:r>
          </a:p>
          <a:p>
            <a:r>
              <a:t>☐ ffering deferred compensation</a:t>
            </a:r>
            <a:br/>
            <a:br/>
            <a:r>
              <a:t>Providing financial stability in the event of a</a:t>
            </a:r>
          </a:p>
          <a:p>
            <a:r>
              <a:t>☐ Funding a buy-sell agreement</a:t>
            </a:r>
            <a:br/>
            <a:r>
              <a:t>key employee's death</a:t>
            </a:r>
          </a:p>
          <a:p>
            <a:r>
              <a:t>☐ s providing financial stability in the event of a key</a:t>
            </a:r>
            <a:br/>
            <a:br/>
            <a:r>
              <a:t>employee's death. This insurance helps the company</a:t>
            </a:r>
            <a:br/>
            <a:r>
              <a:t>cope with the financial impact of losing a key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the primary purpose of key</a:t>
            </a:r>
            <a:br/>
            <a:r>
              <a:t>employee insurance?</a:t>
            </a:r>
            <a:br/>
            <a:r>
              <a:t>x) Enhancing executive bonuses</a:t>
            </a:r>
            <a:br/>
            <a:r>
              <a:t>Offering deferred compensation</a:t>
            </a:r>
            <a:br/>
            <a:r>
              <a:t>Providing financial stability in the event of a</a:t>
            </a:r>
            <a:br/>
            <a:r>
              <a:t>x) Funding a buy-sell agreement</a:t>
            </a:r>
            <a:br/>
            <a:r>
              <a:t>key employee's death</a:t>
            </a:r>
            <a:br/>
            <a:r>
              <a:t>Proceed and</a:t>
            </a:r>
            <a:br/>
            <a:r>
              <a:t>ds The primary purpose of ke...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company needs to determine the life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amount to cover a key</a:t>
            </a:r>
            <a:br/>
            <a:r>
              <a:t>employee whose loss would</a:t>
            </a:r>
            <a:br/>
            <a:r>
              <a:t>significantly impact revenue. Which</a:t>
            </a:r>
            <a:br/>
            <a:r>
              <a:t>type of insurance is appropriate?</a:t>
            </a:r>
            <a:br/>
            <a:br/>
            <a:r>
              <a:t>@ «© Key Employee Life Insurance</a:t>
            </a:r>
          </a:p>
          <a:p>
            <a:pPr>
              <a:defRPr b="1"/>
            </a:pPr>
            <a:r>
              <a:t>✅ Executive Bonus Plan</a:t>
            </a:r>
          </a:p>
          <a:p>
            <a:r>
              <a:t>☐ ] Deferred Compensation Plan</a:t>
            </a:r>
          </a:p>
          <a:p>
            <a:r>
              <a:t>☐ Buy-Sell Agreement</a:t>
            </a:r>
          </a:p>
          <a:p>
            <a:br/>
            <a:pPr>
              <a:defRPr sz="1200" i="1"/>
            </a:pPr>
            <a:r>
              <a:t>Note: to determine the life</a:t>
            </a:r>
            <a:br/>
            <a:r>
              <a:t>insurance amount to cover a key</a:t>
            </a:r>
            <a:br/>
            <a:r>
              <a:t>employee whose loss would</a:t>
            </a:r>
            <a:br/>
            <a:r>
              <a:t>significantly impact revenue. Which</a:t>
            </a:r>
            <a:br/>
            <a:r>
              <a:t>type of insurance is appropriate?</a:t>
            </a:r>
            <a:br/>
            <a:r>
              <a:t>@ « Key Employee Life Insurance</a:t>
            </a:r>
            <a:br/>
            <a:r>
              <a:t>x) Executive Bonus Plan</a:t>
            </a:r>
            <a:br/>
            <a:r>
              <a:t>x] Deferred Compensation Plan</a:t>
            </a:r>
            <a:br/>
            <a:r>
              <a:t>x) Buy-Sell Ag...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is a method for</a:t>
            </a:r>
          </a:p>
          <a:p>
            <a:r>
              <a:t>determining life insurance coverage by</a:t>
            </a:r>
          </a:p>
          <a:p>
            <a:r>
              <a:t>analyzing a family's or business's</a:t>
            </a:r>
          </a:p>
          <a:p>
            <a:r>
              <a:t>needs and objectives in the event of</a:t>
            </a:r>
          </a:p>
          <a:p>
            <a:r>
              <a:t>the insured's death, disability, or</a:t>
            </a:r>
          </a:p>
          <a:p>
            <a:r>
              <a:t>retirement.</a:t>
            </a:r>
          </a:p>
          <a:p>
            <a:r>
              <a:t>Human Life Value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a method for</a:t>
            </a:r>
            <a:br/>
            <a:r>
              <a:t>determining life insurance coverage by</a:t>
            </a:r>
            <a:br/>
            <a:r>
              <a:t>analyzing a family's or business's</a:t>
            </a:r>
            <a:br/>
            <a:r>
              <a:t>needs and objectives in the event of</a:t>
            </a:r>
            <a:br/>
            <a:r>
              <a:t>the insured's death, disability, or</a:t>
            </a:r>
            <a:br/>
            <a:r>
              <a:t>retirement.</a:t>
            </a:r>
            <a:br/>
            <a:r>
              <a:t>Human Life Value</a:t>
            </a:r>
            <a:br/>
            <a:r>
              <a:t>Proceed =</a:t>
            </a:r>
            <a:br/>
            <a:r>
              <a:t>A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often should a life insurance plan</a:t>
            </a:r>
          </a:p>
          <a:p>
            <a:r>
              <a:t>be reviewed and adjusted?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Every five years</a:t>
            </a:r>
          </a:p>
          <a:p>
            <a:r>
              <a:t>☐ Never</a:t>
            </a:r>
          </a:p>
          <a:p>
            <a:pPr>
              <a:defRPr b="1"/>
            </a:pPr>
            <a:r>
              <a:t>✅ Only when there's a major life event</a:t>
            </a:r>
          </a:p>
          <a:p>
            <a:r>
              <a:t>☐ Periodically</a:t>
            </a:r>
          </a:p>
          <a:p>
            <a:br/>
            <a:pPr>
              <a:defRPr sz="1200" i="1"/>
            </a:pPr>
            <a:r>
              <a:t>Note: Alife insurance plan should be reviewed and</a:t>
            </a:r>
            <a:br/>
            <a:r>
              <a:t>adjusted periodically. Regular reviews ensure that</a:t>
            </a:r>
            <a:br/>
            <a:r>
              <a:t>the coverage remains adequate as circumstances</a:t>
            </a:r>
            <a:br/>
            <a:r>
              <a:t>change. This is more proactive than reviewing every</a:t>
            </a:r>
            <a:br/>
            <a:r>
              <a:t>five years, only when there's a major life event, or</a:t>
            </a:r>
            <a:br/>
            <a:r>
              <a:t>&amp; a...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approach does not account for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Question 9 Select the appropriate response</a:t>
            </a:r>
            <a:br/>
            <a:br/>
            <a:r>
              <a:t>Which approach does not account for</a:t>
            </a:r>
          </a:p>
          <a:p>
            <a:r>
              <a:t>☐ ndividuals who benefit financially from</a:t>
            </a:r>
            <a:br/>
            <a:r>
              <a:t>the insured's continued life?</a:t>
            </a:r>
          </a:p>
          <a:p>
            <a:r>
              <a:t>☐ Single Needs Method</a:t>
            </a:r>
          </a:p>
          <a:p>
            <a:pPr>
              <a:defRPr b="1"/>
            </a:pPr>
            <a:r>
              <a:t>✅ Human Life Value Approach</a:t>
            </a:r>
          </a:p>
          <a:p>
            <a:r>
              <a:t>☐ Multiple Earnings Method</a:t>
            </a:r>
          </a:p>
          <a:p>
            <a:r>
              <a:t>☐ Needs Approach</a:t>
            </a:r>
          </a:p>
          <a:p>
            <a:br/>
            <a:pPr>
              <a:defRPr sz="1200" i="1"/>
            </a:pPr>
            <a:r>
              <a:t>Note: Method</a:t>
            </a:r>
            <a:br/>
            <a:r>
              <a:t>g Human Life Value Approach</a:t>
            </a:r>
            <a:br/>
            <a:r>
              <a:t>x) Multiple Earnings Method</a:t>
            </a:r>
            <a:br/>
            <a:r>
              <a:t>x) Needs Approach</a:t>
            </a:r>
            <a:br/>
            <a:r>
              <a:t>Proceed =</a:t>
            </a:r>
            <a:br/>
            <a:r>
              <a:t>ds The Human Life Value Approach does not</a:t>
            </a:r>
            <a:br/>
            <a:r>
              <a:t>specifically account for individuals who benefit</a:t>
            </a:r>
            <a:br/>
            <a:r>
              <a:t>financially from the insured's continued life. It focuses</a:t>
            </a:r>
            <a:br/>
            <a:r>
              <a:t>on the eco...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"blackout period" in the</a:t>
            </a:r>
          </a:p>
          <a:p>
            <a:r>
              <a:t>context of life insurance?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The duration of policy underwriting</a:t>
            </a:r>
          </a:p>
          <a:p>
            <a:r>
              <a:t>☐ The period from the insured's death until the</a:t>
            </a:r>
            <a:br/>
            <a:r>
              <a:t>surviving spouse is eligible for retirement</a:t>
            </a:r>
            <a:br/>
            <a:br/>
            <a:r>
              <a:t>benefits</a:t>
            </a:r>
          </a:p>
          <a:p>
            <a:r>
              <a:t>☐ The time when no premiums are due</a:t>
            </a:r>
            <a:br/>
            <a:r>
              <a:t>%) The time before the policy becomes active</a:t>
            </a:r>
          </a:p>
          <a:p>
            <a:r>
              <a:t>☐ nsured's death until the surviving spouse is eligible</a:t>
            </a:r>
            <a:br/>
            <a:r>
              <a:t>for retirement benefits. During this time, Social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the "blackout period" in the</a:t>
            </a:r>
            <a:br/>
            <a:r>
              <a:t>context of life insurance?</a:t>
            </a:r>
            <a:br/>
            <a:r>
              <a:t>x) The duration of policy underwriting</a:t>
            </a:r>
            <a:br/>
            <a:r>
              <a:t>g The period from the insured's death until the</a:t>
            </a:r>
            <a:br/>
            <a:r>
              <a:t>surviving spouse is eligible for retirement</a:t>
            </a:r>
            <a:br/>
            <a:r>
              <a:t>benefits</a:t>
            </a:r>
            <a:br/>
            <a:r>
              <a:t>x) The time when no premiums are due</a:t>
            </a:r>
            <a:br/>
            <a:r>
              <a:t>%) The time befor...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is a purpose of</a:t>
            </a:r>
          </a:p>
          <a:p>
            <a:r>
              <a:t>the Human Life Value Approach?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Replacing lost income to protect</a:t>
            </a:r>
            <a:br/>
            <a:r>
              <a:t>dependents</a:t>
            </a:r>
          </a:p>
          <a:p>
            <a:r>
              <a:t>☐ Protecting the estate from taxes</a:t>
            </a:r>
          </a:p>
          <a:p>
            <a:r>
              <a:t>☐ Funding a buy-sell agreement</a:t>
            </a:r>
            <a:br/>
            <a:br/>
            <a:r>
              <a:t>Calculating postmortem costs</a:t>
            </a:r>
          </a:p>
          <a:p>
            <a:pPr>
              <a:defRPr b="1"/>
            </a:pPr>
            <a:r>
              <a:t>✅ alue of the insured's future earnings to ensure that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a purpose of</a:t>
            </a:r>
            <a:br/>
            <a:r>
              <a:t>the Human Life Value Approach?</a:t>
            </a:r>
            <a:br/>
            <a:r>
              <a:t>iv) Replacing lost income to protect</a:t>
            </a:r>
            <a:br/>
            <a:r>
              <a:t>dependents</a:t>
            </a:r>
            <a:br/>
            <a:r>
              <a:t>x) Protecting the estate from taxes</a:t>
            </a:r>
            <a:br/>
            <a:r>
              <a:t>x) Funding a buy-sell agreement</a:t>
            </a:r>
            <a:br/>
            <a:r>
              <a:t>Calculating postmortem costs</a:t>
            </a:r>
            <a:br/>
            <a:r>
              <a:t>Proceed and</a:t>
            </a:r>
            <a:br/>
            <a:r>
              <a:t>ds Aprimary purpose of the Human Life Value</a:t>
            </a:r>
            <a:br/>
            <a:r>
              <a:t>Appro...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type of plan is fully funded by the</a:t>
            </a:r>
          </a:p>
          <a:p>
            <a:r>
              <a:t>employer and ensures income</a:t>
            </a:r>
          </a:p>
          <a:p>
            <a:r>
              <a:t>payments upon death, disability, or</a:t>
            </a:r>
          </a:p>
          <a:p>
            <a:r>
              <a:t>retirement?</a:t>
            </a:r>
          </a:p>
          <a:p>
            <a:r>
              <a:t>Deferred Compensation Plan</a:t>
            </a:r>
          </a:p>
          <a:p>
            <a:r>
              <a:t>Executive Bonus Plan</a:t>
            </a:r>
          </a:p>
          <a:p>
            <a:r>
              <a:t>Split-Dollar Plan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Question 12 Select the appropriate response</a:t>
            </a:r>
            <a:br/>
            <a:br/>
            <a:r>
              <a:t>What type of plan is fully funded by the</a:t>
            </a:r>
            <a:br/>
            <a:r>
              <a:t>employer and ensures income</a:t>
            </a:r>
            <a:br/>
            <a:r>
              <a:t>payments upon death, disability, or</a:t>
            </a:r>
            <a:br/>
            <a:r>
              <a:t>retirement?</a:t>
            </a:r>
            <a:br/>
            <a:br/>
            <a:r>
              <a:t>Deferred Compensation Plan</a:t>
            </a:r>
            <a:br/>
            <a:r>
              <a:t>Executive Bonus Plan</a:t>
            </a:r>
            <a:br/>
            <a:r>
              <a:t>Split-Dollar Plan</a:t>
            </a:r>
          </a:p>
          <a:p>
            <a:pPr>
              <a:defRPr b="1"/>
            </a:pPr>
            <a:r>
              <a:t>✅ Salary Continuation Plan</a:t>
            </a:r>
          </a:p>
          <a:p>
            <a:br/>
            <a:pPr>
              <a:defRPr sz="1200" i="1"/>
            </a:pPr>
            <a:r>
              <a:t>Note: fully funded by the</a:t>
            </a:r>
            <a:br/>
            <a:r>
              <a:t>employer and ensures income</a:t>
            </a:r>
            <a:br/>
            <a:r>
              <a:t>payments upon death, disability, or</a:t>
            </a:r>
            <a:br/>
            <a:r>
              <a:t>retirement?</a:t>
            </a:r>
            <a:br/>
            <a:r>
              <a:t>Deferred Compensation Plan</a:t>
            </a:r>
            <a:br/>
            <a:r>
              <a:t>Executive Bonus Plan</a:t>
            </a:r>
            <a:br/>
            <a:r>
              <a:t>Split-Dollar Plan</a:t>
            </a:r>
            <a:br/>
            <a:r>
              <a:t>g Salary Continuation Plan</a:t>
            </a:r>
            <a:br/>
            <a:r>
              <a:t>Proceed =&gt;</a:t>
            </a:r>
            <a:br/>
            <a:r>
              <a:t>ds A Salary Continuation Plan is fully funded by t...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primary goal of a buy-sell</a:t>
            </a:r>
          </a:p>
          <a:p>
            <a:r>
              <a:t>agreement?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To fund an executive bonus plan</a:t>
            </a:r>
          </a:p>
          <a:p>
            <a:r>
              <a:t>☐ To ensure business continuity and provide</a:t>
            </a:r>
            <a:br/>
            <a:r>
              <a:t>financial security to the deceased partner's</a:t>
            </a:r>
            <a:br/>
            <a:r>
              <a:t>family</a:t>
            </a:r>
          </a:p>
          <a:p>
            <a:r>
              <a:t>☐ s) To avoid estate taxes</a:t>
            </a:r>
          </a:p>
          <a:p>
            <a:r>
              <a:t>☐ To reduce insurance premiums</a:t>
            </a:r>
          </a:p>
          <a:p>
            <a:br/>
            <a:pPr>
              <a:defRPr sz="1200" i="1"/>
            </a:pPr>
            <a:r>
              <a:t>Note: the primary goal of a buy-sell</a:t>
            </a:r>
            <a:br/>
            <a:r>
              <a:t>agreement?</a:t>
            </a:r>
            <a:br/>
            <a:r>
              <a:t>x) To fund an executive bonus plan</a:t>
            </a:r>
            <a:br/>
            <a:r>
              <a:t>g To ensure business continuity and provide</a:t>
            </a:r>
            <a:br/>
            <a:r>
              <a:t>financial security to the deceased partner's</a:t>
            </a:r>
            <a:br/>
            <a:r>
              <a:t>family</a:t>
            </a:r>
            <a:br/>
            <a:r>
              <a:t>is) To avoid estate taxes</a:t>
            </a:r>
            <a:br/>
            <a:r>
              <a:t>x) To reduce insurance premiums</a:t>
            </a:r>
            <a:br/>
            <a:r>
              <a:t>Proceed and</a:t>
            </a:r>
            <a:br/>
            <a:r>
              <a:t>és The ...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is a type of buy-</a:t>
            </a:r>
          </a:p>
          <a:p>
            <a:r>
              <a:t>sell agreement?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Executive Bonus Plan</a:t>
            </a:r>
          </a:p>
          <a:p>
            <a:r>
              <a:t>☐ Entity Purchase Agreement</a:t>
            </a:r>
          </a:p>
          <a:p>
            <a:r>
              <a:t>☐ Deferred Compensation Plan</a:t>
            </a:r>
            <a:br/>
            <a:br/>
            <a:r>
              <a:t>%) Split-Dollar Plan</a:t>
            </a:r>
          </a:p>
          <a:p>
            <a:br/>
            <a:pPr>
              <a:defRPr sz="1200" i="1"/>
            </a:pPr>
            <a:r>
              <a:t>Note: a type of buy-</a:t>
            </a:r>
            <a:br/>
            <a:r>
              <a:t>sell agreement?</a:t>
            </a:r>
            <a:br/>
            <a:r>
              <a:t>x) Executive Bonus Plan</a:t>
            </a:r>
            <a:br/>
            <a:r>
              <a:t>g Entity Purchase Agreement</a:t>
            </a:r>
            <a:br/>
            <a:r>
              <a:t>x) Deferred Compensation Plan</a:t>
            </a:r>
            <a:br/>
            <a:r>
              <a:t>%) Split-Dollar Plan</a:t>
            </a:r>
            <a:br/>
            <a:r>
              <a:t>Proceed —_</a:t>
            </a:r>
            <a:br/>
            <a:r>
              <a:t>ds An Entity Purchase Agreement is a type of buy-</a:t>
            </a:r>
            <a:br/>
            <a:r>
              <a:t>sell agreement. This agreement involves the</a:t>
            </a:r>
            <a:br/>
            <a:r>
              <a:t>business it...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client wants to ensure that their</a:t>
            </a:r>
          </a:p>
          <a:p>
            <a:r>
              <a:t>children's education is funded if they</a:t>
            </a:r>
          </a:p>
          <a:p>
            <a:r>
              <a:t>pass away. Which approach should</a:t>
            </a:r>
          </a:p>
          <a:p>
            <a:r>
              <a:t>the insurance producer consider to</a:t>
            </a:r>
          </a:p>
          <a:p>
            <a:r>
              <a:t>determine the necessary coverage?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Single Needs Method</a:t>
            </a:r>
          </a:p>
          <a:p>
            <a:r>
              <a:t>☐ Needs Approach</a:t>
            </a:r>
          </a:p>
          <a:p>
            <a:r>
              <a:t>☐ Multiple Earnings Method</a:t>
            </a:r>
          </a:p>
          <a:p>
            <a:r>
              <a:t>☐ Human Life Value Approach</a:t>
            </a:r>
          </a:p>
          <a:p>
            <a:br/>
            <a:pPr>
              <a:defRPr sz="1200" i="1"/>
            </a:pPr>
            <a:r>
              <a:t>Note: funded if they</a:t>
            </a:r>
            <a:br/>
            <a:r>
              <a:t>pass away. Which approach should</a:t>
            </a:r>
            <a:br/>
            <a:r>
              <a:t>the insurance producer consider to</a:t>
            </a:r>
            <a:br/>
            <a:r>
              <a:t>determine the necessary coverage?</a:t>
            </a:r>
            <a:br/>
            <a:r>
              <a:t>x) Single Needs Method</a:t>
            </a:r>
            <a:br/>
            <a:r>
              <a:t>g Needs Approach</a:t>
            </a:r>
            <a:br/>
            <a:r>
              <a:t>x) Multiple Earnings Method</a:t>
            </a:r>
            <a:br/>
            <a:r>
              <a:t>x) Human Life Value Approach</a:t>
            </a:r>
            <a:br/>
            <a:r>
              <a:t>ds To ensure that a client's childre...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are contributions to non-qualified</a:t>
            </a:r>
          </a:p>
          <a:p>
            <a:r>
              <a:t>annuities taxed?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They are taxed as ordinary income</a:t>
            </a:r>
          </a:p>
          <a:p>
            <a:pPr>
              <a:defRPr b="1"/>
            </a:pPr>
            <a:r>
              <a:t>✅ They are made with after-tax dollars</a:t>
            </a:r>
          </a:p>
          <a:p>
            <a:r>
              <a:t>☐ © They are tax-free</a:t>
            </a:r>
            <a:br/>
            <a:br/>
            <a:r>
              <a:t>&amp; They are tax-deductible</a:t>
            </a:r>
          </a:p>
          <a:p>
            <a:br/>
            <a:pPr>
              <a:defRPr sz="1200" i="1"/>
            </a:pPr>
            <a:r>
              <a:t>Note: means that the</a:t>
            </a:r>
            <a:br/>
            <a:r>
              <a:t>money used to fund the annuity has already been</a:t>
            </a:r>
            <a:br/>
            <a:r>
              <a:t>taxed. Unlike tax-deductible contributions or those</a:t>
            </a:r>
            <a:br/>
            <a:r>
              <a:t>made tax-free, the growth within the annuity is tax-</a:t>
            </a:r>
            <a:br/>
            <a:r>
              <a:t>l&lt;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assumes the investment risk ina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Question 2 Select the appropriate response</a:t>
            </a:r>
            <a:br/>
            <a:br/>
            <a:r>
              <a:t>Who assumes the investment risk ina</a:t>
            </a:r>
          </a:p>
          <a:p>
            <a:r>
              <a:t>☐ ariable annuity?</a:t>
            </a:r>
          </a:p>
          <a:p>
            <a:r>
              <a:t>☐ The state insurance department</a:t>
            </a:r>
          </a:p>
          <a:p>
            <a:r>
              <a:t>☐ The contract owner</a:t>
            </a:r>
          </a:p>
          <a:p>
            <a:r>
              <a:t>☐ The beneficiary</a:t>
            </a:r>
            <a:br/>
            <a:br/>
            <a:r>
              <a:t>The insurer</a:t>
            </a:r>
          </a:p>
          <a:p>
            <a:pPr>
              <a:defRPr b="1"/>
            </a:pPr>
            <a:r>
              <a:t>✅ alue of the annuity and the income it generates can</a:t>
            </a:r>
            <a:br/>
            <a:r>
              <a:t>fluctuate based on the performance of the underlying</a:t>
            </a:r>
          </a:p>
          <a:p>
            <a:r>
              <a:t>☐ nvestments. This contrasts with the insurer, who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means that the</a:t>
            </a:r>
            <a:br/>
            <a:r>
              <a:t>value of the annuity and the income it generates can</a:t>
            </a:r>
            <a:br/>
            <a:r>
              <a:t>fluctuate based on the performance of the underlying</a:t>
            </a:r>
            <a:br/>
            <a:r>
              <a:t>investments. This contrasts with the insurer, who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ratio is used to</a:t>
            </a:r>
          </a:p>
          <a:p>
            <a:r>
              <a:t>determine the taxable portion of each</a:t>
            </a:r>
          </a:p>
          <a:p>
            <a:r>
              <a:t>annuity payment.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Participation</a:t>
            </a:r>
          </a:p>
          <a:p>
            <a:r>
              <a:t>☐ Exclusion</a:t>
            </a:r>
          </a:p>
          <a:p>
            <a:r>
              <a:t>☐ Distribution</a:t>
            </a:r>
          </a:p>
          <a:p>
            <a:r>
              <a:t>☐ Inclusion</a:t>
            </a:r>
          </a:p>
          <a:p>
            <a:br/>
            <a:pPr>
              <a:defRPr sz="1200" i="1"/>
            </a:pPr>
            <a:r>
              <a:t>Note: used to</a:t>
            </a:r>
            <a:br/>
            <a:r>
              <a:t>determine the taxable portion of each</a:t>
            </a:r>
            <a:br/>
            <a:r>
              <a:t>annuity payment.</a:t>
            </a:r>
            <a:br/>
            <a:r>
              <a:t>x) Participation</a:t>
            </a:r>
            <a:br/>
            <a:r>
              <a:t>g Exclusion</a:t>
            </a:r>
            <a:br/>
            <a:r>
              <a:t>x) Distribution</a:t>
            </a:r>
            <a:br/>
            <a:r>
              <a:t>x) Inclusion</a:t>
            </a:r>
            <a:br/>
            <a:r>
              <a:t>ds The exclusion ratio is used to determine the</a:t>
            </a:r>
            <a:br/>
            <a:r>
              <a:t>taxable portion of each annuity payment. This ratio</a:t>
            </a:r>
            <a:br/>
            <a:r>
              <a:t>calculates what portion of ea...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Mary, a 60-year-old, buys a 10-year</a:t>
            </a:r>
          </a:p>
          <a:p>
            <a:r>
              <a:t>period certain annuity. She dies at age</a:t>
            </a:r>
          </a:p>
          <a:p>
            <a:r>
              <a:t>65. What happens to her annuity</a:t>
            </a:r>
          </a:p>
          <a:p>
            <a:r>
              <a:t>payments?</a:t>
            </a:r>
          </a:p>
          <a:p>
            <a:r>
              <a:t>Payments stop immediately</a:t>
            </a:r>
          </a:p>
          <a:p>
            <a:r>
              <a:t>Payments continue to her estate indefinitely</a:t>
            </a:r>
          </a:p>
          <a:p>
            <a:r>
              <a:t>Payments are forfeited to the insurer</a:t>
            </a:r>
          </a:p>
          <a:p>
            <a:r>
              <a:t>Payments continue to her designated</a:t>
            </a:r>
          </a:p>
          <a:p>
            <a:r>
              <a:t>beneficiary for the remaining 5 years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element of a Single Premium</a:t>
            </a:r>
          </a:p>
          <a:p>
            <a:r>
              <a:t>annuity includes:</a:t>
            </a:r>
          </a:p>
          <a:p>
            <a:r>
              <a:t>Premiums due at a later day</a:t>
            </a:r>
          </a:p>
          <a:p>
            <a:r>
              <a:t>Lump-sum payment</a:t>
            </a:r>
          </a:p>
          <a:p>
            <a:r>
              <a:t>Deferred payments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An element of a Single Premium annuity is a</a:t>
            </a:r>
            <a:br/>
            <a:r>
              <a:t>Lump-sum payment. This type of annuity is</a:t>
            </a:r>
            <a:br/>
            <a:r>
              <a:t>purchased with a single, large payment upfront, from</a:t>
            </a:r>
            <a:br/>
            <a:r>
              <a:t>which future periodic payments are made to the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happens to the accumulated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alue of an annuity if the contract</a:t>
            </a:r>
            <a:br/>
            <a:r>
              <a:t>owner dies during the accumulation</a:t>
            </a:r>
            <a:br/>
            <a:r>
              <a:t>period?</a:t>
            </a:r>
            <a:br/>
            <a:br/>
            <a:r>
              <a:t>' ¢) It is forfeited to the insurer</a:t>
            </a:r>
          </a:p>
          <a:p>
            <a:pPr>
              <a:defRPr b="1"/>
            </a:pPr>
            <a:r>
              <a:t>✅ e Itis transferred to another annuity</a:t>
            </a:r>
          </a:p>
          <a:p>
            <a:r>
              <a:t>☐ s) It continues to accumulate interest</a:t>
            </a:r>
          </a:p>
          <a:p>
            <a:r>
              <a:t>☐ It is paid to the beneficiary</a:t>
            </a:r>
          </a:p>
          <a:p>
            <a:br/>
            <a:pPr>
              <a:defRPr sz="1200" i="1"/>
            </a:pPr>
            <a:r>
              <a:t>Note: forfeited to the insurer</a:t>
            </a:r>
            <a:br/>
            <a:r>
              <a:t>x) e Itis transferred to another annuity</a:t>
            </a:r>
            <a:br/>
            <a:r>
              <a:t>is) It continues to accumulate interest</a:t>
            </a:r>
            <a:br/>
            <a:r>
              <a:t>g It is paid to the beneficiary</a:t>
            </a:r>
            <a:br/>
            <a:r>
              <a:t>Proceed =&gt;</a:t>
            </a:r>
            <a:br/>
            <a:r>
              <a:t>%__ ‘If the contract owner dies during the</a:t>
            </a:r>
            <a:br/>
            <a:r>
              <a:t>accumulation period, the accumulated value of the</a:t>
            </a:r>
            <a:br/>
            <a:r>
              <a:t>annuity ...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is the contract owner in an</a:t>
            </a:r>
          </a:p>
          <a:p>
            <a:r>
              <a:t>annuity?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The beneficiary</a:t>
            </a:r>
            <a:br/>
            <a:br/>
            <a:r>
              <a:t>The insurance company</a:t>
            </a:r>
          </a:p>
          <a:p>
            <a:pPr>
              <a:defRPr b="1"/>
            </a:pPr>
            <a:r>
              <a:t>✅ The individual who purchases and funds the</a:t>
            </a:r>
            <a:br/>
            <a:r>
              <a:t>annuity</a:t>
            </a:r>
            <a:br/>
            <a:br/>
            <a:r>
              <a:t>The person who receives the periodic</a:t>
            </a:r>
            <a:br/>
            <a:r>
              <a:t>payments</a:t>
            </a:r>
          </a:p>
          <a:p>
            <a:br/>
            <a:pPr>
              <a:defRPr sz="1200" i="1"/>
            </a:pPr>
            <a:r>
              <a:t>Note: the contract owner in an</a:t>
            </a:r>
            <a:br/>
            <a:r>
              <a:t>annuity?</a:t>
            </a:r>
            <a:br/>
            <a:r>
              <a:t>x) The beneficiary</a:t>
            </a:r>
            <a:br/>
            <a:r>
              <a:t>The insurance company</a:t>
            </a:r>
            <a:br/>
            <a:r>
              <a:t>g The individual who purchases and funds the</a:t>
            </a:r>
            <a:br/>
            <a:r>
              <a:t>annuity</a:t>
            </a:r>
            <a:br/>
            <a:r>
              <a:t>The person who receives the periodic</a:t>
            </a:r>
            <a:br/>
            <a:r>
              <a:t>payments</a:t>
            </a:r>
            <a:br/>
            <a:r>
              <a:t>Proceed ai</a:t>
            </a:r>
            <a:br/>
            <a:r>
              <a:t>és The contract owner in an annuity is the individual</a:t>
            </a:r>
            <a:br/>
            <a:r>
              <a:t>who purchas...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individual who acquires a Life</a:t>
            </a:r>
          </a:p>
          <a:p>
            <a:r>
              <a:t>annuity receives protection against: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Question 8 Select the appropriate response</a:t>
            </a:r>
            <a:br/>
            <a:br/>
            <a:r>
              <a:t>An individual who acquires a Life</a:t>
            </a:r>
            <a:br/>
            <a:r>
              <a:t>annuity receives protection against:</a:t>
            </a:r>
          </a:p>
          <a:p>
            <a:r>
              <a:t>☐ The possibility of outliving one's estimated</a:t>
            </a:r>
            <a:br/>
            <a:r>
              <a:t>lifespan</a:t>
            </a:r>
            <a:br/>
            <a:br/>
            <a:r>
              <a:t>The risk of dying younger than expected</a:t>
            </a:r>
            <a:br/>
            <a:r>
              <a:t>Consumer Pricing Index</a:t>
            </a:r>
            <a:br/>
            <a:br/>
            <a:r>
              <a:t>The risk of not having enough money in</a:t>
            </a:r>
            <a:br/>
            <a:r>
              <a:t>retirement</a:t>
            </a:r>
          </a:p>
          <a:p>
            <a:r>
              <a:t>☐ en protection against the UR of me ones than</a:t>
            </a:r>
            <a:br/>
            <a:br/>
            <a:r>
              <a:t>% 4a ..rancelicense.myabsorb.com (©</a:t>
            </a:r>
            <a:br/>
            <a:br/>
            <a:r>
              <a:t>&lt; + (21)</a:t>
            </a:r>
          </a:p>
          <a:p>
            <a:br/>
            <a:pPr>
              <a:defRPr sz="1200" i="1"/>
            </a:pPr>
            <a:r>
              <a:t>Note: An individual who purchases a Life annuity is</a:t>
            </a:r>
            <a:br/>
            <a:r>
              <a:t>given protection against the UR of me ones than</a:t>
            </a:r>
            <a:br/>
            <a:r>
              <a:t>% 4a ..rancelicense.myabsorb.com (</a:t>
            </a:r>
            <a:br/>
            <a:r>
              <a:t>&lt; + (21)...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must register with FINRA to sell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Question 9 Select the appropriate response</a:t>
            </a:r>
            <a:br/>
            <a:br/>
            <a:r>
              <a:t>Who must register with FINRA to sell</a:t>
            </a:r>
          </a:p>
          <a:p>
            <a:r>
              <a:t>☐ ariable annuities?</a:t>
            </a:r>
          </a:p>
          <a:p>
            <a:r>
              <a:t>☐ Any licensed insurance agent</a:t>
            </a:r>
          </a:p>
          <a:p>
            <a:r>
              <a:t>☐ Any sales representative with a life</a:t>
            </a:r>
          </a:p>
          <a:p>
            <a:r>
              <a:t>☐ nsurance license</a:t>
            </a:r>
          </a:p>
          <a:p>
            <a:r>
              <a:t>☐ A sales representative with a Series 6 or</a:t>
            </a:r>
            <a:br/>
            <a:r>
              <a:t>Series 7 securities registration</a:t>
            </a:r>
          </a:p>
          <a:p>
            <a:r>
              <a:t>☐ A state insurance commissioner</a:t>
            </a:r>
          </a:p>
          <a:p>
            <a:br/>
            <a:pPr>
              <a:defRPr sz="1200" i="1"/>
            </a:pPr>
            <a:r>
              <a:t>Note: To sell variable annuities, a sales representative</a:t>
            </a:r>
            <a:br/>
            <a:r>
              <a:t>must have a Series 6 or Series 7 securities</a:t>
            </a:r>
            <a:br/>
            <a:r>
              <a:t>registration and be registered with FINRA (Financial</a:t>
            </a:r>
            <a:br/>
            <a:r>
              <a:t>. This registration is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 surrender charge?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fee for making periodic premium</a:t>
            </a:r>
            <a:br/>
            <a:r>
              <a:t>payments</a:t>
            </a:r>
          </a:p>
          <a:p>
            <a:r>
              <a:t>☐ A charge for annuity contract renewal</a:t>
            </a:r>
          </a:p>
          <a:p>
            <a:r>
              <a:t>☐ A penalty for early withdrawal</a:t>
            </a:r>
            <a:br/>
            <a:br/>
            <a:r>
              <a:t>A tax on annuity earnings</a:t>
            </a:r>
          </a:p>
          <a:p>
            <a:r>
              <a:t>☐ nsurer’s financial interests. It differs from a fee for</a:t>
            </a:r>
            <a:br/>
            <a:br/>
            <a:r>
              <a:t>% aa ...rancelicense.myabsorb.com</a:t>
            </a:r>
            <a:br/>
            <a:br/>
            <a:r>
              <a:t>&lt; &gt; + (21)</a:t>
            </a:r>
            <a:br/>
            <a:br/>
            <a:r>
              <a:t>6</a:t>
            </a:r>
          </a:p>
          <a:p>
            <a:br/>
            <a:pPr>
              <a:defRPr sz="1200" i="1"/>
            </a:pPr>
            <a:r>
              <a:t>Note: a surrender charge?</a:t>
            </a:r>
            <a:br/>
            <a:r>
              <a:t>x) A fee for making periodic premium</a:t>
            </a:r>
            <a:br/>
            <a:r>
              <a:t>payments</a:t>
            </a:r>
            <a:br/>
            <a:r>
              <a:t>x) A charge for annuity contract renewal</a:t>
            </a:r>
            <a:br/>
            <a:r>
              <a:t>g A penalty for early withdrawal</a:t>
            </a:r>
            <a:br/>
            <a:r>
              <a:t>A tax on annuity earnings</a:t>
            </a:r>
            <a:br/>
            <a:r>
              <a:t>ds Assurrender charge is a penalty for early</a:t>
            </a:r>
            <a:br/>
            <a:r>
              <a:t>withdrawal from an annuity. This fee is...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 single premium immediate</a:t>
            </a:r>
          </a:p>
          <a:p>
            <a:r>
              <a:t>annuity (SPIA)?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Question 11 Select the appropriate response</a:t>
            </a:r>
            <a:br/>
            <a:br/>
            <a:r>
              <a:t>What is a single premium immediate</a:t>
            </a:r>
            <a:br/>
            <a:r>
              <a:t>annuity (SPIA)?</a:t>
            </a:r>
          </a:p>
          <a:p>
            <a:pPr>
              <a:defRPr b="1"/>
            </a:pPr>
            <a:r>
              <a:t>✅ An annuity that defers payments to a future</a:t>
            </a:r>
            <a:br/>
            <a:r>
              <a:t>date</a:t>
            </a:r>
          </a:p>
          <a:p>
            <a:r>
              <a:t>☐ An annuity with flexible premiums</a:t>
            </a:r>
          </a:p>
          <a:p>
            <a:r>
              <a:t>☐ An annuity funded with periodic payments</a:t>
            </a:r>
            <a:br/>
            <a:br/>
            <a:r>
              <a:t>An annuity that begins payments</a:t>
            </a:r>
          </a:p>
          <a:p>
            <a:r>
              <a:t>☐ mmediately after a lump-sum payment</a:t>
            </a:r>
          </a:p>
          <a:p>
            <a:r>
              <a:t>☐ mmediate income, which contrasts with an annuit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a single premium immediate</a:t>
            </a:r>
            <a:br/>
            <a:r>
              <a:t>annuity (SPIA)?</a:t>
            </a:r>
            <a:br/>
            <a:r>
              <a:t>x) An annuity that defers payments to a future</a:t>
            </a:r>
            <a:br/>
            <a:r>
              <a:t>date</a:t>
            </a:r>
            <a:br/>
            <a:r>
              <a:t>x) An annuity with flexible premiums</a:t>
            </a:r>
            <a:br/>
            <a:r>
              <a:t>x) An annuity funded with periodic payments</a:t>
            </a:r>
            <a:br/>
            <a:r>
              <a:t>An annuity that begins payments</a:t>
            </a:r>
            <a:br/>
            <a:r>
              <a:t>immediately after a lump-sum payment</a:t>
            </a:r>
            <a:br/>
            <a:r>
              <a:t>Proce...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Mark, age 45, is looking for an annuity</a:t>
            </a:r>
          </a:p>
          <a:p>
            <a:r>
              <a:t>to provide income when he retires at</a:t>
            </a:r>
          </a:p>
          <a:p>
            <a:r>
              <a:t>65. He wants flexibility in making</a:t>
            </a:r>
          </a:p>
          <a:p>
            <a:r>
              <a:t>premium payments over the next 20</a:t>
            </a:r>
          </a:p>
          <a:p>
            <a:r>
              <a:t>years. Which annuity is most suitable</a:t>
            </a:r>
          </a:p>
          <a:p>
            <a:r>
              <a:t>for him?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Market value adjusted annuity</a:t>
            </a:r>
            <a:br/>
            <a:r>
              <a:t>3) Single premium immediate annuity</a:t>
            </a:r>
          </a:p>
          <a:p>
            <a:r>
              <a:t>☐ Fixed annuity</a:t>
            </a:r>
          </a:p>
          <a:p>
            <a:r>
              <a:t>☐ e Flexible premium deferred annuity</a:t>
            </a:r>
          </a:p>
          <a:p>
            <a:br/>
            <a:pPr>
              <a:defRPr sz="1200" i="1"/>
            </a:pPr>
            <a:r>
              <a:t>Note: looking for an annuity</a:t>
            </a:r>
            <a:br/>
            <a:r>
              <a:t>to provide income when he retires at</a:t>
            </a:r>
            <a:br/>
            <a:r>
              <a:t>65. He wants flexibility in making</a:t>
            </a:r>
            <a:br/>
            <a:r>
              <a:t>premium payments over the next 20</a:t>
            </a:r>
            <a:br/>
            <a:r>
              <a:t>years. Which annuity is most suitable</a:t>
            </a:r>
            <a:br/>
            <a:r>
              <a:t>for him?</a:t>
            </a:r>
            <a:br/>
            <a:r>
              <a:t>x) Market value adjusted annuity</a:t>
            </a:r>
            <a:br/>
            <a:r>
              <a:t>3) Single premium immediate annuity</a:t>
            </a:r>
            <a:br/>
            <a:r>
              <a:t>x) Fi...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primary purpose of an</a:t>
            </a:r>
          </a:p>
          <a:p>
            <a:r>
              <a:t>annuity?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To fund life insurance policies</a:t>
            </a:r>
          </a:p>
          <a:p>
            <a:r>
              <a:t>☐ To provide a death benefit</a:t>
            </a:r>
          </a:p>
          <a:p>
            <a:r>
              <a:t>☐ To pay for medical expenses</a:t>
            </a:r>
          </a:p>
          <a:p>
            <a:r>
              <a:t>☐ To provide retirement income</a:t>
            </a:r>
          </a:p>
          <a:p>
            <a:br/>
            <a:pPr>
              <a:defRPr sz="1200" i="1"/>
            </a:pPr>
            <a:r>
              <a:t>Note: the primary purpose of an</a:t>
            </a:r>
            <a:br/>
            <a:r>
              <a:t>annuity?</a:t>
            </a:r>
            <a:br/>
            <a:r>
              <a:t>x) To fund life insurance policies</a:t>
            </a:r>
            <a:br/>
            <a:r>
              <a:t>x) To provide a death benefit</a:t>
            </a:r>
            <a:br/>
            <a:r>
              <a:t>x) To pay for medical expenses</a:t>
            </a:r>
            <a:br/>
            <a:r>
              <a:t>g To provide retirement income</a:t>
            </a:r>
            <a:br/>
            <a:r>
              <a:t>Proceed —_</a:t>
            </a:r>
            <a:br/>
            <a:r>
              <a:t>ds = The primary purpose of an annuity is to provide</a:t>
            </a:r>
            <a:br/>
            <a:r>
              <a:t>retirement income. Annui...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Lisa is considering an annuity that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© Variable annuity</a:t>
            </a:r>
          </a:p>
          <a:p>
            <a:pPr>
              <a:defRPr b="1"/>
            </a:pPr>
            <a:r>
              <a:t>✅ Fixed annuity</a:t>
            </a:r>
          </a:p>
          <a:p>
            <a:r>
              <a:t>☐ Equity-indexed annuity</a:t>
            </a:r>
          </a:p>
          <a:p>
            <a:r>
              <a:t>☐ Immediate annuity</a:t>
            </a:r>
          </a:p>
          <a:p>
            <a:br/>
            <a:pPr>
              <a:defRPr sz="1200" i="1"/>
            </a:pPr>
            <a:r>
              <a:t>Note: considering an annuity that</a:t>
            </a:r>
            <a:br/>
            <a:r>
              <a:t>offers inflation protection. Which type</a:t>
            </a:r>
            <a:br/>
            <a:r>
              <a:t>of annuity should she choose?</a:t>
            </a:r>
            <a:br/>
            <a:r>
              <a:t>Variable annuity</a:t>
            </a:r>
            <a:br/>
            <a:r>
              <a:t>x) Fixed annuity</a:t>
            </a:r>
            <a:br/>
            <a:r>
              <a:t>g Equity-indexed annuity</a:t>
            </a:r>
            <a:br/>
            <a:r>
              <a:t>x) Immediate annuity</a:t>
            </a:r>
            <a:br/>
            <a:r>
              <a:t>% An equity-indexed annuity offers inflation</a:t>
            </a:r>
            <a:br/>
            <a:r>
              <a:t>protection by tying returns...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immediate annuity has a: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Question 15 Select the appropriate response</a:t>
            </a:r>
            <a:br/>
            <a:br/>
            <a:r>
              <a:t>An immediate annuity has a:</a:t>
            </a:r>
          </a:p>
          <a:p>
            <a:r>
              <a:t>☐ Single premium</a:t>
            </a:r>
          </a:p>
          <a:p>
            <a:r>
              <a:t>☐ Flexible premium</a:t>
            </a:r>
            <a:br/>
            <a:r>
              <a:t>) Indexed premium</a:t>
            </a:r>
            <a:br/>
            <a:br/>
            <a:r>
              <a:t>' ¢) Deferred premium for a later date</a:t>
            </a:r>
          </a:p>
          <a:p>
            <a:br/>
            <a:pPr>
              <a:defRPr sz="1200" i="1"/>
            </a:pPr>
            <a:r>
              <a:t>Note: An immediate annuity consists of a single</a:t>
            </a:r>
            <a:br/>
            <a:r>
              <a:t>premium. This means the annuity is purchased with</a:t>
            </a:r>
            <a:br/>
            <a:r>
              <a:t>one lump sum payment, and income payments to the</a:t>
            </a:r>
            <a:br/>
            <a:r>
              <a:t>annuitant start almost immediately, typically within</a:t>
            </a:r>
            <a:br/>
            <a:r>
              <a:t>one year of purchase.</a:t>
            </a:r>
            <a:br/>
            <a:r>
              <a:t>&amp; a ..rancelicense.myabsorb.com (</a:t>
            </a:r>
            <a:br/>
            <a:r>
              <a:t>...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Social Security benefits for a fully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nsured worker opting for early</a:t>
            </a:r>
            <a:br/>
            <a:r>
              <a:t>retirement at age 62 will be:</a:t>
            </a:r>
            <a:br/>
            <a:br/>
            <a:r>
              <a:t>&gt;) Reduced to 75% of their PIA</a:t>
            </a:r>
          </a:p>
          <a:p>
            <a:pPr>
              <a:defRPr b="1"/>
            </a:pPr>
            <a:r>
              <a:t>✅ Reduced to 80% of their PIA</a:t>
            </a:r>
          </a:p>
          <a:p>
            <a:r>
              <a:t>☐ e Reduced to 70% of their PIA</a:t>
            </a:r>
            <a:br/>
            <a:br/>
            <a:r>
              <a:t>&gt;) Reduced to 85% of their PIA</a:t>
            </a:r>
          </a:p>
          <a:p>
            <a:br/>
            <a:pPr>
              <a:defRPr sz="1200" i="1"/>
            </a:pPr>
            <a:r>
              <a:t>Note: reduction accounts for the</a:t>
            </a:r>
            <a:br/>
            <a:r>
              <a:t>longer period over which benefits will be paid. This is</a:t>
            </a:r>
            <a:br/>
            <a:r>
              <a:t>I&lt; A ea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lump-sum death benefit provided</a:t>
            </a:r>
          </a:p>
          <a:p>
            <a:r>
              <a:t>by Social Security is: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$355</a:t>
            </a:r>
            <a:br/>
            <a:r>
              <a:t>@ © $255</a:t>
            </a:r>
          </a:p>
          <a:p>
            <a:r>
              <a:t>☐ $455</a:t>
            </a:r>
            <a:br/>
            <a:r>
              <a:t>} $155</a:t>
            </a:r>
          </a:p>
          <a:p>
            <a:br/>
            <a:pPr>
              <a:defRPr sz="1200" i="1"/>
            </a:pPr>
            <a:r>
              <a:t>Note: The lump-sum death benefit provided by Social</a:t>
            </a:r>
            <a:br/>
            <a:r>
              <a:t>Security is $255. This one-time payment is made to</a:t>
            </a:r>
            <a:br/>
            <a:r>
              <a:t>the eligible surviving spouse or, if none, to the eligible</a:t>
            </a:r>
            <a:br/>
            <a:r>
              <a:t>children of the deceased worker. The amounts $155,</a:t>
            </a:r>
            <a:br/>
            <a:r>
              <a:t>$355, and $455 are incorrect values for thi...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maximum family benefit for Social</a:t>
            </a:r>
          </a:p>
          <a:p>
            <a:r>
              <a:t>Security is based on:</a:t>
            </a:r>
          </a:p>
          <a:p>
            <a:r>
              <a:t>The number of years the worker paid into</a:t>
            </a:r>
          </a:p>
          <a:p>
            <a:r>
              <a:t>Social Security</a:t>
            </a:r>
          </a:p>
          <a:p>
            <a:r>
              <a:t>The worker's PIA</a:t>
            </a:r>
          </a:p>
          <a:p>
            <a:r>
              <a:t>The total number of family members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s based on the worker's Primary Insurance Amount</a:t>
            </a:r>
            <a:br/>
            <a:r>
              <a:t>(PIA). The PIA is a key factor in determining the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based on:</a:t>
            </a:r>
            <a:br/>
            <a:r>
              <a:t>The number of years the worker paid into</a:t>
            </a:r>
            <a:br/>
            <a:r>
              <a:t>Social Security</a:t>
            </a:r>
            <a:br/>
            <a:r>
              <a:t>The worker's PIA</a:t>
            </a:r>
            <a:br/>
            <a:r>
              <a:t>The total number of family members</a:t>
            </a:r>
            <a:br/>
            <a:r>
              <a:t>oo9g 98</a:t>
            </a:r>
            <a:br/>
            <a:r>
              <a:t>The age of the worker at retirement</a:t>
            </a:r>
            <a:br/>
            <a:r>
              <a:t>Proceed —_</a:t>
            </a:r>
            <a:br/>
            <a:r>
              <a:t>ds The maximum family benefit for Social Security</a:t>
            </a:r>
            <a:br/>
            <a:r>
              <a:t>is based on the worker's P...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primary funding source for</a:t>
            </a:r>
          </a:p>
          <a:p>
            <a:r>
              <a:t>Social Security?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Question 4 Select the appropriate response</a:t>
            </a:r>
            <a:br/>
            <a:br/>
            <a:r>
              <a:t>What is the primary funding source for</a:t>
            </a:r>
            <a:br/>
            <a:r>
              <a:t>Social Security?</a:t>
            </a:r>
          </a:p>
          <a:p>
            <a:pPr>
              <a:defRPr b="1"/>
            </a:pPr>
            <a:r>
              <a:t>✅ Payroll taxes from employees, employers,</a:t>
            </a:r>
            <a:br/>
            <a:r>
              <a:t>and the self-employed</a:t>
            </a:r>
          </a:p>
          <a:p>
            <a:r>
              <a:t>☐ Property taxes</a:t>
            </a:r>
          </a:p>
          <a:p>
            <a:r>
              <a:t>☐ Sales tax</a:t>
            </a:r>
            <a:br/>
            <a:br/>
            <a:r>
              <a:t>%) Income tax</a:t>
            </a:r>
          </a:p>
          <a:p>
            <a:br/>
            <a:pPr>
              <a:defRPr sz="1200" i="1"/>
            </a:pPr>
            <a:r>
              <a:t>Note: the primary funding source for</a:t>
            </a:r>
            <a:br/>
            <a:r>
              <a:t>Social Security?</a:t>
            </a:r>
            <a:br/>
            <a:r>
              <a:t>iv) Payroll taxes from employees, employers,</a:t>
            </a:r>
            <a:br/>
            <a:r>
              <a:t>and the self-employed</a:t>
            </a:r>
            <a:br/>
            <a:r>
              <a:t>x) Property taxes</a:t>
            </a:r>
            <a:br/>
            <a:r>
              <a:t>x) Sales tax</a:t>
            </a:r>
            <a:br/>
            <a:r>
              <a:t>%) Income tax</a:t>
            </a:r>
            <a:br/>
            <a:r>
              <a:t>Proceed —_</a:t>
            </a:r>
            <a:br/>
            <a:r>
              <a:t>ds = The primary funding source for Social Security is</a:t>
            </a:r>
            <a:br/>
            <a:r>
              <a:t>payroll taxes from emplo...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AIME stand for in the</a:t>
            </a:r>
          </a:p>
          <a:p>
            <a:r>
              <a:t>context of Social Security?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Average Indexed Monthly Earnings</a:t>
            </a:r>
            <a:br/>
            <a:br/>
            <a:r>
              <a:t>Additional Indexed Monthly Earnings</a:t>
            </a:r>
          </a:p>
          <a:p>
            <a:r>
              <a:t>☐ Adjusted Indexed Monthly Earnings</a:t>
            </a:r>
            <a:br/>
            <a:r>
              <a:t>&amp; Annual Indexed Monthly Earnings</a:t>
            </a:r>
          </a:p>
          <a:p>
            <a:br/>
            <a:pPr>
              <a:defRPr sz="1200" i="1"/>
            </a:pPr>
            <a:r>
              <a:t>Note: 'n the context of Social Security, AIME stands for</a:t>
            </a:r>
            <a:br/>
            <a:r>
              <a:t>Average Indexed Monthly Earnings. This figure is</a:t>
            </a:r>
            <a:br/>
            <a:r>
              <a:t>used to calculate the Primary Insurance Amount</a:t>
            </a:r>
            <a:br/>
            <a:r>
              <a:t>(PIA) and reflects the average of an individual's</a:t>
            </a:r>
            <a:br/>
            <a:r>
              <a:t>monthly earnings, indexed to account for changes in</a:t>
            </a:r>
            <a:br/>
            <a:r>
              <a:t>&amp;...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 common misconception</a:t>
            </a:r>
          </a:p>
          <a:p>
            <a:r>
              <a:t>about Social Security?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Question 6 Select the appropriate response</a:t>
            </a:r>
            <a:br/>
            <a:br/>
            <a:r>
              <a:t>What is a common misconception</a:t>
            </a:r>
            <a:br/>
            <a:r>
              <a:t>about Social Security?</a:t>
            </a:r>
          </a:p>
          <a:p>
            <a:pPr>
              <a:defRPr b="1"/>
            </a:pPr>
            <a:r>
              <a:t>✅ It offers a basic level of protection</a:t>
            </a:r>
          </a:p>
          <a:p>
            <a:r>
              <a:t>☐ It provides disability income</a:t>
            </a:r>
          </a:p>
          <a:p>
            <a:r>
              <a:t>☐ It supplements personal insurance plans</a:t>
            </a:r>
          </a:p>
          <a:p>
            <a:r>
              <a:t>☐ It fully covers all financial needs</a:t>
            </a:r>
          </a:p>
          <a:p>
            <a:r>
              <a:t>☐ s that it fully covers all financial needs. In reality,</a:t>
            </a:r>
            <a:br/>
            <a:br/>
            <a:r>
              <a:t>Social Security is designed to provide a basic level of</a:t>
            </a:r>
            <a:br/>
            <a:br/>
            <a:r>
              <a:t>protection and to supplement personal savings,</a:t>
            </a:r>
            <a:br/>
            <a:br/>
            <a:r>
              <a:t>pensions, and other retirement plans. It offers basic</a:t>
            </a:r>
            <a:br/>
            <a:br/>
            <a:r>
              <a:t>% aa ...rancelicense.myabsorb.com</a:t>
            </a:r>
            <a:br/>
            <a:br/>
            <a:r>
              <a:t>&lt; &gt; + (21)</a:t>
            </a:r>
            <a:br/>
            <a:br/>
            <a:r>
              <a:t>6</a:t>
            </a:r>
          </a:p>
          <a:p>
            <a:br/>
            <a:pPr>
              <a:defRPr sz="1200" i="1"/>
            </a:pPr>
            <a:r>
              <a:t>Note: a common misconception</a:t>
            </a:r>
            <a:br/>
            <a:r>
              <a:t>about Social Security?</a:t>
            </a:r>
            <a:br/>
            <a:r>
              <a:t>x) It offers a basic level of protection</a:t>
            </a:r>
            <a:br/>
            <a:r>
              <a:t>x) It provides disability income</a:t>
            </a:r>
            <a:br/>
            <a:r>
              <a:t>x) It supplements personal insurance plans</a:t>
            </a:r>
            <a:br/>
            <a:r>
              <a:t>g It fully covers all financial needs</a:t>
            </a:r>
            <a:br/>
            <a:r>
              <a:t>Proceed —_</a:t>
            </a:r>
            <a:br/>
            <a:r>
              <a:t>ds Acommon misconception about Social ...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Mary is currently insured and has</a:t>
            </a:r>
          </a:p>
          <a:p>
            <a:r>
              <a:t>recently passed away. What benefits</a:t>
            </a:r>
          </a:p>
          <a:p>
            <a:r>
              <a:t>are available to her survivors?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Retirement benefits</a:t>
            </a:r>
          </a:p>
          <a:p>
            <a:r>
              <a:t>☐ Survivor benefits</a:t>
            </a:r>
          </a:p>
          <a:p>
            <a:r>
              <a:t>☐ Medicare benefits</a:t>
            </a:r>
          </a:p>
          <a:p>
            <a:r>
              <a:t>☐ Disability benefits</a:t>
            </a:r>
          </a:p>
          <a:p>
            <a:br/>
            <a:pPr>
              <a:defRPr sz="1200" i="1"/>
            </a:pPr>
            <a:r>
              <a:t>Note: currently insured and has</a:t>
            </a:r>
            <a:br/>
            <a:r>
              <a:t>recently passed away. What benefits</a:t>
            </a:r>
            <a:br/>
            <a:r>
              <a:t>are available to her survivors?</a:t>
            </a:r>
            <a:br/>
            <a:r>
              <a:t>x) Retirement benefits</a:t>
            </a:r>
            <a:br/>
            <a:r>
              <a:t>g Survivor benefits</a:t>
            </a:r>
            <a:br/>
            <a:r>
              <a:t>x) Medicare benefits</a:t>
            </a:r>
            <a:br/>
            <a:r>
              <a:t>x) Disability benefits</a:t>
            </a:r>
            <a:br/>
            <a:r>
              <a:t>Proceed =</a:t>
            </a:r>
            <a:br/>
            <a:r>
              <a:t>és Since Mary is currently insured and has recently</a:t>
            </a:r>
            <a:br/>
            <a:r>
              <a:t>passed ...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many quarters of coverage are</a:t>
            </a:r>
          </a:p>
          <a:p>
            <a:r>
              <a:t>needed to be considered fully insured?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20 quarters</a:t>
            </a:r>
          </a:p>
          <a:p>
            <a:pPr>
              <a:defRPr b="1"/>
            </a:pPr>
            <a:r>
              <a:t>✅ 40 quarters</a:t>
            </a:r>
          </a:p>
          <a:p>
            <a:r>
              <a:t>☐ 30 quarters</a:t>
            </a:r>
            <a:br/>
            <a:br/>
            <a:r>
              <a:t>&amp; 50 quarters</a:t>
            </a:r>
          </a:p>
          <a:p>
            <a:br/>
            <a:pPr>
              <a:defRPr sz="1200" i="1"/>
            </a:pPr>
            <a:r>
              <a:t>Note: To be considered fully insured for Social Security</a:t>
            </a:r>
            <a:br/>
            <a:r>
              <a:t>benefits, an individual needs 40 quarters of</a:t>
            </a:r>
            <a:br/>
            <a:r>
              <a:t>coverage, equivalent to 10 years of work. This</a:t>
            </a:r>
            <a:br/>
            <a:r>
              <a:t>requirement ensures eligibility for retirement and</a:t>
            </a:r>
            <a:br/>
            <a:r>
              <a:t>disability benefits. It contrasts with needing 20</a:t>
            </a:r>
            <a:br/>
            <a:r>
              <a:t>&amp; a .....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Sam, a fully insured worker, becomes</a:t>
            </a:r>
          </a:p>
          <a:p>
            <a:r>
              <a:t>disabled at age 50. When can he start</a:t>
            </a:r>
          </a:p>
          <a:p>
            <a:r>
              <a:t>receiving disability benefits from Social</a:t>
            </a:r>
          </a:p>
          <a:p>
            <a:r>
              <a:t>Security?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After a five-month waiting period</a:t>
            </a:r>
            <a:br/>
            <a:r>
              <a:t>After one year</a:t>
            </a:r>
            <a:br/>
            <a:r>
              <a:t>Immediately</a:t>
            </a:r>
            <a:br/>
            <a:br/>
            <a:r>
              <a:t>At age 62</a:t>
            </a:r>
          </a:p>
          <a:p>
            <a:br/>
            <a:pPr>
              <a:defRPr sz="1200" i="1"/>
            </a:pPr>
            <a:r>
              <a:t>Note: Sam, as a fully insured worker who becomes</a:t>
            </a:r>
            <a:br/>
            <a:r>
              <a:t>disabled at age 50, can start receiving disability</a:t>
            </a:r>
            <a:br/>
            <a:r>
              <a:t>benefits from Social Security after a five-month</a:t>
            </a:r>
            <a:br/>
            <a:r>
              <a:t>% 4a ..rancelicense.myabsorb.com (</a:t>
            </a:r>
            <a:br/>
            <a:r>
              <a:t>&lt; + (21)...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is not typically covered by Social</a:t>
            </a:r>
          </a:p>
          <a:p>
            <a:r>
              <a:t>Security?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e State and local government employees</a:t>
            </a:r>
            <a:br/>
            <a:r>
              <a:t>Railroad workers</a:t>
            </a:r>
            <a:br/>
            <a:r>
              <a:t>Federal employees hired before 1984</a:t>
            </a:r>
            <a:br/>
            <a:br/>
            <a:r>
              <a:t>Self-employed individuals</a:t>
            </a:r>
          </a:p>
          <a:p>
            <a:pPr>
              <a:defRPr b="1"/>
            </a:pPr>
            <a:r>
              <a:t>✅ Federal employees hired before 1984 are not</a:t>
            </a:r>
            <a:br/>
            <a:r>
              <a:t>typically covered by Social Security because they</a:t>
            </a:r>
            <a:br/>
            <a:r>
              <a:t>were covered by the Civil Service Retirement System</a:t>
            </a:r>
            <a:br/>
            <a:r>
              <a:t>(CSRS). This is different from state and local</a:t>
            </a:r>
          </a:p>
          <a:p>
            <a:r>
              <a:t>☐ overnment employees, railroad workers, and self-</a:t>
            </a:r>
            <a:br/>
            <a:br/>
            <a:r>
              <a:t>l&lt; A &gt;|</a:t>
            </a:r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not typically covered by Social</a:t>
            </a:r>
            <a:br/>
            <a:r>
              <a:t>Security?</a:t>
            </a:r>
            <a:br/>
            <a:r>
              <a:t>x) e State and local government employees</a:t>
            </a:r>
            <a:br/>
            <a:r>
              <a:t>Railroad workers</a:t>
            </a:r>
            <a:br/>
            <a:r>
              <a:t>Federal employees hired before 1984</a:t>
            </a:r>
            <a:br/>
            <a:r>
              <a:t>Self-employed individuals</a:t>
            </a:r>
            <a:br/>
            <a:r>
              <a:t>Proceed =&gt;</a:t>
            </a:r>
            <a:br/>
            <a:r>
              <a:t>x Federal employees hired before 1984 are not</a:t>
            </a:r>
            <a:br/>
            <a:r>
              <a:t>typically covered by Social Se...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type of Social Security benefit</a:t>
            </a:r>
          </a:p>
          <a:p>
            <a:r>
              <a:t>requires fully insured status and also</a:t>
            </a:r>
          </a:p>
          <a:p>
            <a:r>
              <a:t>meeting the definition of disability?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Survivor benefits</a:t>
            </a:r>
          </a:p>
          <a:p>
            <a:r>
              <a:t>☐ Retirement benefits</a:t>
            </a:r>
          </a:p>
          <a:p>
            <a:pPr>
              <a:defRPr b="1"/>
            </a:pPr>
            <a:r>
              <a:t>✅ Disability benefits</a:t>
            </a:r>
            <a:br/>
            <a:br/>
            <a:r>
              <a:t>Medicare benefits</a:t>
            </a:r>
          </a:p>
          <a:p>
            <a:br/>
            <a:pPr>
              <a:defRPr sz="1200" i="1"/>
            </a:pPr>
            <a:r>
              <a:t>Note: Disability benefits under Social Security require</a:t>
            </a:r>
            <a:br/>
            <a:r>
              <a:t>that the individual be fully insured and meet the</a:t>
            </a:r>
            <a:br/>
            <a:r>
              <a:t>definition of disability as outlined by the Social</a:t>
            </a:r>
            <a:br/>
            <a:r>
              <a:t>Security Administration. This is different from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Jane, a retired worker, earns $20,000</a:t>
            </a:r>
          </a:p>
          <a:p>
            <a:r>
              <a:t>from a part-time job at age 63. How</a:t>
            </a:r>
          </a:p>
          <a:p>
            <a:r>
              <a:t>will her Social Security benefits be</a:t>
            </a:r>
          </a:p>
          <a:p>
            <a:r>
              <a:t>affected?</a:t>
            </a:r>
          </a:p>
          <a:p>
            <a:r>
              <a:t>' ¢) e Her benefits will not be affected</a:t>
            </a:r>
          </a:p>
          <a:p>
            <a:r>
              <a:t>Her benefits will increase</a:t>
            </a:r>
          </a:p>
          <a:p>
            <a:r>
              <a:t>Her benefits will be reduced by $1 for every</a:t>
            </a:r>
          </a:p>
          <a:p>
            <a:r>
              <a:t>$2 earned above the limit</a:t>
            </a:r>
          </a:p>
          <a:p>
            <a:r>
              <a:t>Her benefits will be reduced by $1 for every</a:t>
            </a:r>
          </a:p>
          <a:p>
            <a:r>
              <a:t>$3 earned above the limit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OASDHI stand for?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Old Age, Sickness, Disability, Health</a:t>
            </a:r>
            <a:br/>
            <a:r>
              <a:t>Insurance</a:t>
            </a:r>
          </a:p>
          <a:p>
            <a:r>
              <a:t>☐ ld Age, Survivors, Disability, Health</a:t>
            </a:r>
            <a:br/>
            <a:r>
              <a:t>Insurance</a:t>
            </a:r>
          </a:p>
          <a:p>
            <a:r>
              <a:t>☐ Old Age, Savings, Disability, Health</a:t>
            </a:r>
            <a:br/>
            <a:r>
              <a:t>Insurance</a:t>
            </a:r>
          </a:p>
          <a:p>
            <a:r>
              <a:t>☐ ld Age, Survivors, Dependent Health</a:t>
            </a:r>
            <a:br/>
            <a:r>
              <a:t>Insurance</a:t>
            </a:r>
          </a:p>
          <a:p>
            <a:br/>
            <a:pPr>
              <a:defRPr sz="1200" i="1"/>
            </a:pPr>
            <a:r>
              <a:t>Note: OASDHI stands for Old Age, Survivors,</a:t>
            </a:r>
            <a:br/>
            <a:r>
              <a:t>Disability, Health Insurance, which is a</a:t>
            </a:r>
            <a:br/>
            <a:r>
              <a:t>comprehensive term for the benefits provided under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Primary Insurance Amount (PIA)</a:t>
            </a:r>
          </a:p>
          <a:p>
            <a:r>
              <a:t>represents the benefits</a:t>
            </a:r>
          </a:p>
          <a:p>
            <a:r>
              <a:t>available to an eligible individual at</a:t>
            </a:r>
          </a:p>
          <a:p>
            <a:r>
              <a:t>age 65.</a:t>
            </a:r>
          </a:p>
          <a:p>
            <a:r>
              <a:t>Partial retirement</a:t>
            </a:r>
          </a:p>
          <a:p>
            <a:r>
              <a:t>Survivor</a:t>
            </a:r>
          </a:p>
          <a:p>
            <a:r>
              <a:t>Disability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Question 14 Select the appropriate response</a:t>
            </a:r>
            <a:br/>
            <a:br/>
            <a:r>
              <a:t>The Primary Insurance Amount (PIA)</a:t>
            </a:r>
            <a:br/>
            <a:r>
              <a:t>represents the benefits</a:t>
            </a:r>
            <a:br/>
            <a:r>
              <a:t>available to an eligible individual at</a:t>
            </a:r>
            <a:br/>
            <a:r>
              <a:t>age 65.</a:t>
            </a:r>
            <a:br/>
            <a:br/>
            <a:r>
              <a:t>Partial retirement</a:t>
            </a:r>
            <a:br/>
            <a:r>
              <a:t>Survivor</a:t>
            </a:r>
            <a:br/>
            <a:r>
              <a:t>Disability</a:t>
            </a:r>
          </a:p>
          <a:p>
            <a:pPr>
              <a:defRPr b="1"/>
            </a:pPr>
            <a:r>
              <a:t>✅ Full retirement</a:t>
            </a:r>
          </a:p>
          <a:p>
            <a:r>
              <a:t>☐ ndividual at age 65. This amount is calculated based</a:t>
            </a:r>
            <a:br/>
            <a:br/>
            <a:r>
              <a:t>% 4a ..rancelicense.myabsorb.com (©</a:t>
            </a:r>
            <a:br/>
            <a:br/>
            <a:r>
              <a:t>&lt; + (21)</a:t>
            </a:r>
          </a:p>
          <a:p>
            <a:br/>
            <a:pPr>
              <a:defRPr sz="1200" i="1"/>
            </a:pPr>
            <a:r>
              <a:t>Note: The Primary Insurance Amount (PIA) represents</a:t>
            </a:r>
            <a:br/>
            <a:r>
              <a:t>the full retirement benefits available to an eligible</a:t>
            </a:r>
            <a:br/>
            <a:r>
              <a:t>individual at age 65. This amount is calculated based</a:t>
            </a:r>
            <a:br/>
            <a:r>
              <a:t>% 4a ..rancelicense.myabsorb.com (</a:t>
            </a:r>
            <a:br/>
            <a:r>
              <a:t>&lt; + (21)...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happens to a worker's Social</a:t>
            </a:r>
          </a:p>
          <a:p>
            <a:r>
              <a:t>Security retirement benefits if they</a:t>
            </a:r>
          </a:p>
          <a:p>
            <a:r>
              <a:t>choose to retire early at 62?</a:t>
            </a:r>
          </a:p>
          <a:p>
            <a:r>
              <a:t>Benefits remain the same</a:t>
            </a:r>
          </a:p>
          <a:p>
            <a:r>
              <a:t>Benefits are temporarily reduced</a:t>
            </a:r>
          </a:p>
          <a:p>
            <a:r>
              <a:t>Benefits are permanently increased</a:t>
            </a:r>
          </a:p>
          <a:p>
            <a:r>
              <a:t>Benefits are permanently reduced</a:t>
            </a:r>
          </a:p>
          <a:p>
            <a:r>
              <a:t>9 8 8 8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Question 15 Select the appropriate response</a:t>
            </a:r>
            <a:br/>
            <a:br/>
            <a:r>
              <a:t>What happens to a worker's Social</a:t>
            </a:r>
            <a:br/>
            <a:r>
              <a:t>Security retirement benefits if they</a:t>
            </a:r>
            <a:br/>
            <a:r>
              <a:t>choose to retire early at 62?</a:t>
            </a:r>
            <a:br/>
            <a:r>
              <a:t>Benefits remain the same</a:t>
            </a:r>
            <a:br/>
            <a:br/>
            <a:r>
              <a:t>Benefits are temporarily reduced</a:t>
            </a:r>
            <a:br/>
            <a:br/>
            <a:r>
              <a:t>Benefits are permanently increased</a:t>
            </a:r>
            <a:br/>
            <a:br/>
            <a:r>
              <a:t>Benefits are permanently reduced</a:t>
            </a:r>
            <a:br/>
            <a:br/>
            <a:r>
              <a:t>9 8 8 8</a:t>
            </a:r>
          </a:p>
          <a:p>
            <a:br/>
            <a:pPr>
              <a:defRPr sz="1200" i="1"/>
            </a:pPr>
            <a:r>
              <a:t>Note: 'f a worker chooses to retire early at 62, their</a:t>
            </a:r>
            <a:br/>
            <a:r>
              <a:t>Social Security retirement benefits are permanently</a:t>
            </a:r>
            <a:br/>
            <a:r>
              <a:t>reduced. This reduction is compared to the amount</a:t>
            </a:r>
            <a:br/>
            <a:r>
              <a:t>they would receive if they waited until their full</a:t>
            </a:r>
            <a:br/>
            <a:r>
              <a:t>retirement age, reflecting the longer period ove...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plan is a retirement or</a:t>
            </a:r>
          </a:p>
          <a:p>
            <a:r>
              <a:t>employee compensation plan that</a:t>
            </a:r>
          </a:p>
          <a:p>
            <a:r>
              <a:t>meets IRS guidelines and</a:t>
            </a:r>
          </a:p>
          <a:p>
            <a:r>
              <a:t>consequently receives favorable tax</a:t>
            </a:r>
          </a:p>
          <a:p>
            <a:r>
              <a:t>treatment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a retirement or</a:t>
            </a:r>
            <a:br/>
            <a:r>
              <a:t>employee compensation plan that</a:t>
            </a:r>
            <a:br/>
            <a:r>
              <a:t>meets IRS guidelines and</a:t>
            </a:r>
            <a:br/>
            <a:r>
              <a:t>consequently receives favorable tax</a:t>
            </a:r>
            <a:br/>
            <a:r>
              <a:t>treatment</a:t>
            </a:r>
            <a:br/>
            <a:r>
              <a:t>Proceed =&gt;</a:t>
            </a:r>
            <a:br/>
            <a:r>
              <a:t>I&lt; A &gt;|</a:t>
            </a:r>
            <a:br/>
            <a:r>
              <a:t>% a ...rancelicense.myabsorb.com 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employer-sponsored retirement</a:t>
            </a:r>
          </a:p>
          <a:p>
            <a:r>
              <a:t>plan that distributes benefits in the</a:t>
            </a:r>
          </a:p>
          <a:p>
            <a:r>
              <a:t>form of company stock is Known as a</a:t>
            </a:r>
          </a:p>
          <a:p>
            <a:r>
              <a:t>401(k) plan</a:t>
            </a:r>
          </a:p>
          <a:p>
            <a:r>
              <a:t>profit-sharing plan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Question 2 Select the appropriate response</a:t>
            </a:r>
            <a:br/>
            <a:br/>
            <a:r>
              <a:t>An employer-sponsored retirement</a:t>
            </a:r>
            <a:br/>
            <a:r>
              <a:t>plan that distributes benefits in the</a:t>
            </a:r>
            <a:br/>
            <a:r>
              <a:t>form of company stock is Known as a</a:t>
            </a:r>
            <a:br/>
            <a:br/>
            <a:r>
              <a:t>401(k) plan</a:t>
            </a:r>
            <a:br/>
            <a:r>
              <a:t>profit-sharing plan</a:t>
            </a:r>
          </a:p>
          <a:p>
            <a:r>
              <a:t>☐ stock bonus plan</a:t>
            </a:r>
            <a:br/>
            <a:br/>
            <a:r>
              <a:t>money purchase plan</a:t>
            </a:r>
          </a:p>
          <a:p>
            <a:br/>
            <a:pPr>
              <a:defRPr sz="1200" i="1"/>
            </a:pPr>
            <a:r>
              <a:t>Note: Known as a</a:t>
            </a:r>
            <a:br/>
            <a:r>
              <a:t>401(k) plan</a:t>
            </a:r>
            <a:br/>
            <a:r>
              <a:t>profit-sharing plan</a:t>
            </a:r>
            <a:br/>
            <a:r>
              <a:t>g stock bonus plan</a:t>
            </a:r>
            <a:br/>
            <a:r>
              <a:t>money purchase plan</a:t>
            </a:r>
            <a:br/>
            <a:r>
              <a:t>Proceed =&gt;</a:t>
            </a:r>
            <a:br/>
            <a:r>
              <a:t>ds An employer-sponsored retirement plan that</a:t>
            </a:r>
            <a:br/>
            <a:r>
              <a:t>distributes benefits in the form of company stock is</a:t>
            </a:r>
            <a:br/>
            <a:r>
              <a:t>known as a stock bonus plan. This type of plan aligns</a:t>
            </a:r>
            <a:br/>
            <a:r>
              <a:t>% 4a...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 key feature of a defined</a:t>
            </a:r>
          </a:p>
          <a:p>
            <a:r>
              <a:t>benefit plan?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Question 3 Select the appropriate response</a:t>
            </a:r>
            <a:br/>
            <a:br/>
            <a:r>
              <a:t>What is a key feature of a defined</a:t>
            </a:r>
            <a:br/>
            <a:r>
              <a:t>benefit plan?</a:t>
            </a:r>
          </a:p>
          <a:p>
            <a:r>
              <a:t>☐ Specifies a guaranteed future benefit</a:t>
            </a:r>
            <a:br/>
            <a:r>
              <a:t>determined by a formula.</a:t>
            </a:r>
            <a:br/>
            <a:br/>
            <a:r>
              <a:t>Contributions are made at the employee's</a:t>
            </a:r>
            <a:br/>
            <a:br/>
            <a:r>
              <a:t>discretion.</a:t>
            </a:r>
          </a:p>
          <a:p>
            <a:r>
              <a:t>☐ s) Benefits depend on investment</a:t>
            </a:r>
            <a:br/>
            <a:r>
              <a:t>performance.</a:t>
            </a:r>
            <a:br/>
            <a:br/>
            <a:r>
              <a:t>Provides stock options to employees.</a:t>
            </a:r>
          </a:p>
          <a:p>
            <a:br/>
            <a:pPr>
              <a:defRPr sz="1200" i="1"/>
            </a:pPr>
            <a:r>
              <a:t>Note: a key feature of a defined</a:t>
            </a:r>
            <a:br/>
            <a:r>
              <a:t>benefit plan?</a:t>
            </a:r>
            <a:br/>
            <a:r>
              <a:t>iv) Specifies a guaranteed future benefit</a:t>
            </a:r>
            <a:br/>
            <a:r>
              <a:t>determined by a formula.</a:t>
            </a:r>
            <a:br/>
            <a:r>
              <a:t>Contributions are made at the employee's</a:t>
            </a:r>
            <a:br/>
            <a:r>
              <a:t>discretion.</a:t>
            </a:r>
            <a:br/>
            <a:r>
              <a:t>is) Benefits depend on investment</a:t>
            </a:r>
            <a:br/>
            <a:r>
              <a:t>performance.</a:t>
            </a:r>
            <a:br/>
            <a:r>
              <a:t>Provides stock options to employees.</a:t>
            </a:r>
            <a:br/>
            <a:r>
              <a:t>Proce...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act established the fundamental</a:t>
            </a:r>
          </a:p>
          <a:p>
            <a:r>
              <a:t>principles for qualified employer</a:t>
            </a:r>
          </a:p>
          <a:p>
            <a:r>
              <a:t>plans?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Social Security Act</a:t>
            </a:r>
          </a:p>
          <a:p>
            <a:r>
              <a:t>☐ Pension Protection Act</a:t>
            </a:r>
          </a:p>
          <a:p>
            <a:r>
              <a:t>☐ Taxpayer Relief Act</a:t>
            </a:r>
            <a:br/>
            <a:br/>
            <a:r>
              <a:t>Employee Retirement Income Security Act</a:t>
            </a:r>
            <a:br/>
            <a:r>
              <a:t>of 1974</a:t>
            </a:r>
          </a:p>
          <a:p>
            <a:br/>
            <a:pPr>
              <a:defRPr sz="1200" i="1"/>
            </a:pPr>
            <a:r>
              <a:t>Note: The Employee Retirement Income Security Act</a:t>
            </a:r>
            <a:br/>
            <a:r>
              <a:t>of 1974 (ERISA) established the fundamental</a:t>
            </a:r>
            <a:br/>
            <a:r>
              <a:t>principles for qualified employer plans. This act set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Jane is a teacher at a public school</a:t>
            </a:r>
          </a:p>
          <a:p>
            <a:r>
              <a:t>and wants to invest in a retirement</a:t>
            </a:r>
          </a:p>
          <a:p>
            <a:r>
              <a:t>plan that offers tax advantages. Which</a:t>
            </a:r>
          </a:p>
          <a:p>
            <a:r>
              <a:t>plan is specifically designed for her?</a:t>
            </a:r>
          </a:p>
          <a:p>
            <a:r>
              <a:t>SEP IRA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Question 5 Select the appropriate response</a:t>
            </a:r>
            <a:br/>
            <a:br/>
            <a:r>
              <a:t>Jane is a teacher at a public school</a:t>
            </a:r>
            <a:br/>
            <a:r>
              <a:t>and wants to invest in a retirement</a:t>
            </a:r>
            <a:br/>
            <a:r>
              <a:t>plan that offers tax advantages. Which</a:t>
            </a:r>
            <a:br/>
            <a:r>
              <a:t>plan is specifically designed for her?</a:t>
            </a:r>
            <a:br/>
            <a:br/>
            <a:r>
              <a:t>SEP IRA</a:t>
            </a:r>
          </a:p>
          <a:p>
            <a:r>
              <a:t>☐ 403(b) plan</a:t>
            </a:r>
            <a:br/>
            <a:r>
              <a:t>SIMPLE IRA</a:t>
            </a:r>
            <a:br/>
            <a:br/>
            <a:r>
              <a:t>401(k) plan</a:t>
            </a:r>
          </a:p>
          <a:p>
            <a:r>
              <a:t>☐ nvest in a 403(b) plan. This plan is specifically</a:t>
            </a:r>
            <a:br/>
            <a:r>
              <a:t>designed for employees of public schools and</a:t>
            </a:r>
            <a:br/>
            <a:br/>
            <a:r>
              <a:t>% 4a ..rancelicense.myabsorb.com (©</a:t>
            </a:r>
            <a:br/>
            <a:br/>
            <a:r>
              <a:t>&lt; + (21)</a:t>
            </a:r>
          </a:p>
          <a:p>
            <a:br/>
            <a:pPr>
              <a:defRPr sz="1200" i="1"/>
            </a:pPr>
            <a:r>
              <a:t>Note: a teacher at a public school</a:t>
            </a:r>
            <a:br/>
            <a:r>
              <a:t>and wants to invest in a retirement</a:t>
            </a:r>
            <a:br/>
            <a:r>
              <a:t>plan that offers tax advantages. Which</a:t>
            </a:r>
            <a:br/>
            <a:r>
              <a:t>plan is specifically designed for her?</a:t>
            </a:r>
            <a:br/>
            <a:r>
              <a:t>SEP IRA</a:t>
            </a:r>
            <a:br/>
            <a:r>
              <a:t>g 403(b) plan</a:t>
            </a:r>
            <a:br/>
            <a:r>
              <a:t>SIMPLE IRA</a:t>
            </a:r>
            <a:br/>
            <a:r>
              <a:t>401(k) plan</a:t>
            </a:r>
            <a:br/>
            <a:r>
              <a:t>Proceed =&gt;</a:t>
            </a:r>
            <a:br/>
            <a:r>
              <a:t>ds As a teacher at a public school, Jane should</a:t>
            </a:r>
            <a:br/>
            <a:r>
              <a:t>inv...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is a</a:t>
            </a:r>
          </a:p>
          <a:p>
            <a:r>
              <a:t>characteristic of qualified retirement</a:t>
            </a:r>
          </a:p>
          <a:p>
            <a:r>
              <a:t>plans?</a:t>
            </a:r>
          </a:p>
          <a:p>
            <a:r>
              <a:t>Employer contributions are not deductible.</a:t>
            </a:r>
          </a:p>
          <a:p>
            <a:r>
              <a:t>Contributions are taxed when made.</a:t>
            </a:r>
          </a:p>
          <a:p>
            <a:r>
              <a:t>Earnings within the plan are taxed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mmediately.</a:t>
            </a:r>
          </a:p>
          <a:p>
            <a:r>
              <a:t>☐ Employer contributions are deductible as a</a:t>
            </a:r>
            <a:br/>
            <a:r>
              <a:t>business expense.</a:t>
            </a:r>
          </a:p>
          <a:p>
            <a:br/>
            <a:pPr>
              <a:defRPr sz="1200" i="1"/>
            </a:pPr>
            <a:r>
              <a:t>Note: a</a:t>
            </a:r>
            <a:br/>
            <a:r>
              <a:t>characteristic of qualified retirement</a:t>
            </a:r>
            <a:br/>
            <a:r>
              <a:t>plans?</a:t>
            </a:r>
            <a:br/>
            <a:r>
              <a:t>Employer contributions are not deductible.</a:t>
            </a:r>
            <a:br/>
            <a:r>
              <a:t>Contributions are taxed when made.</a:t>
            </a:r>
            <a:br/>
            <a:r>
              <a:t>Earnings within the plan are taxed</a:t>
            </a:r>
            <a:br/>
            <a:r>
              <a:t>immediately.</a:t>
            </a:r>
            <a:br/>
            <a:r>
              <a:t>g Employer contributions are deductible as a</a:t>
            </a:r>
            <a:br/>
            <a:r>
              <a:t>business expense.</a:t>
            </a:r>
            <a:br/>
            <a:r>
              <a:t>Proceed =&gt;</a:t>
            </a:r>
            <a:br/>
            <a:r>
              <a:t>és...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Emma's employer offers a retirement</a:t>
            </a:r>
          </a:p>
          <a:p>
            <a:r>
              <a:t>plan where contributions are made in</a:t>
            </a:r>
          </a:p>
          <a:p>
            <a:r>
              <a:t>the form of company stock. What type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Question 7 Select the appropriate response</a:t>
            </a:r>
            <a:br/>
            <a:br/>
            <a:r>
              <a:t>Emma's employer offers a retirement</a:t>
            </a:r>
            <a:br/>
            <a:r>
              <a:t>plan where contributions are made in</a:t>
            </a:r>
            <a:br/>
            <a:r>
              <a:t>the form of company stock. What type</a:t>
            </a:r>
            <a:br/>
            <a:r>
              <a:t>of plan is this?</a:t>
            </a:r>
            <a:br/>
            <a:br/>
            <a:r>
              <a:t>Profit-sharing plan</a:t>
            </a:r>
            <a:br/>
            <a:r>
              <a:t>Money purchase plan</a:t>
            </a:r>
          </a:p>
          <a:p>
            <a:r>
              <a:t>☐ Stock bonus plan</a:t>
            </a:r>
            <a:br/>
            <a:br/>
            <a:r>
              <a:t>ESOP</a:t>
            </a:r>
          </a:p>
          <a:p>
            <a:br/>
            <a:pPr>
              <a:defRPr sz="1200" i="1"/>
            </a:pPr>
            <a:r>
              <a:t>Note: this?</a:t>
            </a:r>
            <a:br/>
            <a:r>
              <a:t>Profit-sharing plan</a:t>
            </a:r>
            <a:br/>
            <a:r>
              <a:t>Money purchase plan</a:t>
            </a:r>
            <a:br/>
            <a:r>
              <a:t>g Stock bonus plan</a:t>
            </a:r>
            <a:br/>
            <a:r>
              <a:t>ESOP</a:t>
            </a:r>
            <a:br/>
            <a:r>
              <a:t>Proceed =&gt;</a:t>
            </a:r>
            <a:br/>
            <a:r>
              <a:t>ds 'f Emma's employer offers a retirement plan with</a:t>
            </a:r>
            <a:br/>
            <a:r>
              <a:t>contributions made in the form of company stock, it is</a:t>
            </a:r>
            <a:br/>
            <a:r>
              <a:t>a stock bonus plan. This plan provides employees</a:t>
            </a:r>
            <a:br/>
            <a:r>
              <a:t>% 4a ..rancel...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403(b) plan is primarily available to</a:t>
            </a:r>
          </a:p>
          <a:p>
            <a:r>
              <a:t>which of the following groups of</a:t>
            </a:r>
          </a:p>
          <a:p>
            <a:r>
              <a:t>employees?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Public school employees</a:t>
            </a:r>
          </a:p>
          <a:p>
            <a:br/>
            <a:pPr>
              <a:defRPr sz="1200" i="1"/>
            </a:pPr>
            <a:r>
              <a:t>Note: primarily available to</a:t>
            </a:r>
            <a:br/>
            <a:r>
              <a:t>which of the following groups of</a:t>
            </a:r>
            <a:br/>
            <a:r>
              <a:t>employees?</a:t>
            </a:r>
            <a:br/>
            <a:r>
              <a:t>Government employees</a:t>
            </a:r>
            <a:br/>
            <a:r>
              <a:t>Corporate executives</a:t>
            </a:r>
            <a:br/>
            <a:r>
              <a:t>Self-employed individuals</a:t>
            </a:r>
            <a:br/>
            <a:r>
              <a:t>g e Public school employees</a:t>
            </a:r>
            <a:br/>
            <a:r>
              <a:t>l&lt;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comply with annual reporting</a:t>
            </a:r>
          </a:p>
          <a:p>
            <a:r>
              <a:t>requirements under ERISA, employers</a:t>
            </a:r>
          </a:p>
          <a:p>
            <a:r>
              <a:t>must file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Form 1099</a:t>
            </a:r>
            <a:br/>
            <a:r>
              <a:t>&gt;) Form 1040</a:t>
            </a:r>
          </a:p>
          <a:p>
            <a:pPr>
              <a:defRPr b="1"/>
            </a:pPr>
            <a:r>
              <a:t>✅ Form 5500</a:t>
            </a:r>
          </a:p>
          <a:p>
            <a:r>
              <a:t>☐ Form W-2</a:t>
            </a:r>
          </a:p>
          <a:p>
            <a:br/>
            <a:pPr>
              <a:defRPr sz="1200" i="1"/>
            </a:pPr>
            <a:r>
              <a:t>Note: To comply with annual reporting requirements</a:t>
            </a:r>
            <a:br/>
            <a:r>
              <a:t>under ERISA, employers must file Form 5500. This</a:t>
            </a:r>
            <a:br/>
            <a:r>
              <a:t>form provides information on the plan's financial</a:t>
            </a:r>
            <a:br/>
            <a:r>
              <a:t>condition, investments, and operations. This is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purpose of Form 5500?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To report employee wages.</a:t>
            </a:r>
            <a:br/>
            <a:br/>
            <a:r>
              <a:t>To calculate retirement benefits.</a:t>
            </a:r>
          </a:p>
          <a:p>
            <a:pPr>
              <a:defRPr b="1"/>
            </a:pPr>
            <a:r>
              <a:t>✅ To comply with annual reporting</a:t>
            </a:r>
            <a:br/>
            <a:r>
              <a:t>requirements under ERISA.</a:t>
            </a:r>
            <a:br/>
            <a:br/>
            <a:r>
              <a:t>To apply for a new retirement plan.</a:t>
            </a:r>
          </a:p>
          <a:p>
            <a:br/>
            <a:pPr>
              <a:defRPr sz="1200" i="1"/>
            </a:pPr>
            <a:r>
              <a:t>Note: the purpose of Form 5500?</a:t>
            </a:r>
            <a:br/>
            <a:r>
              <a:t>x) To report employee wages.</a:t>
            </a:r>
            <a:br/>
            <a:r>
              <a:t>To calculate retirement benefits.</a:t>
            </a:r>
            <a:br/>
            <a:r>
              <a:t>g To comply with annual reporting</a:t>
            </a:r>
            <a:br/>
            <a:r>
              <a:t>requirements under ERISA.</a:t>
            </a:r>
            <a:br/>
            <a:r>
              <a:t>To apply for a new retirement plan.</a:t>
            </a:r>
            <a:br/>
            <a:r>
              <a:t>ds The purpose of Form 5500 is to comply with</a:t>
            </a:r>
            <a:br/>
            <a:r>
              <a:t>annual reporting re...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main goal of the Pension</a:t>
            </a:r>
          </a:p>
          <a:p>
            <a:r>
              <a:t>Protection Act of 2006?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To strengthen the overall pension system</a:t>
            </a:r>
            <a:br/>
            <a:r>
              <a:t>and provide workers with greater support</a:t>
            </a:r>
          </a:p>
          <a:p>
            <a:r>
              <a:t>☐ To eliminate pension plans.</a:t>
            </a:r>
          </a:p>
          <a:p>
            <a:r>
              <a:t>☐ To increase government control over</a:t>
            </a:r>
            <a:br/>
            <a:r>
              <a:t>pension funds.</a:t>
            </a:r>
          </a:p>
          <a:p>
            <a:r>
              <a:t>☐ To reduce tax benefits for retirement plans.</a:t>
            </a:r>
          </a:p>
          <a:p>
            <a:br/>
            <a:pPr>
              <a:defRPr sz="1200" i="1"/>
            </a:pPr>
            <a:r>
              <a:t>Note: the main goal of the Pension</a:t>
            </a:r>
            <a:br/>
            <a:r>
              <a:t>Protection Act of 2006?</a:t>
            </a:r>
            <a:br/>
            <a:r>
              <a:t>iv) To strengthen the overall pension system</a:t>
            </a:r>
            <a:br/>
            <a:r>
              <a:t>and provide workers with greater support</a:t>
            </a:r>
            <a:br/>
            <a:r>
              <a:t>x) To eliminate pension plans.</a:t>
            </a:r>
            <a:br/>
            <a:r>
              <a:t>x) To increase government control over</a:t>
            </a:r>
            <a:br/>
            <a:r>
              <a:t>pension funds.</a:t>
            </a:r>
            <a:br/>
            <a:r>
              <a:t>x) To reduce tax benefits ...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primary purpose of a</a:t>
            </a:r>
          </a:p>
          <a:p>
            <a:r>
              <a:t>conduit IRA?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To provide immediate tax benefits.</a:t>
            </a:r>
            <a:br/>
            <a:br/>
            <a:r>
              <a:t>To serve as a primary retirement savings</a:t>
            </a:r>
            <a:br/>
            <a:r>
              <a:t>account.</a:t>
            </a:r>
            <a:br/>
            <a:br/>
            <a:r>
              <a:t>To act as a temporary holding account for</a:t>
            </a:r>
          </a:p>
          <a:p>
            <a:pPr>
              <a:defRPr b="1"/>
            </a:pPr>
            <a:r>
              <a:t>✅ To offer higher interest rates.</a:t>
            </a:r>
            <a:br/>
            <a:r>
              <a:t>funds transferred between qualified plans.</a:t>
            </a:r>
          </a:p>
          <a:p>
            <a:r>
              <a:t>☐ ndividuals maintain the tax-deferred status of their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the primary purpose of a</a:t>
            </a:r>
            <a:br/>
            <a:r>
              <a:t>conduit IRA?</a:t>
            </a:r>
            <a:br/>
            <a:r>
              <a:t>x) To provide immediate tax benefits.</a:t>
            </a:r>
            <a:br/>
            <a:r>
              <a:t>To serve as a primary retirement savings</a:t>
            </a:r>
            <a:br/>
            <a:r>
              <a:t>account.</a:t>
            </a:r>
            <a:br/>
            <a:r>
              <a:t>To act as a temporary holding account for</a:t>
            </a:r>
            <a:br/>
            <a:r>
              <a:t>x) To offer higher interest rates.</a:t>
            </a:r>
            <a:br/>
            <a:r>
              <a:t>funds transferred between qualified plans.</a:t>
            </a:r>
            <a:br/>
            <a:r>
              <a:t>Proc...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trustee-to-trustee transfer of rollover</a:t>
            </a:r>
          </a:p>
          <a:p>
            <a:r>
              <a:t>funds in a qualified plan allows a</a:t>
            </a:r>
          </a:p>
          <a:p>
            <a:r>
              <a:t>participant to avoid:</a:t>
            </a:r>
          </a:p>
          <a:p>
            <a:r>
              <a:t>Paying trustee fees</a:t>
            </a:r>
          </a:p>
          <a:p>
            <a:r>
              <a:t>Ever paying income taxes on the</a:t>
            </a:r>
          </a:p>
          <a:p>
            <a:r>
              <a:t>distributions</a:t>
            </a:r>
          </a:p>
          <a:p>
            <a:r>
              <a:t>Paying transfer fees</a:t>
            </a:r>
          </a:p>
          <a:p>
            <a:r>
              <a:t>Mandatory income tax withholding on the</a:t>
            </a:r>
          </a:p>
          <a:p>
            <a:r>
              <a:t>transfer amount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in a qualified plan allows a</a:t>
            </a:r>
            <a:br/>
            <a:r>
              <a:t>participant to avoid:</a:t>
            </a:r>
            <a:br/>
            <a:r>
              <a:t>Paying trustee fees</a:t>
            </a:r>
            <a:br/>
            <a:r>
              <a:t>Ever paying income taxes on the</a:t>
            </a:r>
            <a:br/>
            <a:r>
              <a:t>distributions</a:t>
            </a:r>
            <a:br/>
            <a:r>
              <a:t>Paying transfer fees</a:t>
            </a:r>
            <a:br/>
            <a:r>
              <a:t>Mandatory income tax withholding on the</a:t>
            </a:r>
            <a:br/>
            <a:r>
              <a:t>transfer amount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&gt;...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John is 52 years old and wants to</a:t>
            </a:r>
          </a:p>
          <a:p>
            <a:r>
              <a:t>contribute more to his retirement</a:t>
            </a:r>
          </a:p>
          <a:p>
            <a:r>
              <a:t>savings this year. Which type of IRA</a:t>
            </a:r>
          </a:p>
          <a:p>
            <a:r>
              <a:t>allows him to make additional catch-up</a:t>
            </a:r>
          </a:p>
          <a:p>
            <a:r>
              <a:t>contributions?</a:t>
            </a:r>
          </a:p>
          <a:p>
            <a:r>
              <a:t>SIMPLE IRA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© RothiRA</a:t>
            </a:r>
            <a:br/>
            <a:br/>
            <a:r>
              <a:t>Traditional IRA</a:t>
            </a:r>
            <a:br/>
            <a:br/>
            <a:r>
              <a:t>SEP IRA</a:t>
            </a:r>
          </a:p>
          <a:p>
            <a:pPr>
              <a:defRPr b="1"/>
            </a:pPr>
            <a:r>
              <a:t>✅ Atage 52, John can make additional catch-up</a:t>
            </a:r>
            <a:br/>
            <a:r>
              <a:t>contributions to a Traditional IRA. This allows</a:t>
            </a:r>
          </a:p>
          <a:p>
            <a:r>
              <a:t>☐ ndividuals aged 50 and older to contribute more than</a:t>
            </a:r>
            <a:br/>
            <a:br/>
            <a:r>
              <a:t>the standard limit to their retirement accounts. This is</a:t>
            </a:r>
            <a:br/>
            <a:r>
              <a:t>| differant from 9 Roth IRA SIMPIE IRA or SEP IRA</a:t>
            </a:r>
            <a:br/>
            <a:br/>
            <a:r>
              <a:t>4 A &gt;|</a:t>
            </a:r>
            <a:br/>
            <a:br/>
            <a:r>
              <a:t>&amp; a ..rancelicense.myabsorb.com (©</a:t>
            </a:r>
            <a:br/>
            <a:br/>
            <a:r>
              <a:t>&lt; &gt; + (21)</a:t>
            </a:r>
          </a:p>
          <a:p>
            <a:br/>
            <a:pPr>
              <a:defRPr sz="1200" i="1"/>
            </a:pPr>
            <a:r>
              <a:t>Note: 52 years old and wants to</a:t>
            </a:r>
            <a:br/>
            <a:r>
              <a:t>contribute more to his retirement</a:t>
            </a:r>
            <a:br/>
            <a:r>
              <a:t>savings this year. Which type of IRA</a:t>
            </a:r>
            <a:br/>
            <a:r>
              <a:t>allows him to make additional catch-up</a:t>
            </a:r>
            <a:br/>
            <a:r>
              <a:t>contributions?</a:t>
            </a:r>
            <a:br/>
            <a:r>
              <a:t>SIMPLE IRA</a:t>
            </a:r>
            <a:br/>
            <a:r>
              <a:t>RothiRA</a:t>
            </a:r>
            <a:br/>
            <a:r>
              <a:t>Traditional IRA</a:t>
            </a:r>
            <a:br/>
            <a:r>
              <a:t>SEP IRA</a:t>
            </a:r>
            <a:br/>
            <a:r>
              <a:t>x Atage 52, John can make additional catch-up</a:t>
            </a:r>
            <a:br/>
            <a:r>
              <a:t>contributi...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often must continuing education</a:t>
            </a:r>
          </a:p>
          <a:p>
            <a:r>
              <a:t>credits be completed for insurance</a:t>
            </a:r>
          </a:p>
          <a:p>
            <a:r>
              <a:t>producers in Arizona?</a:t>
            </a:r>
          </a:p>
          <a:p>
            <a:r>
              <a:t>Every three years</a:t>
            </a:r>
          </a:p>
          <a:p>
            <a:r>
              <a:t>Every two years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must be included in a business</a:t>
            </a:r>
          </a:p>
          <a:p>
            <a:r>
              <a:t>entity’s insurance license application in</a:t>
            </a:r>
          </a:p>
          <a:p>
            <a:r>
              <a:t>Arizona?</a:t>
            </a:r>
          </a:p>
          <a:p>
            <a:r>
              <a:t>A business plan approved by the state</a:t>
            </a:r>
          </a:p>
          <a:p>
            <a:r>
              <a:t>Names of all members, officers, and</a:t>
            </a:r>
          </a:p>
          <a:p>
            <a:r>
              <a:t>directors</a:t>
            </a:r>
          </a:p>
          <a:p>
            <a:r>
              <a:t>A list of all shareholders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type of business information</a:t>
            </a:r>
          </a:p>
          <a:p>
            <a:r>
              <a:t>must be reported to the Director when</a:t>
            </a:r>
          </a:p>
          <a:p>
            <a:r>
              <a:t>there is a change?</a:t>
            </a:r>
          </a:p>
          <a:p>
            <a:r>
              <a:t>Change in service pricing</a:t>
            </a:r>
          </a:p>
          <a:p>
            <a:r>
              <a:t>Change in business logo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a change?</a:t>
            </a:r>
            <a:br/>
            <a:r>
              <a:t>Change in service pricing</a:t>
            </a:r>
            <a:br/>
            <a:r>
              <a:t>Change in business logo</a:t>
            </a:r>
            <a:br/>
            <a:r>
              <a:t>Proceed =&gt;</a:t>
            </a:r>
            <a:br/>
            <a:r>
              <a:t>4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required from a business</a:t>
            </a:r>
          </a:p>
          <a:p>
            <a:r>
              <a:t>entity to maintain its insurance license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n Arizona?</a:t>
            </a:r>
          </a:p>
          <a:p>
            <a:r>
              <a:t>☐ e Have atleast one licensed insurance</a:t>
            </a:r>
            <a:br/>
            <a:r>
              <a:t>producer for each line of authority at each</a:t>
            </a:r>
            <a:br/>
            <a:r>
              <a:t>location</a:t>
            </a:r>
            <a:br/>
            <a:br/>
            <a:r>
              <a:t>Pass an annual state inspection</a:t>
            </a:r>
            <a:br/>
            <a:r>
              <a:t>Provide monthly reports to the Director</a:t>
            </a:r>
            <a:br/>
            <a:br/>
            <a:r>
              <a:t>Maintain a minimum number of employees</a:t>
            </a:r>
          </a:p>
          <a:p>
            <a:br/>
            <a:pPr>
              <a:defRPr sz="1200" i="1"/>
            </a:pPr>
            <a:r>
              <a:t>Note: required from a business</a:t>
            </a:r>
            <a:br/>
            <a:r>
              <a:t>entity to maintain its insurance license</a:t>
            </a:r>
            <a:br/>
            <a:r>
              <a:t>in Arizona?</a:t>
            </a:r>
            <a:br/>
            <a:r>
              <a:t>iv) e Have atleast one licensed insurance</a:t>
            </a:r>
            <a:br/>
            <a:r>
              <a:t>producer for each line of authority at each</a:t>
            </a:r>
            <a:br/>
            <a:r>
              <a:t>location</a:t>
            </a:r>
            <a:br/>
            <a:r>
              <a:t>Pass an annual state inspection</a:t>
            </a:r>
            <a:br/>
            <a:r>
              <a:t>Provide monthly reports to the Director</a:t>
            </a:r>
            <a:br/>
            <a:r>
              <a:t>Maint...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how long is an insurance producer</a:t>
            </a:r>
          </a:p>
          <a:p>
            <a:r>
              <a:t>license valid in Arizona before it needs</a:t>
            </a:r>
          </a:p>
          <a:p>
            <a:r>
              <a:t>to be renewed?</a:t>
            </a:r>
          </a:p>
          <a:p>
            <a:r>
              <a:t>Three years</a:t>
            </a:r>
          </a:p>
          <a:p>
            <a:r>
              <a:t>Two years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an insurance producer</a:t>
            </a:r>
            <a:br/>
            <a:r>
              <a:t>license valid in Arizona before it needs</a:t>
            </a:r>
            <a:br/>
            <a:r>
              <a:t>to be renewed?</a:t>
            </a:r>
            <a:br/>
            <a:r>
              <a:t>Three years</a:t>
            </a:r>
            <a:br/>
            <a:r>
              <a:t>Two years</a:t>
            </a:r>
            <a:br/>
            <a:r>
              <a:t>Proceed =&gt;</a:t>
            </a:r>
            <a:br/>
            <a:r>
              <a:t>4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action must be taken if there is a</a:t>
            </a:r>
          </a:p>
          <a:p>
            <a:r>
              <a:t>change among the members,</a:t>
            </a:r>
          </a:p>
          <a:p>
            <a:r>
              <a:t>directors, or officers of a business</a:t>
            </a:r>
          </a:p>
          <a:p>
            <a:r>
              <a:t>entity licensed as an insurance</a:t>
            </a:r>
          </a:p>
          <a:p>
            <a:r>
              <a:t>producer in Arizona?</a:t>
            </a:r>
          </a:p>
          <a:p>
            <a:r>
              <a:t>Apply for a new license</a:t>
            </a:r>
          </a:p>
          <a:p>
            <a:r>
              <a:t>Report the change to the IRS</a:t>
            </a:r>
          </a:p>
          <a:p>
            <a:r>
              <a:t>Hold a general meeting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a</a:t>
            </a:r>
            <a:br/>
            <a:r>
              <a:t>change among the members,</a:t>
            </a:r>
            <a:br/>
            <a:r>
              <a:t>directors, or officers of a business</a:t>
            </a:r>
            <a:br/>
            <a:r>
              <a:t>entity licensed as an insurance</a:t>
            </a:r>
            <a:br/>
            <a:r>
              <a:t>producer in Arizona?</a:t>
            </a:r>
            <a:br/>
            <a:r>
              <a:t>Apply for a new license</a:t>
            </a:r>
            <a:br/>
            <a:r>
              <a:t>Report the change to the IRS</a:t>
            </a:r>
            <a:br/>
            <a:r>
              <a:t>Hold a general meeting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&gt;...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consequence for an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nsurer or insurance producer who</a:t>
            </a:r>
            <a:br/>
            <a:r>
              <a:t>compensates a non-licensed individual</a:t>
            </a:r>
            <a:br/>
            <a:r>
              <a:t>for selling insurance in Arizona?</a:t>
            </a:r>
          </a:p>
          <a:p>
            <a:r>
              <a:t>☐ e Revocation of the insurer or producer’s</a:t>
            </a:r>
            <a:br/>
            <a:br/>
            <a:r>
              <a:t>license</a:t>
            </a:r>
            <a:br/>
            <a:br/>
            <a:r>
              <a:t>Mandatory educational courses</a:t>
            </a:r>
            <a:br/>
            <a:br/>
            <a:r>
              <a:t>A notice of warning</a:t>
            </a:r>
          </a:p>
          <a:p>
            <a:br/>
            <a:pPr>
              <a:defRPr sz="1200" i="1"/>
            </a:pPr>
            <a:r>
              <a:t>Note: the consequence for an</a:t>
            </a:r>
            <a:br/>
            <a:r>
              <a:t>insurer or insurance producer who</a:t>
            </a:r>
            <a:br/>
            <a:r>
              <a:t>compensates a non-licensed individual</a:t>
            </a:r>
            <a:br/>
            <a:r>
              <a:t>for selling insurance in Arizona?</a:t>
            </a:r>
            <a:br/>
            <a:r>
              <a:t>e Revocation of the insurer or producer’s</a:t>
            </a:r>
            <a:br/>
            <a:r>
              <a:t>license</a:t>
            </a:r>
            <a:br/>
            <a:r>
              <a:t>Mandatory educational courses</a:t>
            </a:r>
            <a:br/>
            <a:r>
              <a:t>A notice of warning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...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must an insurance producer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nclude on their identification as per</a:t>
            </a:r>
            <a:br/>
            <a:r>
              <a:t>Arizona law?</a:t>
            </a:r>
            <a:br/>
            <a:br/>
            <a:r>
              <a:t>The lines of authority the license covers</a:t>
            </a:r>
            <a:br/>
            <a:br/>
            <a:r>
              <a:t>Their educational qualifications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duration of a temporary</a:t>
            </a:r>
          </a:p>
          <a:p>
            <a:r>
              <a:t>license issued in Arizona under special</a:t>
            </a:r>
          </a:p>
          <a:p>
            <a:r>
              <a:t>circumstances such as the licensee's</a:t>
            </a:r>
          </a:p>
          <a:p>
            <a:r>
              <a:t>military service?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180 days</a:t>
            </a:r>
            <a:br/>
            <a:br/>
            <a:r>
              <a:t>360 days</a:t>
            </a:r>
          </a:p>
          <a:p>
            <a:br/>
            <a:pPr>
              <a:defRPr sz="1200" i="1"/>
            </a:pPr>
            <a:r>
              <a:t>Note: the duration of a temporary</a:t>
            </a:r>
            <a:br/>
            <a:r>
              <a:t>license issued in Arizona under special</a:t>
            </a:r>
            <a:br/>
            <a:r>
              <a:t>circumstances such as the licensee's</a:t>
            </a:r>
            <a:br/>
            <a:r>
              <a:t>military service?</a:t>
            </a:r>
            <a:br/>
            <a:r>
              <a:t>g e 180 days</a:t>
            </a:r>
            <a:br/>
            <a:r>
              <a:t>360 days</a:t>
            </a:r>
            <a:br/>
            <a:r>
              <a:t>l&lt;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type of license is issued to an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ndividual who is taking over an</a:t>
            </a:r>
          </a:p>
          <a:p>
            <a:r>
              <a:t>☐ nsurance business due to the</a:t>
            </a:r>
            <a:br/>
            <a:r>
              <a:t>disability or death of the previous</a:t>
            </a:r>
            <a:br/>
            <a:r>
              <a:t>licensee?</a:t>
            </a:r>
          </a:p>
          <a:p>
            <a:br/>
            <a:pPr>
              <a:defRPr sz="1200" i="1"/>
            </a:pPr>
            <a:r>
              <a:t>Note: issued to an</a:t>
            </a:r>
            <a:br/>
            <a:r>
              <a:t>individual who is taking over an</a:t>
            </a:r>
            <a:br/>
            <a:r>
              <a:t>insurance business due to the</a:t>
            </a:r>
            <a:br/>
            <a:r>
              <a:t>disability or death of the previous</a:t>
            </a:r>
            <a:br/>
            <a:r>
              <a:t>licensee?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action must an insurer take</a:t>
            </a:r>
          </a:p>
          <a:p>
            <a:r>
              <a:t>before issuing a policy in Arizona?</a:t>
            </a:r>
          </a:p>
          <a:p>
            <a:r>
              <a:t>Receive approval from the Department of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btain a reinsurance agreement</a:t>
            </a:r>
            <a:br/>
            <a:r>
              <a:t>Ensure the policy specifies the licensed</a:t>
            </a:r>
            <a:br/>
            <a:r>
              <a:t>producer’s name</a:t>
            </a:r>
            <a:br/>
            <a:br/>
            <a:r>
              <a:t>Verify the client's credit score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statement is true regarding a</a:t>
            </a:r>
          </a:p>
          <a:p>
            <a:r>
              <a:t>temporary license issued under</a:t>
            </a:r>
          </a:p>
          <a:p>
            <a:r>
              <a:t>special circumstances such as military</a:t>
            </a:r>
          </a:p>
          <a:p>
            <a:r>
              <a:t>service or business continuity in</a:t>
            </a:r>
          </a:p>
          <a:p>
            <a:r>
              <a:t>Arizona?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true regarding a</a:t>
            </a:r>
            <a:br/>
            <a:r>
              <a:t>temporary license issued under</a:t>
            </a:r>
            <a:br/>
            <a:r>
              <a:t>special circumstances such as military</a:t>
            </a:r>
            <a:br/>
            <a:r>
              <a:t>service or business continuity in</a:t>
            </a:r>
            <a:br/>
            <a:r>
              <a:t>Arizona?</a:t>
            </a:r>
            <a:br/>
            <a:r>
              <a:t>It is renewable indefinitely</a:t>
            </a:r>
            <a:br/>
            <a:r>
              <a:t>It does not allow the holder to engage in</a:t>
            </a:r>
            <a:br/>
            <a:r>
              <a:t>selling insurance</a:t>
            </a:r>
            <a:br/>
            <a:r>
              <a:t>It grants the same rights and p...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must an insurance producer do if</a:t>
            </a:r>
          </a:p>
          <a:p>
            <a:r>
              <a:t>they change their personal contact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nformation?</a:t>
            </a:r>
            <a:br/>
            <a:br/>
            <a:r>
              <a:t>No action is required</a:t>
            </a:r>
            <a:br/>
            <a:br/>
            <a:r>
              <a:t>Apply for a new license</a:t>
            </a:r>
          </a:p>
          <a:p>
            <a:br/>
            <a:pPr>
              <a:defRPr sz="1200" i="1"/>
            </a:pPr>
            <a:r>
              <a:t>Note: required</a:t>
            </a:r>
            <a:br/>
            <a:r>
              <a:t>Apply for a new license</a:t>
            </a:r>
            <a:br/>
            <a:r>
              <a:t>Proceed =&gt;</a:t>
            </a:r>
            <a:br/>
            <a:r>
              <a:t>4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consequence of failing the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licensing exam four times in</a:t>
            </a:r>
            <a:br/>
            <a:r>
              <a:t>Arizona?</a:t>
            </a:r>
            <a:br/>
            <a:br/>
            <a:r>
              <a:t>Mandatory additional training</a:t>
            </a:r>
            <a:br/>
            <a:r>
              <a:t>No further attempts allowed</a:t>
            </a:r>
            <a:br/>
            <a:br/>
            <a:r>
              <a:t>A review hearing with the Department of</a:t>
            </a:r>
            <a:br/>
            <a:r>
              <a:t>Insurance</a:t>
            </a:r>
          </a:p>
          <a:p>
            <a:pPr>
              <a:defRPr b="1"/>
            </a:pPr>
            <a:r>
              <a:t>✅ A waiting period of one year before</a:t>
            </a:r>
            <a:br/>
            <a:r>
              <a:t>reattempting</a:t>
            </a:r>
          </a:p>
          <a:p>
            <a:br/>
            <a:pPr>
              <a:defRPr sz="1200" i="1"/>
            </a:pPr>
            <a:r>
              <a:t>Note: the consequence of failing the</a:t>
            </a:r>
            <a:br/>
            <a:r>
              <a:t>insurance licensing exam four times in</a:t>
            </a:r>
            <a:br/>
            <a:r>
              <a:t>Arizona?</a:t>
            </a:r>
            <a:br/>
            <a:r>
              <a:t>Mandatory additional training</a:t>
            </a:r>
            <a:br/>
            <a:r>
              <a:t>No further attempts allowed</a:t>
            </a:r>
            <a:br/>
            <a:r>
              <a:t>A review hearing with the Department of</a:t>
            </a:r>
            <a:br/>
            <a:r>
              <a:t>Insurance</a:t>
            </a:r>
            <a:br/>
            <a:r>
              <a:t>g A waiting period of one year before</a:t>
            </a:r>
            <a:br/>
            <a:r>
              <a:t>reattempting</a:t>
            </a:r>
            <a:br/>
            <a:r>
              <a:t>Ie</a:t>
            </a:r>
            <a:br/>
            <a:r>
              <a:t>% 4a ..ra...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key feature of a</a:t>
            </a:r>
          </a:p>
          <a:p>
            <a:r>
              <a:t>convertible term life insurance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Its death benefit decreases over time</a:t>
            </a:r>
          </a:p>
          <a:p>
            <a:r>
              <a:t>☐ Ithas the cheapest premiums</a:t>
            </a:r>
          </a:p>
          <a:p>
            <a:r>
              <a:t>☐ It offers a cash value component</a:t>
            </a:r>
          </a:p>
          <a:p>
            <a:pPr>
              <a:defRPr b="1"/>
            </a:pPr>
            <a:r>
              <a:t>✅ Itcan be converted to a permanent policy</a:t>
            </a:r>
            <a:br/>
            <a:r>
              <a:t>without proof of insurability</a:t>
            </a:r>
          </a:p>
          <a:p>
            <a:br/>
            <a:pPr>
              <a:defRPr sz="1200" i="1"/>
            </a:pPr>
            <a:r>
              <a:t>Note: the key feature of a</a:t>
            </a:r>
            <a:br/>
            <a:r>
              <a:t>convertible term life insurance</a:t>
            </a:r>
            <a:br/>
            <a:r>
              <a:t>Its death benefit decreases over time</a:t>
            </a:r>
            <a:br/>
            <a:r>
              <a:t>Ithas the cheapest premiums</a:t>
            </a:r>
            <a:br/>
            <a:r>
              <a:t>It offers a cash value component</a:t>
            </a:r>
            <a:br/>
            <a:r>
              <a:t>Itcan be converted to a permanent policy</a:t>
            </a:r>
            <a:br/>
            <a:r>
              <a:t>without proof of insurability</a:t>
            </a:r>
            <a:br/>
            <a:r>
              <a:t>Submit Response W</a:t>
            </a:r>
            <a:br/>
            <a:r>
              <a:t>I&lt; A &gt;|</a:t>
            </a:r>
            <a:br/>
            <a:r>
              <a:t>&amp;...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a Deferred Compensation</a:t>
            </a:r>
          </a:p>
          <a:p>
            <a:r>
              <a:t>Plan primarily offer to an employee?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e Immediate cash benefit to the family upon</a:t>
            </a:r>
            <a:br/>
            <a:r>
              <a:t>the employee’s death.</a:t>
            </a:r>
            <a:br/>
            <a:br/>
            <a:r>
              <a:t>Health insurance coverage extended post-</a:t>
            </a:r>
            <a:br/>
            <a:r>
              <a:t>retirement.</a:t>
            </a:r>
            <a:br/>
            <a:br/>
            <a:r>
              <a:t>Immediate lump sum payment upon the</a:t>
            </a:r>
            <a:br/>
            <a:r>
              <a:t>employee’s resignation.</a:t>
            </a:r>
            <a:br/>
            <a:br/>
            <a:r>
              <a:t>Away to defer income to retirement or</a:t>
            </a:r>
            <a:br/>
            <a:r>
              <a:t>another future date, often funded through</a:t>
            </a:r>
            <a:br/>
            <a:r>
              <a:t>life insurance.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age requirement to apply</a:t>
            </a:r>
          </a:p>
          <a:p>
            <a:r>
              <a:t>for an insurance producer license in</a:t>
            </a:r>
          </a:p>
          <a:p>
            <a:r>
              <a:t>Arizona?</a:t>
            </a:r>
          </a:p>
          <a:p>
            <a:r>
              <a:t>25 years</a:t>
            </a:r>
          </a:p>
          <a:p>
            <a:r>
              <a:t>21 years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the age requirement to apply</a:t>
            </a:r>
            <a:br/>
            <a:r>
              <a:t>for an insurance producer license in</a:t>
            </a:r>
            <a:br/>
            <a:r>
              <a:t>Arizona?</a:t>
            </a:r>
            <a:br/>
            <a:r>
              <a:t>25 years</a:t>
            </a:r>
            <a:br/>
            <a:r>
              <a:t>21 years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insurable interest in life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signify?</a:t>
            </a:r>
            <a:br/>
            <a:br/>
            <a:r>
              <a:t>It is only necessary at the time the policy</a:t>
            </a:r>
            <a:br/>
            <a:r>
              <a:t>benefit is disbursed</a:t>
            </a:r>
            <a:br/>
            <a:br/>
            <a:r>
              <a:t>It ensures that the policyholder would suffer</a:t>
            </a:r>
            <a:br/>
            <a:r>
              <a:t>a financial loss upon the death of the</a:t>
            </a:r>
          </a:p>
          <a:p>
            <a:pPr>
              <a:defRPr b="1"/>
            </a:pPr>
            <a:r>
              <a:t>✅ nsured</a:t>
            </a:r>
          </a:p>
          <a:p>
            <a:r>
              <a:t>☐ It is based purely on emotional relationships</a:t>
            </a:r>
          </a:p>
          <a:p>
            <a:br/>
            <a:pPr>
              <a:defRPr sz="1200" i="1"/>
            </a:pPr>
            <a:r>
              <a:t>Note: only necessary at the time the policy</a:t>
            </a:r>
            <a:br/>
            <a:r>
              <a:t>benefit is disbursed</a:t>
            </a:r>
            <a:br/>
            <a:r>
              <a:t>It ensures that the policyholder would suffer</a:t>
            </a:r>
            <a:br/>
            <a:r>
              <a:t>a financial loss upon the death of the</a:t>
            </a:r>
            <a:br/>
            <a:r>
              <a:t>insured</a:t>
            </a:r>
            <a:br/>
            <a:r>
              <a:t>x) It is based purely on emotional relationships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..rancelicense.myabsorb.co...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Fair Credit Reporting Act requires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nspection company is investigating them.</a:t>
            </a:r>
            <a:br/>
            <a:br/>
            <a:r>
              <a:t>Insurance calls are exempt from the</a:t>
            </a:r>
            <a:br/>
            <a:r>
              <a:t>National Do Not Call Registry.</a:t>
            </a:r>
          </a:p>
          <a:p>
            <a:br/>
            <a:pPr>
              <a:defRPr sz="1200" i="1"/>
            </a:pPr>
            <a:r>
              <a:t>Note: investigating them.</a:t>
            </a:r>
            <a:br/>
            <a:r>
              <a:t>Insurance calls are exempt from the</a:t>
            </a:r>
            <a:br/>
            <a:r>
              <a:t>National Do Not Call Registry.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entity in Arizona is responsible</a:t>
            </a:r>
          </a:p>
          <a:p>
            <a:r>
              <a:t>for verifying that a license applicant</a:t>
            </a:r>
          </a:p>
          <a:p>
            <a:r>
              <a:t>has not engaged in activities that</a:t>
            </a:r>
          </a:p>
          <a:p>
            <a:r>
              <a:t>would justify license denial,</a:t>
            </a:r>
          </a:p>
          <a:p>
            <a:r>
              <a:t>suspension, or revocation?</a:t>
            </a:r>
          </a:p>
          <a:p>
            <a:r>
              <a:t>@  The Director of the Department of Insurance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The Governor's Office</a:t>
            </a:r>
            <a:br/>
            <a:br/>
            <a:r>
              <a:t>The State Police</a:t>
            </a:r>
          </a:p>
          <a:p>
            <a:br/>
            <a:pPr>
              <a:defRPr sz="1200" i="1"/>
            </a:pPr>
            <a:r>
              <a:t>Note: responsible</a:t>
            </a:r>
            <a:br/>
            <a:r>
              <a:t>for verifying that a license applicant</a:t>
            </a:r>
            <a:br/>
            <a:r>
              <a:t>has not engaged in activities that</a:t>
            </a:r>
            <a:br/>
            <a:r>
              <a:t>would justify license denial,</a:t>
            </a:r>
            <a:br/>
            <a:r>
              <a:t>suspension, or revocation?</a:t>
            </a:r>
            <a:br/>
            <a:r>
              <a:t>@  The Director of the Department of Insurance</a:t>
            </a:r>
            <a:br/>
            <a:r>
              <a:t>x) The Governor's Office</a:t>
            </a:r>
            <a:br/>
            <a:r>
              <a:t>The State Police</a:t>
            </a:r>
            <a:br/>
            <a:r>
              <a:t>Proceed =&gt;</a:t>
            </a:r>
            <a:br/>
            <a:r>
              <a:t>I&lt; A &gt;|...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relationships</a:t>
            </a:r>
          </a:p>
          <a:p>
            <a:r>
              <a:t>typically qualifies for insurable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nterest?</a:t>
            </a:r>
            <a:br/>
            <a:br/>
            <a:r>
              <a:t>Neighbors</a:t>
            </a:r>
            <a:br/>
            <a:br/>
            <a:r>
              <a:t>Colleagues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John applies for a life insurance policy</a:t>
            </a:r>
          </a:p>
          <a:p>
            <a:r>
              <a:t>and mentions his skydiving hobby on</a:t>
            </a:r>
          </a:p>
          <a:p>
            <a:r>
              <a:t>the application. What additional step</a:t>
            </a:r>
          </a:p>
          <a:p>
            <a:r>
              <a:t>might the insurance company require</a:t>
            </a:r>
          </a:p>
          <a:p>
            <a:r>
              <a:t>before approving his policy?</a:t>
            </a:r>
          </a:p>
          <a:p>
            <a:r>
              <a:t>No additional steps are required.</a:t>
            </a:r>
          </a:p>
          <a:p>
            <a:r>
              <a:t>A letter of recommendation.</a:t>
            </a:r>
          </a:p>
          <a:p>
            <a:r>
              <a:t>@  Aspecial aviation questionnaire.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skydiving hobby on</a:t>
            </a:r>
            <a:br/>
            <a:r>
              <a:t>the application. What additional step</a:t>
            </a:r>
            <a:br/>
            <a:r>
              <a:t>might the insurance company require</a:t>
            </a:r>
            <a:br/>
            <a:r>
              <a:t>before approving his policy?</a:t>
            </a:r>
            <a:br/>
            <a:r>
              <a:t>No additional steps are required.</a:t>
            </a:r>
            <a:br/>
            <a:r>
              <a:t>A letter of recommendation.</a:t>
            </a:r>
            <a:br/>
            <a:r>
              <a:t>@  Aspecial aviation questionnaire.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..rance...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distinguishes the Fixed-Period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ption in life insurance settlements?</a:t>
            </a:r>
            <a:br/>
            <a:br/>
            <a:r>
              <a:t>@ © Payments include both principal and interest</a:t>
            </a:r>
            <a:br/>
            <a:r>
              <a:t>over a set period</a:t>
            </a:r>
          </a:p>
          <a:p>
            <a:r>
              <a:t>☐ nly interest is paid out</a:t>
            </a:r>
            <a:br/>
            <a:br/>
            <a:r>
              <a:t>Payments are based on the policy's cash</a:t>
            </a:r>
          </a:p>
          <a:p>
            <a:pPr>
              <a:defRPr b="1"/>
            </a:pPr>
            <a:r>
              <a:t>✅ alue</a:t>
            </a:r>
            <a:br/>
            <a:br/>
            <a:r>
              <a:t>Beneficiary receives a lump sum after a</a:t>
            </a:r>
            <a:br/>
            <a:r>
              <a:t>fixed period</a:t>
            </a:r>
          </a:p>
          <a:p>
            <a:br/>
            <a:pPr>
              <a:defRPr sz="1200" i="1"/>
            </a:pPr>
            <a:r>
              <a:t>Note: paid out</a:t>
            </a:r>
            <a:br/>
            <a:r>
              <a:t>Payments are based on the policy's cash</a:t>
            </a:r>
            <a:br/>
            <a:r>
              <a:t>value</a:t>
            </a:r>
            <a:br/>
            <a:r>
              <a:t>Beneficiary receives a lump sum after a</a:t>
            </a:r>
            <a:br/>
            <a:r>
              <a:t>fixed period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individual applying for an insurance</a:t>
            </a:r>
          </a:p>
          <a:p>
            <a:r>
              <a:t>producer license in Arizona must</a:t>
            </a:r>
          </a:p>
          <a:p>
            <a:r>
              <a:t>affirm that the information provided in</a:t>
            </a:r>
          </a:p>
          <a:p>
            <a:r>
              <a:t>the application is: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Sufficient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option in term life policies</a:t>
            </a:r>
          </a:p>
          <a:p>
            <a:r>
              <a:t>allows converting to a permanent life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policy without proof of</a:t>
            </a:r>
          </a:p>
          <a:p>
            <a:r>
              <a:t>☐ nsurability?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action must be taken if there is a</a:t>
            </a:r>
          </a:p>
          <a:p>
            <a:r>
              <a:t>change among the members,</a:t>
            </a:r>
          </a:p>
          <a:p>
            <a:r>
              <a:t>directors, or officers of a business</a:t>
            </a:r>
          </a:p>
          <a:p>
            <a:r>
              <a:t>entity licensed as an insurance</a:t>
            </a:r>
          </a:p>
          <a:p>
            <a:r>
              <a:t>producer in Arizona?</a:t>
            </a:r>
          </a:p>
          <a:p>
            <a:r>
              <a:t>Hold a general meeting</a:t>
            </a:r>
          </a:p>
          <a:p>
            <a:r>
              <a:t>Apply for a new license</a:t>
            </a:r>
          </a:p>
          <a:p>
            <a:r>
              <a:t>Report the change to the IRS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a</a:t>
            </a:r>
            <a:br/>
            <a:r>
              <a:t>change among the members,</a:t>
            </a:r>
            <a:br/>
            <a:r>
              <a:t>directors, or officers of a business</a:t>
            </a:r>
            <a:br/>
            <a:r>
              <a:t>entity licensed as an insurance</a:t>
            </a:r>
            <a:br/>
            <a:r>
              <a:t>producer in Arizona?</a:t>
            </a:r>
            <a:br/>
            <a:r>
              <a:t>Hold a general meeting</a:t>
            </a:r>
            <a:br/>
            <a:r>
              <a:t>Apply for a new license</a:t>
            </a:r>
            <a:br/>
            <a:r>
              <a:t>Report the change to the IRS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&gt;...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might someone choose Variable</a:t>
            </a:r>
          </a:p>
          <a:p>
            <a:r>
              <a:t>Universal Life Insurance?</a:t>
            </a:r>
          </a:p>
          <a:p>
            <a:r>
              <a:t>@  For the potential of higher returns through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nvestment options.</a:t>
            </a:r>
            <a:br/>
            <a:br/>
            <a:r>
              <a:t>To receive dividends from the insurer's</a:t>
            </a:r>
            <a:br/>
            <a:r>
              <a:t>profits.</a:t>
            </a:r>
            <a:br/>
            <a:br/>
            <a:r>
              <a:t>To have the option of increasing the death</a:t>
            </a:r>
            <a:br/>
            <a:r>
              <a:t>benefit without medical exams.</a:t>
            </a:r>
            <a:br/>
            <a:br/>
            <a:r>
              <a:t>For a guaranteed interest rate on cash</a:t>
            </a:r>
          </a:p>
          <a:p>
            <a:pPr>
              <a:defRPr b="1"/>
            </a:pPr>
            <a:r>
              <a:t>✅ alues.</a:t>
            </a:r>
          </a:p>
          <a:p>
            <a:br/>
            <a:pPr>
              <a:defRPr sz="1200" i="1"/>
            </a:pPr>
            <a:r>
              <a:t>Note: from the insurer's</a:t>
            </a:r>
            <a:br/>
            <a:r>
              <a:t>profits.</a:t>
            </a:r>
            <a:br/>
            <a:r>
              <a:t>To have the option of increasing the death</a:t>
            </a:r>
            <a:br/>
            <a:r>
              <a:t>benefit without medical exams.</a:t>
            </a:r>
            <a:br/>
            <a:r>
              <a:t>For a guaranteed interest rate on cash</a:t>
            </a:r>
            <a:br/>
            <a:r>
              <a:t>values.</a:t>
            </a:r>
            <a:br/>
            <a:r>
              <a:t>Proceed —_»&gt;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 which federal act can insurance</a:t>
            </a:r>
          </a:p>
          <a:p>
            <a:r>
              <a:t>agents face criminal penalties for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nvolvement in certain crimes?</a:t>
            </a:r>
            <a:br/>
            <a:br/>
            <a:r>
              <a:t>CAN-SPAM Act</a:t>
            </a:r>
            <a:br/>
            <a:br/>
            <a:r>
              <a:t>Violent Crime Control and Law Enforcement</a:t>
            </a:r>
            <a:br/>
            <a:r>
              <a:t>Act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rider provides coverage for total</a:t>
            </a:r>
          </a:p>
          <a:p>
            <a:r>
              <a:t>disability by waiving premiums?</a:t>
            </a:r>
          </a:p>
          <a:p>
            <a:r>
              <a:t>Accidental Death Benefit Rider.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act governs the sending of</a:t>
            </a:r>
          </a:p>
          <a:p>
            <a:r>
              <a:t>commercial emails and sets rules for</a:t>
            </a:r>
          </a:p>
          <a:p>
            <a:r>
              <a:t>commercial messaging?</a:t>
            </a:r>
          </a:p>
          <a:p>
            <a:r>
              <a:t>Telemarketing Sales Rule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is coverage effective under an</a:t>
            </a:r>
          </a:p>
          <a:p>
            <a:r>
              <a:t>Approval Receipt in a life insurance</a:t>
            </a:r>
          </a:p>
          <a:p>
            <a:r>
              <a:t>policy?</a:t>
            </a:r>
          </a:p>
          <a:p>
            <a:r>
              <a:t>After the insurer approves the application.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n the policy delivery date.</a:t>
            </a:r>
          </a:p>
          <a:p>
            <a:r>
              <a:t>☐ nce the applicant passes a medical</a:t>
            </a:r>
            <a:br/>
            <a:r>
              <a:t>examination.</a:t>
            </a:r>
          </a:p>
          <a:p>
            <a:br/>
            <a:pPr>
              <a:defRPr sz="1200" i="1"/>
            </a:pPr>
            <a:r>
              <a:t>Note: coverage effective under an</a:t>
            </a:r>
            <a:br/>
            <a:r>
              <a:t>Approval Receipt in a life insurance</a:t>
            </a:r>
            <a:br/>
            <a:r>
              <a:t>policy?</a:t>
            </a:r>
            <a:br/>
            <a:r>
              <a:t>After the insurer approves the application.</a:t>
            </a:r>
            <a:br/>
            <a:r>
              <a:t>Immediately upon application submission.</a:t>
            </a:r>
            <a:br/>
            <a:r>
              <a:t>On the policy delivery date.</a:t>
            </a:r>
            <a:br/>
            <a:r>
              <a:t>Once the applicant passes a medical</a:t>
            </a:r>
            <a:br/>
            <a:r>
              <a:t>examination.</a:t>
            </a:r>
            <a:br/>
            <a:r>
              <a:t>Proceed =&gt;</a:t>
            </a:r>
            <a:br/>
            <a:r>
              <a:t>I&lt; ...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an example of a contract not</a:t>
            </a:r>
          </a:p>
          <a:p>
            <a:r>
              <a:t>having a lawful purpose?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A contract for employment benefits</a:t>
            </a:r>
            <a:br/>
            <a:br/>
            <a:r>
              <a:t>@ © Acontract involving a payment for</a:t>
            </a:r>
            <a:br/>
            <a:r>
              <a:t>committing an illegal act, like murder</a:t>
            </a:r>
            <a:br/>
            <a:br/>
            <a:r>
              <a:t>A contract for the sale of a house</a:t>
            </a:r>
            <a:br/>
            <a:br/>
            <a:r>
              <a:t>Acontract to provide insurance coverage</a:t>
            </a:r>
          </a:p>
          <a:p>
            <a:br/>
            <a:pPr>
              <a:defRPr sz="1200" i="1"/>
            </a:pPr>
            <a:r>
              <a:t>Note: an example of a contract not</a:t>
            </a:r>
            <a:br/>
            <a:r>
              <a:t>having a lawful purpose?</a:t>
            </a:r>
            <a:br/>
            <a:r>
              <a:t>x) A contract for employment benefits</a:t>
            </a:r>
            <a:br/>
            <a:r>
              <a:t>@  Acontract involving a payment for</a:t>
            </a:r>
            <a:br/>
            <a:r>
              <a:t>committing an illegal act, like murder</a:t>
            </a:r>
            <a:br/>
            <a:r>
              <a:t>A contract for the sale of a house</a:t>
            </a:r>
            <a:br/>
            <a:r>
              <a:t>Acontract to provide insurance coverage</a:t>
            </a:r>
            <a:br/>
            <a:r>
              <a:t>Proceed...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 Accelerated Benefits in life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policies support</a:t>
            </a:r>
            <a:br/>
            <a:r>
              <a:t>policyholders?</a:t>
            </a:r>
            <a:br/>
            <a:br/>
            <a:r>
              <a:t>By reducing premiums</a:t>
            </a:r>
            <a:br/>
            <a:br/>
            <a:r>
              <a:t>By increasing the death benefit</a:t>
            </a:r>
            <a:br/>
            <a:br/>
            <a:r>
              <a:t>By offering early access to funds for terminal</a:t>
            </a:r>
            <a:br/>
            <a:r>
              <a:t>or chronic illness</a:t>
            </a:r>
            <a:br/>
            <a:br/>
            <a:r>
              <a:t>By extending the policy term</a:t>
            </a:r>
          </a:p>
          <a:p>
            <a:br/>
            <a:pPr>
              <a:defRPr sz="1200" i="1"/>
            </a:pPr>
            <a:r>
              <a:t>Note: for terminal</a:t>
            </a:r>
            <a:br/>
            <a:r>
              <a:t>or chronic illness</a:t>
            </a:r>
            <a:br/>
            <a:r>
              <a:t>By extending the policy term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 key feature of Whole Life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a key feature of Whole Life</a:t>
            </a:r>
            <a:br/>
            <a:r>
              <a:t>Insurance?</a:t>
            </a:r>
            <a:br/>
            <a:r>
              <a:t>No cash value accumulation</a:t>
            </a:r>
            <a:br/>
            <a:r>
              <a:t>Premiums may vary over time</a:t>
            </a:r>
            <a:br/>
            <a:r>
              <a:t>e Combines a death benefit with a savings</a:t>
            </a:r>
            <a:br/>
            <a:r>
              <a:t>component</a:t>
            </a:r>
            <a:br/>
            <a:r>
              <a:t>Proceed =&gt;</a:t>
            </a:r>
            <a:br/>
            <a:r>
              <a:t>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characteristic of a fixed</a:t>
            </a:r>
          </a:p>
          <a:p>
            <a:r>
              <a:t>annuity?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Guaranteed minimum interest rate</a:t>
            </a:r>
          </a:p>
          <a:p>
            <a:br/>
            <a:pPr>
              <a:defRPr sz="1200" i="1"/>
            </a:pPr>
            <a:r>
              <a:t>Note: characteristic of a fixed</a:t>
            </a:r>
            <a:br/>
            <a:r>
              <a:t>annuity?</a:t>
            </a:r>
            <a:br/>
            <a:r>
              <a:t>g e Guaranteed minimum interest rate</a:t>
            </a:r>
            <a:br/>
            <a:r>
              <a:t>Proceed —_»&gt;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advantage of a Family</a:t>
            </a:r>
          </a:p>
          <a:p>
            <a:r>
              <a:t>Maintenance Policy?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the advantage of a Family</a:t>
            </a:r>
            <a:br/>
            <a:r>
              <a:t>Maintenance Policy?</a:t>
            </a:r>
            <a:br/>
            <a:r>
              <a:t>It includes health coverage for all family</a:t>
            </a:r>
            <a:br/>
            <a:r>
              <a:t>members.</a:t>
            </a:r>
            <a:br/>
            <a:r>
              <a:t>It offers a lump sum benefit for family</a:t>
            </a:r>
            <a:br/>
            <a:r>
              <a:t>expenses.</a:t>
            </a:r>
            <a:br/>
            <a:r>
              <a:t>Premiums are shared among family</a:t>
            </a:r>
            <a:br/>
            <a:r>
              <a:t>members.</a:t>
            </a:r>
            <a:br/>
            <a:r>
              <a:t>It provides monthly income for a specified</a:t>
            </a:r>
            <a:br/>
            <a:r>
              <a:t>period after the ...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USA Patriot Act requires insurance</a:t>
            </a:r>
          </a:p>
          <a:p>
            <a:r>
              <a:t>companies to establish formal programs for:</a:t>
            </a:r>
          </a:p>
          <a:p>
            <a:r>
              <a:t>Customer service improvement</a:t>
            </a:r>
          </a:p>
          <a:p>
            <a:r>
              <a:t>Policy delivery efficiency</a:t>
            </a:r>
          </a:p>
          <a:p>
            <a:r>
              <a:t>Underwriting speed</a:t>
            </a:r>
          </a:p>
          <a:p>
            <a:r>
              <a:t>@  Anti-money laundering (x)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type of annuity begins</a:t>
            </a:r>
          </a:p>
          <a:p>
            <a:r>
              <a:t>payments in the future?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Deferred annuity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happens when a life insurance</a:t>
            </a:r>
          </a:p>
          <a:p>
            <a:r>
              <a:t>policy owner selects the Paid-Up</a:t>
            </a:r>
          </a:p>
          <a:p>
            <a:r>
              <a:t>Additions Dividend Option?</a:t>
            </a:r>
          </a:p>
          <a:p>
            <a:r>
              <a:t>The policy term is extended</a:t>
            </a:r>
          </a:p>
          <a:p>
            <a:r>
              <a:t>The policy is automatically renewed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Additional whole life insurance is purchased</a:t>
            </a:r>
            <a:br/>
            <a:r>
              <a:t>using dividends</a:t>
            </a:r>
            <a:br/>
            <a:br/>
            <a:r>
              <a:t>Premiums are reduced</a:t>
            </a:r>
          </a:p>
          <a:p>
            <a:br/>
            <a:pPr>
              <a:defRPr sz="1200" i="1"/>
            </a:pPr>
            <a:r>
              <a:t>Note: extended</a:t>
            </a:r>
            <a:br/>
            <a:r>
              <a:t>The policy is automatically renewed</a:t>
            </a:r>
            <a:br/>
            <a:r>
              <a:t>iv) e Additional whole life insurance is purchased</a:t>
            </a:r>
            <a:br/>
            <a:r>
              <a:t>using dividends</a:t>
            </a:r>
            <a:br/>
            <a:r>
              <a:t>Premiums are reduced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type of annuity offering the highest</a:t>
            </a:r>
          </a:p>
          <a:p>
            <a:r>
              <a:t>possible monthly income to a single</a:t>
            </a:r>
          </a:p>
          <a:p>
            <a:r>
              <a:t>annuitant is known as a(n):</a:t>
            </a:r>
          </a:p>
          <a:p>
            <a:r>
              <a:t>@  Straight Life Annuity</a:t>
            </a:r>
          </a:p>
          <a:p>
            <a:r>
              <a:t>Life Annuity with Period Certain</a:t>
            </a:r>
          </a:p>
          <a:p>
            <a:r>
              <a:t>Systematic Withdrawal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Joint And Survivor</a:t>
            </a:r>
            <a:br/>
            <a:r>
              <a:t>rx)</a:t>
            </a:r>
          </a:p>
          <a:p>
            <a:br/>
            <a:pPr>
              <a:defRPr sz="1200" i="1"/>
            </a:pPr>
            <a:r>
              <a:t>Note: known as a(n):</a:t>
            </a:r>
            <a:br/>
            <a:r>
              <a:t>@  Straight Life Annuity</a:t>
            </a:r>
            <a:br/>
            <a:r>
              <a:t>Life Annuity with Period Certain</a:t>
            </a:r>
            <a:br/>
            <a:r>
              <a:t>Systematic Withdrawal</a:t>
            </a:r>
            <a:br/>
            <a:r>
              <a:t>x)</a:t>
            </a:r>
            <a:br/>
            <a:r>
              <a:t>x) Joint And Survivor</a:t>
            </a:r>
            <a:br/>
            <a:r>
              <a:t>rx)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a conditional receipt in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signify?</a:t>
            </a:r>
            <a:br/>
            <a:br/>
            <a:r>
              <a:t>Coverage is temporary and does not require</a:t>
            </a:r>
            <a:br/>
            <a:r>
              <a:t>the insurer's approval</a:t>
            </a:r>
            <a:br/>
            <a:br/>
            <a:r>
              <a:t>Coverage is effective immediately and</a:t>
            </a:r>
            <a:br/>
            <a:r>
              <a:t>unconditionally</a:t>
            </a:r>
            <a:br/>
            <a:br/>
            <a:r>
              <a:t>Coverage begins only if and when the</a:t>
            </a:r>
          </a:p>
          <a:p>
            <a:r>
              <a:t>☐ nsurer approves the application based on</a:t>
            </a:r>
            <a:br/>
            <a:r>
              <a:t>specific criteria met by the applicant</a:t>
            </a:r>
            <a:br/>
            <a:br/>
            <a:r>
              <a:t>Coverage is indefinite as long as premiums</a:t>
            </a:r>
            <a:br/>
            <a:r>
              <a:t>are paid</a:t>
            </a:r>
          </a:p>
          <a:p>
            <a:br/>
            <a:pPr>
              <a:defRPr sz="1200" i="1"/>
            </a:pPr>
            <a:r>
              <a:t>Note: temporary and does not require</a:t>
            </a:r>
            <a:br/>
            <a:r>
              <a:t>the insurer's approval</a:t>
            </a:r>
            <a:br/>
            <a:r>
              <a:t>Coverage is effective immediately and</a:t>
            </a:r>
            <a:br/>
            <a:r>
              <a:t>unconditionally</a:t>
            </a:r>
            <a:br/>
            <a:r>
              <a:t>Coverage begins only if and when the</a:t>
            </a:r>
            <a:br/>
            <a:r>
              <a:t>insurer approves the application based on</a:t>
            </a:r>
            <a:br/>
            <a:r>
              <a:t>specific criteria met by the applicant</a:t>
            </a:r>
            <a:br/>
            <a:r>
              <a:t>Coverage is indefinite a...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is not a source of agent</a:t>
            </a:r>
          </a:p>
          <a:p>
            <a:r>
              <a:t>authority?</a:t>
            </a:r>
          </a:p>
          <a:p>
            <a:r>
              <a:t>Apparent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not a source of agent</a:t>
            </a:r>
            <a:br/>
            <a:r>
              <a:t>authority?</a:t>
            </a:r>
            <a:br/>
            <a:r>
              <a:t>Apparent</a:t>
            </a:r>
            <a:br/>
            <a:r>
              <a:t>Implied</a:t>
            </a:r>
            <a:br/>
            <a:r>
              <a:t>Proceed —_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'Automatic Premium Loan'</a:t>
            </a:r>
          </a:p>
          <a:p>
            <a:r>
              <a:t>feature designed to prevent?</a:t>
            </a:r>
          </a:p>
          <a:p>
            <a:r>
              <a:t>The sale of the policy.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the 'Automatic Premium Loan'</a:t>
            </a:r>
            <a:br/>
            <a:r>
              <a:t>feature designed to prevent?</a:t>
            </a:r>
            <a:br/>
            <a:r>
              <a:t>The sale of the policy.</a:t>
            </a:r>
            <a:br/>
            <a:r>
              <a:t>Proceed —_»&gt;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purpose of an Education Fund in</a:t>
            </a:r>
          </a:p>
          <a:p>
            <a:r>
              <a:t>life insurance is to:</a:t>
            </a:r>
          </a:p>
          <a:p>
            <a:r>
              <a:t>Educate policyholders about insurance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to:</a:t>
            </a:r>
            <a:br/>
            <a:r>
              <a:t>Educate policyholders about insurance</a:t>
            </a:r>
            <a:br/>
            <a:r>
              <a:t>options</a:t>
            </a:r>
            <a:br/>
            <a:r>
              <a:t>Support continuing education for adults</a:t>
            </a:r>
            <a:br/>
            <a:r>
              <a:t>Finance educational programs in</a:t>
            </a:r>
            <a:br/>
            <a:r>
              <a:t>businesses</a:t>
            </a:r>
            <a:br/>
            <a:r>
              <a:t>Provide for a child's future education</a:t>
            </a:r>
            <a:br/>
            <a:r>
              <a:t>expenses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According to Arizona law, how should</a:t>
            </a:r>
          </a:p>
          <a:p>
            <a:r>
              <a:t>premiums sent by mail be considered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f postmarked by the due date?</a:t>
            </a:r>
            <a:br/>
            <a:br/>
            <a:r>
              <a:t>As unpaid</a:t>
            </a:r>
            <a:br/>
            <a:br/>
            <a:r>
              <a:t>@ © Aspaid on time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"Cash Value" in a life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policy represent?</a:t>
            </a:r>
          </a:p>
          <a:p>
            <a:r>
              <a:t>☐ The total premiums paid</a:t>
            </a:r>
            <a:br/>
            <a:br/>
            <a:r>
              <a:t>&amp; The annual income of the policyholder</a:t>
            </a:r>
          </a:p>
          <a:p>
            <a:r>
              <a:t>☐ The guaranteed death benefit</a:t>
            </a:r>
            <a:br/>
            <a:br/>
            <a:r>
              <a:t>e Asavings component that accumulates</a:t>
            </a:r>
          </a:p>
          <a:p>
            <a:pPr>
              <a:defRPr b="1"/>
            </a:pPr>
            <a:r>
              <a:t>✅ alue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 Class Designation in the</a:t>
            </a:r>
          </a:p>
          <a:p>
            <a:r>
              <a:t>context of life insurance beneficiaries?</a:t>
            </a:r>
          </a:p>
          <a:p>
            <a:r>
              <a:t>Naming a specific individual as a</a:t>
            </a:r>
          </a:p>
          <a:p>
            <a:r>
              <a:t>beneficiary</a:t>
            </a:r>
          </a:p>
          <a:p>
            <a:r>
              <a:t>Classifying the policy based on risk</a:t>
            </a:r>
          </a:p>
          <a:p>
            <a:r>
              <a:t>Naming a category of beneficiaries like "all</a:t>
            </a:r>
          </a:p>
          <a:p>
            <a:r>
              <a:t>my children"</a:t>
            </a:r>
          </a:p>
          <a:p>
            <a:r>
              <a:t>A specific class of insurance products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a Class Designation in the</a:t>
            </a:r>
            <a:br/>
            <a:r>
              <a:t>context of life insurance beneficiaries?</a:t>
            </a:r>
            <a:br/>
            <a:r>
              <a:t>Naming a specific individual as a</a:t>
            </a:r>
            <a:br/>
            <a:r>
              <a:t>beneficiary</a:t>
            </a:r>
            <a:br/>
            <a:r>
              <a:t>Classifying the policy based on risk</a:t>
            </a:r>
            <a:br/>
            <a:r>
              <a:t>Naming a category of beneficiaries like "all</a:t>
            </a:r>
            <a:br/>
            <a:r>
              <a:t>my children"</a:t>
            </a:r>
            <a:br/>
            <a:r>
              <a:t>A specific class of insurance products</a:t>
            </a:r>
            <a:br/>
            <a:r>
              <a:t>Pr...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Upon the death of the insured, life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promptly establishes an</a:t>
            </a:r>
            <a:br/>
            <a:r>
              <a:t>estate. Which of the following policies</a:t>
            </a:r>
          </a:p>
          <a:p>
            <a:r>
              <a:t>☐ s distinguished by a guaranteed</a:t>
            </a:r>
            <a:br/>
            <a:r>
              <a:t>minimum death benefit?</a:t>
            </a:r>
            <a:br/>
            <a:br/>
            <a:r>
              <a:t>Modified endowment contract</a:t>
            </a:r>
          </a:p>
          <a:p>
            <a:br/>
            <a:pPr>
              <a:defRPr sz="1200" i="1"/>
            </a:pPr>
            <a:r>
              <a:t>Note: distinguished by a guaranteed</a:t>
            </a:r>
            <a:br/>
            <a:r>
              <a:t>minimum death benefit?</a:t>
            </a:r>
            <a:br/>
            <a:r>
              <a:t>Modified endowment contract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 the Fair Credit Reporting Act,</a:t>
            </a:r>
          </a:p>
          <a:p>
            <a:r>
              <a:t>what must insurers provide to an</a:t>
            </a:r>
          </a:p>
          <a:p>
            <a:r>
              <a:t>applicant when they use a credit report</a:t>
            </a:r>
          </a:p>
          <a:p>
            <a:r>
              <a:t>to make an underwriting decision?</a:t>
            </a:r>
          </a:p>
          <a:p>
            <a:r>
              <a:t>A list of all policy types available</a:t>
            </a:r>
          </a:p>
          <a:p>
            <a:r>
              <a:t>A comprehensive financial plan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primary purpose of Term</a:t>
            </a:r>
          </a:p>
          <a:p>
            <a:r>
              <a:t>Life Insurance?</a:t>
            </a:r>
          </a:p>
          <a:p>
            <a:r>
              <a:t>To offer lifelong coverage</a:t>
            </a:r>
          </a:p>
          <a:p>
            <a:r>
              <a:t>To accumulate cash value over time</a:t>
            </a:r>
          </a:p>
          <a:p>
            <a:r>
              <a:t>To cover multiple individuals under one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To provide temporary coverage for a</a:t>
            </a:r>
            <a:br/>
            <a:r>
              <a:t>specified period</a:t>
            </a:r>
          </a:p>
          <a:p>
            <a:br/>
            <a:pPr>
              <a:defRPr sz="1200" i="1"/>
            </a:pPr>
            <a:r>
              <a:t>Note: the primary purpose of Term</a:t>
            </a:r>
            <a:br/>
            <a:r>
              <a:t>Life Insurance?</a:t>
            </a:r>
            <a:br/>
            <a:r>
              <a:t>To offer lifelong coverage</a:t>
            </a:r>
            <a:br/>
            <a:r>
              <a:t>To accumulate cash value over time</a:t>
            </a:r>
            <a:br/>
            <a:r>
              <a:t>To cover multiple individuals under one</a:t>
            </a:r>
            <a:br/>
            <a:r>
              <a:t>g e To provide temporary coverage for a</a:t>
            </a:r>
            <a:br/>
            <a:r>
              <a:t>specified period</a:t>
            </a:r>
            <a:br/>
            <a:r>
              <a:t>Proceed —_</a:t>
            </a:r>
            <a:br/>
            <a:r>
              <a:t>I&lt; A &gt;|</a:t>
            </a:r>
            <a:br/>
            <a:r>
              <a:t>&amp; a ..rancelicense.myabsorb....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are considered competent parties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 the context of an insurance</a:t>
            </a:r>
            <a:br/>
            <a:r>
              <a:t>contract?</a:t>
            </a:r>
          </a:p>
          <a:p>
            <a:pPr>
              <a:defRPr b="1"/>
            </a:pPr>
            <a:r>
              <a:t>✅ e The insurance provider and the applicant,</a:t>
            </a:r>
            <a:br/>
            <a:r>
              <a:t>assuming no disqualifying conditions</a:t>
            </a:r>
          </a:p>
          <a:p>
            <a:r>
              <a:t>☐ nly the insurance provider and the state</a:t>
            </a:r>
            <a:br/>
            <a:br/>
            <a:r>
              <a:t>Anyone who owns property</a:t>
            </a:r>
          </a:p>
          <a:p>
            <a:r>
              <a:t>☐ nly licensed financial advisors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the 'Entire Contract' clause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 a life insurance policy signify?</a:t>
            </a:r>
          </a:p>
          <a:p>
            <a:r>
              <a:t>☐ nly the policy document matters.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required for a life insurance</a:t>
            </a:r>
          </a:p>
          <a:p>
            <a:r>
              <a:t>contract to be legally enforceable?</a:t>
            </a:r>
          </a:p>
          <a:p>
            <a:r>
              <a:t>Legal documentation of the insured's</a:t>
            </a:r>
          </a:p>
          <a:p>
            <a:r>
              <a:t>health.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required for a life insurance</a:t>
            </a:r>
            <a:br/>
            <a:r>
              <a:t>contract to be legally enforceable?</a:t>
            </a:r>
            <a:br/>
            <a:r>
              <a:t>Legal documentation of the insured's</a:t>
            </a:r>
            <a:br/>
            <a:r>
              <a:t>health.</a:t>
            </a:r>
            <a:br/>
            <a:r>
              <a:t>Insurable interest at the time of the</a:t>
            </a:r>
            <a:br/>
            <a:r>
              <a:t>application.</a:t>
            </a:r>
            <a:br/>
            <a:r>
              <a:t>Unlimited insurable interest.</a:t>
            </a:r>
            <a:br/>
            <a:r>
              <a:t>Insurable interest throughout the policy</a:t>
            </a:r>
            <a:br/>
            <a:r>
              <a:t>term.</a:t>
            </a:r>
            <a:br/>
            <a:r>
              <a:t>Proceed =&gt;</a:t>
            </a:r>
            <a:br/>
            <a:r>
              <a:t>...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Jimmy, having obtained a $200,000</a:t>
            </a:r>
          </a:p>
          <a:p>
            <a:r>
              <a:t>lump sum retirement buyout from her</a:t>
            </a:r>
          </a:p>
          <a:p>
            <a:r>
              <a:t>employer, is interested in purchasing</a:t>
            </a:r>
          </a:p>
          <a:p>
            <a:r>
              <a:t>an annuity that provides her with an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mmediate, lifelong guaranteed</a:t>
            </a:r>
          </a:p>
          <a:p>
            <a:r>
              <a:t>☐ ncome. Which annuity type is most</a:t>
            </a:r>
            <a:br/>
            <a:r>
              <a:t>appropriate for her needs?</a:t>
            </a:r>
            <a:br/>
            <a:br/>
            <a:r>
              <a:t>Deferred Fixed</a:t>
            </a:r>
          </a:p>
          <a:p>
            <a:br/>
            <a:pPr>
              <a:defRPr sz="1200" i="1"/>
            </a:pPr>
            <a:r>
              <a:t>Note: interested in purchasing</a:t>
            </a:r>
            <a:br/>
            <a:r>
              <a:t>an annuity that provides her with an</a:t>
            </a:r>
            <a:br/>
            <a:r>
              <a:t>immediate, lifelong guaranteed</a:t>
            </a:r>
            <a:br/>
            <a:r>
              <a:t>income. Which annuity type is most</a:t>
            </a:r>
            <a:br/>
            <a:r>
              <a:t>appropriate for her needs?</a:t>
            </a:r>
            <a:br/>
            <a:r>
              <a:t>Deferred Fixed</a:t>
            </a:r>
            <a:br/>
            <a:r>
              <a:t>Proceed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many times can an applicant</a:t>
            </a:r>
          </a:p>
          <a:p>
            <a:r>
              <a:t>attempt the insurance licensing exam</a:t>
            </a:r>
          </a:p>
          <a:p>
            <a:r>
              <a:t>within a twelve-month period in</a:t>
            </a:r>
          </a:p>
          <a:p>
            <a:r>
              <a:t>Arizona?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purpose of having an insurable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nterest in life insurance?</a:t>
            </a:r>
            <a:br/>
            <a:br/>
            <a:r>
              <a:t>To increase policy benefits</a:t>
            </a:r>
            <a:br/>
            <a:br/>
            <a:r>
              <a:t>To extend the policy term</a:t>
            </a:r>
          </a:p>
          <a:p>
            <a:br/>
            <a:pPr>
              <a:defRPr sz="1200" i="1"/>
            </a:pPr>
            <a:r>
              <a:t>Note: the purpose of having an insurable</a:t>
            </a:r>
            <a:br/>
            <a:r>
              <a:t>interest in life insurance?</a:t>
            </a:r>
            <a:br/>
            <a:r>
              <a:t>To increase policy benefits</a:t>
            </a:r>
            <a:br/>
            <a:r>
              <a:t>To extend the policy term</a:t>
            </a:r>
            <a:br/>
            <a:r>
              <a:t>Proceed —_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purpose of an Accelerated</a:t>
            </a:r>
          </a:p>
          <a:p>
            <a:r>
              <a:t>Benefit Rider in life insurance?</a:t>
            </a:r>
          </a:p>
          <a:p>
            <a:r>
              <a:t>@  Toaccess part of the death benefit early in</a:t>
            </a:r>
          </a:p>
          <a:p>
            <a:r>
              <a:t>case of terminal illness</a:t>
            </a:r>
          </a:p>
          <a:p>
            <a:r>
              <a:t>To extend the policy term</a:t>
            </a:r>
          </a:p>
          <a:p>
            <a:r>
              <a:t>To increase the death benefit amount</a:t>
            </a:r>
          </a:p>
          <a:p>
            <a:r>
              <a:t>To reduce the premium cost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the purpose of an Accelerated</a:t>
            </a:r>
            <a:br/>
            <a:r>
              <a:t>Benefit Rider in life insurance?</a:t>
            </a:r>
            <a:br/>
            <a:r>
              <a:t>@  Toaccess part of the death benefit early in</a:t>
            </a:r>
            <a:br/>
            <a:r>
              <a:t>case of terminal illness</a:t>
            </a:r>
            <a:br/>
            <a:r>
              <a:t>To extend the policy term</a:t>
            </a:r>
            <a:br/>
            <a:r>
              <a:t>To increase the death benefit amount</a:t>
            </a:r>
            <a:br/>
            <a:r>
              <a:t>To reduce the premium cost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.....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an immediate annuity</a:t>
            </a:r>
          </a:p>
          <a:p>
            <a:r>
              <a:t>provide?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kind of annuity ties benefits to</a:t>
            </a:r>
          </a:p>
          <a:p>
            <a:r>
              <a:t>market performance?</a:t>
            </a:r>
          </a:p>
          <a:p>
            <a:r>
              <a:t>Deferred annuity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 Life Settlements differ from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nly apply to policies with no cash value</a:t>
            </a:r>
            <a:br/>
            <a:br/>
            <a:r>
              <a:t>@ © Involve selling the policy, not necessarily</a:t>
            </a:r>
            <a:br/>
            <a:r>
              <a:t>due to illness</a:t>
            </a:r>
            <a:br/>
            <a:br/>
            <a:r>
              <a:t>Result in a higher payout than the policy's</a:t>
            </a:r>
            <a:br/>
            <a:r>
              <a:t>face value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an Absolute Assignment in the</a:t>
            </a:r>
          </a:p>
          <a:p>
            <a:r>
              <a:t>context of a life insurance policy?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an Absolute Assignment in the</a:t>
            </a:r>
            <a:br/>
            <a:r>
              <a:t>context of a life insurance policy?</a:t>
            </a:r>
            <a:br/>
            <a:r>
              <a:t>o e Acomplete and irrevocable transfer of policy</a:t>
            </a:r>
            <a:br/>
            <a:r>
              <a:t>ounersnlp:</a:t>
            </a:r>
            <a:br/>
            <a:r>
              <a:t>An assignment of the policy as collateral for</a:t>
            </a:r>
            <a:br/>
            <a:r>
              <a:t>a loan.</a:t>
            </a:r>
            <a:br/>
            <a:r>
              <a:t>Atemporary transfer of policy ownership.</a:t>
            </a:r>
            <a:br/>
            <a:r>
              <a:t>A partial transfer of policy ...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primary role of an</a:t>
            </a:r>
          </a:p>
          <a:p>
            <a:r>
              <a:t>underwriter in the insurance industry?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To sell insurance policies to potential clients</a:t>
            </a:r>
            <a:br/>
            <a:br/>
            <a:r>
              <a:t>To process claims and disburse payments</a:t>
            </a:r>
            <a:br/>
            <a:br/>
            <a:r>
              <a:t>e To assess the risk and determine the</a:t>
            </a:r>
          </a:p>
          <a:p>
            <a:r>
              <a:t>☐ nsurability of applicants</a:t>
            </a:r>
            <a:br/>
            <a:br/>
            <a:r>
              <a:t>To design insurance products</a:t>
            </a:r>
          </a:p>
          <a:p>
            <a:br/>
            <a:pPr>
              <a:defRPr sz="1200" i="1"/>
            </a:pPr>
            <a:r>
              <a:t>Note: the primary role of an</a:t>
            </a:r>
            <a:br/>
            <a:r>
              <a:t>underwriter in the insurance industry?</a:t>
            </a:r>
            <a:br/>
            <a:r>
              <a:t>x) To sell insurance policies to potential clients</a:t>
            </a:r>
            <a:br/>
            <a:r>
              <a:t>To process claims and disburse payments</a:t>
            </a:r>
            <a:br/>
            <a:r>
              <a:t>e To assess the risk and determine the</a:t>
            </a:r>
            <a:br/>
            <a:r>
              <a:t>insurability of applicants</a:t>
            </a:r>
            <a:br/>
            <a:r>
              <a:t>To design insurance products</a:t>
            </a:r>
            <a:br/>
            <a:r>
              <a:t>Pr...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the 'Grace Period'</a:t>
            </a:r>
          </a:p>
          <a:p>
            <a:r>
              <a:t>provision in life insurance policies</a:t>
            </a:r>
          </a:p>
          <a:p>
            <a:r>
              <a:t>provide?</a:t>
            </a:r>
          </a:p>
          <a:p>
            <a:r>
              <a:t>Delay for policy activation.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e Extension for policy renewal.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defines the act of "selling"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in Arizona?</a:t>
            </a:r>
          </a:p>
          <a:p>
            <a:r>
              <a:t>☐ ffering discounts on insurance packages</a:t>
            </a:r>
            <a:br/>
            <a:br/>
            <a:r>
              <a:t>Finalizing an insurance contract in</a:t>
            </a:r>
            <a:br/>
            <a:r>
              <a:t>exchange for monetary value</a:t>
            </a:r>
            <a:br/>
            <a:br/>
            <a:r>
              <a:t>Marketing various insurance products</a:t>
            </a:r>
            <a:br/>
            <a:br/>
            <a:r>
              <a:t>Discussing policy details with potential</a:t>
            </a:r>
            <a:br/>
            <a:r>
              <a:t>clients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purpose of a Juvenile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the purpose of a Juvenile</a:t>
            </a:r>
            <a:br/>
            <a:r>
              <a:t>Insurance Policy?</a:t>
            </a:r>
            <a:br/>
            <a:r>
              <a:t>To cover education expenses in case of the</a:t>
            </a:r>
            <a:br/>
            <a:r>
              <a:t>child's death.</a:t>
            </a:r>
            <a:br/>
            <a:r>
              <a:t>To insure parents against financial loss.</a:t>
            </a:r>
            <a:br/>
            <a:r>
              <a:t>To offer health insurance specifically for</a:t>
            </a:r>
            <a:br/>
            <a:r>
              <a:t>children.</a:t>
            </a:r>
            <a:br/>
            <a:r>
              <a:t>Provide life insurance for a minor with a</a:t>
            </a:r>
            <a:br/>
            <a:r>
              <a:t>future prem...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happens if a life insurance</a:t>
            </a:r>
          </a:p>
          <a:p>
            <a:r>
              <a:t>policy's age or sex is misstated and</a:t>
            </a:r>
          </a:p>
          <a:p>
            <a:r>
              <a:t>the error is discovered after the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nsured's death?</a:t>
            </a:r>
            <a:br/>
            <a:br/>
            <a:r>
              <a:t>@ © The proceeds are adjusted according to the</a:t>
            </a:r>
            <a:br/>
            <a:r>
              <a:t>correct age or sex</a:t>
            </a:r>
            <a:br/>
            <a:br/>
            <a:r>
              <a:t>The beneficiary is fined</a:t>
            </a:r>
            <a:br/>
            <a:br/>
            <a:r>
              <a:t>The policy is voided</a:t>
            </a:r>
          </a:p>
          <a:p>
            <a:br/>
            <a:pPr>
              <a:defRPr sz="1200" i="1"/>
            </a:pPr>
            <a:r>
              <a:t>Note: misstated and</a:t>
            </a:r>
            <a:br/>
            <a:r>
              <a:t>the error is discovered after the</a:t>
            </a:r>
            <a:br/>
            <a:r>
              <a:t>insured's death?</a:t>
            </a:r>
            <a:br/>
            <a:r>
              <a:t>@  The proceeds are adjusted according to the</a:t>
            </a:r>
            <a:br/>
            <a:r>
              <a:t>correct age or sex</a:t>
            </a:r>
            <a:br/>
            <a:r>
              <a:t>The beneficiary is fined</a:t>
            </a:r>
            <a:br/>
            <a:r>
              <a:t>The policy is voided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type of business information</a:t>
            </a:r>
          </a:p>
          <a:p>
            <a:r>
              <a:t>must be reported to the Director when</a:t>
            </a:r>
          </a:p>
          <a:p>
            <a:r>
              <a:t>there is a change?</a:t>
            </a:r>
          </a:p>
          <a:p>
            <a:r>
              <a:t>Change in business hours</a:t>
            </a:r>
          </a:p>
          <a:p>
            <a:r>
              <a:t>Change in service pricing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a change?</a:t>
            </a:r>
            <a:br/>
            <a:r>
              <a:t>Change in business hours</a:t>
            </a:r>
            <a:br/>
            <a:r>
              <a:t>Change in service pricing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these mandates do insurers</a:t>
            </a:r>
          </a:p>
          <a:p>
            <a:r>
              <a:t>reveal when investigating an</a:t>
            </a:r>
          </a:p>
          <a:p>
            <a:r>
              <a:t>applicant's consumer or credit history?</a:t>
            </a:r>
          </a:p>
          <a:p>
            <a:r>
              <a:t>&gt;) 1868 - Paul v. Virginia.</a:t>
            </a:r>
          </a:p>
          <a:p>
            <a:r>
              <a:t>1945 - The McCarran-Ferguson Act</a:t>
            </a:r>
          </a:p>
          <a:p>
            <a:r>
              <a:t>1970 - Fair Credit Reporting Act</a:t>
            </a:r>
          </a:p>
          <a:p>
            <a:r>
              <a:t>1958 - Federal Trade Commission's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type of term insurance policy</a:t>
            </a:r>
          </a:p>
          <a:p>
            <a:r>
              <a:t>has a death benefit that decreases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total amount of Social Security</a:t>
            </a:r>
          </a:p>
          <a:p>
            <a:r>
              <a:t>retirement benefits an eligible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ndividual receives is determined by:</a:t>
            </a:r>
          </a:p>
          <a:p>
            <a:pPr>
              <a:defRPr b="1"/>
            </a:pPr>
            <a:r>
              <a:t>✅ Total Income Tax</a:t>
            </a:r>
          </a:p>
          <a:p>
            <a:r>
              <a:t>☐ Street Address</a:t>
            </a:r>
          </a:p>
          <a:p>
            <a:r>
              <a:t>☐ e Primary Insurance Amount (PIA)</a:t>
            </a:r>
          </a:p>
          <a:p>
            <a:r>
              <a:t>☐ Number of children</a:t>
            </a:r>
          </a:p>
          <a:p>
            <a:br/>
            <a:pPr>
              <a:defRPr sz="1200" i="1"/>
            </a:pPr>
            <a:r>
              <a:t>Note: determined by:</a:t>
            </a:r>
            <a:br/>
            <a:r>
              <a:t>x) Total Income Tax</a:t>
            </a:r>
            <a:br/>
            <a:r>
              <a:t>x) Street Address</a:t>
            </a:r>
            <a:br/>
            <a:r>
              <a:t>g e Primary Insurance Amount (PIA)</a:t>
            </a:r>
            <a:br/>
            <a:r>
              <a:t>x Number of children</a:t>
            </a:r>
            <a:br/>
            <a:r>
              <a:t>Proceed —_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happens if an insured individual</a:t>
            </a:r>
          </a:p>
          <a:p>
            <a:r>
              <a:t>dies during the Grace Period of their</a:t>
            </a:r>
          </a:p>
          <a:p>
            <a:r>
              <a:t>life insurance policy?</a:t>
            </a:r>
          </a:p>
          <a:p>
            <a:r>
              <a:t>Full benefits are paid without any</a:t>
            </a:r>
          </a:p>
          <a:p>
            <a:r>
              <a:t>deductions.</a:t>
            </a:r>
          </a:p>
          <a:p>
            <a:r>
              <a:t>The policy is voided.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The policy's death benefit is reduced by the</a:t>
            </a:r>
            <a:br/>
            <a:r>
              <a:t>unpaid premium.</a:t>
            </a:r>
          </a:p>
          <a:p>
            <a:r>
              <a:t>☐ Only a portion of the death benefit is paid.</a:t>
            </a:r>
          </a:p>
          <a:p>
            <a:br/>
            <a:pPr>
              <a:defRPr sz="1200" i="1"/>
            </a:pPr>
            <a:r>
              <a:t>Note: voided.</a:t>
            </a:r>
            <a:br/>
            <a:r>
              <a:t>g e The policy's death benefit is reduced by the</a:t>
            </a:r>
            <a:br/>
            <a:r>
              <a:t>unpaid premium.</a:t>
            </a:r>
            <a:br/>
            <a:r>
              <a:t>x) Only a portion of the death benefit is paid.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does Group Life Insurance</a:t>
            </a:r>
          </a:p>
          <a:p>
            <a:r>
              <a:t>typically determine insurability?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By underwriting the group as a whole, often</a:t>
            </a:r>
            <a:br/>
            <a:r>
              <a:t>without individual evidence of insurability.</a:t>
            </a:r>
            <a:br/>
            <a:br/>
            <a:r>
              <a:t>Based on the average age of the group.</a:t>
            </a:r>
            <a:br/>
            <a:br/>
            <a:r>
              <a:t>Through individual medical exams.</a:t>
            </a:r>
            <a:br/>
            <a:br/>
            <a:r>
              <a:t>Through a detailed financial assessment of</a:t>
            </a:r>
            <a:br/>
            <a:r>
              <a:t>each member.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plan allows employees to share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 a company's profits?</a:t>
            </a:r>
            <a:br/>
            <a:br/>
            <a:r>
              <a:t>Defined Benefit Plan</a:t>
            </a:r>
            <a:br/>
            <a:br/>
            <a:r>
              <a:t>(k) Plan</a:t>
            </a:r>
            <a:br/>
            <a:br/>
            <a:r>
              <a:t>Traditional IRA</a:t>
            </a:r>
            <a:br/>
            <a:br/>
            <a:r>
              <a:t>@ © Profit-Sharing Plan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does a 'Single Premium Whole</a:t>
            </a:r>
          </a:p>
          <a:p>
            <a:r>
              <a:t>Life' policy operate?</a:t>
            </a:r>
          </a:p>
          <a:p>
            <a:r>
              <a:t>@ « Entire premium paid in one lump sum</a:t>
            </a:r>
          </a:p>
          <a:p>
            <a:r>
              <a:t>Premiums vary annually</a:t>
            </a:r>
          </a:p>
          <a:p>
            <a:r>
              <a:t>Premiums increase with age</a:t>
            </a:r>
          </a:p>
          <a:p>
            <a:r>
              <a:t>Dividends pay the premiums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pay the premiums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possesses the option to renew a</a:t>
            </a:r>
          </a:p>
          <a:p>
            <a:r>
              <a:t>Renewable Term Policy?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 reviewing his new life insurance</a:t>
            </a:r>
          </a:p>
          <a:p>
            <a:r>
              <a:t>policy, Robert decides it doesn't meet</a:t>
            </a:r>
          </a:p>
          <a:p>
            <a:r>
              <a:t>his needs within the first week. He</a:t>
            </a:r>
          </a:p>
          <a:p>
            <a:r>
              <a:t>knows he has a specific period during</a:t>
            </a:r>
          </a:p>
          <a:p>
            <a:r>
              <a:t>which he can cancel the policy for a</a:t>
            </a:r>
          </a:p>
          <a:p>
            <a:r>
              <a:t>full refund. This period is known as</a:t>
            </a:r>
          </a:p>
          <a:p>
            <a:r>
              <a:t>Cooling-off period.</a:t>
            </a:r>
          </a:p>
          <a:p>
            <a:r>
              <a:t>Trial period.</a:t>
            </a:r>
          </a:p>
          <a:p>
            <a:r>
              <a:t>@  Free-look period.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new life insurance</a:t>
            </a:r>
            <a:br/>
            <a:r>
              <a:t>policy, Robert decides it doesn't meet</a:t>
            </a:r>
            <a:br/>
            <a:r>
              <a:t>his needs within the first week. He</a:t>
            </a:r>
            <a:br/>
            <a:r>
              <a:t>knows he has a specific period during</a:t>
            </a:r>
            <a:br/>
            <a:r>
              <a:t>which he can cancel the policy for a</a:t>
            </a:r>
            <a:br/>
            <a:r>
              <a:t>full refund. This period is known as</a:t>
            </a:r>
            <a:br/>
            <a:r>
              <a:t>Cooling-off period.</a:t>
            </a:r>
            <a:br/>
            <a:r>
              <a:t>Trial period.</a:t>
            </a:r>
            <a:br/>
            <a:r>
              <a:t>@  Free-lo...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type of insurance is</a:t>
            </a:r>
          </a:p>
          <a:p>
            <a:r>
              <a:t>specifically designed to decrease in</a:t>
            </a:r>
          </a:p>
          <a:p>
            <a:r>
              <a:t>face amount over time?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specifically designed to decrease in</a:t>
            </a:r>
            <a:br/>
            <a:r>
              <a:t>face amount over time?</a:t>
            </a:r>
            <a:br/>
            <a:r>
              <a:t>Increasing Term Insurance</a:t>
            </a:r>
            <a:br/>
            <a:r>
              <a:t>Term Life Insurance</a:t>
            </a:r>
            <a:br/>
            <a:r>
              <a:t>@  Decreasing Term Insurance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primary purpose of the</a:t>
            </a:r>
          </a:p>
          <a:p>
            <a:r>
              <a:t>Terrorism Insurance Program outlined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 federal law?</a:t>
            </a:r>
            <a:br/>
            <a:br/>
            <a:r>
              <a:t>To provide consumer protections against</a:t>
            </a:r>
          </a:p>
          <a:p>
            <a:r>
              <a:t>☐ dentity theft</a:t>
            </a:r>
            <a:br/>
            <a:br/>
            <a:r>
              <a:t>To ensure the availability of insurance</a:t>
            </a:r>
            <a:br/>
            <a:r>
              <a:t>coverage for acts of terrorism</a:t>
            </a:r>
            <a:br/>
            <a:br/>
            <a:r>
              <a:t>To regulate commercial email</a:t>
            </a:r>
            <a:br/>
            <a:r>
              <a:t>communications</a:t>
            </a:r>
            <a:br/>
            <a:br/>
            <a:r>
              <a:t>To oversee the telemarketing industry</a:t>
            </a:r>
          </a:p>
          <a:p>
            <a:br/>
            <a:pPr>
              <a:defRPr sz="1200" i="1"/>
            </a:pPr>
            <a:r>
              <a:t>Note: the primary purpose of the</a:t>
            </a:r>
            <a:br/>
            <a:r>
              <a:t>Terrorism Insurance Program outlined</a:t>
            </a:r>
            <a:br/>
            <a:r>
              <a:t>in federal law?</a:t>
            </a:r>
            <a:br/>
            <a:r>
              <a:t>To provide consumer protections against</a:t>
            </a:r>
            <a:br/>
            <a:r>
              <a:t>identity theft</a:t>
            </a:r>
            <a:br/>
            <a:r>
              <a:t>To ensure the availability of insurance</a:t>
            </a:r>
            <a:br/>
            <a:r>
              <a:t>coverage for acts of terrorism</a:t>
            </a:r>
            <a:br/>
            <a:r>
              <a:t>To regulate commercial email</a:t>
            </a:r>
            <a:br/>
            <a:r>
              <a:t>communications</a:t>
            </a:r>
            <a:br/>
            <a:r>
              <a:t>...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can a 'Cash Value Loan'</a:t>
            </a:r>
          </a:p>
          <a:p>
            <a:r>
              <a:t>provision be used for?</a:t>
            </a:r>
          </a:p>
          <a:p>
            <a:r>
              <a:t>Paying policy premiums.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type of life insurance is</a:t>
            </a:r>
          </a:p>
          <a:p>
            <a:r>
              <a:t>characterized by its low issue amounts</a:t>
            </a:r>
          </a:p>
          <a:p>
            <a:r>
              <a:t>and premiums collected directly at the</a:t>
            </a:r>
          </a:p>
          <a:p>
            <a:r>
              <a:t>policy owner's home?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rdinary Life Insurance</a:t>
            </a:r>
          </a:p>
          <a:p>
            <a:br/>
            <a:pPr>
              <a:defRPr sz="1200" i="1"/>
            </a:pPr>
            <a:r>
              <a:t>Note: characterized by its low issue amounts</a:t>
            </a:r>
            <a:br/>
            <a:r>
              <a:t>and premiums collected directly at the</a:t>
            </a:r>
            <a:br/>
            <a:r>
              <a:t>policy owner's home?</a:t>
            </a:r>
            <a:br/>
            <a:r>
              <a:t>Ordinary Life Insurance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A(n) annuity disburses</a:t>
            </a:r>
          </a:p>
          <a:p>
            <a:r>
              <a:t>benefits in units instead of fixed dollar</a:t>
            </a:r>
          </a:p>
          <a:p>
            <a:r>
              <a:t>amounts.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typical consequence for a</a:t>
            </a:r>
          </a:p>
          <a:p>
            <a:r>
              <a:t>life insurance policy if the insured dies</a:t>
            </a:r>
          </a:p>
          <a:p>
            <a:r>
              <a:t>from engaging in a hazardous hobby?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The death benefit may be excluded or a</a:t>
            </a:r>
            <a:br/>
            <a:r>
              <a:t>higher premium charged</a:t>
            </a:r>
            <a:br/>
            <a:br/>
            <a:r>
              <a:t>The policy is transferred to a relative</a:t>
            </a:r>
            <a:br/>
            <a:br/>
            <a:r>
              <a:t>The death benefit is doubled</a:t>
            </a:r>
          </a:p>
          <a:p>
            <a:br/>
            <a:pPr>
              <a:defRPr sz="1200" i="1"/>
            </a:pPr>
            <a:r>
              <a:t>Note: the typical consequence for a</a:t>
            </a:r>
            <a:br/>
            <a:r>
              <a:t>life insurance policy if the insured dies</a:t>
            </a:r>
            <a:br/>
            <a:r>
              <a:t>from engaging in a hazardous hobby?</a:t>
            </a:r>
            <a:br/>
            <a:r>
              <a:t>g e The death benefit may be excluded or a</a:t>
            </a:r>
            <a:br/>
            <a:r>
              <a:t>higher premium charged</a:t>
            </a:r>
            <a:br/>
            <a:r>
              <a:t>The policy is transferred to a relative</a:t>
            </a:r>
            <a:br/>
            <a:r>
              <a:t>The death benefit is doubled</a:t>
            </a:r>
            <a:br/>
            <a:r>
              <a:t>Proceed...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plan provides funds for a</a:t>
            </a:r>
          </a:p>
          <a:p>
            <a:r>
              <a:t>partner to buy out a deceased</a:t>
            </a:r>
          </a:p>
          <a:p>
            <a:r>
              <a:t>partner’s share in a business?</a:t>
            </a:r>
          </a:p>
          <a:p>
            <a:r>
              <a:t>Close Corporation Plan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for a</a:t>
            </a:r>
            <a:br/>
            <a:r>
              <a:t>partner to buy out a deceased</a:t>
            </a:r>
            <a:br/>
            <a:r>
              <a:t>partner’s share in a business?</a:t>
            </a:r>
            <a:br/>
            <a:r>
              <a:t>Close Corporation Plan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the Fair Credit Reporting</a:t>
            </a:r>
          </a:p>
          <a:p>
            <a:r>
              <a:t>Act regulate?</a:t>
            </a:r>
          </a:p>
          <a:p>
            <a:r>
              <a:t>The methods by which companies can</a:t>
            </a:r>
          </a:p>
          <a:p>
            <a:r>
              <a:t>market products over the phone</a:t>
            </a:r>
          </a:p>
          <a:p>
            <a:r>
              <a:t>The way insurance companies report credit</a:t>
            </a:r>
          </a:p>
          <a:p>
            <a:r>
              <a:t>transactions</a:t>
            </a:r>
          </a:p>
          <a:p>
            <a:r>
              <a:t>The accuracy and privacy of consumer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nformation in credit reports</a:t>
            </a:r>
            <a:br/>
            <a:br/>
            <a:r>
              <a:t>The handling and disclosure of non-public</a:t>
            </a:r>
            <a:br/>
            <a:r>
              <a:t>personal information</a:t>
            </a:r>
          </a:p>
          <a:p>
            <a:br/>
            <a:pPr>
              <a:defRPr sz="1200" i="1"/>
            </a:pPr>
            <a:r>
              <a:t>Note: by which companies can</a:t>
            </a:r>
            <a:br/>
            <a:r>
              <a:t>market products over the phone</a:t>
            </a:r>
            <a:br/>
            <a:r>
              <a:t>The way insurance companies report credit</a:t>
            </a:r>
            <a:br/>
            <a:r>
              <a:t>transactions</a:t>
            </a:r>
            <a:br/>
            <a:r>
              <a:t>The accuracy and privacy of consumer</a:t>
            </a:r>
            <a:br/>
            <a:r>
              <a:t>information in credit reports</a:t>
            </a:r>
            <a:br/>
            <a:r>
              <a:t>The handling and disclosure of non-public</a:t>
            </a:r>
            <a:br/>
            <a:r>
              <a:t>personal information</a:t>
            </a:r>
            <a:br/>
            <a:r>
              <a:t>Proceed —_»...</a:t>
            </a: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impact of selecting the</a:t>
            </a:r>
          </a:p>
          <a:p>
            <a:r>
              <a:t>Reduce Premium Dividend Option in a</a:t>
            </a:r>
          </a:p>
          <a:p>
            <a:r>
              <a:t>life insurance policy?</a:t>
            </a: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ltuses dividends to pay all or part of the</a:t>
            </a:r>
            <a:br/>
            <a:r>
              <a:t>following premium due</a:t>
            </a:r>
            <a:br/>
            <a:br/>
            <a:r>
              <a:t>It converts the policy into a paid-up policy</a:t>
            </a:r>
            <a:br/>
            <a:br/>
            <a:r>
              <a:t>It extends the policy's maturity date</a:t>
            </a:r>
          </a:p>
          <a:p>
            <a:br/>
            <a:pPr>
              <a:defRPr sz="1200" i="1"/>
            </a:pPr>
            <a:r>
              <a:t>Note: the impact of selecting the</a:t>
            </a:r>
            <a:br/>
            <a:r>
              <a:t>Reduce Premium Dividend Option in a</a:t>
            </a:r>
            <a:br/>
            <a:r>
              <a:t>life insurance policy?</a:t>
            </a:r>
            <a:br/>
            <a:r>
              <a:t>g e ltuses dividends to pay all or part of the</a:t>
            </a:r>
            <a:br/>
            <a:r>
              <a:t>following premium due</a:t>
            </a:r>
            <a:br/>
            <a:r>
              <a:t>It converts the policy into a paid-up policy</a:t>
            </a:r>
            <a:br/>
            <a:r>
              <a:t>It extends the policy's maturity date</a:t>
            </a:r>
            <a:br/>
            <a:r>
              <a:t>Proceed =&gt;</a:t>
            </a:r>
            <a:br/>
            <a:r>
              <a:t>...</a:t>
            </a: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type of term life insurance is</a:t>
            </a:r>
          </a:p>
          <a:p>
            <a:r>
              <a:t>typically used for mortgage protection?</a:t>
            </a:r>
          </a:p>
          <a:p>
            <a:r>
              <a:t>Level Term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typically used for mortgage protection?</a:t>
            </a:r>
            <a:br/>
            <a:r>
              <a:t>Level Term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constitutes an offer in an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contract scenario?</a:t>
            </a:r>
            <a:br/>
            <a:br/>
            <a:r>
              <a:t>The insurance company approving the</a:t>
            </a:r>
            <a:br/>
            <a:r>
              <a:t>application</a:t>
            </a:r>
            <a:br/>
            <a:br/>
            <a:r>
              <a:t>The insurance company providing a quote</a:t>
            </a:r>
            <a:br/>
            <a:br/>
            <a:r>
              <a:t>The applicant sending an application with</a:t>
            </a:r>
            <a:br/>
            <a:r>
              <a:t>the initial Premium</a:t>
            </a:r>
            <a:br/>
            <a:br/>
            <a:r>
              <a:t>The e applicant agreeing to the terms verbally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Linda, a policyowner, wants to change her life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beneficiary from her ex-spouse to her</a:t>
            </a:r>
            <a:br/>
            <a:r>
              <a:t>child. Her ex-spouse is currently the irrevocable</a:t>
            </a:r>
            <a:br/>
            <a:r>
              <a:t>beneficiary. What must Linda do?</a:t>
            </a:r>
            <a:br/>
            <a:br/>
            <a:r>
              <a:t>o e Obtain written consent from the ex-spouse</a:t>
            </a:r>
            <a:br/>
            <a:r>
              <a:t>to make the echange</a:t>
            </a:r>
            <a:br/>
            <a:br/>
            <a:r>
              <a:t>Change the beneficiary without consent</a:t>
            </a:r>
          </a:p>
          <a:p>
            <a:br/>
            <a:pPr>
              <a:defRPr sz="1200" i="1"/>
            </a:pPr>
            <a:r>
              <a:t>Note: currently the irrevocable</a:t>
            </a:r>
            <a:br/>
            <a:r>
              <a:t>beneficiary. What must Linda do?</a:t>
            </a:r>
            <a:br/>
            <a:r>
              <a:t>o e Obtain written consent from the ex-spouse</a:t>
            </a:r>
            <a:br/>
            <a:r>
              <a:t>to make the echange</a:t>
            </a:r>
            <a:br/>
            <a:r>
              <a:t>Change the beneficiary without consent</a:t>
            </a:r>
            <a:br/>
            <a:r>
              <a:t>Proceed =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action constitutes the</a:t>
            </a:r>
          </a:p>
          <a:p>
            <a:r>
              <a:t>"transaction" of insurance business in</a:t>
            </a:r>
          </a:p>
          <a:p>
            <a:r>
              <a:t>Arizona?</a:t>
            </a:r>
          </a:p>
          <a:p>
            <a:r>
              <a:t>@  Selling, soliciting, and negotiating insurance</a:t>
            </a:r>
          </a:p>
          <a:p>
            <a:r>
              <a:t>Handling administrative tasks for an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company</a:t>
            </a:r>
            <a:br/>
            <a:br/>
            <a:r>
              <a:t>Providing financial advice on insurance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required for a person or entity</a:t>
            </a:r>
          </a:p>
          <a:p>
            <a:r>
              <a:t>to transact insurance business in</a:t>
            </a:r>
          </a:p>
          <a:p>
            <a:r>
              <a:t>Arizona?</a:t>
            </a:r>
          </a:p>
          <a:p>
            <a:r>
              <a:t>Membership in a state insurance</a:t>
            </a:r>
          </a:p>
          <a:p>
            <a:r>
              <a:t>association</a:t>
            </a: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required for a person or entity</a:t>
            </a:r>
            <a:br/>
            <a:r>
              <a:t>to transact insurance business in</a:t>
            </a:r>
            <a:br/>
            <a:r>
              <a:t>Arizona?</a:t>
            </a:r>
            <a:br/>
            <a:r>
              <a:t>Membership in a state insurance</a:t>
            </a:r>
            <a:br/>
            <a:r>
              <a:t>association</a:t>
            </a:r>
            <a:br/>
            <a:r>
              <a:t>Proceed —_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describes</a:t>
            </a:r>
          </a:p>
          <a:p>
            <a:r>
              <a:t>‘consideration' in an insurance</a:t>
            </a:r>
          </a:p>
          <a:p>
            <a:r>
              <a:t>contract?</a:t>
            </a:r>
          </a:p>
          <a:p>
            <a:r>
              <a:t>The final approval of the insurance</a:t>
            </a:r>
          </a:p>
          <a:p>
            <a:r>
              <a:t>application</a:t>
            </a:r>
          </a:p>
          <a:p>
            <a:r>
              <a:t>The legal advice received when entering the</a:t>
            </a:r>
          </a:p>
          <a:p>
            <a:r>
              <a:t>contract</a:t>
            </a:r>
          </a:p>
          <a:p>
            <a:r>
              <a:t>The exchange of value in the form of</a:t>
            </a:r>
          </a:p>
          <a:p>
            <a:r>
              <a:t>premikim bayiuelts'e and NceNetads Promise:</a:t>
            </a:r>
          </a:p>
          <a:p>
            <a:r>
              <a:t>The negotiation process between the</a:t>
            </a:r>
          </a:p>
          <a:p>
            <a:r>
              <a:t>applicant and the insurance company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Promise:</a:t>
            </a:r>
            <a:br/>
            <a:r>
              <a:t>The negotiation process between the</a:t>
            </a:r>
            <a:br/>
            <a:r>
              <a:t>applicant and the insurance company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 noncontributory employee</a:t>
            </a:r>
          </a:p>
          <a:p>
            <a:r>
              <a:t>benefit plan?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The employer bears the full cost of the</a:t>
            </a:r>
            <a:br/>
            <a:r>
              <a:t>benefits.</a:t>
            </a:r>
            <a:br/>
            <a:br/>
            <a:r>
              <a:t>Employees contribute to the full cost of their</a:t>
            </a:r>
            <a:br/>
            <a:r>
              <a:t>benefits.</a:t>
            </a:r>
            <a:br/>
            <a:br/>
            <a:r>
              <a:t>Both employer and employees share the</a:t>
            </a:r>
            <a:br/>
            <a:r>
              <a:t>cost.</a:t>
            </a:r>
            <a:br/>
            <a:br/>
            <a:r>
              <a:t>Employees pay for benefits through salary</a:t>
            </a:r>
            <a:br/>
            <a:r>
              <a:t>reduction.</a:t>
            </a:r>
          </a:p>
          <a:p>
            <a:br/>
            <a:pPr>
              <a:defRPr sz="1200" i="1"/>
            </a:pPr>
            <a:r>
              <a:t>Note: a noncontributory employee</a:t>
            </a:r>
            <a:br/>
            <a:r>
              <a:t>benefit plan?</a:t>
            </a:r>
            <a:br/>
            <a:r>
              <a:t>g e The employer bears the full cost of the</a:t>
            </a:r>
            <a:br/>
            <a:r>
              <a:t>benefits.</a:t>
            </a:r>
            <a:br/>
            <a:r>
              <a:t>Employees contribute to the full cost of their</a:t>
            </a:r>
            <a:br/>
            <a:r>
              <a:t>benefits.</a:t>
            </a:r>
            <a:br/>
            <a:r>
              <a:t>Both employer and employees share the</a:t>
            </a:r>
            <a:br/>
            <a:r>
              <a:t>cost.</a:t>
            </a:r>
            <a:br/>
            <a:r>
              <a:t>Employees pay for benefits through salary</a:t>
            </a:r>
            <a:br/>
            <a:r>
              <a:t>reduction.</a:t>
            </a:r>
            <a:br/>
            <a:r>
              <a:t>P...</a:t>
            </a: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purpose of Key Person</a:t>
            </a: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ndispensable member of the team.</a:t>
            </a:r>
            <a:br/>
            <a:br/>
            <a:r>
              <a:t>&amp; To provide a retirement fund for the key</a:t>
            </a:r>
            <a:br/>
            <a:r>
              <a:t>person.</a:t>
            </a:r>
            <a:br/>
            <a:br/>
            <a:r>
              <a:t>r 9¢ To cover the cost of health benefits for all</a:t>
            </a:r>
            <a:br/>
            <a:r>
              <a:t>employees.</a:t>
            </a:r>
            <a:br/>
            <a:br/>
            <a:r>
              <a:t>To fund the education of the key person's</a:t>
            </a:r>
            <a:br/>
            <a:r>
              <a:t>children.</a:t>
            </a:r>
          </a:p>
          <a:p>
            <a:br/>
            <a:pPr>
              <a:defRPr sz="1200" i="1"/>
            </a:pPr>
            <a:r>
              <a:t>Note: the purpose of Key Person</a:t>
            </a:r>
            <a:br/>
            <a:r>
              <a:t>Insurance in a business setting?</a:t>
            </a:r>
            <a:br/>
            <a:r>
              <a:t>@  Tomitigate the impact of losing an</a:t>
            </a:r>
            <a:br/>
            <a:r>
              <a:t>indispensable member of the team.</a:t>
            </a:r>
            <a:br/>
            <a:r>
              <a:t>&amp; To provide a retirement fund for the key</a:t>
            </a:r>
            <a:br/>
            <a:r>
              <a:t>person.</a:t>
            </a:r>
            <a:br/>
            <a:r>
              <a:t>r 9¢ To cover the cost of health benefits for all</a:t>
            </a:r>
            <a:br/>
            <a:r>
              <a:t>employees.</a:t>
            </a:r>
            <a:br/>
            <a:r>
              <a:t>To fund...</a:t>
            </a: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the act of "negotiating"</a:t>
            </a: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involve according to Arizona</a:t>
            </a:r>
            <a:br/>
            <a:r>
              <a:t>state regulations?</a:t>
            </a:r>
            <a:br/>
            <a:br/>
            <a:r>
              <a:t>Soliciting insurance through advertisements</a:t>
            </a:r>
            <a:br/>
            <a:r>
              <a:t>Handling claims and settlements</a:t>
            </a:r>
            <a:br/>
            <a:br/>
            <a:r>
              <a:t>Engaging in direct discussions about the</a:t>
            </a:r>
            <a:br/>
            <a:r>
              <a:t>benefits, terms, or conditions of the</a:t>
            </a:r>
          </a:p>
          <a:p>
            <a:r>
              <a:t>☐ nsurance contract</a:t>
            </a:r>
            <a:br/>
            <a:br/>
            <a:r>
              <a:t>Exchanging an insurance contract for</a:t>
            </a:r>
            <a:br/>
            <a:r>
              <a:t>money</a:t>
            </a: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rider offers coverage for a child</a:t>
            </a:r>
          </a:p>
          <a:p>
            <a:r>
              <a:t>under the parent's life insurance</a:t>
            </a:r>
          </a:p>
          <a:p>
            <a:r>
              <a:t>policy?</a:t>
            </a:r>
          </a:p>
          <a:p>
            <a:r>
              <a:t>Spouse term rider</a:t>
            </a:r>
          </a:p>
          <a:p>
            <a:r>
              <a:t>Extended Term Rider</a:t>
            </a:r>
          </a:p>
          <a:p>
            <a:r>
              <a:t>Accelerated Benefit Rider</a:t>
            </a: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Child term rider</a:t>
            </a: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role does a Salary Continuation</a:t>
            </a:r>
          </a:p>
          <a:p>
            <a:r>
              <a:t>Plan play in employee benefits?</a:t>
            </a:r>
          </a:p>
          <a:p>
            <a:r>
              <a:t>Provides ongoing financial support under</a:t>
            </a:r>
          </a:p>
          <a:p>
            <a:r>
              <a:t>specific circumstances such as retirement or</a:t>
            </a:r>
          </a:p>
          <a:p>
            <a:r>
              <a:t>disability.</a:t>
            </a:r>
          </a:p>
          <a:p>
            <a:r>
              <a:t>Covers educational expenses for</a:t>
            </a:r>
          </a:p>
          <a:p>
            <a:r>
              <a:t>employees’ children.</a:t>
            </a:r>
          </a:p>
          <a:p>
            <a:r>
              <a:t>Acts as an additional health insurance fund.</a:t>
            </a: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option describes the Fixed</a:t>
            </a:r>
          </a:p>
          <a:p>
            <a:r>
              <a:t>Amount Installment Option for life</a:t>
            </a: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settlement?</a:t>
            </a:r>
            <a:br/>
            <a:br/>
            <a:r>
              <a:t>Beneficiary receives payments based on</a:t>
            </a:r>
            <a:br/>
            <a:r>
              <a:t>their age</a:t>
            </a:r>
            <a:br/>
            <a:br/>
            <a:r>
              <a:t>Premiums are fixed throughout the policy</a:t>
            </a:r>
            <a:br/>
            <a:r>
              <a:t>term</a:t>
            </a:r>
            <a:br/>
            <a:br/>
            <a:r>
              <a:t>Set amounts are paid until the principal and</a:t>
            </a:r>
          </a:p>
          <a:p>
            <a:r>
              <a:t>☐ nterest are depleted</a:t>
            </a:r>
          </a:p>
          <a:p>
            <a:r>
              <a:t>☐ Death benefit is paid out as a lump sum</a:t>
            </a:r>
          </a:p>
          <a:p>
            <a:br/>
            <a:pPr>
              <a:defRPr sz="1200" i="1"/>
            </a:pPr>
            <a:r>
              <a:t>Note: paid out as a lump sum</a:t>
            </a:r>
            <a:br/>
            <a:r>
              <a:t>Proceed =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required for a contract to be</a:t>
            </a:r>
          </a:p>
          <a:p>
            <a:r>
              <a:t>considered legally enforceable?</a:t>
            </a:r>
          </a:p>
          <a:p>
            <a:r>
              <a:t>@  Specific essential elements like offer,</a:t>
            </a:r>
          </a:p>
          <a:p>
            <a:r>
              <a:t>acceptance, and consideration</a:t>
            </a:r>
          </a:p>
          <a:p>
            <a:r>
              <a:t>An agreement beneficial to all parties</a:t>
            </a:r>
          </a:p>
          <a:p>
            <a:r>
              <a:t>Payment of a fee to a legal authority</a:t>
            </a:r>
          </a:p>
          <a:p>
            <a:r>
              <a:t>Approval by a government official</a:t>
            </a: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required for a contract to be</a:t>
            </a:r>
            <a:br/>
            <a:r>
              <a:t>considered legally enforceable?</a:t>
            </a:r>
            <a:br/>
            <a:r>
              <a:t>@  Specific essential elements like offer,</a:t>
            </a:r>
            <a:br/>
            <a:r>
              <a:t>acceptance, and consideration</a:t>
            </a:r>
            <a:br/>
            <a:r>
              <a:t>An agreement beneficial to all parties</a:t>
            </a:r>
            <a:br/>
            <a:r>
              <a:t>Payment of a fee to a legal authority</a:t>
            </a:r>
            <a:br/>
            <a:r>
              <a:t>Approval by a government official</a:t>
            </a:r>
            <a:br/>
            <a:r>
              <a:t>Proc...</a:t>
            </a: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purpose of the 'Free Look'</a:t>
            </a:r>
          </a:p>
          <a:p>
            <a:r>
              <a:t>period in insurance policies?</a:t>
            </a:r>
          </a:p>
          <a:p>
            <a:r>
              <a:t>Modify the beneficiaries.</a:t>
            </a: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the purpose of the 'Free Look'</a:t>
            </a:r>
            <a:br/>
            <a:r>
              <a:t>period in insurance policies?</a:t>
            </a:r>
            <a:br/>
            <a:r>
              <a:t>Modify the beneficiaries.</a:t>
            </a:r>
            <a:br/>
            <a:r>
              <a:t>Proceed —_»&gt;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is a</a:t>
            </a:r>
          </a:p>
          <a:p>
            <a:r>
              <a:t>characteristic of whole life insurance?</a:t>
            </a:r>
          </a:p>
          <a:p>
            <a:r>
              <a:t>Flexible Premiums</a:t>
            </a: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a</a:t>
            </a:r>
            <a:br/>
            <a:r>
              <a:t>characteristic of whole life insurance?</a:t>
            </a:r>
            <a:br/>
            <a:r>
              <a:t>Flexible Premiums</a:t>
            </a:r>
            <a:br/>
            <a:r>
              <a:t>Proceed —_»&gt;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(21)...</a:t>
            </a: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does the Needs Approach differ</a:t>
            </a:r>
          </a:p>
          <a:p>
            <a:r>
              <a:t>from the Human Life Value Approach?</a:t>
            </a:r>
          </a:p>
          <a:p>
            <a:r>
              <a:t>@  Itcalculates based on specific financial</a:t>
            </a:r>
          </a:p>
          <a:p>
            <a:r>
              <a:t>needs and goals.</a:t>
            </a: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Approach differ</a:t>
            </a:r>
            <a:br/>
            <a:r>
              <a:t>from the Human Life Value Approach?</a:t>
            </a:r>
            <a:br/>
            <a:r>
              <a:t>@  Itcalculates based on specific financial</a:t>
            </a:r>
            <a:br/>
            <a:r>
              <a:t>needs and goals.</a:t>
            </a:r>
            <a:br/>
            <a:r>
              <a:t>It only covers medical expenses.</a:t>
            </a:r>
            <a:br/>
            <a:r>
              <a:t>It bases insurance needs solely on the</a:t>
            </a:r>
            <a:br/>
            <a:r>
              <a:t>policyholder’s income.</a:t>
            </a:r>
            <a:br/>
            <a:r>
              <a:t>It is used only for calculating retirement...</a:t>
            </a: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 securing a large loan, Sarah</a:t>
            </a:r>
          </a:p>
          <a:p>
            <a:r>
              <a:t>decides to buy a life insurance policy</a:t>
            </a:r>
          </a:p>
          <a:p>
            <a:r>
              <a:t>and names her creditor as the</a:t>
            </a:r>
          </a:p>
          <a:p>
            <a:r>
              <a:t>beneficiary. What does this scenario</a:t>
            </a:r>
          </a:p>
          <a:p>
            <a:r>
              <a:t>exemplify?</a:t>
            </a:r>
          </a:p>
          <a:p>
            <a:r>
              <a:t>@  Aninsurable interest existing between</a:t>
            </a:r>
          </a:p>
          <a:p>
            <a:r>
              <a:t>Sarah and her creditor.</a:t>
            </a:r>
          </a:p>
          <a:p>
            <a:r>
              <a:t>Acase of potential insurance fraud.</a:t>
            </a:r>
          </a:p>
          <a:p>
            <a:r>
              <a:t>A situation requiring a medical exam.</a:t>
            </a:r>
          </a:p>
          <a:p>
            <a:r>
              <a:t>An example of a revocable beneficiary.</a:t>
            </a: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scenario</a:t>
            </a:r>
            <a:br/>
            <a:r>
              <a:t>exemplify?</a:t>
            </a:r>
            <a:br/>
            <a:r>
              <a:t>@  Aninsurable interest existing between</a:t>
            </a:r>
            <a:br/>
            <a:r>
              <a:t>Sarah and her creditor.</a:t>
            </a:r>
            <a:br/>
            <a:r>
              <a:t>Acase of potential insurance fraud.</a:t>
            </a:r>
            <a:br/>
            <a:r>
              <a:t>A situation requiring a medical exam.</a:t>
            </a:r>
            <a:br/>
            <a:r>
              <a:t>An example of a revocable beneficiary.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..rancelicense.myabsorb.com (...</a:t>
            </a: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a married couple filing jointly, at</a:t>
            </a:r>
          </a:p>
          <a:p>
            <a:r>
              <a:t>what combined annual income will</a:t>
            </a:r>
          </a:p>
          <a:p>
            <a:r>
              <a:t>they start paying federal income tax on</a:t>
            </a:r>
          </a:p>
          <a:p>
            <a:r>
              <a:t>their Social Security benefits?</a:t>
            </a:r>
          </a:p>
          <a:p>
            <a:r>
              <a:t>@  $32,000</a:t>
            </a:r>
          </a:p>
          <a:p>
            <a:r>
              <a:t>$28,000</a:t>
            </a:r>
          </a:p>
          <a:p>
            <a:r>
              <a:t>$36,000</a:t>
            </a:r>
          </a:p>
          <a:p>
            <a:r>
              <a:t>$40,000</a:t>
            </a: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primary purpose of a life</a:t>
            </a: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application?</a:t>
            </a:r>
            <a:br/>
            <a:br/>
            <a:r>
              <a:t>To determine the policy's cash value</a:t>
            </a:r>
            <a:br/>
            <a:br/>
            <a:r>
              <a:t>@ © Toprovide underwriting information for</a:t>
            </a:r>
            <a:br/>
            <a:r>
              <a:t>policy acceptance or denial</a:t>
            </a:r>
            <a:br/>
            <a:br/>
            <a:r>
              <a:t>To record the beneficiary's details</a:t>
            </a:r>
            <a:br/>
            <a:br/>
            <a:r>
              <a:t>To specify the policy's terms and conditions</a:t>
            </a:r>
          </a:p>
          <a:p>
            <a:br/>
            <a:pPr>
              <a:defRPr sz="1200" i="1"/>
            </a:pPr>
            <a:r>
              <a:t>Note: the primary purpose of a life</a:t>
            </a:r>
            <a:br/>
            <a:r>
              <a:t>insurance application?</a:t>
            </a:r>
            <a:br/>
            <a:r>
              <a:t>To determine the policy's cash value</a:t>
            </a:r>
            <a:br/>
            <a:r>
              <a:t>@  Toprovide underwriting information for</a:t>
            </a:r>
            <a:br/>
            <a:r>
              <a:t>policy acceptance or denial</a:t>
            </a:r>
            <a:br/>
            <a:r>
              <a:t>To record the beneficiary's details</a:t>
            </a:r>
            <a:br/>
            <a:r>
              <a:t>To specify the policy's terms and conditions</a:t>
            </a:r>
            <a:br/>
            <a:r>
              <a:t>Proceed =...</a:t>
            </a: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primary consequence of</a:t>
            </a:r>
          </a:p>
          <a:p>
            <a:r>
              <a:t>an Automatic Premium Loan Provision</a:t>
            </a: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 life insurance?</a:t>
            </a:r>
            <a:br/>
            <a:br/>
            <a:r>
              <a:t>Increases the policy's death benefit</a:t>
            </a:r>
            <a:br/>
            <a:r>
              <a:t>Reduces the policy's term</a:t>
            </a:r>
            <a:br/>
            <a:br/>
            <a:r>
              <a:t>Prevents the policy from lapsing by paying</a:t>
            </a:r>
            <a:br/>
            <a:r>
              <a:t>premiums from the cash value</a:t>
            </a:r>
          </a:p>
          <a:p>
            <a:pPr>
              <a:defRPr b="1"/>
            </a:pPr>
            <a:r>
              <a:t>✅ ffers a loan to the policyholder for personal</a:t>
            </a:r>
            <a:br/>
            <a:r>
              <a:t>use</a:t>
            </a:r>
          </a:p>
          <a:p>
            <a:br/>
            <a:pPr>
              <a:defRPr sz="1200" i="1"/>
            </a:pPr>
            <a:r>
              <a:t>Note: the primary consequence of</a:t>
            </a:r>
            <a:br/>
            <a:r>
              <a:t>an Automatic Premium Loan Provision</a:t>
            </a:r>
            <a:br/>
            <a:r>
              <a:t>in life insurance?</a:t>
            </a:r>
            <a:br/>
            <a:r>
              <a:t>Increases the policy's death benefit</a:t>
            </a:r>
            <a:br/>
            <a:r>
              <a:t>Reduces the policy's term</a:t>
            </a:r>
            <a:br/>
            <a:r>
              <a:t>Prevents the policy from lapsing by paying</a:t>
            </a:r>
            <a:br/>
            <a:r>
              <a:t>premiums from the cash value</a:t>
            </a:r>
            <a:br/>
            <a:r>
              <a:t>Offers a loan to the policyholder...</a:t>
            </a: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principle of indemnity in</a:t>
            </a: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nsurance?</a:t>
            </a:r>
            <a:br/>
            <a:br/>
            <a:r>
              <a:t>To share the risk among a large number of</a:t>
            </a:r>
            <a:br/>
            <a:r>
              <a:t>policyholders.</a:t>
            </a:r>
            <a:br/>
            <a:br/>
            <a:r>
              <a:t>To cover all types of risks, whether</a:t>
            </a:r>
            <a:br/>
            <a:r>
              <a:t>speculative or pure.</a:t>
            </a:r>
            <a:br/>
            <a:br/>
            <a:r>
              <a:t>To provide a profit to the insured in case of a</a:t>
            </a:r>
            <a:br/>
            <a:r>
              <a:t>loss.</a:t>
            </a:r>
            <a:br/>
            <a:br/>
            <a:r>
              <a:t>To restore the insured to the same financial</a:t>
            </a:r>
            <a:br/>
            <a:r>
              <a:t>condition as before a loss.</a:t>
            </a:r>
          </a:p>
          <a:p>
            <a:br/>
            <a:pPr>
              <a:defRPr sz="1200" i="1"/>
            </a:pPr>
            <a:r>
              <a:t>Note: the principle of indemnity in</a:t>
            </a:r>
            <a:br/>
            <a:r>
              <a:t>insurance?</a:t>
            </a:r>
            <a:br/>
            <a:r>
              <a:t>To share the risk among a large number of</a:t>
            </a:r>
            <a:br/>
            <a:r>
              <a:t>policyholders.</a:t>
            </a:r>
            <a:br/>
            <a:r>
              <a:t>To cover all types of risks, whether</a:t>
            </a:r>
            <a:br/>
            <a:r>
              <a:t>speculative or pure.</a:t>
            </a:r>
            <a:br/>
            <a:r>
              <a:t>To provide a profit to the insured in case of a</a:t>
            </a:r>
            <a:br/>
            <a:r>
              <a:t>loss.</a:t>
            </a:r>
            <a:br/>
            <a:r>
              <a:t>To restore the insured to the same finan...</a:t>
            </a: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best describes</a:t>
            </a:r>
          </a:p>
          <a:p>
            <a:r>
              <a:t>'Reinsurance'?</a:t>
            </a: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for individuals who have high-risk</a:t>
            </a:r>
            <a:br/>
            <a:r>
              <a:t>profiles.</a:t>
            </a:r>
          </a:p>
          <a:p>
            <a:pPr>
              <a:defRPr b="1"/>
            </a:pPr>
            <a:r>
              <a:t>✅ Insurance purchased by an insurer from</a:t>
            </a:r>
            <a:br/>
            <a:r>
              <a:t>another insurer to limit loss exposure.</a:t>
            </a:r>
            <a:br/>
            <a:br/>
            <a:r>
              <a:t>A reserve fund set aside by insurance</a:t>
            </a:r>
            <a:br/>
            <a:r>
              <a:t>companies for unexpected claims.</a:t>
            </a:r>
            <a:br/>
            <a:br/>
            <a:r>
              <a:t>Government-backed insurance for</a:t>
            </a:r>
            <a:br/>
            <a:r>
              <a:t>catastrophic events.</a:t>
            </a: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of the following are characteristics</a:t>
            </a: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 [22]</a:t>
            </a: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 the Gramm-Leach-Bliley Act,</a:t>
            </a:r>
          </a:p>
          <a:p>
            <a:r>
              <a:t>what are insurance companies</a:t>
            </a:r>
          </a:p>
          <a:p>
            <a:r>
              <a:t>required to do to protect client data?</a:t>
            </a:r>
          </a:p>
          <a:p>
            <a:r>
              <a:t>Provide opt-out provisions for all data</a:t>
            </a:r>
          </a:p>
          <a:p>
            <a:r>
              <a:t>sharing</a:t>
            </a: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 [22]</a:t>
            </a: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Michael is a small business owner and</a:t>
            </a:r>
          </a:p>
          <a:p>
            <a:r>
              <a:t>wants to ensure his company</a:t>
            </a:r>
          </a:p>
          <a:p>
            <a:r>
              <a:t>continues operating if he or his partner</a:t>
            </a:r>
          </a:p>
          <a:p>
            <a:r>
              <a:t>dies. What insurance strategy should</a:t>
            </a:r>
          </a:p>
          <a:p>
            <a:r>
              <a:t>he use?</a:t>
            </a: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Executive bonus plan</a:t>
            </a:r>
          </a:p>
          <a:p>
            <a:r>
              <a:t>☐ © Key person insurance</a:t>
            </a:r>
            <a:br/>
            <a:r>
              <a:t>Deferred compensation plan</a:t>
            </a:r>
            <a:br/>
            <a:br/>
            <a:r>
              <a:t>Buy-sell agreement</a:t>
            </a:r>
          </a:p>
          <a:p>
            <a:r>
              <a:t>☐ a ..rancelicense.myabsorb.com (©</a:t>
            </a:r>
            <a:br/>
            <a:br/>
            <a:r>
              <a:t>&lt; &gt; + [22]</a:t>
            </a:r>
          </a:p>
          <a:p>
            <a:br/>
            <a:pPr>
              <a:defRPr sz="1200" i="1"/>
            </a:pPr>
            <a:r>
              <a:t>Note: a small business owner and</a:t>
            </a:r>
            <a:br/>
            <a:r>
              <a:t>wants to ensure his company</a:t>
            </a:r>
            <a:br/>
            <a:r>
              <a:t>continues operating if he or his partner</a:t>
            </a:r>
            <a:br/>
            <a:r>
              <a:t>dies. What insurance strategy should</a:t>
            </a:r>
            <a:br/>
            <a:r>
              <a:t>he use?</a:t>
            </a:r>
            <a:br/>
            <a:r>
              <a:t>x) Executive bonus plan</a:t>
            </a:r>
            <a:br/>
            <a:r>
              <a:t>Key person insurance</a:t>
            </a:r>
            <a:br/>
            <a:r>
              <a:t>Deferred compensation plan</a:t>
            </a:r>
            <a:br/>
            <a:r>
              <a:t>Buy-sell agreement</a:t>
            </a:r>
            <a:br/>
            <a:r>
              <a:t>Proceed =&gt;</a:t>
            </a:r>
            <a:br/>
            <a:r>
              <a:t>I&lt; A &gt;|...</a:t>
            </a: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factors has the</a:t>
            </a: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reatest impact on life insurance</a:t>
            </a:r>
            <a:br/>
            <a:r>
              <a:t>premium calculations?</a:t>
            </a:r>
          </a:p>
          <a:p>
            <a:r>
              <a:t>☐ The applicant’s marital status</a:t>
            </a:r>
          </a:p>
          <a:p>
            <a:r>
              <a:t>☐ e The policy’s free-look period</a:t>
            </a:r>
            <a:br/>
            <a:r>
              <a:t>The mortality rate of the insured group</a:t>
            </a:r>
          </a:p>
          <a:p>
            <a:r>
              <a:t>☐ The applicant’s education level</a:t>
            </a:r>
          </a:p>
          <a:p>
            <a:r>
              <a:t>☐ a ..rancelicense.myabsorb.com (©</a:t>
            </a:r>
            <a:br/>
            <a:br/>
            <a:r>
              <a:t>&lt; &gt; + [22]</a:t>
            </a:r>
          </a:p>
          <a:p>
            <a:br/>
            <a:pPr>
              <a:defRPr sz="1200" i="1"/>
            </a:pPr>
            <a:r>
              <a:t>Note: the most significant factor in</a:t>
            </a:r>
            <a:br/>
            <a:r>
              <a:t>life insurance premium calculations. Insurers use</a:t>
            </a:r>
            <a:br/>
            <a:r>
              <a:t>a ..rancelicense.myabsorb.com (</a:t>
            </a:r>
            <a:br/>
            <a:r>
              <a:t>&lt; &gt; + [22]...</a:t>
            </a: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following are all considered</a:t>
            </a:r>
          </a:p>
          <a:p>
            <a:r>
              <a:t>elements of an insurable risk EXCEPT:</a:t>
            </a:r>
          </a:p>
          <a:p>
            <a:r>
              <a:t>The risk must be measurable</a:t>
            </a:r>
          </a:p>
          <a:p>
            <a:r>
              <a:t>The loss must be accidental</a:t>
            </a:r>
          </a:p>
          <a:p>
            <a:r>
              <a:t>€  The loss must be predictable</a:t>
            </a: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The risk must guarantee a financial gain for</a:t>
            </a:r>
            <a:br/>
            <a:r>
              <a:t>the insured</a:t>
            </a:r>
          </a:p>
          <a:p>
            <a:r>
              <a:t>☐ a ..rancelicense.myabsorb.com (©</a:t>
            </a:r>
            <a:br/>
            <a:br/>
            <a:r>
              <a:t>&lt; &gt; + [22]</a:t>
            </a: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is a</a:t>
            </a:r>
          </a:p>
          <a:p>
            <a:r>
              <a:t>fundamental requirement for a life</a:t>
            </a: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contract to be legally</a:t>
            </a:r>
            <a:br/>
            <a:r>
              <a:t>enforceable?</a:t>
            </a:r>
            <a:br/>
            <a:br/>
            <a:r>
              <a:t>' ¢) It must guarantee a return on investment</a:t>
            </a:r>
          </a:p>
          <a:p>
            <a:pPr>
              <a:defRPr b="1"/>
            </a:pPr>
            <a:r>
              <a:t>✅ It must contain an offer, acceptance,</a:t>
            </a:r>
            <a:br/>
            <a:r>
              <a:t>consideration, legal purpose, and competent</a:t>
            </a:r>
            <a:br/>
            <a:r>
              <a:t>parties</a:t>
            </a:r>
            <a:br/>
            <a:br/>
            <a:r>
              <a:t>€ © It must include a waiver of premium rider</a:t>
            </a:r>
            <a:br/>
            <a:br/>
            <a:r>
              <a:t>' ¢) It must be signed by a notary public</a:t>
            </a:r>
          </a:p>
          <a:p>
            <a:r>
              <a:t>☐ a ..rancelicense.myabsorb.com (©</a:t>
            </a:r>
            <a:br/>
            <a:br/>
            <a:r>
              <a:t>&lt; &gt; + [22]</a:t>
            </a:r>
          </a:p>
          <a:p>
            <a:br/>
            <a:pPr>
              <a:defRPr sz="1200" i="1"/>
            </a:pPr>
            <a:r>
              <a:t>Note: a</a:t>
            </a:r>
            <a:br/>
            <a:r>
              <a:t>fundamental requirement for a life</a:t>
            </a:r>
            <a:br/>
            <a:r>
              <a:t>insurance contract to be legally</a:t>
            </a:r>
            <a:br/>
            <a:r>
              <a:t>enforceable?</a:t>
            </a:r>
            <a:br/>
            <a:r>
              <a:t>' ¢) It must guarantee a return on investment</a:t>
            </a:r>
            <a:br/>
            <a:r>
              <a:t>g It must contain an offer, acceptance,</a:t>
            </a:r>
            <a:br/>
            <a:r>
              <a:t>consideration, legal purpose, and competent</a:t>
            </a:r>
            <a:br/>
            <a:r>
              <a:t>parties</a:t>
            </a:r>
            <a:br/>
            <a:r>
              <a:t>€  It must include a waiver o...</a:t>
            </a: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 key distinction between</a:t>
            </a:r>
          </a:p>
          <a:p>
            <a:r>
              <a:t>annuities and life insurance?</a:t>
            </a:r>
          </a:p>
          <a:p>
            <a:r>
              <a:t>Life insurance does not consider mortality</a:t>
            </a:r>
          </a:p>
          <a:p>
            <a:r>
              <a:t>risks</a:t>
            </a:r>
          </a:p>
          <a:p>
            <a:r>
              <a:t>Life insurance provides lifetime income,</a:t>
            </a:r>
          </a:p>
          <a:p>
            <a:r>
              <a:t>while annuities provide a death benefit</a:t>
            </a:r>
          </a:p>
          <a:p>
            <a:r>
              <a:t>Annuities provide a tax-free death benefit</a:t>
            </a:r>
          </a:p>
          <a:p>
            <a:r>
              <a:t>Life insurance creates an estate, while</a:t>
            </a:r>
          </a:p>
          <a:p>
            <a:r>
              <a:t>annuities liquidate an estate</a:t>
            </a: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a key distinction between</a:t>
            </a:r>
            <a:br/>
            <a:r>
              <a:t>annuities and life insurance?</a:t>
            </a:r>
            <a:br/>
            <a:r>
              <a:t>Life insurance does not consider mortality</a:t>
            </a:r>
            <a:br/>
            <a:r>
              <a:t>risks</a:t>
            </a:r>
            <a:br/>
            <a:r>
              <a:t>Life insurance provides lifetime income,</a:t>
            </a:r>
            <a:br/>
            <a:r>
              <a:t>while annuities provide a death benefit</a:t>
            </a:r>
            <a:br/>
            <a:r>
              <a:t>Annuities provide a tax-free death benefit</a:t>
            </a:r>
            <a:br/>
            <a:r>
              <a:t>Life insurance create...</a:t>
            </a: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is the primary</a:t>
            </a:r>
          </a:p>
          <a:p>
            <a:r>
              <a:t>purpose of an annuity?</a:t>
            </a:r>
          </a:p>
          <a:p>
            <a:r>
              <a:t>To accumulate wealth through high-risk</a:t>
            </a: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S|</a:t>
            </a:r>
            <a:br/>
            <a:br/>
            <a:r>
              <a:t>Question 9 Select the appropriate response</a:t>
            </a:r>
            <a:br/>
            <a:br/>
            <a:r>
              <a:t>Which of the following is the primary</a:t>
            </a:r>
            <a:br/>
            <a:r>
              <a:t>purpose of an annuity?</a:t>
            </a:r>
            <a:br/>
            <a:br/>
            <a:r>
              <a:t>To accumulate wealth through high-risk</a:t>
            </a:r>
          </a:p>
          <a:p>
            <a:r>
              <a:t>☐ nvestments</a:t>
            </a:r>
            <a:br/>
            <a:br/>
            <a:r>
              <a:t>To provide a lump sum payment upon the</a:t>
            </a:r>
            <a:br/>
            <a:r>
              <a:t>policyholder’s death</a:t>
            </a:r>
          </a:p>
          <a:p>
            <a:r>
              <a:t>☐ To guarantee lifetime income and protect</a:t>
            </a:r>
            <a:br/>
            <a:r>
              <a:t>against outliving one’s savings</a:t>
            </a:r>
            <a:br/>
            <a:br/>
            <a:r>
              <a:t>To replace the need for life insurance</a:t>
            </a:r>
          </a:p>
          <a:p>
            <a:br/>
            <a:pPr>
              <a:defRPr sz="1200" i="1"/>
            </a:pPr>
            <a:r>
              <a:t>Note: the primary</a:t>
            </a:r>
            <a:br/>
            <a:r>
              <a:t>purpose of an annuity?</a:t>
            </a:r>
            <a:br/>
            <a:r>
              <a:t>To accumulate wealth through high-risk</a:t>
            </a:r>
            <a:br/>
            <a:r>
              <a:t>investments</a:t>
            </a:r>
            <a:br/>
            <a:r>
              <a:t>To provide a lump sum payment upon the</a:t>
            </a:r>
            <a:br/>
            <a:r>
              <a:t>policyholder’s death</a:t>
            </a:r>
            <a:br/>
            <a:r>
              <a:t>g To guarantee lifetime income and protect</a:t>
            </a:r>
            <a:br/>
            <a:r>
              <a:t>against outliving one’s savings</a:t>
            </a:r>
            <a:br/>
            <a:r>
              <a:t>To replace the need for life ...</a:t>
            </a: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tax that funds Social Security and</a:t>
            </a:r>
          </a:p>
          <a:p>
            <a:r>
              <a:t>Medicare, deducted from wages:</a:t>
            </a:r>
          </a:p>
          <a:p>
            <a:r>
              <a:t>Earned Income Tax Credit (EITC)</a:t>
            </a: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Federal Income Tax</a:t>
            </a:r>
          </a:p>
          <a:p>
            <a:r>
              <a:t>☐ Federal Insurance Contributions Act (FICA)</a:t>
            </a:r>
            <a:br/>
            <a:br/>
            <a:r>
              <a:t>&amp; State Disability Insurance (SDI)</a:t>
            </a:r>
          </a:p>
          <a:p>
            <a:r>
              <a:t>☐ FICA taxes are shared by employees (7.65%)</a:t>
            </a:r>
            <a:br/>
            <a:r>
              <a:t>and employers (7.65%), while self-employed</a:t>
            </a:r>
          </a:p>
          <a:p>
            <a:r>
              <a:t>☐ ndividuals pay 15.3% to fund Social Security and</a:t>
            </a:r>
            <a:br/>
            <a:br/>
            <a:r>
              <a:t>=</a:t>
            </a:r>
            <a:br/>
            <a:br/>
            <a:r>
              <a:t>I&lt; A &gt;|</a:t>
            </a:r>
            <a:br/>
            <a:br/>
            <a:r>
              <a:t>&amp; a ..rancelicense.myabsorb.com (©</a:t>
            </a:r>
            <a:br/>
            <a:br/>
            <a:r>
              <a:t>&lt; &gt; + [22]</a:t>
            </a:r>
          </a:p>
          <a:p>
            <a:br/>
            <a:pPr>
              <a:defRPr sz="1200" i="1"/>
            </a:pPr>
            <a:r>
              <a:t>Note: Social Security and</a:t>
            </a:r>
            <a:br/>
            <a:r>
              <a:t>Medicare, deducted from wages:</a:t>
            </a:r>
            <a:br/>
            <a:r>
              <a:t>Earned Income Tax Credit (EITC)</a:t>
            </a:r>
            <a:br/>
            <a:r>
              <a:t>x) e Federal Income Tax</a:t>
            </a:r>
            <a:br/>
            <a:r>
              <a:t>g Federal Insurance Contributions Act (FICA)</a:t>
            </a:r>
            <a:br/>
            <a:r>
              <a:t>&amp; State Disability Insurance (SDI)</a:t>
            </a:r>
            <a:br/>
            <a:r>
              <a:t>Proceed =&gt;</a:t>
            </a:r>
            <a:br/>
            <a:r>
              <a:t>x FICA taxes are shared by employees (7.65%)</a:t>
            </a:r>
            <a:br/>
            <a:r>
              <a:t>and emp...</a:t>
            </a: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Lisa recently became disabled and is</a:t>
            </a:r>
          </a:p>
          <a:p>
            <a:r>
              <a:t>applying for Social Security Disability</a:t>
            </a: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</a:t>
            </a:r>
            <a:br/>
            <a:br/>
            <a:r>
              <a:t>She is unable to work her current job but</a:t>
            </a:r>
            <a:br/>
            <a:r>
              <a:t>can do other work</a:t>
            </a:r>
            <a:br/>
            <a:br/>
            <a:r>
              <a:t>She is unable to perform any substantial</a:t>
            </a:r>
          </a:p>
          <a:p>
            <a:pPr>
              <a:defRPr b="1"/>
            </a:pPr>
            <a:r>
              <a:t>✅ ainful activity</a:t>
            </a:r>
          </a:p>
          <a:p>
            <a:br/>
            <a:pPr>
              <a:defRPr sz="1200" i="1"/>
            </a:pPr>
            <a:r>
              <a:t>Note: applying for Social Security Disability</a:t>
            </a:r>
            <a:br/>
            <a:r>
              <a:t>Insurance (SSDI). What must she</a:t>
            </a:r>
            <a:br/>
            <a:r>
              <a:t>prove to qualify for benefits?</a:t>
            </a:r>
            <a:br/>
            <a:r>
              <a:t>She has been out of work for at least 12</a:t>
            </a:r>
            <a:br/>
            <a:r>
              <a:t>months</a:t>
            </a:r>
            <a:br/>
            <a:r>
              <a:t>She has exhausted all private disability</a:t>
            </a:r>
            <a:br/>
            <a:r>
              <a:t>insurance</a:t>
            </a:r>
            <a:br/>
            <a:r>
              <a:t>She is unable to work her current job but</a:t>
            </a:r>
            <a:br/>
            <a:r>
              <a:t>can do...</a:t>
            </a: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is a key</a:t>
            </a:r>
          </a:p>
          <a:p>
            <a:r>
              <a:t>characteristic of a qualified retirement</a:t>
            </a:r>
          </a:p>
          <a:p>
            <a:r>
              <a:t>plan?</a:t>
            </a:r>
          </a:p>
          <a:p>
            <a:r>
              <a:t>Contributions are taxed when made</a:t>
            </a: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nly the employer contributes to the plan</a:t>
            </a:r>
          </a:p>
          <a:p>
            <a:r>
              <a:t>☐ Contributions are tax-deductible, and</a:t>
            </a:r>
            <a:br/>
            <a:r>
              <a:t>earnings grow tax-deferred</a:t>
            </a:r>
            <a:br/>
            <a:br/>
            <a:r>
              <a:t>Earnings grow tax-free indefinitely</a:t>
            </a:r>
          </a:p>
          <a:p>
            <a:br/>
            <a:pPr>
              <a:defRPr sz="1200" i="1"/>
            </a:pPr>
            <a:r>
              <a:t>Note: a key</a:t>
            </a:r>
            <a:br/>
            <a:r>
              <a:t>characteristic of a qualified retirement</a:t>
            </a:r>
            <a:br/>
            <a:r>
              <a:t>plan?</a:t>
            </a:r>
            <a:br/>
            <a:r>
              <a:t>Contributions are taxed when made</a:t>
            </a:r>
            <a:br/>
            <a:r>
              <a:t>Only the employer contributes to the plan</a:t>
            </a:r>
            <a:br/>
            <a:r>
              <a:t>g Contributions are tax-deductible, and</a:t>
            </a:r>
            <a:br/>
            <a:r>
              <a:t>earnings grow tax-deferred</a:t>
            </a:r>
            <a:br/>
            <a:r>
              <a:t>Earnings grow tax-free indefinitely</a:t>
            </a:r>
            <a:br/>
            <a:r>
              <a:t>ds Qualified retir...</a:t>
            </a: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purpose of an</a:t>
            </a: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ncontestability clause in a life</a:t>
            </a:r>
          </a:p>
          <a:p>
            <a:r>
              <a:t>☐ nsurance policy?</a:t>
            </a:r>
            <a:br/>
            <a:br/>
            <a:r>
              <a:t>To guarantee premium refunds for</a:t>
            </a:r>
            <a:br/>
            <a:r>
              <a:t>misstatements</a:t>
            </a:r>
            <a:br/>
            <a:br/>
            <a:r>
              <a:t>To ensure policy renewability regardless of</a:t>
            </a:r>
            <a:br/>
            <a:r>
              <a:t>health</a:t>
            </a:r>
          </a:p>
          <a:p>
            <a:r>
              <a:t>☐ To prevent the insurer from denying claims</a:t>
            </a:r>
            <a:br/>
            <a:r>
              <a:t>after a specific period</a:t>
            </a:r>
            <a:br/>
            <a:br/>
            <a:r>
              <a:t>To allow the insured to cancel the policy at</a:t>
            </a:r>
            <a:br/>
            <a:br/>
            <a:r>
              <a:t>any time</a:t>
            </a:r>
          </a:p>
          <a:p>
            <a:br/>
            <a:pPr>
              <a:defRPr sz="1200" i="1"/>
            </a:pPr>
            <a:r>
              <a:t>Note: the purpose of an</a:t>
            </a:r>
            <a:br/>
            <a:r>
              <a:t>incontestability clause in a life</a:t>
            </a:r>
            <a:br/>
            <a:r>
              <a:t>insurance policy?</a:t>
            </a:r>
            <a:br/>
            <a:r>
              <a:t>To guarantee premium refunds for</a:t>
            </a:r>
            <a:br/>
            <a:r>
              <a:t>misstatements</a:t>
            </a:r>
            <a:br/>
            <a:r>
              <a:t>To ensure policy renewability regardless of</a:t>
            </a:r>
            <a:br/>
            <a:r>
              <a:t>health</a:t>
            </a:r>
            <a:br/>
            <a:r>
              <a:t>iv) To prevent the insurer from denying claims</a:t>
            </a:r>
            <a:br/>
            <a:r>
              <a:t>after a specific period</a:t>
            </a:r>
            <a:br/>
            <a:r>
              <a:t>To allow th...</a:t>
            </a: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type of life insurance where the</a:t>
            </a:r>
          </a:p>
          <a:p>
            <a:r>
              <a:t>policyholder’s cash value is invested in</a:t>
            </a:r>
          </a:p>
          <a:p>
            <a:r>
              <a:t>separate accounts similar to mutual</a:t>
            </a:r>
          </a:p>
          <a:p>
            <a:r>
              <a:t>Whole life insurance</a:t>
            </a: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Variable life insurance</a:t>
            </a:r>
          </a:p>
          <a:p>
            <a:r>
              <a:t>☐ s) e Term life insurance</a:t>
            </a:r>
          </a:p>
          <a:p>
            <a:r>
              <a:t>☐ Universal life insurance</a:t>
            </a:r>
          </a:p>
          <a:p>
            <a:br/>
            <a:pPr>
              <a:defRPr sz="1200" i="1"/>
            </a:pPr>
            <a:r>
              <a:t>Note: invested in</a:t>
            </a:r>
            <a:br/>
            <a:r>
              <a:t>separate accounts similar to mutual</a:t>
            </a:r>
            <a:br/>
            <a:r>
              <a:t>Whole life insurance</a:t>
            </a:r>
            <a:br/>
            <a:r>
              <a:t>g Variable life insurance</a:t>
            </a:r>
            <a:br/>
            <a:r>
              <a:t>is) e Term life insurance</a:t>
            </a:r>
            <a:br/>
            <a:r>
              <a:t>x) Universal life insurance</a:t>
            </a:r>
            <a:br/>
            <a:r>
              <a:t>Proceed =&gt;</a:t>
            </a:r>
            <a:br/>
            <a:r>
              <a:t>% Variable life insurance allows policyholders to</a:t>
            </a:r>
            <a:br/>
            <a:r>
              <a:t>cur . ———ESEE—EEEE_—_———————E—_—</a:t>
            </a:r>
            <a:br/>
            <a:r>
              <a:t>I&lt; A &gt;|...</a:t>
            </a: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John is a sole proprietor who wants to</a:t>
            </a:r>
          </a:p>
          <a:p>
            <a:r>
              <a:t>ensure that his business remains</a:t>
            </a: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a sole proprietor who wants to</a:t>
            </a:r>
            <a:br/>
            <a:r>
              <a:t>ensure that his business remains</a:t>
            </a:r>
            <a:br/>
            <a:r>
              <a:t>operational after his death and that his</a:t>
            </a:r>
            <a:br/>
            <a:r>
              <a:t>family receives financial</a:t>
            </a:r>
            <a:br/>
            <a:r>
              <a:t>compensation. What is the BEST</a:t>
            </a:r>
            <a:br/>
            <a:r>
              <a:t>strategy for him?</a:t>
            </a:r>
            <a:br/>
            <a:r>
              <a:t>Rely on company profits for succession</a:t>
            </a:r>
            <a:br/>
            <a:r>
              <a:t>planning</a:t>
            </a:r>
            <a:br/>
            <a:r>
              <a:t>Establish a buy-sell a...</a:t>
            </a: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duration of a temporary</a:t>
            </a:r>
          </a:p>
          <a:p>
            <a:r>
              <a:t>license issued in Arizona under special</a:t>
            </a:r>
          </a:p>
          <a:p>
            <a:r>
              <a:t>circumstances such as the licensee's</a:t>
            </a:r>
          </a:p>
          <a:p>
            <a:r>
              <a:t>military service?</a:t>
            </a:r>
          </a:p>
          <a:p>
            <a:r>
              <a:t>90 days</a:t>
            </a: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the duration of a temporary</a:t>
            </a:r>
            <a:br/>
            <a:r>
              <a:t>license issued in Arizona under special</a:t>
            </a:r>
            <a:br/>
            <a:r>
              <a:t>circumstances such as the licensee's</a:t>
            </a:r>
            <a:br/>
            <a:r>
              <a:t>military service?</a:t>
            </a:r>
            <a:br/>
            <a:r>
              <a:t>90 days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[22]...</a:t>
            </a: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provision in a life insurance policy</a:t>
            </a:r>
          </a:p>
          <a:p>
            <a:r>
              <a:t>that allows a policyholder to borrow</a:t>
            </a:r>
          </a:p>
          <a:p>
            <a:r>
              <a:t>against the cash value without</a:t>
            </a:r>
          </a:p>
          <a:p>
            <a:r>
              <a:t>surrendering the policy:</a:t>
            </a:r>
          </a:p>
          <a:p>
            <a:r>
              <a:t>Accelerated death benefit</a:t>
            </a: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S|</a:t>
            </a:r>
            <a:br/>
            <a:br/>
            <a:r>
              <a:t>Question 18 Select the appropriate response</a:t>
            </a:r>
            <a:br/>
            <a:br/>
            <a:r>
              <a:t>A provision in a life insurance policy</a:t>
            </a:r>
            <a:br/>
            <a:r>
              <a:t>that allows a policyholder to borrow</a:t>
            </a:r>
            <a:br/>
            <a:r>
              <a:t>against the cash value without</a:t>
            </a:r>
            <a:br/>
            <a:r>
              <a:t>surrendering the policy:</a:t>
            </a:r>
            <a:br/>
            <a:br/>
            <a:r>
              <a:t>Accelerated death benefit</a:t>
            </a:r>
            <a:br/>
            <a:r>
              <a:t>Incontestability clause</a:t>
            </a:r>
          </a:p>
          <a:p>
            <a:r>
              <a:t>☐ Policy loan provision</a:t>
            </a:r>
            <a:br/>
            <a:br/>
            <a:r>
              <a:t>Conversion privilege</a:t>
            </a:r>
          </a:p>
          <a:p>
            <a:br/>
            <a:pPr>
              <a:defRPr sz="1200" i="1"/>
            </a:pPr>
            <a:r>
              <a:t>Note: A policy loan provision enables policyholders to</a:t>
            </a:r>
            <a:br/>
            <a:r>
              <a:t>&gt;|</a:t>
            </a:r>
            <a:br/>
            <a:r>
              <a:t>% 4a ..rancelicense.myabsorb.com (</a:t>
            </a:r>
            <a:br/>
            <a:r>
              <a:t>&lt; + [22]...</a:t>
            </a: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age requirement to apply</a:t>
            </a:r>
          </a:p>
          <a:p>
            <a:r>
              <a:t>for an insurance producer license in</a:t>
            </a:r>
          </a:p>
          <a:p>
            <a:r>
              <a:t>Arizona?</a:t>
            </a: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© 16 years</a:t>
            </a:r>
          </a:p>
          <a:p>
            <a:pPr>
              <a:defRPr b="1"/>
            </a:pPr>
            <a:r>
              <a:t>✅ 25 years</a:t>
            </a:r>
          </a:p>
          <a:p>
            <a:br/>
            <a:pPr>
              <a:defRPr sz="1200" i="1"/>
            </a:pPr>
            <a:r>
              <a:t>Note: the age requirement to apply</a:t>
            </a:r>
            <a:br/>
            <a:r>
              <a:t>for an insurance producer license in</a:t>
            </a:r>
            <a:br/>
            <a:r>
              <a:t>Arizona?</a:t>
            </a:r>
            <a:br/>
            <a:r>
              <a:t>16 years</a:t>
            </a:r>
            <a:br/>
            <a:r>
              <a:t>x) 25 years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[22]...</a:t>
            </a: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John purchases a life insurance policy</a:t>
            </a:r>
          </a:p>
          <a:p>
            <a:r>
              <a:t>and pays the initial premium. His agent</a:t>
            </a:r>
          </a:p>
          <a:p>
            <a:r>
              <a:t>provides him with a conditional receipt.</a:t>
            </a:r>
          </a:p>
          <a:p>
            <a:r>
              <a:t>What does this mean for John’s</a:t>
            </a:r>
          </a:p>
          <a:p>
            <a:r>
              <a:t>coverage?</a:t>
            </a:r>
          </a:p>
          <a:p>
            <a:r>
              <a:t>His coverage is guaranteed regardless of</a:t>
            </a:r>
          </a:p>
          <a:p>
            <a:r>
              <a:t>underwriting results</a:t>
            </a:r>
          </a:p>
          <a:p>
            <a:r>
              <a:t>He must pay an additional premium before</a:t>
            </a:r>
          </a:p>
          <a:p>
            <a:r>
              <a:t>coverage starts</a:t>
            </a:r>
          </a:p>
          <a:p>
            <a:r>
              <a:t>His coverage will only begin if he is found to</a:t>
            </a:r>
          </a:p>
          <a:p>
            <a:r>
              <a:t>be insurable</a:t>
            </a: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agent</a:t>
            </a:r>
            <a:br/>
            <a:r>
              <a:t>provides him with a conditional receipt.</a:t>
            </a:r>
            <a:br/>
            <a:r>
              <a:t>What does this mean for John’s</a:t>
            </a:r>
            <a:br/>
            <a:r>
              <a:t>coverage?</a:t>
            </a:r>
            <a:br/>
            <a:r>
              <a:t>His coverage is guaranteed regardless of</a:t>
            </a:r>
            <a:br/>
            <a:r>
              <a:t>underwriting results</a:t>
            </a:r>
            <a:br/>
            <a:r>
              <a:t>He must pay an additional premium before</a:t>
            </a:r>
            <a:br/>
            <a:r>
              <a:t>coverage starts</a:t>
            </a:r>
            <a:br/>
            <a:r>
              <a:t>His coverage will only begin if he is found...</a:t>
            </a: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statements</a:t>
            </a:r>
          </a:p>
          <a:p>
            <a:r>
              <a:t>about group life insurance is correct?</a:t>
            </a: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</a:t>
            </a:r>
            <a:br/>
            <a:br/>
            <a:r>
              <a:t>Premiums are always paid entirely by the</a:t>
            </a:r>
            <a:br/>
            <a:br/>
            <a:r>
              <a:t>employee</a:t>
            </a:r>
            <a:br/>
            <a:br/>
            <a:r>
              <a:t>The employer is typically the policyholder</a:t>
            </a:r>
          </a:p>
          <a:p>
            <a:r>
              <a:t>☐ e Employees must provide medical evidence</a:t>
            </a:r>
            <a:br/>
            <a:br/>
            <a:r>
              <a:t>to qualify</a:t>
            </a:r>
          </a:p>
          <a:p>
            <a:br/>
            <a:pPr>
              <a:defRPr sz="1200" i="1"/>
            </a:pPr>
            <a:r>
              <a:t>Note: correct?</a:t>
            </a:r>
            <a:br/>
            <a:r>
              <a:t>It is always a permanent form of life</a:t>
            </a:r>
            <a:br/>
            <a:r>
              <a:t>insurance</a:t>
            </a:r>
            <a:br/>
            <a:r>
              <a:t>Premiums are always paid entirely by the</a:t>
            </a:r>
            <a:br/>
            <a:r>
              <a:t>employee</a:t>
            </a:r>
            <a:br/>
            <a:r>
              <a:t>The employer is typically the policyholder</a:t>
            </a:r>
            <a:br/>
            <a:r>
              <a:t>x) e Employees must provide medical evidence</a:t>
            </a:r>
            <a:br/>
            <a:r>
              <a:t>to qualify</a:t>
            </a:r>
            <a:br/>
            <a:r>
              <a:t>Proceed =&gt;</a:t>
            </a:r>
            <a:br/>
            <a:r>
              <a:t>% Group life insurance policies a...</a:t>
            </a: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statements is</a:t>
            </a:r>
          </a:p>
          <a:p>
            <a:r>
              <a:t>TRUE about a fixed annuity?</a:t>
            </a:r>
          </a:p>
          <a:p>
            <a:r>
              <a:t>The contract holder can withdraw funds at</a:t>
            </a:r>
          </a:p>
          <a:p>
            <a:r>
              <a:t>any time without penalty</a:t>
            </a:r>
          </a:p>
          <a:p>
            <a:r>
              <a:t>The annuitant assumes the investment risk</a:t>
            </a:r>
          </a:p>
          <a:p>
            <a:r>
              <a:t>The insurer guarantees a fixed rate of return</a:t>
            </a:r>
          </a:p>
          <a:p>
            <a:r>
              <a:t>%) e Payments fluctuate based on market</a:t>
            </a:r>
          </a:p>
          <a:p>
            <a:r>
              <a:t>conditions</a:t>
            </a: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TRUE about a fixed annuity?</a:t>
            </a:r>
            <a:br/>
            <a:r>
              <a:t>The contract holder can withdraw funds at</a:t>
            </a:r>
            <a:br/>
            <a:r>
              <a:t>any time without penalty</a:t>
            </a:r>
            <a:br/>
            <a:r>
              <a:t>The annuitant assumes the investment risk</a:t>
            </a:r>
            <a:br/>
            <a:r>
              <a:t>The insurer guarantees a fixed rate of return</a:t>
            </a:r>
            <a:br/>
            <a:r>
              <a:t>%) e Payments fluctuate based on market</a:t>
            </a:r>
            <a:br/>
            <a:r>
              <a:t>conditions</a:t>
            </a:r>
            <a:br/>
            <a:r>
              <a:t>Proceed =&gt;</a:t>
            </a:r>
            <a:br/>
            <a:r>
              <a:t>% Fix...</a:t>
            </a: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regulatory agency responsible for</a:t>
            </a: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retirement plan that allows</a:t>
            </a:r>
          </a:p>
          <a:p>
            <a:r>
              <a:t>employees to defer a portion of their</a:t>
            </a:r>
          </a:p>
          <a:p>
            <a:r>
              <a:t>salary into an account, often with</a:t>
            </a:r>
          </a:p>
          <a:p>
            <a:r>
              <a:t>employer matching contributions:</a:t>
            </a:r>
          </a:p>
          <a:p>
            <a:r>
              <a:t>SEP IRA</a:t>
            </a: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401(k) plan</a:t>
            </a:r>
            <a:br/>
            <a:br/>
            <a:r>
              <a:t>ar cetoredconpensetoupan</a:t>
            </a:r>
          </a:p>
          <a:p>
            <a:r>
              <a:t>☐ 403(b) plan</a:t>
            </a: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company-owned insurance provider</a:t>
            </a:r>
          </a:p>
          <a:p>
            <a:r>
              <a:t>established to cover the risks of its</a:t>
            </a:r>
          </a:p>
          <a:p>
            <a:r>
              <a:t>parent company:</a:t>
            </a:r>
          </a:p>
          <a:p>
            <a:r>
              <a:t>Stock insurer</a:t>
            </a:r>
          </a:p>
          <a:p>
            <a:r>
              <a:t>Mutual insurer</a:t>
            </a: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S|</a:t>
            </a:r>
            <a:br/>
            <a:br/>
            <a:r>
              <a:t>Question 25 Select the appropriate response</a:t>
            </a:r>
            <a:br/>
            <a:br/>
            <a:r>
              <a:t>A company-owned insurance provider</a:t>
            </a:r>
            <a:br/>
            <a:r>
              <a:t>established to cover the risks of its</a:t>
            </a:r>
            <a:br/>
            <a:r>
              <a:t>parent company:</a:t>
            </a:r>
            <a:br/>
            <a:br/>
            <a:r>
              <a:t>Stock insurer</a:t>
            </a:r>
            <a:br/>
            <a:r>
              <a:t>Mutual insurer</a:t>
            </a:r>
          </a:p>
          <a:p>
            <a:r>
              <a:t>☐ Captive insurer</a:t>
            </a:r>
            <a:br/>
            <a:br/>
            <a:r>
              <a:t>Fraternal benefit society</a:t>
            </a:r>
          </a:p>
          <a:p>
            <a:br/>
            <a:pPr>
              <a:defRPr sz="1200" i="1"/>
            </a:pPr>
            <a:r>
              <a:t>Note: A captive insurer is created by a parent company</a:t>
            </a:r>
            <a:br/>
            <a:r>
              <a:t>to insure its own risks, providing greater control over</a:t>
            </a:r>
            <a:br/>
            <a:r>
              <a:t>&gt;|</a:t>
            </a:r>
            <a:br/>
            <a:r>
              <a:t>% 4a ..rancelicense.myabsorb.com (</a:t>
            </a:r>
            <a:br/>
            <a:r>
              <a:t>&lt; + [22]...</a:t>
            </a: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James recently left his job but wants to</a:t>
            </a:r>
          </a:p>
          <a:p>
            <a:r>
              <a:t>continue his life insurance coverage.</a:t>
            </a:r>
          </a:p>
          <a:p>
            <a:r>
              <a:t>What is his best option?</a:t>
            </a:r>
          </a:p>
          <a:p>
            <a:r>
              <a:t>Purchase a new term life policy from a</a:t>
            </a:r>
          </a:p>
          <a:p>
            <a:r>
              <a:t>different insurer</a:t>
            </a:r>
          </a:p>
          <a:p>
            <a:r>
              <a:t>Continue group coverage indefinitely under</a:t>
            </a:r>
          </a:p>
          <a:p>
            <a:r>
              <a:t>his former employer’s plan</a:t>
            </a:r>
          </a:p>
          <a:p>
            <a:r>
              <a:t>Wait until he gets a new job to obtain new</a:t>
            </a: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roup coverage</a:t>
            </a:r>
            <a:br/>
            <a:br/>
            <a:r>
              <a:t>Convert his group coverage to an individual</a:t>
            </a:r>
            <a:br/>
            <a:r>
              <a:t>whole life policy</a:t>
            </a:r>
          </a:p>
          <a:p>
            <a:br/>
            <a:pPr>
              <a:defRPr sz="1200" i="1"/>
            </a:pPr>
            <a:r>
              <a:t>Note: job but wants to</a:t>
            </a:r>
            <a:br/>
            <a:r>
              <a:t>continue his life insurance coverage.</a:t>
            </a:r>
            <a:br/>
            <a:r>
              <a:t>What is his best option?</a:t>
            </a:r>
            <a:br/>
            <a:r>
              <a:t>Purchase a new term life policy from a</a:t>
            </a:r>
            <a:br/>
            <a:r>
              <a:t>different insurer</a:t>
            </a:r>
            <a:br/>
            <a:r>
              <a:t>Continue group coverage indefinitely under</a:t>
            </a:r>
            <a:br/>
            <a:r>
              <a:t>his former employer’s plan</a:t>
            </a:r>
            <a:br/>
            <a:r>
              <a:t>Wait until he gets a new job to obtain new</a:t>
            </a:r>
            <a:br/>
            <a:r>
              <a:t>...</a:t>
            </a: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of the following are factors that</a:t>
            </a:r>
          </a:p>
          <a:p>
            <a:r>
              <a:t>affect life insurance premiums</a:t>
            </a:r>
          </a:p>
          <a:p>
            <a:r>
              <a:t>EXCEPT:</a:t>
            </a: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Age</a:t>
            </a:r>
          </a:p>
          <a:p>
            <a:pPr>
              <a:defRPr b="1"/>
            </a:pPr>
            <a:r>
              <a:t>✅ Marital status</a:t>
            </a:r>
          </a:p>
          <a:p>
            <a:r>
              <a:t>☐ Health</a:t>
            </a:r>
          </a:p>
          <a:p>
            <a:br/>
            <a:pPr>
              <a:defRPr sz="1200" i="1"/>
            </a:pPr>
            <a:r>
              <a:t>Note: not a</a:t>
            </a:r>
            <a:br/>
            <a:r>
              <a:t>———— =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[22]...</a:t>
            </a: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of the following are methods</a:t>
            </a: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nsurance companies use to reduce</a:t>
            </a:r>
            <a:br/>
            <a:r>
              <a:t>adverse selection EXCEPT:</a:t>
            </a:r>
          </a:p>
          <a:p>
            <a:r>
              <a:t>☐ Medical examinations</a:t>
            </a:r>
            <a:br/>
            <a:r>
              <a:t>Underwriting</a:t>
            </a:r>
          </a:p>
          <a:p>
            <a:r>
              <a:t>☐ © Policy exclusions</a:t>
            </a:r>
          </a:p>
          <a:p>
            <a:r>
              <a:t>☐ Offering policies only to high-risk individuals</a:t>
            </a:r>
          </a:p>
          <a:p>
            <a:r>
              <a:t>☐ ndividuals seek insurance, and insurers counteract it</a:t>
            </a:r>
            <a:br/>
            <a:br/>
            <a:r>
              <a:t>as ——s _ ne 1</a:t>
            </a:r>
            <a:br/>
            <a:br/>
            <a:r>
              <a:t>I&lt; A &gt;|</a:t>
            </a:r>
            <a:br/>
            <a:br/>
            <a:r>
              <a:t>&amp; a ..rancelicense.myabsorb.com (©</a:t>
            </a:r>
            <a:br/>
            <a:br/>
            <a:r>
              <a:t>&lt; &gt; + [22]</a:t>
            </a:r>
          </a:p>
          <a:p>
            <a:br/>
            <a:pPr>
              <a:defRPr sz="1200" i="1"/>
            </a:pPr>
            <a:r>
              <a:t>Note: insurance companies use to reduce</a:t>
            </a:r>
            <a:br/>
            <a:r>
              <a:t>adverse selection EXCEPT:</a:t>
            </a:r>
            <a:br/>
            <a:r>
              <a:t>x) Medical examinations</a:t>
            </a:r>
            <a:br/>
            <a:r>
              <a:t>Underwriting</a:t>
            </a:r>
            <a:br/>
            <a:r>
              <a:t>Policy exclusions</a:t>
            </a:r>
            <a:br/>
            <a:r>
              <a:t>g Offering policies only to high-risk individuals</a:t>
            </a:r>
            <a:br/>
            <a:r>
              <a:t>% Adverse selection occurs when high-risk</a:t>
            </a:r>
            <a:br/>
            <a:r>
              <a:t>individuals seek insurance, and insurers co...</a:t>
            </a: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provision that allows a policyholder</a:t>
            </a:r>
          </a:p>
          <a:p>
            <a:r>
              <a:t>to reinstate a lapsed life insurance</a:t>
            </a:r>
          </a:p>
          <a:p>
            <a:r>
              <a:t>policy under specific conditions:</a:t>
            </a: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Misstatement of age clause</a:t>
            </a:r>
            <a:br/>
            <a:r>
              <a:t>Assignment clause</a:t>
            </a:r>
            <a:br/>
            <a:r>
              <a:t>€ © Grace period provision</a:t>
            </a:r>
          </a:p>
          <a:p>
            <a:pPr>
              <a:defRPr b="1"/>
            </a:pPr>
            <a:r>
              <a:t>✅ Reinstatement provision</a:t>
            </a: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following are characteristics of a</a:t>
            </a: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ariable annuity EXCEPT:</a:t>
            </a:r>
            <a:br/>
            <a:br/>
            <a:r>
              <a:t>Funds are invested in a separate account</a:t>
            </a:r>
            <a:br/>
            <a:br/>
            <a:r>
              <a:t>Payments fluctuate based on investment</a:t>
            </a:r>
            <a:br/>
            <a:r>
              <a:t>performance</a:t>
            </a:r>
            <a:br/>
            <a:br/>
            <a:r>
              <a:t>The insurer guarantees a minimum return</a:t>
            </a:r>
            <a:br/>
            <a:br/>
            <a:r>
              <a:t>%) e The contract holder assumes the investment</a:t>
            </a:r>
            <a:br/>
            <a:r>
              <a:t>risk</a:t>
            </a:r>
          </a:p>
          <a:p>
            <a:br/>
            <a:pPr>
              <a:defRPr sz="1200" i="1"/>
            </a:pPr>
            <a:r>
              <a:t>Note: are invested in a separate account</a:t>
            </a:r>
            <a:br/>
            <a:r>
              <a:t>Payments fluctuate based on investment</a:t>
            </a:r>
            <a:br/>
            <a:r>
              <a:t>performance</a:t>
            </a:r>
            <a:br/>
            <a:r>
              <a:t>The insurer guarantees a minimum return</a:t>
            </a:r>
            <a:br/>
            <a:r>
              <a:t>%) e The contract holder assumes the investment</a:t>
            </a:r>
            <a:br/>
            <a:r>
              <a:t>risk</a:t>
            </a:r>
            <a:br/>
            <a:r>
              <a:t>Proceed =&gt;</a:t>
            </a:r>
            <a:br/>
            <a:r>
              <a:t>% Variable annuities do not guarantee a minimum</a:t>
            </a:r>
            <a:br/>
            <a:r>
              <a:t>return, as t...</a:t>
            </a: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premium payment frequency that</a:t>
            </a:r>
          </a:p>
          <a:p>
            <a:r>
              <a:t>typically results in the lowest total cost</a:t>
            </a: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Quarterly mode</a:t>
            </a:r>
          </a:p>
          <a:p>
            <a:pPr>
              <a:defRPr b="1"/>
            </a:pPr>
            <a:r>
              <a:t>✅ Annual mode</a:t>
            </a:r>
            <a:br/>
            <a:br/>
            <a:r>
              <a:t>€ © Monthly mode</a:t>
            </a:r>
          </a:p>
          <a:p>
            <a:r>
              <a:t>☐ Semi-annual mode</a:t>
            </a:r>
          </a:p>
          <a:p>
            <a:br/>
            <a:pPr>
              <a:defRPr sz="1200" i="1"/>
            </a:pPr>
            <a:r>
              <a:t>Note: usually the</a:t>
            </a:r>
            <a:br/>
            <a:r>
              <a:t>cheapest option because it reduces administrative</a:t>
            </a:r>
            <a:br/>
            <a:r>
              <a:t>os - cur _—_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[22]...</a:t>
            </a: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feature of annuities that ensures</a:t>
            </a:r>
          </a:p>
          <a:p>
            <a:r>
              <a:t>payments continue for the annuitant’s</a:t>
            </a:r>
          </a:p>
          <a:p>
            <a:r>
              <a:t>entire life:</a:t>
            </a: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Market-adjusted annuity</a:t>
            </a:r>
            <a:br/>
            <a:br/>
            <a:r>
              <a:t>Guaranteed minimum income benefit</a:t>
            </a:r>
          </a:p>
          <a:p>
            <a:r>
              <a:t>☐ e Nonforfeiture benefit</a:t>
            </a:r>
          </a:p>
          <a:p>
            <a:pPr>
              <a:defRPr b="1"/>
            </a:pPr>
            <a:r>
              <a:t>✅ Life annuitization option</a:t>
            </a: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type of annuity provides a</a:t>
            </a: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uaranteed income for the annuitant’s</a:t>
            </a:r>
            <a:br/>
            <a:r>
              <a:t>lifetime but ceases upon their death?</a:t>
            </a:r>
          </a:p>
          <a:p>
            <a:r>
              <a:t>☐ Life-only annuity</a:t>
            </a:r>
            <a:br/>
            <a:r>
              <a:t>Period certain annuity</a:t>
            </a:r>
            <a:br/>
            <a:r>
              <a:t>€ Fixed index annuity</a:t>
            </a:r>
          </a:p>
          <a:p>
            <a:r>
              <a:t>☐ Joint and survivor annuity</a:t>
            </a: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of the following are benefits of</a:t>
            </a:r>
          </a:p>
          <a:p>
            <a:r>
              <a:t>annuities EXCEPT:</a:t>
            </a:r>
          </a:p>
          <a:p>
            <a:r>
              <a:t>They offer immediate liquidity for</a:t>
            </a:r>
          </a:p>
          <a:p>
            <a:r>
              <a:t>emergencies</a:t>
            </a:r>
          </a:p>
          <a:p>
            <a:r>
              <a:t>They reduce the risk of outliving retirement</a:t>
            </a:r>
          </a:p>
          <a:p>
            <a:r>
              <a:t>savings</a:t>
            </a:r>
          </a:p>
          <a:p>
            <a:r>
              <a:t>They provide guaranteed income</a:t>
            </a:r>
          </a:p>
          <a:p>
            <a:r>
              <a:t>They allow tax-deferred growth</a:t>
            </a: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Samantha, a 35-year-old non-smoker,</a:t>
            </a:r>
          </a:p>
          <a:p>
            <a:r>
              <a:t>applies for a life insurance policy. Her</a:t>
            </a:r>
          </a:p>
          <a:p>
            <a:r>
              <a:t>premium is significantly lower than her</a:t>
            </a:r>
          </a:p>
          <a:p>
            <a:r>
              <a:t>friend’s, who is a 45-year-old smoker.</a:t>
            </a:r>
          </a:p>
          <a:p>
            <a:r>
              <a:t>What is the primary reason for this</a:t>
            </a:r>
          </a:p>
          <a:p>
            <a:r>
              <a:t>difference?</a:t>
            </a:r>
          </a:p>
          <a:p>
            <a:r>
              <a:t>Mortality and lifestyle risks impact premium</a:t>
            </a:r>
          </a:p>
          <a:p>
            <a:r>
              <a:t>Her policy has a shorter term length</a:t>
            </a:r>
          </a:p>
          <a:p>
            <a:r>
              <a:t>Samantha’s policy includes a waiver of</a:t>
            </a:r>
          </a:p>
          <a:p>
            <a:r>
              <a:t>premium rider</a:t>
            </a:r>
          </a:p>
          <a:p>
            <a:r>
              <a:t>Her policy has a lower death benefit</a:t>
            </a: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significantly lower than her</a:t>
            </a:r>
            <a:br/>
            <a:r>
              <a:t>friend’s, who is a 45-year-old smoker.</a:t>
            </a:r>
            <a:br/>
            <a:r>
              <a:t>What is the primary reason for this</a:t>
            </a:r>
            <a:br/>
            <a:r>
              <a:t>difference?</a:t>
            </a:r>
            <a:br/>
            <a:r>
              <a:t>Mortality and lifestyle risks impact premium</a:t>
            </a:r>
            <a:br/>
            <a:r>
              <a:t>Her policy has a shorter term length</a:t>
            </a:r>
            <a:br/>
            <a:r>
              <a:t>Samantha’s policy includes a waiver of</a:t>
            </a:r>
            <a:br/>
            <a:r>
              <a:t>premium rider...</a:t>
            </a: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John is 62 years old and plans to retire</a:t>
            </a:r>
          </a:p>
          <a:p>
            <a:r>
              <a:t>soon. He is considering whether to</a:t>
            </a:r>
          </a:p>
          <a:p>
            <a:r>
              <a:t>start Social Security benefits now or</a:t>
            </a:r>
          </a:p>
          <a:p>
            <a:r>
              <a:t>wait until full retirement age. What will</a:t>
            </a:r>
          </a:p>
          <a:p>
            <a:r>
              <a:t>happen if he claims benefits early?</a:t>
            </a: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His benefits will be permanently reduced</a:t>
            </a:r>
            <a:br/>
            <a:br/>
            <a:r>
              <a:t>&gt;) His benefits will automatically increase at</a:t>
            </a:r>
            <a:br/>
            <a:r>
              <a:t>age 67</a:t>
            </a:r>
          </a:p>
          <a:p>
            <a:r>
              <a:t>☐ © Hewill receive full benefits with no</a:t>
            </a:r>
            <a:br/>
            <a:r>
              <a:t>reduction</a:t>
            </a:r>
          </a:p>
          <a:p>
            <a:pPr>
              <a:defRPr b="1"/>
            </a:pPr>
            <a:r>
              <a:t>✅ ] His earnings will have no effect on his</a:t>
            </a:r>
            <a:br/>
            <a:r>
              <a:t>benefits</a:t>
            </a:r>
          </a:p>
          <a:p>
            <a:br/>
            <a:pPr>
              <a:defRPr sz="1200" i="1"/>
            </a:pPr>
            <a:r>
              <a:t>Note: 62 years old and plans to retire</a:t>
            </a:r>
            <a:br/>
            <a:r>
              <a:t>soon. He is considering whether to</a:t>
            </a:r>
            <a:br/>
            <a:r>
              <a:t>start Social Security benefits now or</a:t>
            </a:r>
            <a:br/>
            <a:r>
              <a:t>wait until full retirement age. What will</a:t>
            </a:r>
            <a:br/>
            <a:r>
              <a:t>happen if he claims benefits early?</a:t>
            </a:r>
            <a:br/>
            <a:r>
              <a:t>g His benefits will be permanently reduced</a:t>
            </a:r>
            <a:br/>
            <a:r>
              <a:t>&gt;) His benefits will au...</a:t>
            </a: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primary difference</a:t>
            </a:r>
          </a:p>
          <a:p>
            <a:r>
              <a:t>between stock and mutual insurance</a:t>
            </a:r>
          </a:p>
          <a:p>
            <a:r>
              <a:t>companies?</a:t>
            </a:r>
          </a:p>
          <a:p>
            <a:r>
              <a:t>Mutual companies distribute dividends to</a:t>
            </a:r>
          </a:p>
          <a:p>
            <a:r>
              <a:t>shareholders, while stock companies do not</a:t>
            </a:r>
          </a:p>
          <a:p>
            <a:r>
              <a:t>Stock companies are owned by</a:t>
            </a:r>
          </a:p>
          <a:p>
            <a:r>
              <a:t>policyholders, while mutual companies are</a:t>
            </a: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nly mutual companies can offer life</a:t>
            </a:r>
          </a:p>
          <a:p>
            <a:r>
              <a:t>☐ nsurance policies</a:t>
            </a:r>
            <a:br/>
            <a:br/>
            <a:r>
              <a:t>Stock companies are owned by</a:t>
            </a:r>
            <a:br/>
            <a:r>
              <a:t>shareholders and issue nonparticipating</a:t>
            </a:r>
            <a:br/>
            <a:r>
              <a:t>policies, while mutual companies are owned</a:t>
            </a:r>
            <a:br/>
            <a:r>
              <a:t>by policyholders and issue participating</a:t>
            </a:r>
            <a:br/>
            <a:r>
              <a:t>policies</a:t>
            </a:r>
          </a:p>
          <a:p>
            <a:br/>
            <a:pPr>
              <a:defRPr sz="1200" i="1"/>
            </a:pPr>
            <a:r>
              <a:t>Note: the primary difference</a:t>
            </a:r>
            <a:br/>
            <a:r>
              <a:t>between stock and mutual insurance</a:t>
            </a:r>
            <a:br/>
            <a:r>
              <a:t>companies?</a:t>
            </a:r>
            <a:br/>
            <a:r>
              <a:t>Mutual companies distribute dividends to</a:t>
            </a:r>
            <a:br/>
            <a:r>
              <a:t>shareholders, while stock companies do not</a:t>
            </a:r>
            <a:br/>
            <a:r>
              <a:t>Stock companies are owned by</a:t>
            </a:r>
            <a:br/>
            <a:r>
              <a:t>policyholders, while mutual companies are</a:t>
            </a:r>
            <a:br/>
            <a:r>
              <a:t>owned by shareholders</a:t>
            </a:r>
            <a:br/>
            <a:r>
              <a:t>Only...</a:t>
            </a: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Maria, age 45, became disabled and</a:t>
            </a:r>
          </a:p>
          <a:p>
            <a:r>
              <a:t>cannot work. She has worked for 20</a:t>
            </a:r>
          </a:p>
          <a:p>
            <a:r>
              <a:t>years and contributed to Social</a:t>
            </a:r>
          </a:p>
          <a:p>
            <a:r>
              <a:t>Security. What benefits may she</a:t>
            </a:r>
          </a:p>
          <a:p>
            <a:r>
              <a:t>qualify for?</a:t>
            </a:r>
          </a:p>
          <a:p>
            <a:r>
              <a:t>Full Social Security benefits at any age</a:t>
            </a:r>
          </a:p>
          <a:p>
            <a:r>
              <a:t>Social Security disability benefits if she</a:t>
            </a:r>
          </a:p>
          <a:p>
            <a:r>
              <a:t>meets the strict disability criteria</a:t>
            </a: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best describes</a:t>
            </a:r>
          </a:p>
          <a:p>
            <a:r>
              <a:t>the primary function of life insurance?</a:t>
            </a:r>
          </a:p>
          <a:p>
            <a:r>
              <a:t>To serve as a high-return investment vehicle</a:t>
            </a:r>
          </a:p>
          <a:p>
            <a:r>
              <a:t>for policyholders</a:t>
            </a:r>
          </a:p>
          <a:p>
            <a:r>
              <a:t>To guarantee financial independence for</a:t>
            </a:r>
          </a:p>
          <a:p>
            <a:r>
              <a:t>retirees</a:t>
            </a:r>
          </a:p>
          <a:p>
            <a:r>
              <a:t>To protect an individual's financial assets</a:t>
            </a:r>
          </a:p>
          <a:p>
            <a:r>
              <a:t>from market fluctuations</a:t>
            </a:r>
          </a:p>
          <a:p>
            <a:r>
              <a:t>To provide a safety net for beneficiaries in</a:t>
            </a:r>
          </a:p>
          <a:p>
            <a:r>
              <a:t>the event of the insured’s death</a:t>
            </a: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designed to provide financial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[22]...</a:t>
            </a: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of the following are advantages of</a:t>
            </a:r>
          </a:p>
          <a:p>
            <a:r>
              <a:t>whole life insurance EXCEPT:</a:t>
            </a: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following are benefits of</a:t>
            </a:r>
          </a:p>
          <a:p>
            <a:r>
              <a:t>purchasing an annuity EXCEPT:</a:t>
            </a:r>
          </a:p>
          <a:p>
            <a:r>
              <a:t>Tax-free investment growth</a:t>
            </a:r>
          </a:p>
          <a:p>
            <a:r>
              <a:t>Potential for higher returns in variable</a:t>
            </a:r>
          </a:p>
          <a:p>
            <a:r>
              <a:t>annuities</a:t>
            </a:r>
          </a:p>
          <a:p>
            <a:r>
              <a:t>Protection against outliving retirement</a:t>
            </a:r>
          </a:p>
          <a:p>
            <a:r>
              <a:t>savings</a:t>
            </a: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law governs employer-</a:t>
            </a:r>
          </a:p>
          <a:p>
            <a:r>
              <a:t>sponsored retirement plans and</a:t>
            </a:r>
          </a:p>
          <a:p>
            <a:r>
              <a:t>ensures employee benefit protections?</a:t>
            </a: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Securities Exchange Act</a:t>
            </a:r>
            <a:br/>
            <a:r>
              <a:t>Employee Retirement Income Security Act</a:t>
            </a:r>
            <a:br/>
            <a:r>
              <a:t>(ERISA)</a:t>
            </a:r>
            <a:br/>
            <a:br/>
            <a:r>
              <a:t>€ © Social Security Act</a:t>
            </a:r>
          </a:p>
          <a:p>
            <a:br/>
            <a:pPr>
              <a:defRPr sz="1200" i="1"/>
            </a:pPr>
            <a:r>
              <a:t>Note: for participation, funding,</a:t>
            </a:r>
            <a:br/>
            <a:r>
              <a:t>_ vesting. and disclosure in emplover-sponsored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[22]...</a:t>
            </a: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John is considering an annuity but is</a:t>
            </a:r>
          </a:p>
          <a:p>
            <a:r>
              <a:t>concerned about inflation reducing his</a:t>
            </a:r>
          </a:p>
          <a:p>
            <a:r>
              <a:t>purchasing power. Which annuity type</a:t>
            </a:r>
          </a:p>
          <a:p>
            <a:r>
              <a:t>would be the best option for him?</a:t>
            </a:r>
          </a:p>
          <a:p>
            <a:r>
              <a:t>Deferred annuity</a:t>
            </a: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Straight life annuity</a:t>
            </a:r>
          </a:p>
          <a:p>
            <a:r>
              <a:t>☐ e Fixed annuity</a:t>
            </a:r>
          </a:p>
          <a:p>
            <a:r>
              <a:t>☐ Variable annuity</a:t>
            </a:r>
          </a:p>
          <a:p>
            <a:br/>
            <a:pPr>
              <a:defRPr sz="1200" i="1"/>
            </a:pPr>
            <a:r>
              <a:t>Note: considering an annuity but is</a:t>
            </a:r>
            <a:br/>
            <a:r>
              <a:t>concerned about inflation reducing his</a:t>
            </a:r>
            <a:br/>
            <a:r>
              <a:t>purchasing power. Which annuity type</a:t>
            </a:r>
            <a:br/>
            <a:r>
              <a:t>would be the best option for him?</a:t>
            </a:r>
            <a:br/>
            <a:r>
              <a:t>Deferred annuity</a:t>
            </a:r>
            <a:br/>
            <a:r>
              <a:t>x) Straight life annuity</a:t>
            </a:r>
            <a:br/>
            <a:r>
              <a:t>e Fixed annuity</a:t>
            </a:r>
            <a:br/>
            <a:r>
              <a:t>g Variable annuity</a:t>
            </a:r>
            <a:br/>
            <a:r>
              <a:t>Proceed =&gt;</a:t>
            </a:r>
            <a:br/>
            <a:r>
              <a:t>% Variable annuities p...</a:t>
            </a: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adverse selection in life</a:t>
            </a: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underwriting?</a:t>
            </a:r>
            <a:br/>
            <a:br/>
            <a:r>
              <a:t>The underwriter’s decision to reject a policy</a:t>
            </a:r>
            <a:br/>
            <a:r>
              <a:t>due to an incomplete application</a:t>
            </a:r>
            <a:br/>
            <a:br/>
            <a:r>
              <a:t>The process of selecting applicants who</a:t>
            </a:r>
            <a:br/>
            <a:r>
              <a:t>present the lowest risk</a:t>
            </a:r>
            <a:br/>
            <a:br/>
            <a:r>
              <a:t>The tendency for high-risk individuals to</a:t>
            </a:r>
            <a:br/>
            <a:r>
              <a:t>seek insurance coverage more often than</a:t>
            </a:r>
            <a:br/>
            <a:r>
              <a:t>low-risk individuals</a:t>
            </a:r>
            <a:br/>
            <a:br/>
            <a:r>
              <a:t>A situation where healthier individuals are</a:t>
            </a:r>
            <a:br/>
            <a:r>
              <a:t>more likely to apply for insurance</a:t>
            </a:r>
          </a:p>
          <a:p>
            <a:br/>
            <a:pPr>
              <a:defRPr sz="1200" i="1"/>
            </a:pPr>
            <a:r>
              <a:t>Note: adverse selection in life</a:t>
            </a:r>
            <a:br/>
            <a:r>
              <a:t>insurance underwriting?</a:t>
            </a:r>
            <a:br/>
            <a:r>
              <a:t>The underwriter’s decision to reject a policy</a:t>
            </a:r>
            <a:br/>
            <a:r>
              <a:t>due to an incomplete application</a:t>
            </a:r>
            <a:br/>
            <a:r>
              <a:t>The process of selecting applicants who</a:t>
            </a:r>
            <a:br/>
            <a:r>
              <a:t>present the lowest risk</a:t>
            </a:r>
            <a:br/>
            <a:r>
              <a:t>The tendency for high-risk individuals to</a:t>
            </a:r>
            <a:br/>
            <a:r>
              <a:t>seek insurance ...</a:t>
            </a: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types of life</a:t>
            </a: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provides coverage for a</a:t>
            </a:r>
            <a:br/>
            <a:r>
              <a:t>specific period and does not</a:t>
            </a:r>
            <a:br/>
            <a:r>
              <a:t>accumulate cash value?</a:t>
            </a:r>
            <a:br/>
            <a:br/>
            <a:r>
              <a:t>Term life insurance</a:t>
            </a:r>
          </a:p>
          <a:p>
            <a:r>
              <a:t>☐ Universal life insurance</a:t>
            </a:r>
          </a:p>
          <a:p>
            <a:pPr>
              <a:defRPr b="1"/>
            </a:pPr>
            <a:r>
              <a:t>✅ @ varableiite insurance</a:t>
            </a:r>
          </a:p>
          <a:p>
            <a:r>
              <a:t>☐ Whole life insurance</a:t>
            </a:r>
          </a:p>
          <a:p>
            <a:r>
              <a:t>☐ Term i insurance SueMel pray coverage</a:t>
            </a:r>
            <a:br/>
            <a:br/>
            <a:r>
              <a:t>I&lt; A &gt;|</a:t>
            </a:r>
            <a:br/>
            <a:br/>
            <a:r>
              <a:t>&amp; a ..rancelicense.myabsorb.com (©</a:t>
            </a:r>
            <a:br/>
            <a:br/>
            <a:r>
              <a:t>&lt; &gt; + [22]</a:t>
            </a: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of the following are common types</a:t>
            </a: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Immediate annuities</a:t>
            </a:r>
          </a:p>
          <a:p>
            <a:pPr>
              <a:defRPr b="1"/>
            </a:pPr>
            <a:r>
              <a:t>✅ Term life annuities</a:t>
            </a:r>
          </a:p>
          <a:p>
            <a:r>
              <a:t>☐ e Variable annuities</a:t>
            </a:r>
            <a:br/>
            <a:br/>
            <a:r>
              <a:t>&amp; Fixed annuities</a:t>
            </a:r>
          </a:p>
          <a:p>
            <a:r>
              <a:t>☐ nsurance provides a death benefit for a specific</a:t>
            </a:r>
            <a:br/>
            <a:br/>
            <a:r>
              <a:t>I&lt; A &gt;|</a:t>
            </a:r>
            <a:br/>
            <a:br/>
            <a:r>
              <a:t>&amp; a ..rancelicense.myabsorb.com (©</a:t>
            </a:r>
            <a:br/>
            <a:br/>
            <a:r>
              <a:t>&lt; &gt; + [22]</a:t>
            </a:r>
          </a:p>
          <a:p>
            <a:br/>
            <a:pPr>
              <a:defRPr sz="1200" i="1"/>
            </a:pPr>
            <a:r>
              <a:t>Note: no such thing as a "term life annuity."</a:t>
            </a:r>
            <a:br/>
            <a:r>
              <a:t>Annuities provide income, whereas term life</a:t>
            </a:r>
            <a:br/>
            <a:r>
              <a:t>insurance provides a death benefit for a specific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[22]...</a:t>
            </a: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of the following factors affect life</a:t>
            </a: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|</a:t>
            </a:r>
            <a:br/>
            <a:br/>
            <a:r>
              <a:t>Question 53 Select the appropriate response</a:t>
            </a:r>
            <a:br/>
            <a:br/>
            <a:r>
              <a:t>All of the following factors affect life</a:t>
            </a:r>
          </a:p>
          <a:p>
            <a:r>
              <a:t>☐ nsurance premium rates EXCEPT:</a:t>
            </a:r>
            <a:br/>
            <a:br/>
            <a:r>
              <a:t>The applicant’s age and gender</a:t>
            </a:r>
            <a:br/>
            <a:r>
              <a:t>The applicant’s occupation</a:t>
            </a:r>
          </a:p>
          <a:p>
            <a:r>
              <a:t>☐ The applicant’s home address</a:t>
            </a:r>
            <a:br/>
            <a:br/>
            <a:r>
              <a:t>The applicant’s smoking habits</a:t>
            </a:r>
          </a:p>
          <a:p>
            <a:br/>
            <a:pPr>
              <a:defRPr sz="1200" i="1"/>
            </a:pPr>
            <a:r>
              <a:t>Note: While age, gender, health, and occupation affect</a:t>
            </a:r>
            <a:br/>
            <a:r>
              <a:t>life insurance premiums, home address does not</a:t>
            </a:r>
            <a:br/>
            <a:r>
              <a:t>directly influence rates. However, hazardous work</a:t>
            </a:r>
            <a:br/>
            <a:r>
              <a:t>&gt;|</a:t>
            </a:r>
            <a:br/>
            <a:r>
              <a:t>% 4a ..rancelicense.myabsorb.com (</a:t>
            </a:r>
            <a:br/>
            <a:r>
              <a:t>&lt; + [22]...</a:t>
            </a: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life insurance policy that provides a</a:t>
            </a:r>
          </a:p>
          <a:p>
            <a:r>
              <a:t>level death benefit and level premiums</a:t>
            </a:r>
          </a:p>
          <a:p>
            <a:r>
              <a:t>for the insured's entire lifetime:</a:t>
            </a: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Universal life insurance</a:t>
            </a:r>
            <a:br/>
            <a:br/>
            <a:r>
              <a:t>Whole life insurance</a:t>
            </a:r>
          </a:p>
          <a:p>
            <a:r>
              <a:t>☐ e Variable life insurance</a:t>
            </a:r>
          </a:p>
          <a:p>
            <a:r>
              <a:t>☐ Term life insurance</a:t>
            </a: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period during which an annuitant</a:t>
            </a:r>
          </a:p>
          <a:p>
            <a:r>
              <a:t>makes contributions to an annuity and</a:t>
            </a:r>
          </a:p>
          <a:p>
            <a:r>
              <a:t>accumulates interest tax-deferred:</a:t>
            </a: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Accumulation period</a:t>
            </a:r>
            <a:br/>
            <a:r>
              <a:t>Surrender period</a:t>
            </a:r>
            <a:br/>
            <a:r>
              <a:t>€ © Annuity period</a:t>
            </a:r>
          </a:p>
          <a:p>
            <a:r>
              <a:t>☐ Maturity period</a:t>
            </a:r>
          </a:p>
          <a:p>
            <a:br/>
            <a:pPr>
              <a:defRPr sz="1200" i="1"/>
            </a:pPr>
            <a:r>
              <a:t>Note: when funds are</a:t>
            </a:r>
            <a:br/>
            <a:r>
              <a:t>deposited into the annuity, and interest accrues on a</a:t>
            </a:r>
            <a:br/>
            <a:r>
              <a:t>a= rt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[22]...</a:t>
            </a: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Sarah is applying for life insurance,</a:t>
            </a:r>
          </a:p>
          <a:p>
            <a:r>
              <a:t>and her agent collects her medical</a:t>
            </a:r>
          </a:p>
          <a:p>
            <a:r>
              <a:t>history, financial details, and lifestyle</a:t>
            </a: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nformation. What role is the agent</a:t>
            </a:r>
            <a:br/>
            <a:r>
              <a:t>performing in this scenario?</a:t>
            </a:r>
          </a:p>
          <a:p>
            <a:r>
              <a:t>☐ Home office underwriting</a:t>
            </a:r>
            <a:br/>
            <a:br/>
            <a:r>
              <a:t>@ © Field underwriting</a:t>
            </a:r>
          </a:p>
          <a:p>
            <a:r>
              <a:t>☐ Adverse selection</a:t>
            </a:r>
          </a:p>
          <a:p>
            <a:r>
              <a:t>☐ ] Policy issuance</a:t>
            </a:r>
          </a:p>
          <a:p>
            <a:br/>
            <a:pPr>
              <a:defRPr sz="1200" i="1"/>
            </a:pPr>
            <a:r>
              <a:t>Note: applying for life insurance,</a:t>
            </a:r>
            <a:br/>
            <a:r>
              <a:t>and her agent collects her medical</a:t>
            </a:r>
            <a:br/>
            <a:r>
              <a:t>history, financial details, and lifestyle</a:t>
            </a:r>
            <a:br/>
            <a:r>
              <a:t>information. What role is the agent</a:t>
            </a:r>
            <a:br/>
            <a:r>
              <a:t>performing in this scenario?</a:t>
            </a:r>
            <a:br/>
            <a:r>
              <a:t>x) Home office underwriting</a:t>
            </a:r>
            <a:br/>
            <a:r>
              <a:t>@  Field underwriting</a:t>
            </a:r>
            <a:br/>
            <a:r>
              <a:t>x) Adverse selection</a:t>
            </a:r>
            <a:br/>
            <a:r>
              <a:t>x] Polic...</a:t>
            </a: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must be included in a business</a:t>
            </a:r>
          </a:p>
          <a:p>
            <a:r>
              <a:t>entity’s insurance license application in</a:t>
            </a:r>
          </a:p>
          <a:p>
            <a:r>
              <a:t>Arizona?</a:t>
            </a:r>
          </a:p>
          <a:p>
            <a:r>
              <a:t>Names of all members, officers, and</a:t>
            </a:r>
          </a:p>
          <a:p>
            <a:r>
              <a:t>directors</a:t>
            </a:r>
          </a:p>
          <a:p>
            <a:r>
              <a:t>A business plan approved by the state</a:t>
            </a: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Maria recently purchased a convertible</a:t>
            </a:r>
          </a:p>
          <a:p>
            <a:r>
              <a:t>term life insurance policy. Five years</a:t>
            </a:r>
          </a:p>
          <a:p>
            <a:r>
              <a:t>later, she decides to switch to</a:t>
            </a:r>
          </a:p>
          <a:p>
            <a:r>
              <a:t>permanent coverage. What is the</a:t>
            </a:r>
          </a:p>
          <a:p>
            <a:r>
              <a:t>primary advantage of the conversion</a:t>
            </a:r>
          </a:p>
          <a:p>
            <a:r>
              <a:t>feature?</a:t>
            </a: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without proving insurability</a:t>
            </a:r>
            <a:br/>
            <a:br/>
            <a:r>
              <a:t>It automatically increases her death benefit</a:t>
            </a:r>
            <a:br/>
            <a:br/>
            <a:r>
              <a:t>It guarantees a refund of premiums paid</a:t>
            </a:r>
            <a:br/>
            <a:br/>
            <a:r>
              <a:t>It eliminates the need to pay premiums in</a:t>
            </a:r>
            <a:br/>
            <a:r>
              <a:t>the future</a:t>
            </a:r>
          </a:p>
          <a:p>
            <a:br/>
            <a:pPr>
              <a:defRPr sz="1200" i="1"/>
            </a:pPr>
            <a:r>
              <a:t>Note: the</a:t>
            </a:r>
            <a:br/>
            <a:r>
              <a:t>primary advantage of the conversion</a:t>
            </a:r>
            <a:br/>
            <a:r>
              <a:t>feature?</a:t>
            </a:r>
            <a:br/>
            <a:r>
              <a:t>It allows her to convert to permanent</a:t>
            </a:r>
            <a:br/>
            <a:r>
              <a:t>insurance without proving insurability</a:t>
            </a:r>
            <a:br/>
            <a:r>
              <a:t>It automatically increases her death benefit</a:t>
            </a:r>
            <a:br/>
            <a:r>
              <a:t>It guarantees a refund of premiums paid</a:t>
            </a:r>
            <a:br/>
            <a:r>
              <a:t>It eliminates the need to pay premiums ...</a:t>
            </a: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main advantage of risk</a:t>
            </a:r>
          </a:p>
          <a:p>
            <a:r>
              <a:t>pooling in life insurance?</a:t>
            </a: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mpact of claims among a large number of</a:t>
            </a:r>
            <a:br/>
            <a:r>
              <a:t>policyholders</a:t>
            </a:r>
            <a:br/>
            <a:br/>
            <a:r>
              <a:t>It eliminates the need for underwriting in</a:t>
            </a:r>
          </a:p>
          <a:p>
            <a:r>
              <a:t>☐ nsurance policies</a:t>
            </a:r>
            <a:br/>
            <a:br/>
            <a:r>
              <a:t>It guarantees that every insured individual</a:t>
            </a:r>
            <a:br/>
            <a:r>
              <a:t>will file a claim</a:t>
            </a:r>
          </a:p>
          <a:p>
            <a:br/>
            <a:pPr>
              <a:defRPr sz="1200" i="1"/>
            </a:pPr>
            <a:r>
              <a:t>Note: the main advantage of risk</a:t>
            </a:r>
            <a:br/>
            <a:r>
              <a:t>pooling in life insurance?</a:t>
            </a:r>
            <a:br/>
            <a:r>
              <a:t>It ensures that all policyholders pay the</a:t>
            </a:r>
            <a:br/>
            <a:r>
              <a:t>same premium</a:t>
            </a:r>
            <a:br/>
            <a:r>
              <a:t>It allows insurers to distribute the financial</a:t>
            </a:r>
            <a:br/>
            <a:r>
              <a:t>impact of claims among a large number of</a:t>
            </a:r>
            <a:br/>
            <a:r>
              <a:t>policyholders</a:t>
            </a:r>
            <a:br/>
            <a:r>
              <a:t>It eliminates the need for underwriting...</a:t>
            </a: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type of insurance provider where</a:t>
            </a:r>
          </a:p>
          <a:p>
            <a:r>
              <a:t>policyholders collectively insure each</a:t>
            </a: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Lloyd’s of London</a:t>
            </a:r>
            <a:br/>
            <a:r>
              <a:t>Reciprocal insurance company</a:t>
            </a:r>
          </a:p>
          <a:p>
            <a:r>
              <a:t>☐ e Stock insurance company</a:t>
            </a:r>
          </a:p>
          <a:p>
            <a:r>
              <a:t>☐ Fraternal benefit society</a:t>
            </a: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following are benefits of a Roth</a:t>
            </a: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Contributions are tax-deductible</a:t>
            </a:r>
            <a:br/>
            <a:br/>
            <a:r>
              <a:t>Earnings grow tax-free</a:t>
            </a:r>
          </a:p>
          <a:p>
            <a:br/>
            <a:pPr>
              <a:defRPr sz="1200" i="1"/>
            </a:pPr>
            <a:r>
              <a:t>Note: Roth IRA contributions are made with after-tax</a:t>
            </a:r>
            <a:br/>
            <a:r>
              <a:t>dollars, meaning they are not tax-deductible, but</a:t>
            </a:r>
            <a:br/>
            <a:r>
              <a:t>qualified withdrawals are tax-free in retirement.</a:t>
            </a:r>
            <a:br/>
            <a:r>
              <a:t>&gt;|</a:t>
            </a:r>
            <a:br/>
            <a:r>
              <a:t>% 4a ..rancelicense.myabsorb.com (</a:t>
            </a:r>
            <a:br/>
            <a:r>
              <a:t>&lt; + [22]...</a:t>
            </a: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Mike purchased a deferred annuity</a:t>
            </a:r>
          </a:p>
          <a:p>
            <a:r>
              <a:t>and later withdrew funds before</a:t>
            </a:r>
          </a:p>
          <a:p>
            <a:r>
              <a:t>turning 59%. What tax consequence</a:t>
            </a:r>
          </a:p>
          <a:p>
            <a:r>
              <a:t>will he likely face?</a:t>
            </a:r>
          </a:p>
          <a:p>
            <a:r>
              <a:t>A 10% federal tax penalty in addition to</a:t>
            </a:r>
          </a:p>
          <a:p>
            <a:r>
              <a:t>regular income tax</a:t>
            </a: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nly the principal portion is taxable</a:t>
            </a:r>
            <a:br/>
            <a:r>
              <a:t>No penalties or taxes</a:t>
            </a:r>
            <a:br/>
            <a:br/>
            <a:r>
              <a:t>The withdrawal is tax-free</a:t>
            </a:r>
          </a:p>
          <a:p>
            <a:br/>
            <a:pPr>
              <a:defRPr sz="1200" i="1"/>
            </a:pPr>
            <a:r>
              <a:t>Note: before</a:t>
            </a:r>
            <a:br/>
            <a:r>
              <a:t>turning 59%. What tax consequence</a:t>
            </a:r>
            <a:br/>
            <a:r>
              <a:t>will he likely face?</a:t>
            </a:r>
            <a:br/>
            <a:r>
              <a:t>A 10% federal tax penalty in addition to</a:t>
            </a:r>
            <a:br/>
            <a:r>
              <a:t>regular income tax</a:t>
            </a:r>
            <a:br/>
            <a:r>
              <a:t>Only the principal portion is taxable</a:t>
            </a:r>
            <a:br/>
            <a:r>
              <a:t>No penalties or taxes</a:t>
            </a:r>
            <a:br/>
            <a:r>
              <a:t>The withdrawal is tax-free</a:t>
            </a:r>
            <a:br/>
            <a:r>
              <a:t>Proceed —_</a:t>
            </a:r>
            <a:br/>
            <a:r>
              <a:t>&amp; a ..rancelicense.myabsorb.co...</a:t>
            </a: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Sarah is the primary breadwinner for</a:t>
            </a:r>
          </a:p>
          <a:p>
            <a:r>
              <a:t>her family and wants to ensure her</a:t>
            </a:r>
          </a:p>
          <a:p>
            <a:r>
              <a:t>children’s education is fully funded if</a:t>
            </a:r>
          </a:p>
          <a:p>
            <a:r>
              <a:t>she passes away. What factor should</a:t>
            </a:r>
          </a:p>
          <a:p>
            <a:r>
              <a:t>she prioritize when determining her</a:t>
            </a: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coverage amount?</a:t>
            </a:r>
            <a:br/>
            <a:br/>
            <a:r>
              <a:t>The cost of her children’s future college</a:t>
            </a:r>
            <a:br/>
            <a:r>
              <a:t>expenses</a:t>
            </a:r>
            <a:br/>
            <a:br/>
            <a:r>
              <a:t>€© © Her employer's life insurance policy</a:t>
            </a:r>
            <a:br/>
            <a:br/>
            <a:r>
              <a:t>The ability to convert her term life policy</a:t>
            </a:r>
          </a:p>
          <a:p>
            <a:br/>
            <a:pPr>
              <a:defRPr sz="1200" i="1"/>
            </a:pPr>
            <a:r>
              <a:t>Note: the primary breadwinner for</a:t>
            </a:r>
            <a:br/>
            <a:r>
              <a:t>her family and wants to ensure her</a:t>
            </a:r>
            <a:br/>
            <a:r>
              <a:t>children’s education is fully funded if</a:t>
            </a:r>
            <a:br/>
            <a:r>
              <a:t>she passes away. What factor should</a:t>
            </a:r>
            <a:br/>
            <a:r>
              <a:t>she prioritize when determining her</a:t>
            </a:r>
            <a:br/>
            <a:r>
              <a:t>insurance coverage amount?</a:t>
            </a:r>
            <a:br/>
            <a:r>
              <a:t>The cost of her children’s future college</a:t>
            </a:r>
            <a:br/>
            <a:r>
              <a:t>expens...</a:t>
            </a: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best describes</a:t>
            </a: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roup life insurance?</a:t>
            </a:r>
          </a:p>
          <a:p>
            <a:r>
              <a:t>☐ A single contract covering multiple</a:t>
            </a:r>
          </a:p>
          <a:p>
            <a:r>
              <a:t>☐ ndividuals under a common employer or</a:t>
            </a:r>
            <a:br/>
            <a:r>
              <a:t>organization</a:t>
            </a:r>
          </a:p>
          <a:p>
            <a:r>
              <a:t>☐ A permanent insurance plan that</a:t>
            </a:r>
            <a:br/>
            <a:br/>
            <a:r>
              <a:t>accumulates cash value over time</a:t>
            </a:r>
            <a:br/>
            <a:br/>
            <a:r>
              <a:t>A policy that allows employees to own their</a:t>
            </a:r>
            <a:br/>
            <a:r>
              <a:t>coverage independently</a:t>
            </a:r>
            <a:br/>
            <a:br/>
            <a:r>
              <a:t>' ¢) e Atype of individual policy that offers higher</a:t>
            </a:r>
            <a:br/>
            <a:r>
              <a:t>premiums for high-risk applicants</a:t>
            </a: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often must continuing education</a:t>
            </a:r>
          </a:p>
          <a:p>
            <a:r>
              <a:t>credits be completed for insurance</a:t>
            </a:r>
          </a:p>
          <a:p>
            <a:r>
              <a:t>producers in Arizona?</a:t>
            </a:r>
          </a:p>
          <a:p>
            <a:r>
              <a:t>Every five years</a:t>
            </a:r>
          </a:p>
          <a:p>
            <a:r>
              <a:t>Every three years</a:t>
            </a: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following are characteristics of</a:t>
            </a:r>
          </a:p>
          <a:p>
            <a:r>
              <a:t>term life insurance EXCEPT:</a:t>
            </a: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cash value over time</a:t>
            </a:r>
            <a:br/>
            <a:r>
              <a:t>It provides coverage for a set period</a:t>
            </a:r>
            <a:br/>
            <a:r>
              <a:t>It can be renewed or converted in some</a:t>
            </a:r>
            <a:br/>
            <a:r>
              <a:t>cases</a:t>
            </a:r>
            <a:br/>
            <a:r>
              <a:t>It is generally more affordable than whole</a:t>
            </a:r>
            <a:br/>
            <a:r>
              <a:t>life insurance</a:t>
            </a:r>
            <a:br/>
            <a:r>
              <a:t>Proceed =&gt;</a:t>
            </a:r>
            <a:br/>
            <a:r>
              <a:t>% Unlike whole life insurance, term life policies do</a:t>
            </a:r>
            <a:br/>
            <a:r>
              <a:t>not accumulate cash valu...</a:t>
            </a: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following groups are eligible for</a:t>
            </a: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roup life insurance EXCEPT:</a:t>
            </a:r>
            <a:br/>
            <a:br/>
            <a:r>
              <a:t>Labor union members</a:t>
            </a:r>
          </a:p>
          <a:p>
            <a:r>
              <a:t>☐ Members of a trade association</a:t>
            </a:r>
            <a:br/>
            <a:r>
              <a:t>€ © Employees of a single company</a:t>
            </a:r>
            <a:br/>
            <a:br/>
            <a:r>
              <a:t>A group formed solely for the purpose of</a:t>
            </a:r>
            <a:br/>
            <a:r>
              <a:t>purchasing insurance</a:t>
            </a:r>
          </a:p>
          <a:p>
            <a:r>
              <a:t>☐ roup’s primary purpose. A group cannot be formed</a:t>
            </a:r>
            <a:br/>
            <a:r>
              <a:t>| only to obtain insurance —it must exist for another |</a:t>
            </a:r>
            <a:br/>
            <a:br/>
            <a:r>
              <a:t>I&lt; A &gt;|</a:t>
            </a:r>
            <a:br/>
            <a:br/>
            <a:r>
              <a:t>&amp; a ..rancelicense.myabsorb.com (©</a:t>
            </a:r>
            <a:br/>
            <a:br/>
            <a:r>
              <a:t>&lt; &gt; + [22]</a:t>
            </a: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John's employer offers a profit-sharing</a:t>
            </a:r>
          </a:p>
          <a:p>
            <a:r>
              <a:t>retirement plan. How are contributions</a:t>
            </a:r>
          </a:p>
          <a:p>
            <a:r>
              <a:t>determined in this type of plan?</a:t>
            </a:r>
          </a:p>
          <a:p>
            <a:r>
              <a:t>The employer must contribute a fixed</a:t>
            </a:r>
          </a:p>
          <a:p>
            <a:r>
              <a:t>percentage annually</a:t>
            </a:r>
          </a:p>
          <a:p>
            <a:r>
              <a:t>The employer contributes only when</a:t>
            </a:r>
          </a:p>
          <a:p>
            <a:r>
              <a:t>employees make voluntary contributions</a:t>
            </a:r>
          </a:p>
          <a:p>
            <a:r>
              <a:t>Contributions are based on company profits</a:t>
            </a:r>
          </a:p>
          <a:p>
            <a:r>
              <a:t>and may vary each year</a:t>
            </a:r>
          </a:p>
          <a:p>
            <a:r>
              <a:t>Employees are required to contribute a set</a:t>
            </a:r>
          </a:p>
          <a:p>
            <a:r>
              <a:t>percentage of their salary</a:t>
            </a:r>
          </a:p>
        </p:txBody>
      </p:sp>
    </p:spTree>
  </p:cSld>
  <p:clrMapOvr>
    <a:masterClrMapping/>
  </p:clrMapOvr>
</p:sld>
</file>

<file path=ppt/slides/slide5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type of plan?</a:t>
            </a:r>
            <a:br/>
            <a:r>
              <a:t>The employer must contribute a fixed</a:t>
            </a:r>
            <a:br/>
            <a:r>
              <a:t>percentage annually</a:t>
            </a:r>
            <a:br/>
            <a:r>
              <a:t>The employer contributes only when</a:t>
            </a:r>
            <a:br/>
            <a:r>
              <a:t>employees make voluntary contributions</a:t>
            </a:r>
            <a:br/>
            <a:r>
              <a:t>Contributions are based on company profits</a:t>
            </a:r>
            <a:br/>
            <a:r>
              <a:t>and may vary each year</a:t>
            </a:r>
            <a:br/>
            <a:r>
              <a:t>Employees are required to contribute a ...</a:t>
            </a:r>
          </a:p>
        </p:txBody>
      </p:sp>
    </p:spTree>
  </p:cSld>
  <p:clrMapOvr>
    <a:masterClrMapping/>
  </p:clrMapOvr>
</p:sld>
</file>

<file path=ppt/slides/slide5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system that adjusts a worker’s past</a:t>
            </a:r>
          </a:p>
          <a:p>
            <a:r>
              <a:t>earnings to reflect inflation when</a:t>
            </a:r>
          </a:p>
          <a:p>
            <a:r>
              <a:t>calculating Social Security benefits:</a:t>
            </a:r>
          </a:p>
        </p:txBody>
      </p:sp>
    </p:spTree>
  </p:cSld>
  <p:clrMapOvr>
    <a:masterClrMapping/>
  </p:clrMapOvr>
</p:sld>
</file>

<file path=ppt/slides/slide5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Primary Insurance Amount (PIA)</a:t>
            </a:r>
            <a:br/>
            <a:br/>
            <a:r>
              <a:t>Average Indexed Monthly Earnings (AIME)</a:t>
            </a:r>
            <a:br/>
            <a:br/>
            <a:r>
              <a:t>€ © Currently Insured Status</a:t>
            </a:r>
          </a:p>
          <a:p>
            <a:r>
              <a:t>☐ Fully Insured Status</a:t>
            </a:r>
          </a:p>
        </p:txBody>
      </p:sp>
    </p:spTree>
  </p:cSld>
  <p:clrMapOvr>
    <a:masterClrMapping/>
  </p:clrMapOvr>
</p:sld>
</file>

<file path=ppt/slides/slide5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primary reason group life</a:t>
            </a:r>
          </a:p>
        </p:txBody>
      </p:sp>
    </p:spTree>
  </p:cSld>
  <p:clrMapOvr>
    <a:masterClrMapping/>
  </p:clrMapOvr>
</p:sld>
</file>

<file path=ppt/slides/slide5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nsurance is more affordable than</a:t>
            </a:r>
          </a:p>
          <a:p>
            <a:r>
              <a:t>☐ ndividual life insurance?</a:t>
            </a:r>
          </a:p>
          <a:p>
            <a:r>
              <a:t>☐ It includes whole life insurance options</a:t>
            </a:r>
          </a:p>
          <a:p>
            <a:r>
              <a:t>☐ It spreads risk across a large number of</a:t>
            </a:r>
            <a:br/>
            <a:r>
              <a:t>participants, lowering administrative costs</a:t>
            </a:r>
            <a:br/>
            <a:br/>
            <a:r>
              <a:t>€ © [Itprovides permanent coverage at a lower</a:t>
            </a:r>
            <a:br/>
            <a:br/>
            <a:r>
              <a:t>It requires individual medical underwriting</a:t>
            </a:r>
          </a:p>
          <a:p>
            <a:br/>
            <a:pPr>
              <a:defRPr sz="1200" i="1"/>
            </a:pPr>
            <a:r>
              <a:t>Note: the primary reason group life</a:t>
            </a:r>
            <a:br/>
            <a:r>
              <a:t>insurance is more affordable than</a:t>
            </a:r>
            <a:br/>
            <a:r>
              <a:t>individual life insurance?</a:t>
            </a:r>
            <a:br/>
            <a:r>
              <a:t>x) It includes whole life insurance options</a:t>
            </a:r>
            <a:br/>
            <a:r>
              <a:t>g It spreads risk across a large number of</a:t>
            </a:r>
            <a:br/>
            <a:r>
              <a:t>participants, lowering administrative costs</a:t>
            </a:r>
            <a:br/>
            <a:r>
              <a:t>€  [Itprovides permanent cov...</a:t>
            </a:r>
          </a:p>
        </p:txBody>
      </p:sp>
    </p:spTree>
  </p:cSld>
  <p:clrMapOvr>
    <a:masterClrMapping/>
  </p:clrMapOvr>
</p:sld>
</file>

<file path=ppt/slides/slide5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of the following are factors</a:t>
            </a:r>
          </a:p>
          <a:p>
            <a:r>
              <a:t>considered by underwriters when</a:t>
            </a:r>
          </a:p>
          <a:p>
            <a:r>
              <a:t>assessing an applicant’s risk EXCEPT:</a:t>
            </a:r>
          </a:p>
        </p:txBody>
      </p:sp>
    </p:spTree>
  </p:cSld>
  <p:clrMapOvr>
    <a:masterClrMapping/>
  </p:clrMapOvr>
</p:sld>
</file>

<file path=ppt/slides/slide5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Political affiliation</a:t>
            </a:r>
          </a:p>
          <a:p>
            <a:r>
              <a:t>☐ Occupation</a:t>
            </a:r>
          </a:p>
          <a:p>
            <a:r>
              <a:t>☐ © Medical history</a:t>
            </a:r>
          </a:p>
          <a:p>
            <a:r>
              <a:t>☐ Hobbies</a:t>
            </a:r>
          </a:p>
        </p:txBody>
      </p:sp>
    </p:spTree>
  </p:cSld>
  <p:clrMapOvr>
    <a:masterClrMapping/>
  </p:clrMapOvr>
</p:sld>
</file>

<file path=ppt/slides/slide5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John worked for 10 years and</a:t>
            </a:r>
          </a:p>
          <a:p>
            <a:r>
              <a:t>contributed to Social Security. Now, at</a:t>
            </a:r>
          </a:p>
          <a:p>
            <a:r>
              <a:t>age 62, he wants to retire early. How</a:t>
            </a:r>
          </a:p>
          <a:p>
            <a:r>
              <a:t>will this affect his benefits?</a:t>
            </a:r>
          </a:p>
          <a:p>
            <a:r>
              <a:t>He will receive 100% of his Primary</a:t>
            </a:r>
          </a:p>
        </p:txBody>
      </p:sp>
    </p:spTree>
  </p:cSld>
  <p:clrMapOvr>
    <a:masterClrMapping/>
  </p:clrMapOvr>
</p:sld>
</file>

<file path=ppt/slides/slide5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affect his benefits?</a:t>
            </a:r>
            <a:br/>
            <a:r>
              <a:t>He will receive 100% of his Primary</a:t>
            </a:r>
            <a:br/>
            <a:r>
              <a:t>Insurance Amount (PIA)</a:t>
            </a:r>
            <a:br/>
            <a:r>
              <a:t>He will not qualify for any benefits</a:t>
            </a:r>
            <a:br/>
            <a:r>
              <a:t>He will have to wait until age 67 to receive</a:t>
            </a:r>
            <a:br/>
            <a:r>
              <a:t>any benefits</a:t>
            </a:r>
            <a:br/>
            <a:r>
              <a:t>He will receive 80% of his PIA for the rest of</a:t>
            </a:r>
            <a:br/>
            <a:r>
              <a:t>his life</a:t>
            </a:r>
            <a:br/>
            <a:r>
              <a:t>Proceed —_</a:t>
            </a:r>
            <a:br/>
            <a:r>
              <a:t>I&lt; A &gt;|</a:t>
            </a:r>
            <a:br/>
            <a:r>
              <a:t>...</a:t>
            </a:r>
          </a:p>
        </p:txBody>
      </p:sp>
    </p:spTree>
  </p:cSld>
  <p:clrMapOvr>
    <a:masterClrMapping/>
  </p:clrMapOvr>
</p:sld>
</file>

<file path=ppt/slides/slide5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purpose of the Social</a:t>
            </a:r>
          </a:p>
          <a:p>
            <a:r>
              <a:t>Security program?</a:t>
            </a:r>
          </a:p>
          <a:p>
            <a:r>
              <a:t>To offer financial protection against</a:t>
            </a:r>
          </a:p>
          <a:p>
            <a:r>
              <a:t>retirement, disability, and death</a:t>
            </a:r>
          </a:p>
          <a:p>
            <a:r>
              <a:t>To replace private retirement and insurance</a:t>
            </a:r>
          </a:p>
          <a:p>
            <a:r>
              <a:t>plans</a:t>
            </a:r>
          </a:p>
          <a:p>
            <a:r>
              <a:t>To provide full retirement income to all</a:t>
            </a:r>
          </a:p>
          <a:p>
            <a:r>
              <a:t>workers</a:t>
            </a:r>
          </a:p>
          <a:p>
            <a:r>
              <a:t>To provide tax-free benefits to all retired</a:t>
            </a:r>
          </a:p>
          <a:p>
            <a:r>
              <a:t>workers</a:t>
            </a:r>
          </a:p>
        </p:txBody>
      </p:sp>
    </p:spTree>
  </p:cSld>
  <p:clrMapOvr>
    <a:masterClrMapping/>
  </p:clrMapOvr>
</p:sld>
</file>

<file path=ppt/slides/slide5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the purpose of the Social</a:t>
            </a:r>
            <a:br/>
            <a:r>
              <a:t>Security program?</a:t>
            </a:r>
            <a:br/>
            <a:r>
              <a:t>To offer financial protection against</a:t>
            </a:r>
            <a:br/>
            <a:r>
              <a:t>retirement, disability, and death</a:t>
            </a:r>
            <a:br/>
            <a:r>
              <a:t>To replace private retirement and insurance</a:t>
            </a:r>
            <a:br/>
            <a:r>
              <a:t>plans</a:t>
            </a:r>
            <a:br/>
            <a:r>
              <a:t>To provide full retirement income to all</a:t>
            </a:r>
            <a:br/>
            <a:r>
              <a:t>workers</a:t>
            </a:r>
            <a:br/>
            <a:r>
              <a:t>To provide tax-free benefits to all...</a:t>
            </a:r>
          </a:p>
        </p:txBody>
      </p:sp>
    </p:spTree>
  </p:cSld>
  <p:clrMapOvr>
    <a:masterClrMapping/>
  </p:clrMapOvr>
</p:sld>
</file>

<file path=ppt/slides/slide5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of the following are advantages of</a:t>
            </a:r>
          </a:p>
          <a:p>
            <a:r>
              <a:t>using life insurance in estate planning</a:t>
            </a:r>
          </a:p>
          <a:p>
            <a:r>
              <a:t>EXCEPT:</a:t>
            </a:r>
          </a:p>
          <a:p>
            <a:r>
              <a:t>Preventing the forced sale of estate assets</a:t>
            </a:r>
          </a:p>
          <a:p>
            <a:r>
              <a:t>Providing liquidity to pay estate taxes</a:t>
            </a:r>
          </a:p>
        </p:txBody>
      </p:sp>
    </p:spTree>
  </p:cSld>
  <p:clrMapOvr>
    <a:masterClrMapping/>
  </p:clrMapOvr>
</p:sld>
</file>

<file path=ppt/slides/slide5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Avoiding the need for a will</a:t>
            </a:r>
            <a:br/>
            <a:br/>
            <a:r>
              <a:t>Ensuring equal asset distribution among</a:t>
            </a:r>
            <a:br/>
            <a:r>
              <a:t>heirs</a:t>
            </a:r>
          </a:p>
          <a:p>
            <a:br/>
            <a:pPr>
              <a:defRPr sz="1200" i="1"/>
            </a:pPr>
            <a:r>
              <a:t>Note: While life insurance provides Heroes) and helps</a:t>
            </a:r>
            <a:br/>
            <a:r>
              <a:t>&gt;|</a:t>
            </a:r>
            <a:br/>
            <a:r>
              <a:t>% 4a ..rancelicense.myabsorb.com (</a:t>
            </a:r>
            <a:br/>
            <a:r>
              <a:t>&lt; + [22]...</a:t>
            </a:r>
          </a:p>
        </p:txBody>
      </p:sp>
    </p:spTree>
  </p:cSld>
  <p:clrMapOvr>
    <a:masterClrMapping/>
  </p:clrMapOvr>
</p:sld>
</file>

<file path=ppt/slides/slide5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traditional whole life insurance policy</a:t>
            </a:r>
          </a:p>
        </p:txBody>
      </p:sp>
    </p:spTree>
  </p:cSld>
  <p:clrMapOvr>
    <a:masterClrMapping/>
  </p:clrMapOvr>
</p:sld>
</file>

<file path=ppt/slides/slide5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ncludes all of the following features</a:t>
            </a:r>
            <a:br/>
            <a:r>
              <a:t>EXCEPT:</a:t>
            </a:r>
          </a:p>
          <a:p>
            <a:r>
              <a:t>☐ Guaranteed cash value accumulation</a:t>
            </a:r>
            <a:br/>
            <a:br/>
            <a:r>
              <a:t>Adjustable death benefits</a:t>
            </a:r>
          </a:p>
          <a:p>
            <a:pPr>
              <a:defRPr b="1"/>
            </a:pPr>
            <a:r>
              <a:t>✅ © Lifetime coverage</a:t>
            </a:r>
          </a:p>
          <a:p>
            <a:r>
              <a:t>☐ Fixed premium payments</a:t>
            </a:r>
          </a:p>
          <a:p>
            <a:r>
              <a:t>☐ alue and fixed premiums but does not allow for</a:t>
            </a:r>
            <a:br/>
            <a:br/>
            <a:r>
              <a:t>ar SS rare</a:t>
            </a:r>
            <a:br/>
            <a:br/>
            <a:r>
              <a:t>I&lt; A &gt;|</a:t>
            </a:r>
            <a:br/>
            <a:br/>
            <a:r>
              <a:t>&amp; a ..rancelicense.myabsorb.com (©</a:t>
            </a:r>
            <a:br/>
            <a:br/>
            <a:r>
              <a:t>&lt; &gt; + [22]</a:t>
            </a:r>
          </a:p>
        </p:txBody>
      </p:sp>
    </p:spTree>
  </p:cSld>
  <p:clrMapOvr>
    <a:masterClrMapping/>
  </p:clrMapOvr>
</p:sld>
</file>

<file path=ppt/slides/slide5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 which condition can a</a:t>
            </a:r>
          </a:p>
          <a:p>
            <a:r>
              <a:t>temporary insurance producer license</a:t>
            </a:r>
          </a:p>
          <a:p>
            <a:r>
              <a:t>be granted in Arizona?</a:t>
            </a:r>
          </a:p>
        </p:txBody>
      </p:sp>
    </p:spTree>
  </p:cSld>
  <p:clrMapOvr>
    <a:masterClrMapping/>
  </p:clrMapOvr>
</p:sld>
</file>

<file path=ppt/slides/slide5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To a designated individual managing a</a:t>
            </a:r>
            <a:br/>
            <a:r>
              <a:t>disabled or deceased producer’s business</a:t>
            </a:r>
            <a:br/>
            <a:r>
              <a:t>affairs</a:t>
            </a:r>
            <a:br/>
            <a:r>
              <a:t>To any applicant who requests it</a:t>
            </a:r>
            <a:br/>
            <a:br/>
            <a:r>
              <a:t>If the producer plans to leave the state</a:t>
            </a:r>
            <a:br/>
            <a:br/>
            <a:r>
              <a:t>If the producer needs additional training</a:t>
            </a:r>
          </a:p>
          <a:p>
            <a:br/>
            <a:pPr>
              <a:defRPr sz="1200" i="1"/>
            </a:pPr>
            <a:r>
              <a:t>Note: additional training</a:t>
            </a:r>
            <a:br/>
            <a:r>
              <a:t>Proceed =&gt;</a:t>
            </a:r>
            <a:br/>
            <a:r>
              <a:t>I&lt; A &gt;I</a:t>
            </a:r>
            <a:br/>
            <a:r>
              <a:t>&amp; a ..rancelicense.myabsorb.com (</a:t>
            </a:r>
            <a:br/>
            <a:r>
              <a:t>&lt; &gt; + [22]...</a:t>
            </a:r>
          </a:p>
        </p:txBody>
      </p:sp>
    </p:spTree>
  </p:cSld>
  <p:clrMapOvr>
    <a:masterClrMapping/>
  </p:clrMapOvr>
</p:sld>
</file>

<file path=ppt/slides/slide5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tax-advantaged financial product</a:t>
            </a:r>
          </a:p>
          <a:p>
            <a:r>
              <a:t>designed to provide a stream of</a:t>
            </a:r>
          </a:p>
        </p:txBody>
      </p:sp>
    </p:spTree>
  </p:cSld>
  <p:clrMapOvr>
    <a:masterClrMapping/>
  </p:clrMapOvr>
</p:sld>
</file>

<file path=ppt/slides/slide5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ncome over a specific period or for</a:t>
            </a:r>
            <a:br/>
            <a:br/>
            <a:r>
              <a:t>Term life insurance</a:t>
            </a:r>
          </a:p>
          <a:p>
            <a:pPr>
              <a:defRPr b="1"/>
            </a:pPr>
            <a:r>
              <a:t>✅ Annuity</a:t>
            </a:r>
            <a:br/>
            <a:br/>
            <a:r>
              <a:t>€ © Disability insurance</a:t>
            </a:r>
          </a:p>
          <a:p>
            <a:r>
              <a:t>☐ Variable universal life insurance</a:t>
            </a:r>
          </a:p>
        </p:txBody>
      </p:sp>
    </p:spTree>
  </p:cSld>
  <p:clrMapOvr>
    <a:masterClrMapping/>
  </p:clrMapOvr>
</p:sld>
</file>

<file path=ppt/slides/slide5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is the primary</a:t>
            </a:r>
          </a:p>
          <a:p>
            <a:r>
              <a:t>purpose of underwriting in life</a:t>
            </a:r>
          </a:p>
        </p:txBody>
      </p:sp>
    </p:spTree>
  </p:cSld>
  <p:clrMapOvr>
    <a:masterClrMapping/>
  </p:clrMapOvr>
</p:sld>
</file>

<file path=ppt/slides/slide5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nsurance?</a:t>
            </a:r>
            <a:br/>
            <a:br/>
            <a:r>
              <a:t>To ensure all applicants are granted</a:t>
            </a:r>
            <a:br/>
            <a:r>
              <a:t>coverage</a:t>
            </a:r>
            <a:br/>
            <a:br/>
            <a:r>
              <a:t>To set standard premium rates for all</a:t>
            </a:r>
            <a:br/>
            <a:r>
              <a:t>applicants</a:t>
            </a:r>
          </a:p>
          <a:p>
            <a:pPr>
              <a:defRPr b="1"/>
            </a:pPr>
            <a:r>
              <a:t>✅ To evaluate risk and determine an</a:t>
            </a:r>
            <a:br/>
            <a:r>
              <a:t>applicant’s insurability</a:t>
            </a:r>
            <a:br/>
            <a:br/>
            <a:r>
              <a:t>To increase insurance company profits</a:t>
            </a:r>
          </a:p>
          <a:p>
            <a:br/>
            <a:pPr>
              <a:defRPr sz="1200" i="1"/>
            </a:pPr>
            <a:r>
              <a:t>Note: the primary</a:t>
            </a:r>
            <a:br/>
            <a:r>
              <a:t>purpose of underwriting in life</a:t>
            </a:r>
            <a:br/>
            <a:r>
              <a:t>insurance?</a:t>
            </a:r>
            <a:br/>
            <a:r>
              <a:t>To ensure all applicants are granted</a:t>
            </a:r>
            <a:br/>
            <a:r>
              <a:t>coverage</a:t>
            </a:r>
            <a:br/>
            <a:r>
              <a:t>To set standard premium rates for all</a:t>
            </a:r>
            <a:br/>
            <a:r>
              <a:t>applicants</a:t>
            </a:r>
            <a:br/>
            <a:r>
              <a:t>iv) To evaluate risk and determine an</a:t>
            </a:r>
            <a:br/>
            <a:r>
              <a:t>applicant’s insurability</a:t>
            </a:r>
            <a:br/>
            <a:r>
              <a:t>To increase insurance company profits...</a:t>
            </a:r>
          </a:p>
        </p:txBody>
      </p:sp>
    </p:spTree>
  </p:cSld>
  <p:clrMapOvr>
    <a:masterClrMapping/>
  </p:clrMapOvr>
</p:sld>
</file>

<file path=ppt/slides/slide5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best describes</a:t>
            </a:r>
          </a:p>
          <a:p>
            <a:r>
              <a:t>the purpose of the principle of</a:t>
            </a:r>
          </a:p>
        </p:txBody>
      </p:sp>
    </p:spTree>
  </p:cSld>
  <p:clrMapOvr>
    <a:masterClrMapping/>
  </p:clrMapOvr>
</p:sld>
</file>

<file path=ppt/slides/slide6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ndemnity in life insurance?</a:t>
            </a:r>
            <a:br/>
            <a:br/>
            <a:r>
              <a:t>To eliminate financial risk for beneficiaries</a:t>
            </a:r>
            <a:br/>
            <a:br/>
            <a:r>
              <a:t>To provide the highest possible payout to all</a:t>
            </a:r>
            <a:br/>
            <a:r>
              <a:t>policyholders</a:t>
            </a:r>
            <a:br/>
            <a:br/>
            <a:r>
              <a:t>To ensure an insured profits from their loss</a:t>
            </a:r>
            <a:br/>
            <a:br/>
            <a:r>
              <a:t>financial position without allowing financial</a:t>
            </a:r>
          </a:p>
          <a:p>
            <a:pPr>
              <a:defRPr b="1"/>
            </a:pPr>
            <a:r>
              <a:t>✅ ain</a:t>
            </a:r>
          </a:p>
        </p:txBody>
      </p:sp>
    </p:spTree>
  </p:cSld>
  <p:clrMapOvr>
    <a:masterClrMapping/>
  </p:clrMapOvr>
</p:sld>
</file>

<file path=ppt/slides/slide6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David wants to purchase a life</a:t>
            </a:r>
          </a:p>
        </p:txBody>
      </p:sp>
    </p:spTree>
  </p:cSld>
  <p:clrMapOvr>
    <a:masterClrMapping/>
  </p:clrMapOvr>
</p:sld>
</file>

<file path=ppt/slides/slide6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policy that allows him to</a:t>
            </a:r>
            <a:br/>
            <a:r>
              <a:t>start with a lower premium that</a:t>
            </a:r>
          </a:p>
          <a:p>
            <a:r>
              <a:t>☐ ncreases over time before becoming</a:t>
            </a:r>
            <a:br/>
            <a:r>
              <a:t>level. Which policy best fits his needs?</a:t>
            </a:r>
            <a:br/>
            <a:br/>
            <a:r>
              <a:t>Variable life insurance</a:t>
            </a:r>
            <a:br/>
            <a:r>
              <a:t>Whole life insurance</a:t>
            </a:r>
          </a:p>
          <a:p>
            <a:pPr>
              <a:defRPr b="1"/>
            </a:pPr>
            <a:r>
              <a:t>✅ Graded premium whole life insurance</a:t>
            </a:r>
            <a:br/>
            <a:br/>
            <a:r>
              <a:t>Universal life insurance</a:t>
            </a:r>
          </a:p>
          <a:p>
            <a:br/>
            <a:pPr>
              <a:defRPr sz="1200" i="1"/>
            </a:pPr>
            <a:r>
              <a:t>Note: needs?</a:t>
            </a:r>
            <a:br/>
            <a:r>
              <a:t>Variable life insurance</a:t>
            </a:r>
            <a:br/>
            <a:r>
              <a:t>Whole life insurance</a:t>
            </a:r>
            <a:br/>
            <a:r>
              <a:t>iv) Graded premium whole life insurance</a:t>
            </a:r>
            <a:br/>
            <a:r>
              <a:t>Universal life insurance</a:t>
            </a:r>
            <a:br/>
            <a:r>
              <a:t>Proceed =&gt;</a:t>
            </a:r>
            <a:br/>
            <a:r>
              <a:t>&gt;|</a:t>
            </a:r>
            <a:br/>
            <a:r>
              <a:t>% 4a ..rancelicense.myabsorb.com (</a:t>
            </a:r>
            <a:br/>
            <a:r>
              <a:t>&lt; &gt; + [22]...</a:t>
            </a:r>
          </a:p>
        </p:txBody>
      </p:sp>
    </p:spTree>
  </p:cSld>
  <p:clrMapOvr>
    <a:masterClrMapping/>
  </p:clrMapOvr>
</p:sld>
</file>

<file path=ppt/slides/slide6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method is used to estimate the</a:t>
            </a:r>
          </a:p>
          <a:p>
            <a:r>
              <a:t>total earnings an individual is expected</a:t>
            </a:r>
          </a:p>
          <a:p>
            <a:r>
              <a:t>to generate over their lifetime to</a:t>
            </a:r>
          </a:p>
          <a:p>
            <a:r>
              <a:t>determine their life insurance needs?</a:t>
            </a:r>
          </a:p>
          <a:p>
            <a:r>
              <a:t>Needs Approach</a:t>
            </a:r>
          </a:p>
        </p:txBody>
      </p:sp>
    </p:spTree>
  </p:cSld>
  <p:clrMapOvr>
    <a:masterClrMapping/>
  </p:clrMapOvr>
</p:sld>
</file>

<file path=ppt/slides/slide6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Multiple Earnings Method</a:t>
            </a:r>
            <a:br/>
            <a:r>
              <a:t>€ © Capital Needs Analysis</a:t>
            </a:r>
          </a:p>
          <a:p>
            <a:pPr>
              <a:defRPr b="1"/>
            </a:pPr>
            <a:r>
              <a:t>✅ Human Life Value Approach</a:t>
            </a:r>
          </a:p>
          <a:p>
            <a:br/>
            <a:pPr>
              <a:defRPr sz="1200" i="1"/>
            </a:pPr>
            <a:r>
              <a:t>Note: used to estimate the</a:t>
            </a:r>
            <a:br/>
            <a:r>
              <a:t>total earnings an individual is expected</a:t>
            </a:r>
            <a:br/>
            <a:r>
              <a:t>to generate over their lifetime to</a:t>
            </a:r>
            <a:br/>
            <a:r>
              <a:t>determine their life insurance needs?</a:t>
            </a:r>
            <a:br/>
            <a:r>
              <a:t>Needs Approach</a:t>
            </a:r>
            <a:br/>
            <a:r>
              <a:t>x) Multiple Earnings Method</a:t>
            </a:r>
            <a:br/>
            <a:r>
              <a:t>€  Capital Needs Analysis</a:t>
            </a:r>
            <a:br/>
            <a:r>
              <a:t>g Human Life Value Approach</a:t>
            </a:r>
            <a:br/>
            <a:r>
              <a:t>Proceed =&gt;</a:t>
            </a:r>
            <a:br/>
            <a:r>
              <a:t>% The H...</a:t>
            </a:r>
          </a:p>
        </p:txBody>
      </p:sp>
    </p:spTree>
  </p:cSld>
  <p:clrMapOvr>
    <a:masterClrMapping/>
  </p:clrMapOvr>
</p:sld>
</file>

<file path=ppt/slides/slide6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action must an insurer take</a:t>
            </a:r>
          </a:p>
          <a:p>
            <a:r>
              <a:t>before issuing a policy in Arizona?</a:t>
            </a:r>
          </a:p>
        </p:txBody>
      </p:sp>
    </p:spTree>
  </p:cSld>
  <p:clrMapOvr>
    <a:masterClrMapping/>
  </p:clrMapOvr>
</p:sld>
</file>

<file path=ppt/slides/slide6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btain a reinsurance agreement</a:t>
            </a:r>
          </a:p>
        </p:txBody>
      </p:sp>
    </p:spTree>
  </p:cSld>
  <p:clrMapOvr>
    <a:masterClrMapping/>
  </p:clrMapOvr>
</p:sld>
</file>

<file path=ppt/slides/slide6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policy feature that allows a</a:t>
            </a:r>
          </a:p>
          <a:p>
            <a:r>
              <a:t>terminated employee to convert their</a:t>
            </a:r>
          </a:p>
        </p:txBody>
      </p:sp>
    </p:spTree>
  </p:cSld>
  <p:clrMapOvr>
    <a:masterClrMapping/>
  </p:clrMapOvr>
</p:sld>
</file>

<file path=ppt/slides/slide6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roup life insurance into an individual</a:t>
            </a:r>
            <a:br/>
            <a:r>
              <a:t>policy without proving insurability:</a:t>
            </a:r>
            <a:br/>
            <a:br/>
            <a:r>
              <a:t>Free-look period</a:t>
            </a:r>
            <a:br/>
            <a:r>
              <a:t>Assignment clause</a:t>
            </a:r>
            <a:br/>
            <a:br/>
            <a:r>
              <a:t>Conversion privilege</a:t>
            </a:r>
            <a:br/>
            <a:br/>
            <a:r>
              <a:t>€ © Spendthrift clause</a:t>
            </a:r>
          </a:p>
        </p:txBody>
      </p:sp>
    </p:spTree>
  </p:cSld>
  <p:clrMapOvr>
    <a:masterClrMapping/>
  </p:clrMapOvr>
</p:sld>
</file>

<file path=ppt/slides/slide6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Lisa recently inherited a large sum of</a:t>
            </a:r>
          </a:p>
          <a:p>
            <a:r>
              <a:t>money and wants to invest it ina</a:t>
            </a:r>
          </a:p>
          <a:p>
            <a:r>
              <a:t>policy that guarantees her a steady</a:t>
            </a:r>
          </a:p>
        </p:txBody>
      </p:sp>
    </p:spTree>
  </p:cSld>
  <p:clrMapOvr>
    <a:masterClrMapping/>
  </p:clrMapOvr>
</p:sld>
</file>

<file path=ppt/slides/slide6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ncome for life. Which type of</a:t>
            </a:r>
          </a:p>
          <a:p>
            <a:r>
              <a:t>☐ nsurance product would best suit her</a:t>
            </a:r>
            <a:br/>
            <a:br/>
            <a:r>
              <a:t>Group life insurance</a:t>
            </a:r>
          </a:p>
        </p:txBody>
      </p:sp>
    </p:spTree>
  </p:cSld>
  <p:clrMapOvr>
    <a:masterClrMapping/>
  </p:clrMapOvr>
</p:sld>
</file>

<file path=ppt/slides/slide6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process by which underwriters</a:t>
            </a:r>
          </a:p>
          <a:p>
            <a:r>
              <a:t>evaluate an applicant’s health,</a:t>
            </a:r>
          </a:p>
          <a:p>
            <a:r>
              <a:t>financial background, and lifestyle to</a:t>
            </a:r>
          </a:p>
          <a:p>
            <a:r>
              <a:t>determine insurability:</a:t>
            </a:r>
          </a:p>
          <a:p>
            <a:r>
              <a:t>Adverse selection</a:t>
            </a:r>
          </a:p>
        </p:txBody>
      </p:sp>
    </p:spTree>
  </p:cSld>
  <p:clrMapOvr>
    <a:masterClrMapping/>
  </p:clrMapOvr>
</p:sld>
</file>

<file path=ppt/slides/slide6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Risk classification</a:t>
            </a:r>
          </a:p>
          <a:p>
            <a:pPr>
              <a:defRPr b="1"/>
            </a:pPr>
            <a:r>
              <a:t>✅ © Field underwriting</a:t>
            </a:r>
          </a:p>
          <a:p>
            <a:r>
              <a:t>☐ Underwriting</a:t>
            </a:r>
          </a:p>
        </p:txBody>
      </p:sp>
    </p:spTree>
  </p:cSld>
  <p:clrMapOvr>
    <a:masterClrMapping/>
  </p:clrMapOvr>
</p:sld>
</file>

<file path=ppt/slides/slide6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of the following individuals would</a:t>
            </a:r>
          </a:p>
          <a:p>
            <a:r>
              <a:t>typically qualify for group life insurance</a:t>
            </a:r>
          </a:p>
          <a:p>
            <a:r>
              <a:t>EXCEPT:</a:t>
            </a:r>
          </a:p>
          <a:p>
            <a:r>
              <a:t>A retiree continuing coverage under a group</a:t>
            </a:r>
          </a:p>
          <a:p>
            <a:r>
              <a:t>plan</a:t>
            </a:r>
          </a:p>
          <a:p>
            <a:r>
              <a:t>A full-time employee of a participating</a:t>
            </a:r>
          </a:p>
          <a:p>
            <a:r>
              <a:t>employer</a:t>
            </a:r>
          </a:p>
          <a:p>
            <a:r>
              <a:t>A member of a trade association offering</a:t>
            </a:r>
          </a:p>
          <a:p>
            <a:r>
              <a:t>coverage</a:t>
            </a:r>
          </a:p>
        </p:txBody>
      </p:sp>
    </p:spTree>
  </p:cSld>
  <p:clrMapOvr>
    <a:masterClrMapping/>
  </p:clrMapOvr>
</p:sld>
</file>

<file path=ppt/slides/slide6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Asole proprietor with no employees</a:t>
            </a:r>
          </a:p>
        </p:txBody>
      </p:sp>
    </p:spTree>
  </p:cSld>
  <p:clrMapOvr>
    <a:masterClrMapping/>
  </p:clrMapOvr>
</p:sld>
</file>

<file path=ppt/slides/slide6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the term "solicit" mean in</a:t>
            </a:r>
          </a:p>
          <a:p>
            <a:r>
              <a:t>the context of insurance in Arizona?</a:t>
            </a:r>
          </a:p>
          <a:p>
            <a:r>
              <a:t>To attempt to sell insurance from a specific</a:t>
            </a:r>
          </a:p>
        </p:txBody>
      </p:sp>
    </p:spTree>
  </p:cSld>
  <p:clrMapOvr>
    <a:masterClrMapping/>
  </p:clrMapOvr>
</p:sld>
</file>

<file path=ppt/slides/slide6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nsurer</a:t>
            </a:r>
            <a:br/>
            <a:br/>
            <a:r>
              <a:t>To renew existing insurance policies</a:t>
            </a:r>
            <a:br/>
            <a:br/>
            <a:r>
              <a:t>To negotiate terms and conditions of</a:t>
            </a:r>
          </a:p>
          <a:p>
            <a:r>
              <a:t>☐ nsurance contracts</a:t>
            </a:r>
            <a:br/>
            <a:br/>
            <a:r>
              <a:t>To provide general information about</a:t>
            </a:r>
          </a:p>
          <a:p>
            <a:r>
              <a:t>☐ nsurance products</a:t>
            </a:r>
          </a:p>
        </p:txBody>
      </p:sp>
    </p:spTree>
  </p:cSld>
  <p:clrMapOvr>
    <a:masterClrMapping/>
  </p:clrMapOvr>
</p:sld>
</file>

<file path=ppt/slides/slide6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contract in which only one party (the</a:t>
            </a:r>
          </a:p>
        </p:txBody>
      </p:sp>
    </p:spTree>
  </p:cSld>
  <p:clrMapOvr>
    <a:masterClrMapping/>
  </p:clrMapOvr>
</p:sld>
</file>

<file path=ppt/slides/slide6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nsurer) makes a legally enforceable</a:t>
            </a:r>
            <a:br/>
            <a:r>
              <a:t>promise:</a:t>
            </a:r>
          </a:p>
          <a:p>
            <a:r>
              <a:t>☐ Valued contract</a:t>
            </a:r>
          </a:p>
          <a:p>
            <a:r>
              <a:t>☐ e Personal contract</a:t>
            </a:r>
            <a:br/>
            <a:br/>
            <a:r>
              <a:t>Unilateral contract</a:t>
            </a:r>
          </a:p>
          <a:p>
            <a:r>
              <a:t>☐ Aleatory contract</a:t>
            </a:r>
          </a:p>
          <a:p>
            <a:br/>
            <a:pPr>
              <a:defRPr sz="1200" i="1"/>
            </a:pPr>
            <a:r>
              <a:t>Note: legally obligated to fulfill the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[22]...</a:t>
            </a:r>
          </a:p>
        </p:txBody>
      </p:sp>
    </p:spTree>
  </p:cSld>
  <p:clrMapOvr>
    <a:masterClrMapping/>
  </p:clrMapOvr>
</p:sld>
</file>

<file path=ppt/slides/slide6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following are responsibilities of an</a:t>
            </a:r>
          </a:p>
        </p:txBody>
      </p:sp>
    </p:spTree>
  </p:cSld>
  <p:clrMapOvr>
    <a:masterClrMapping/>
  </p:clrMapOvr>
</p:sld>
</file>

<file path=ppt/slides/slide6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S|</a:t>
            </a:r>
            <a:br/>
            <a:br/>
            <a:r>
              <a:t>Question 91 Select the appropriate response</a:t>
            </a:r>
            <a:br/>
            <a:br/>
            <a:r>
              <a:t>The following are responsibilities of an</a:t>
            </a:r>
          </a:p>
          <a:p>
            <a:r>
              <a:t>☐ nsurance agent in the underwriting</a:t>
            </a:r>
            <a:br/>
            <a:r>
              <a:t>process EXCEPT:</a:t>
            </a:r>
          </a:p>
          <a:p>
            <a:r>
              <a:t>☐ btaining the applicant’s signatures</a:t>
            </a:r>
            <a:br/>
            <a:r>
              <a:t>Collecting medical and personal information</a:t>
            </a:r>
          </a:p>
          <a:p>
            <a:r>
              <a:t>☐ Determining the final premium rate</a:t>
            </a:r>
            <a:br/>
            <a:br/>
            <a:r>
              <a:t>Ensuring the application is complete</a:t>
            </a:r>
          </a:p>
          <a:p>
            <a:br/>
            <a:pPr>
              <a:defRPr sz="1200" i="1"/>
            </a:pPr>
            <a:r>
              <a:t>Note: complete</a:t>
            </a:r>
            <a:br/>
            <a:r>
              <a:t>Proceed =</a:t>
            </a:r>
            <a:br/>
            <a:r>
              <a:t>ds Agents collect information and assist with</a:t>
            </a:r>
            <a:br/>
            <a:r>
              <a:t>applications, but final premium rates are determined</a:t>
            </a:r>
            <a:br/>
            <a:r>
              <a:t>&gt;|</a:t>
            </a:r>
            <a:br/>
            <a:r>
              <a:t>% 4a ..rancelicense.myabsorb.com (</a:t>
            </a:r>
            <a:br/>
            <a:r>
              <a:t>&lt; + [22]...</a:t>
            </a:r>
          </a:p>
        </p:txBody>
      </p:sp>
    </p:spTree>
  </p:cSld>
  <p:clrMapOvr>
    <a:masterClrMapping/>
  </p:clrMapOvr>
</p:sld>
</file>

<file path=ppt/slides/slide6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Emma purchases a life insurance</a:t>
            </a:r>
          </a:p>
          <a:p>
            <a:r>
              <a:t>policy on her husband’s life. Which of</a:t>
            </a:r>
          </a:p>
          <a:p>
            <a:r>
              <a:t>the following must be present at the</a:t>
            </a:r>
          </a:p>
          <a:p>
            <a:r>
              <a:t>time of application for the contract to</a:t>
            </a:r>
          </a:p>
          <a:p>
            <a:r>
              <a:t>be valid?</a:t>
            </a:r>
          </a:p>
        </p:txBody>
      </p:sp>
    </p:spTree>
  </p:cSld>
  <p:clrMapOvr>
    <a:masterClrMapping/>
  </p:clrMapOvr>
</p:sld>
</file>

<file path=ppt/slides/slide6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Anamed contingent beneficiary</a:t>
            </a:r>
            <a:br/>
            <a:br/>
            <a:r>
              <a:t>eo An automatic policy loan provision</a:t>
            </a:r>
          </a:p>
          <a:p>
            <a:r>
              <a:t>☐ An irrevocable trust</a:t>
            </a:r>
          </a:p>
          <a:p>
            <a:pPr>
              <a:defRPr b="1"/>
            </a:pPr>
            <a:r>
              <a:t>✅ e  Insurable interest</a:t>
            </a:r>
          </a:p>
        </p:txBody>
      </p:sp>
    </p:spTree>
  </p:cSld>
  <p:clrMapOvr>
    <a:masterClrMapping/>
  </p:clrMapOvr>
</p:sld>
</file>

<file path=ppt/slides/slide6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financial planning strategy that helps</a:t>
            </a:r>
          </a:p>
          <a:p>
            <a:r>
              <a:t>businesses retain key employees by</a:t>
            </a:r>
          </a:p>
        </p:txBody>
      </p:sp>
    </p:spTree>
  </p:cSld>
  <p:clrMapOvr>
    <a:masterClrMapping/>
  </p:clrMapOvr>
</p:sld>
</file>

<file path=ppt/slides/slide6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Key person insurance</a:t>
            </a:r>
            <a:br/>
            <a:r>
              <a:t>Go) Reteresicennereaeom oon</a:t>
            </a:r>
          </a:p>
          <a:p>
            <a:r>
              <a:t>☐ Buy-sell agreement</a:t>
            </a:r>
          </a:p>
        </p:txBody>
      </p:sp>
    </p:spTree>
  </p:cSld>
  <p:clrMapOvr>
    <a:masterClrMapping/>
  </p:clrMapOvr>
</p:sld>
</file>

<file path=ppt/slides/slide6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method of calculating the necessary</a:t>
            </a:r>
          </a:p>
          <a:p>
            <a:r>
              <a:t>life insurance coverage by evaluating</a:t>
            </a:r>
          </a:p>
        </p:txBody>
      </p:sp>
    </p:spTree>
  </p:cSld>
  <p:clrMapOvr>
    <a:masterClrMapping/>
  </p:clrMapOvr>
</p:sld>
</file>

<file path=ppt/slides/slide6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mmediate and future financial needs</a:t>
            </a:r>
            <a:br/>
            <a:r>
              <a:t>of the insured’s dependents:</a:t>
            </a:r>
            <a:br/>
            <a:br/>
            <a:r>
              <a:t>Needs Approach</a:t>
            </a:r>
          </a:p>
          <a:p>
            <a:r>
              <a:t>☐ Single Needs Method</a:t>
            </a:r>
            <a:br/>
            <a:r>
              <a:t>€ © Interest-Only Method</a:t>
            </a:r>
          </a:p>
          <a:p>
            <a:pPr>
              <a:defRPr b="1"/>
            </a:pPr>
            <a:r>
              <a:t>✅ Human Life Value Approach</a:t>
            </a:r>
          </a:p>
          <a:p>
            <a:r>
              <a:t>☐ The eee EISEN VEMTENCS oun LUTHISTRIEN)</a:t>
            </a:r>
            <a:br/>
            <a:br/>
            <a:r>
              <a:t>I&lt; A &gt;|</a:t>
            </a:r>
            <a:br/>
            <a:br/>
            <a:r>
              <a:t>&amp; a ..rancelicense.myabsorb.com (©</a:t>
            </a:r>
            <a:br/>
            <a:br/>
            <a:r>
              <a:t>&lt; &gt; + [22]</a:t>
            </a:r>
          </a:p>
          <a:p>
            <a:br/>
            <a:pPr>
              <a:defRPr sz="1200" i="1"/>
            </a:pPr>
            <a:r>
              <a:t>Note: of the insured’s dependents:</a:t>
            </a:r>
            <a:br/>
            <a:r>
              <a:t>Needs Approach</a:t>
            </a:r>
            <a:br/>
            <a:r>
              <a:t>x) Single Needs Method</a:t>
            </a:r>
            <a:br/>
            <a:r>
              <a:t>€  Interest-Only Method</a:t>
            </a:r>
            <a:br/>
            <a:r>
              <a:t>x) Human Life Value Approach</a:t>
            </a:r>
            <a:br/>
            <a:r>
              <a:t>Proceed =&gt;</a:t>
            </a:r>
            <a:br/>
            <a:r>
              <a:t>x The eee EISEN VEMTENCS oun LUTHISTRIEN)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[22]...</a:t>
            </a:r>
          </a:p>
        </p:txBody>
      </p:sp>
    </p:spTree>
  </p:cSld>
  <p:clrMapOvr>
    <a:masterClrMapping/>
  </p:clrMapOvr>
</p:sld>
</file>

<file path=ppt/slides/slide6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retirement plan that specifies the</a:t>
            </a:r>
          </a:p>
          <a:p>
            <a:r>
              <a:t>exact benefit an employee will receive</a:t>
            </a:r>
          </a:p>
          <a:p>
            <a:r>
              <a:t>upon retirement:</a:t>
            </a:r>
          </a:p>
        </p:txBody>
      </p:sp>
    </p:spTree>
  </p:cSld>
  <p:clrMapOvr>
    <a:masterClrMapping/>
  </p:clrMapOvr>
</p:sld>
</file>

<file path=ppt/slides/slide6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Defined contribution plan</a:t>
            </a:r>
            <a:br/>
            <a:r>
              <a:t>Employee stock ownership plan</a:t>
            </a:r>
            <a:br/>
            <a:r>
              <a:t>€© © Profit-sharing plan</a:t>
            </a:r>
          </a:p>
          <a:p>
            <a:pPr>
              <a:defRPr b="1"/>
            </a:pPr>
            <a:r>
              <a:t>✅ Defined benefit plan</a:t>
            </a:r>
          </a:p>
        </p:txBody>
      </p:sp>
    </p:spTree>
  </p:cSld>
  <p:clrMapOvr>
    <a:masterClrMapping/>
  </p:clrMapOvr>
</p:sld>
</file>

<file path=ppt/slides/slide6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required for a person or entity</a:t>
            </a:r>
          </a:p>
          <a:p>
            <a:r>
              <a:t>to transact insurance business in</a:t>
            </a:r>
          </a:p>
          <a:p>
            <a:r>
              <a:t>Arizona?</a:t>
            </a:r>
          </a:p>
          <a:p>
            <a:r>
              <a:t>A certificate of authority</a:t>
            </a:r>
          </a:p>
        </p:txBody>
      </p:sp>
    </p:spTree>
  </p:cSld>
  <p:clrMapOvr>
    <a:masterClrMapping/>
  </p:clrMapOvr>
</p:sld>
</file>

<file path=ppt/slides/slide6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e Membership in a state insurance</a:t>
            </a:r>
            <a:br/>
            <a:br/>
            <a:r>
              <a:t>association</a:t>
            </a:r>
            <a:br/>
            <a:br/>
            <a:r>
              <a:t>A bond of indemnity</a:t>
            </a:r>
          </a:p>
          <a:p>
            <a:br/>
            <a:pPr>
              <a:defRPr sz="1200" i="1"/>
            </a:pPr>
            <a:r>
              <a:t>Note: required for a person or entity</a:t>
            </a:r>
            <a:br/>
            <a:r>
              <a:t>to transact insurance business in</a:t>
            </a:r>
            <a:br/>
            <a:r>
              <a:t>Arizona?</a:t>
            </a:r>
            <a:br/>
            <a:r>
              <a:t>A certificate of authority</a:t>
            </a:r>
            <a:br/>
            <a:r>
              <a:t>x) e Membership in a state insurance</a:t>
            </a:r>
            <a:br/>
            <a:r>
              <a:t>association</a:t>
            </a:r>
            <a:br/>
            <a:r>
              <a:t>A bond of indemnity</a:t>
            </a:r>
            <a:br/>
            <a:r>
              <a:t>Proceed —_</a:t>
            </a:r>
            <a:br/>
            <a:r>
              <a:t>A &gt;|</a:t>
            </a:r>
            <a:br/>
            <a:r>
              <a:t>&amp; a ..rancelicense.myabsorb.com (</a:t>
            </a:r>
            <a:br/>
            <a:r>
              <a:t>&lt; &gt; + [22]...</a:t>
            </a:r>
          </a:p>
        </p:txBody>
      </p:sp>
    </p:spTree>
  </p:cSld>
  <p:clrMapOvr>
    <a:masterClrMapping/>
  </p:clrMapOvr>
</p:sld>
</file>

<file path=ppt/slides/slide6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following are valid beneficiary</a:t>
            </a:r>
          </a:p>
          <a:p>
            <a:r>
              <a:t>designations EXCEPT:</a:t>
            </a:r>
          </a:p>
        </p:txBody>
      </p:sp>
    </p:spTree>
  </p:cSld>
  <p:clrMapOvr>
    <a:masterClrMapping/>
  </p:clrMapOvr>
</p:sld>
</file>

<file path=ppt/slides/slide6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minor child</a:t>
            </a:r>
          </a:p>
          <a:p>
            <a:r>
              <a:t>☐ A charity</a:t>
            </a:r>
          </a:p>
          <a:p>
            <a:r>
              <a:t>☐ A revocable trust</a:t>
            </a:r>
            <a:br/>
            <a:br/>
            <a:r>
              <a:t>€ © Abusiness partner</a:t>
            </a:r>
          </a:p>
          <a:p>
            <a:r>
              <a:t>☐ nsurance companies typically do not pay directly to</a:t>
            </a:r>
            <a:br/>
            <a:r>
              <a:t>minors due to legal restrictions. Instead, a guardian</a:t>
            </a:r>
            <a:br/>
            <a:br/>
            <a:r>
              <a:t>oe at rn - Files</a:t>
            </a:r>
            <a:br/>
            <a:br/>
            <a:r>
              <a:t>I&lt; A &gt;|</a:t>
            </a:r>
            <a:br/>
            <a:br/>
            <a:r>
              <a:t>&amp; a ..rancelicense.myabsorb.com (©</a:t>
            </a:r>
            <a:br/>
            <a:br/>
            <a:r>
              <a:t>&lt; &gt; + [22]</a:t>
            </a:r>
          </a:p>
        </p:txBody>
      </p:sp>
    </p:spTree>
  </p:cSld>
  <p:clrMapOvr>
    <a:masterClrMapping/>
  </p:clrMapOvr>
</p:sld>
</file>

<file path=ppt/slides/slide6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Michael is a 35-year-old professional</a:t>
            </a:r>
          </a:p>
          <a:p>
            <a:r>
              <a:t>who wants to purchase a policy that</a:t>
            </a:r>
          </a:p>
          <a:p>
            <a:r>
              <a:t>will provide the maximum death</a:t>
            </a:r>
          </a:p>
          <a:p>
            <a:r>
              <a:t>benefit at the lowest cost for the next</a:t>
            </a:r>
          </a:p>
          <a:p>
            <a:r>
              <a:t>20 years. Which of the following</a:t>
            </a:r>
          </a:p>
          <a:p>
            <a:r>
              <a:t>policies would be the best option for</a:t>
            </a:r>
          </a:p>
        </p:txBody>
      </p:sp>
    </p:spTree>
  </p:cSld>
  <p:clrMapOvr>
    <a:masterClrMapping/>
  </p:clrMapOvr>
</p:sld>
</file>

<file path=ppt/slides/slide6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Whole life insurance</a:t>
            </a:r>
          </a:p>
          <a:p>
            <a:br/>
            <a:pPr>
              <a:defRPr sz="1200" i="1"/>
            </a:pPr>
            <a:r>
              <a:t>Note: a 35-year-old professional</a:t>
            </a:r>
            <a:br/>
            <a:r>
              <a:t>who wants to purchase a policy that</a:t>
            </a:r>
            <a:br/>
            <a:r>
              <a:t>will provide the maximum death</a:t>
            </a:r>
            <a:br/>
            <a:r>
              <a:t>benefit at the lowest cost for the next</a:t>
            </a:r>
            <a:br/>
            <a:r>
              <a:t>20 years. Which of the following</a:t>
            </a:r>
            <a:br/>
            <a:r>
              <a:t>policies would be the best option for</a:t>
            </a:r>
            <a:br/>
            <a:r>
              <a:t>Variable life insurance</a:t>
            </a:r>
            <a:br/>
            <a:r>
              <a:t>Universal life insura...</a:t>
            </a:r>
          </a:p>
        </p:txBody>
      </p:sp>
    </p:spTree>
  </p:cSld>
  <p:clrMapOvr>
    <a:masterClrMapping/>
  </p:clrMapOvr>
</p:sld>
</file>

<file path=ppt/slides/slide6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primary reason that</a:t>
            </a:r>
          </a:p>
        </p:txBody>
      </p:sp>
    </p:spTree>
  </p:cSld>
  <p:clrMapOvr>
    <a:masterClrMapping/>
  </p:clrMapOvr>
</p:sld>
</file>

<file path=ppt/slides/slide6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companies invest premiums</a:t>
            </a:r>
            <a:br/>
            <a:r>
              <a:t>collected from policyholders?</a:t>
            </a:r>
            <a:br/>
            <a:br/>
            <a:r>
              <a:t>To reduce the need for policy reserves</a:t>
            </a:r>
            <a:br/>
            <a:r>
              <a:t>To pay agent commissions</a:t>
            </a:r>
            <a:br/>
            <a:r>
              <a:t>To increase company profits</a:t>
            </a:r>
          </a:p>
          <a:p>
            <a:pPr>
              <a:defRPr b="1"/>
            </a:pPr>
            <a:r>
              <a:t>✅ To lower policyholder premiums by earning</a:t>
            </a:r>
          </a:p>
          <a:p>
            <a:r>
              <a:t>☐ nterest</a:t>
            </a:r>
          </a:p>
          <a:p>
            <a:br/>
            <a:pPr>
              <a:defRPr sz="1200" i="1"/>
            </a:pPr>
            <a:r>
              <a:t>Note: the primary reason that</a:t>
            </a:r>
            <a:br/>
            <a:r>
              <a:t>insurance companies invest premiums</a:t>
            </a:r>
            <a:br/>
            <a:r>
              <a:t>collected from policyholders?</a:t>
            </a:r>
            <a:br/>
            <a:r>
              <a:t>To reduce the need for policy reserves</a:t>
            </a:r>
            <a:br/>
            <a:r>
              <a:t>To pay agent commissions</a:t>
            </a:r>
            <a:br/>
            <a:r>
              <a:t>To increase company profits</a:t>
            </a:r>
            <a:br/>
            <a:r>
              <a:t>g To lower policyholder premiums by earning</a:t>
            </a:r>
            <a:br/>
            <a:r>
              <a:t>interest</a:t>
            </a:r>
            <a:br/>
            <a:r>
              <a:t>és Insurers inv...</a:t>
            </a:r>
          </a:p>
        </p:txBody>
      </p:sp>
    </p:spTree>
  </p:cSld>
  <p:clrMapOvr>
    <a:masterClrMapping/>
  </p:clrMapOvr>
</p:sld>
</file>

<file path=ppt/slides/slide6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action must be taken if there is a</a:t>
            </a:r>
          </a:p>
          <a:p>
            <a:r>
              <a:t>change among the members,</a:t>
            </a:r>
          </a:p>
          <a:p>
            <a:r>
              <a:t>directors, or officers of a business</a:t>
            </a:r>
          </a:p>
          <a:p>
            <a:r>
              <a:t>entity licensed as an insurance</a:t>
            </a:r>
          </a:p>
          <a:p>
            <a:r>
              <a:t>producer in Arizona?</a:t>
            </a:r>
          </a:p>
          <a:p>
            <a:r>
              <a:t>Apply for a new license</a:t>
            </a:r>
          </a:p>
          <a:p>
            <a:r>
              <a:t>Hold a general meeting</a:t>
            </a:r>
          </a:p>
          <a:p>
            <a:r>
              <a:t>Report the change to the IRS</a:t>
            </a:r>
          </a:p>
        </p:txBody>
      </p:sp>
    </p:spTree>
  </p:cSld>
  <p:clrMapOvr>
    <a:masterClrMapping/>
  </p:clrMapOvr>
</p:sld>
</file>

<file path=ppt/slides/slide6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a</a:t>
            </a:r>
            <a:br/>
            <a:r>
              <a:t>change among the members,</a:t>
            </a:r>
            <a:br/>
            <a:r>
              <a:t>directors, or officers of a business</a:t>
            </a:r>
            <a:br/>
            <a:r>
              <a:t>entity licensed as an insurance</a:t>
            </a:r>
            <a:br/>
            <a:r>
              <a:t>producer in Arizona?</a:t>
            </a:r>
            <a:br/>
            <a:r>
              <a:t>Apply for a new license</a:t>
            </a:r>
            <a:br/>
            <a:r>
              <a:t>Hold a general meeting</a:t>
            </a:r>
            <a:br/>
            <a:r>
              <a:t>Report the change to the IRS</a:t>
            </a:r>
            <a:br/>
            <a:r>
              <a:t>Proceed =&gt;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&gt;...</a:t>
            </a:r>
          </a:p>
        </p:txBody>
      </p:sp>
    </p:spTree>
  </p:cSld>
  <p:clrMapOvr>
    <a:masterClrMapping/>
  </p:clrMapOvr>
</p:sld>
</file>

<file path=ppt/slides/slide6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Lisa’s employer provides group life</a:t>
            </a:r>
          </a:p>
        </p:txBody>
      </p:sp>
    </p:spTree>
  </p:cSld>
  <p:clrMapOvr>
    <a:masterClrMapping/>
  </p:clrMapOvr>
</p:sld>
</file>

<file path=ppt/slides/slide6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as a benefit. She does not</a:t>
            </a:r>
            <a:br/>
            <a:r>
              <a:t>contribute to the premium costs. What</a:t>
            </a:r>
            <a:br/>
            <a:r>
              <a:t>type of plan is Lisa covered under?</a:t>
            </a:r>
            <a:br/>
            <a:br/>
            <a:r>
              <a:t>Noncontributory plan</a:t>
            </a:r>
          </a:p>
          <a:p>
            <a:r>
              <a:t>☐ Whole life group plan</a:t>
            </a:r>
            <a:br/>
            <a:br/>
            <a:r>
              <a:t>€ © Voluntary employee benefit plan</a:t>
            </a:r>
          </a:p>
          <a:p>
            <a:pPr>
              <a:defRPr b="1"/>
            </a:pPr>
            <a:r>
              <a:t>✅ Contributory plan</a:t>
            </a:r>
          </a:p>
          <a:p>
            <a:br/>
            <a:pPr>
              <a:defRPr sz="1200" i="1"/>
            </a:pPr>
            <a:r>
              <a:t>Note: Lisa covered under?</a:t>
            </a:r>
            <a:br/>
            <a:r>
              <a:t>Noncontributory plan</a:t>
            </a:r>
            <a:br/>
            <a:r>
              <a:t>x) Whole life group plan</a:t>
            </a:r>
            <a:br/>
            <a:r>
              <a:t>€  Voluntary employee benefit plan</a:t>
            </a:r>
            <a:br/>
            <a:r>
              <a:t>x) Contributory plan</a:t>
            </a:r>
            <a:br/>
            <a:r>
              <a:t>Proceed =&gt;</a:t>
            </a:r>
            <a:br/>
            <a:r>
              <a:t>% In anonconiributory plan, the employer pays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[22]...</a:t>
            </a:r>
          </a:p>
        </p:txBody>
      </p:sp>
    </p:spTree>
  </p:cSld>
  <p:clrMapOvr>
    <a:masterClrMapping/>
  </p:clrMapOvr>
</p:sld>
</file>

<file path=ppt/slides/slide6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individual applying for an insurance</a:t>
            </a:r>
          </a:p>
          <a:p>
            <a:r>
              <a:t>producer license in Arizona must</a:t>
            </a:r>
          </a:p>
          <a:p>
            <a:r>
              <a:t>affirm that the information provided in</a:t>
            </a:r>
          </a:p>
          <a:p>
            <a:r>
              <a:t>the application is:</a:t>
            </a:r>
          </a:p>
          <a:p>
            <a:r>
              <a:t>Endorsed by a current licensee</a:t>
            </a:r>
          </a:p>
          <a:p>
            <a:r>
              <a:t>Notarized</a:t>
            </a:r>
          </a:p>
          <a:p>
            <a:r>
              <a:t>Accurate, complete, and true</a:t>
            </a:r>
          </a:p>
        </p:txBody>
      </p:sp>
    </p:spTree>
  </p:cSld>
  <p:clrMapOvr>
    <a:masterClrMapping/>
  </p:clrMapOvr>
</p:sld>
</file>

<file path=ppt/slides/slide6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is the primary</a:t>
            </a:r>
          </a:p>
          <a:p>
            <a:r>
              <a:t>source of funding for Social Security</a:t>
            </a:r>
          </a:p>
          <a:p>
            <a:r>
              <a:t>benefits?</a:t>
            </a:r>
          </a:p>
          <a:p>
            <a:r>
              <a:t>Employer and employee payroll taxes</a:t>
            </a:r>
          </a:p>
          <a:p>
            <a:r>
              <a:t>Federal income tax</a:t>
            </a:r>
          </a:p>
        </p:txBody>
      </p:sp>
    </p:spTree>
  </p:cSld>
  <p:clrMapOvr>
    <a:masterClrMapping/>
  </p:clrMapOvr>
</p:sld>
</file>

<file path=ppt/slides/slide6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State sales tax</a:t>
            </a:r>
          </a:p>
          <a:p>
            <a:br/>
            <a:pPr>
              <a:defRPr sz="1200" i="1"/>
            </a:pPr>
            <a:r>
              <a:t>Note: the primary</a:t>
            </a:r>
            <a:br/>
            <a:r>
              <a:t>source of funding for Social Security</a:t>
            </a:r>
            <a:br/>
            <a:r>
              <a:t>benefits?</a:t>
            </a:r>
            <a:br/>
            <a:r>
              <a:t>Employer and employee payroll taxes</a:t>
            </a:r>
            <a:br/>
            <a:r>
              <a:t>Federal income tax</a:t>
            </a:r>
            <a:br/>
            <a:r>
              <a:t>Investment earnings from Social Security</a:t>
            </a:r>
            <a:br/>
            <a:r>
              <a:t>reserves</a:t>
            </a:r>
            <a:br/>
            <a:r>
              <a:t>x) e State sales tax</a:t>
            </a:r>
            <a:br/>
            <a:r>
              <a:t>Proceed =&gt;</a:t>
            </a:r>
            <a:br/>
            <a:r>
              <a:t>% Social Security is primarily funded through</a:t>
            </a:r>
            <a:br/>
            <a:r>
              <a:t>__pavro...</a:t>
            </a:r>
          </a:p>
        </p:txBody>
      </p:sp>
    </p:spTree>
  </p:cSld>
  <p:clrMapOvr>
    <a:masterClrMapping/>
  </p:clrMapOvr>
</p:sld>
</file>

<file path=ppt/slides/slide6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of the following individuals are</a:t>
            </a:r>
          </a:p>
          <a:p>
            <a:r>
              <a:t>required to contribute to Social</a:t>
            </a:r>
          </a:p>
          <a:p>
            <a:r>
              <a:t>Security EXCEPT:</a:t>
            </a:r>
          </a:p>
          <a:p>
            <a:r>
              <a:t>Self-employed workers</a:t>
            </a:r>
          </a:p>
        </p:txBody>
      </p:sp>
    </p:spTree>
  </p:cSld>
  <p:clrMapOvr>
    <a:masterClrMapping/>
  </p:clrMapOvr>
</p:sld>
</file>

<file path=ppt/slides/slide6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Railroad workers covered under the</a:t>
            </a:r>
            <a:br/>
            <a:r>
              <a:t>Railroad Retirement System</a:t>
            </a:r>
          </a:p>
          <a:p>
            <a:br/>
            <a:pPr>
              <a:defRPr sz="1200" i="1"/>
            </a:pPr>
            <a:r>
              <a:t>Note: Railroad workers are covered by the Railroad</a:t>
            </a:r>
            <a:br/>
            <a:r>
              <a:t>&gt;|</a:t>
            </a:r>
            <a:br/>
            <a:r>
              <a:t>% 4a ..rancelicense.myabsorb.com (</a:t>
            </a:r>
            <a:br/>
            <a:r>
              <a:t>&lt; } + [22]...</a:t>
            </a:r>
          </a:p>
        </p:txBody>
      </p:sp>
    </p:spTree>
  </p:cSld>
  <p:clrMapOvr>
    <a:masterClrMapping/>
  </p:clrMapOvr>
</p:sld>
</file>

<file path=ppt/slides/slide6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classification of risk assigned to</a:t>
            </a:r>
          </a:p>
          <a:p>
            <a:r>
              <a:t>applicants who meet an insurer’s</a:t>
            </a:r>
          </a:p>
          <a:p>
            <a:r>
              <a:t>underwriting standards without</a:t>
            </a:r>
          </a:p>
          <a:p>
            <a:r>
              <a:t>requiring special rating adjustments:</a:t>
            </a:r>
          </a:p>
          <a:p>
            <a:r>
              <a:t>Declined risk</a:t>
            </a:r>
          </a:p>
        </p:txBody>
      </p:sp>
    </p:spTree>
  </p:cSld>
  <p:clrMapOvr>
    <a:masterClrMapping/>
  </p:clrMapOvr>
</p:sld>
</file>

<file path=ppt/slides/slide6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Substandard risk</a:t>
            </a:r>
          </a:p>
          <a:p>
            <a:r>
              <a:t>☐ s) e Preferred risk</a:t>
            </a:r>
          </a:p>
          <a:p>
            <a:r>
              <a:t>☐ Standard risk</a:t>
            </a:r>
          </a:p>
          <a:p>
            <a:br/>
            <a:pPr>
              <a:defRPr sz="1200" i="1"/>
            </a:pPr>
            <a:r>
              <a:t>Note: without</a:t>
            </a:r>
            <a:br/>
            <a:r>
              <a:t>requiring special rating adjustments:</a:t>
            </a:r>
            <a:br/>
            <a:r>
              <a:t>Declined risk</a:t>
            </a:r>
            <a:br/>
            <a:r>
              <a:t>x) Substandard risk</a:t>
            </a:r>
            <a:br/>
            <a:r>
              <a:t>is) e Preferred risk</a:t>
            </a:r>
            <a:br/>
            <a:r>
              <a:t>g Standard risk</a:t>
            </a:r>
            <a:br/>
            <a:r>
              <a:t>Proceed =&gt;</a:t>
            </a:r>
            <a:br/>
            <a:r>
              <a:t>% Standard risk applies to applicants who meet</a:t>
            </a:r>
            <a:br/>
            <a:r>
              <a:t>I&lt; A &gt;|</a:t>
            </a:r>
            <a:br/>
            <a:r>
              <a:t>&amp; a ..rancelicense.myabsorb.com (</a:t>
            </a:r>
            <a:br/>
            <a:r>
              <a:t>&lt; &gt; + [22]...</a:t>
            </a:r>
          </a:p>
        </p:txBody>
      </p:sp>
    </p:spTree>
  </p:cSld>
  <p:clrMapOvr>
    <a:masterClrMapping/>
  </p:clrMapOvr>
</p:sld>
</file>

<file path=ppt/slides/slide6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is a primary</a:t>
            </a:r>
          </a:p>
          <a:p>
            <a:r>
              <a:t>advantage of a Roth IRA overa</a:t>
            </a:r>
          </a:p>
          <a:p>
            <a:r>
              <a:t>traditional IRA?</a:t>
            </a:r>
          </a:p>
          <a:p>
            <a:r>
              <a:t>Withdrawals in retirement are tax-free if</a:t>
            </a:r>
          </a:p>
          <a:p>
            <a:r>
              <a:t>conditions are met</a:t>
            </a:r>
          </a:p>
        </p:txBody>
      </p:sp>
    </p:spTree>
  </p:cSld>
  <p:clrMapOvr>
    <a:masterClrMapping/>
  </p:clrMapOvr>
</p:sld>
</file>

<file path=ppt/slides/slide6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Contributions are tax-deductible</a:t>
            </a:r>
          </a:p>
          <a:p>
            <a:br/>
            <a:pPr>
              <a:defRPr sz="1200" i="1"/>
            </a:pPr>
            <a:r>
              <a:t>Note: a primary</a:t>
            </a:r>
            <a:br/>
            <a:r>
              <a:t>advantage of a Roth IRA overa</a:t>
            </a:r>
            <a:br/>
            <a:r>
              <a:t>traditional IRA?</a:t>
            </a:r>
            <a:br/>
            <a:r>
              <a:t>Withdrawals in retirement are tax-free if</a:t>
            </a:r>
            <a:br/>
            <a:r>
              <a:t>conditions are met</a:t>
            </a:r>
            <a:br/>
            <a:r>
              <a:t>Investment growth is taxed annually</a:t>
            </a:r>
            <a:br/>
            <a:r>
              <a:t>Required minimum distributions begin at</a:t>
            </a:r>
            <a:br/>
            <a:r>
              <a:t>x) e Contributions are tax-deductible</a:t>
            </a:r>
            <a:br/>
            <a:r>
              <a:t>Proceed =&gt;</a:t>
            </a:r>
            <a:br/>
            <a:r>
              <a:t>% ARoth...</a:t>
            </a:r>
          </a:p>
        </p:txBody>
      </p:sp>
    </p:spTree>
  </p:cSld>
  <p:clrMapOvr>
    <a:masterClrMapping/>
  </p:clrMapOvr>
</p:sld>
</file>

<file path=ppt/slides/slide6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of the following are valid uses of</a:t>
            </a:r>
          </a:p>
          <a:p>
            <a:r>
              <a:t>corporate-owned life insurance (COLI)</a:t>
            </a:r>
          </a:p>
          <a:p>
            <a:r>
              <a:t>EXCEPT:</a:t>
            </a:r>
          </a:p>
          <a:p>
            <a:r>
              <a:t>Providing immediate liquidity for a</a:t>
            </a:r>
          </a:p>
          <a:p>
            <a:r>
              <a:t>business’s cash flow</a:t>
            </a:r>
          </a:p>
          <a:p>
            <a:r>
              <a:t>Funding deferred compensation</a:t>
            </a:r>
          </a:p>
          <a:p>
            <a:r>
              <a:t>arrangements</a:t>
            </a:r>
          </a:p>
          <a:p>
            <a:r>
              <a:t>Funding executive benefit plans</a:t>
            </a:r>
          </a:p>
          <a:p>
            <a:r>
              <a:t>Covering the financial loss of a key</a:t>
            </a:r>
          </a:p>
          <a:p>
            <a:r>
              <a:t>employee’s death</a:t>
            </a:r>
          </a:p>
        </p:txBody>
      </p:sp>
    </p:spTree>
  </p:cSld>
  <p:clrMapOvr>
    <a:masterClrMapping/>
  </p:clrMapOvr>
</p:sld>
</file>

<file path=ppt/slides/slide6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is a primary</a:t>
            </a:r>
          </a:p>
          <a:p>
            <a:r>
              <a:t>consideration when determining the</a:t>
            </a:r>
          </a:p>
          <a:p>
            <a:r>
              <a:t>amount of life insurance coverage</a:t>
            </a:r>
          </a:p>
          <a:p>
            <a:r>
              <a:t>needed?</a:t>
            </a:r>
          </a:p>
          <a:p>
            <a:r>
              <a:t>The insurance company's available policy</a:t>
            </a:r>
          </a:p>
        </p:txBody>
      </p:sp>
    </p:spTree>
  </p:cSld>
  <p:clrMapOvr>
    <a:masterClrMapping/>
  </p:clrMapOvr>
</p:sld>
</file>

<file path=ppt/slides/slide6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a primary</a:t>
            </a:r>
            <a:br/>
            <a:r>
              <a:t>consideration when determining the</a:t>
            </a:r>
            <a:br/>
            <a:r>
              <a:t>amount of life insurance coverage</a:t>
            </a:r>
            <a:br/>
            <a:r>
              <a:t>needed?</a:t>
            </a:r>
            <a:br/>
            <a:r>
              <a:t>The insurance company's available policy</a:t>
            </a:r>
            <a:br/>
            <a:r>
              <a:t>options</a:t>
            </a:r>
            <a:br/>
            <a:r>
              <a:t>The insured’s personal preference</a:t>
            </a:r>
            <a:br/>
            <a:r>
              <a:t>The insured’s future earnings potential and</a:t>
            </a:r>
            <a:br/>
            <a:r>
              <a:t>financial obligations</a:t>
            </a:r>
            <a:br/>
            <a:r>
              <a:t>The current in...</a:t>
            </a:r>
          </a:p>
        </p:txBody>
      </p:sp>
    </p:spTree>
  </p:cSld>
  <p:clrMapOvr>
    <a:masterClrMapping/>
  </p:clrMapOvr>
</p:sld>
</file>

<file path=ppt/slides/slide6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Lisa, a 40-year-old professional, wants</a:t>
            </a:r>
          </a:p>
          <a:p>
            <a:r>
              <a:t>to ensure that her children can afford</a:t>
            </a:r>
          </a:p>
          <a:p>
            <a:r>
              <a:t>college even if she passes away</a:t>
            </a:r>
          </a:p>
          <a:p>
            <a:r>
              <a:t>unexpectedly. What is the most</a:t>
            </a:r>
          </a:p>
          <a:p>
            <a:r>
              <a:t>appropriate life insurance strategy?</a:t>
            </a:r>
          </a:p>
          <a:p>
            <a:r>
              <a:t>A 303 stock redemption plan</a:t>
            </a:r>
          </a:p>
          <a:p>
            <a:r>
              <a:t>Term life insurance with a death benefit</a:t>
            </a:r>
          </a:p>
          <a:p>
            <a:r>
              <a:t>sufficient to cover future education</a:t>
            </a:r>
          </a:p>
          <a:p>
            <a:r>
              <a:t>expenses</a:t>
            </a:r>
          </a:p>
          <a:p>
            <a:r>
              <a:t>A business-owned key person insurance</a:t>
            </a:r>
          </a:p>
          <a:p>
            <a:r>
              <a:t>Whole life insurance policy with cash</a:t>
            </a:r>
          </a:p>
          <a:p>
            <a:r>
              <a:t>accumulation</a:t>
            </a:r>
          </a:p>
        </p:txBody>
      </p:sp>
    </p:spTree>
  </p:cSld>
  <p:clrMapOvr>
    <a:masterClrMapping/>
  </p:clrMapOvr>
</p:sld>
</file>

<file path=ppt/slides/slide6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the most</a:t>
            </a:r>
            <a:br/>
            <a:r>
              <a:t>appropriate life insurance strategy?</a:t>
            </a:r>
            <a:br/>
            <a:r>
              <a:t>A 303 stock redemption plan</a:t>
            </a:r>
            <a:br/>
            <a:r>
              <a:t>Term life insurance with a death benefit</a:t>
            </a:r>
            <a:br/>
            <a:r>
              <a:t>sufficient to cover future education</a:t>
            </a:r>
            <a:br/>
            <a:r>
              <a:t>expenses</a:t>
            </a:r>
            <a:br/>
            <a:r>
              <a:t>A business-owned key person insurance</a:t>
            </a:r>
            <a:br/>
            <a:r>
              <a:t>Whole life insurance policy with cash</a:t>
            </a:r>
            <a:br/>
            <a:r>
              <a:t>accumulation</a:t>
            </a:r>
            <a:br/>
            <a:r>
              <a:t>...</a:t>
            </a:r>
          </a:p>
        </p:txBody>
      </p:sp>
    </p:spTree>
  </p:cSld>
  <p:clrMapOvr>
    <a:masterClrMapping/>
  </p:clrMapOvr>
</p:sld>
</file>

<file path=ppt/slides/slide6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document must nonresident</a:t>
            </a:r>
          </a:p>
        </p:txBody>
      </p:sp>
    </p:spTree>
  </p:cSld>
  <p:clrMapOvr>
    <a:masterClrMapping/>
  </p:clrMapOvr>
</p:sld>
</file>

<file path=ppt/slides/slide6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producers provide to obtain</a:t>
            </a:r>
            <a:br/>
            <a:r>
              <a:t>a license in Arizona?</a:t>
            </a:r>
            <a:br/>
            <a:br/>
            <a:r>
              <a:t>A letter of recommendation</a:t>
            </a:r>
            <a:br/>
            <a:br/>
            <a:r>
              <a:t>A certificate of good standing from their local</a:t>
            </a:r>
            <a:br/>
            <a:r>
              <a:t>chamber of commerce</a:t>
            </a:r>
            <a:br/>
            <a:br/>
            <a:r>
              <a:t>A credit report</a:t>
            </a:r>
            <a:br/>
            <a:r>
              <a:t>A licensure application from their home state</a:t>
            </a:r>
            <a:br/>
            <a:r>
              <a:t>or an Arizona uniform application</a:t>
            </a:r>
          </a:p>
        </p:txBody>
      </p:sp>
    </p:spTree>
  </p:cSld>
  <p:clrMapOvr>
    <a:masterClrMapping/>
  </p:clrMapOvr>
</p:sld>
</file>

<file path=ppt/slides/slide6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life insurance contract where the</a:t>
            </a:r>
          </a:p>
          <a:p>
            <a:r>
              <a:t>employer or organization owns the</a:t>
            </a:r>
          </a:p>
          <a:p>
            <a:r>
              <a:t>policy and employees receive</a:t>
            </a:r>
          </a:p>
          <a:p>
            <a:r>
              <a:t>certificates of insurance:</a:t>
            </a:r>
          </a:p>
        </p:txBody>
      </p:sp>
    </p:spTree>
  </p:cSld>
  <p:clrMapOvr>
    <a:masterClrMapping/>
  </p:clrMapOvr>
</p:sld>
</file>

<file path=ppt/slides/slide6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Credit life insurance</a:t>
            </a:r>
          </a:p>
          <a:p>
            <a:pPr>
              <a:defRPr b="1"/>
            </a:pPr>
            <a:r>
              <a:t>✅ @ Kevceconincuranes</a:t>
            </a:r>
          </a:p>
          <a:p>
            <a:r>
              <a:t>☐ Group life insurance</a:t>
            </a:r>
          </a:p>
        </p:txBody>
      </p:sp>
    </p:spTree>
  </p:cSld>
  <p:clrMapOvr>
    <a:masterClrMapping/>
  </p:clrMapOvr>
</p:sld>
</file>

<file path=ppt/slides/slide6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federal law that protects employees'</a:t>
            </a:r>
          </a:p>
          <a:p>
            <a:r>
              <a:t>retirement plan benefits by setting</a:t>
            </a:r>
          </a:p>
          <a:p>
            <a:r>
              <a:t>participation, funding, and reporting</a:t>
            </a:r>
          </a:p>
          <a:p>
            <a:r>
              <a:t>requirements:</a:t>
            </a:r>
          </a:p>
        </p:txBody>
      </p:sp>
    </p:spTree>
  </p:cSld>
  <p:clrMapOvr>
    <a:masterClrMapping/>
  </p:clrMapOvr>
</p:sld>
</file>

<file path=ppt/slides/slide6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following benefits are provided</a:t>
            </a:r>
          </a:p>
          <a:p>
            <a:r>
              <a:t>under Social Security EXCEPT:</a:t>
            </a:r>
          </a:p>
          <a:p>
            <a:r>
              <a:t>Retirement income</a:t>
            </a:r>
          </a:p>
          <a:p>
            <a:r>
              <a:t>Disability income</a:t>
            </a:r>
          </a:p>
        </p:txBody>
      </p:sp>
    </p:spTree>
  </p:cSld>
  <p:clrMapOvr>
    <a:masterClrMapping/>
  </p:clrMapOvr>
</p:sld>
</file>

<file path=ppt/slides/slide6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|</a:t>
            </a:r>
            <a:br/>
            <a:br/>
            <a:r>
              <a:t>Question 115 Select the appropriate response</a:t>
            </a:r>
            <a:br/>
            <a:br/>
            <a:r>
              <a:t>The following benefits are provided</a:t>
            </a:r>
            <a:br/>
            <a:r>
              <a:t>under Social Security EXCEPT:</a:t>
            </a:r>
            <a:br/>
            <a:br/>
            <a:r>
              <a:t>Retirement income</a:t>
            </a:r>
            <a:br/>
            <a:r>
              <a:t>Disability income</a:t>
            </a:r>
          </a:p>
          <a:p>
            <a:r>
              <a:t>☐ Tax-free investment growth</a:t>
            </a:r>
            <a:br/>
            <a:br/>
            <a:r>
              <a:t>Survivor benefits</a:t>
            </a:r>
          </a:p>
          <a:p>
            <a:r>
              <a:t>☐ nvestment growth—benefits may be taxable based</a:t>
            </a:r>
            <a:br/>
            <a:r>
              <a:t>on total annual income, unlike tax-deferred accounts</a:t>
            </a:r>
            <a:br/>
            <a:br/>
            <a:r>
              <a:t>&gt;|</a:t>
            </a:r>
            <a:br/>
            <a:br/>
            <a:r>
              <a:t>% 4a ..rancelicense.myabsorb.com (©</a:t>
            </a:r>
            <a:br/>
            <a:br/>
            <a:r>
              <a:t>&lt; + [22]</a:t>
            </a:r>
          </a:p>
          <a:p>
            <a:br/>
            <a:pPr>
              <a:defRPr sz="1200" i="1"/>
            </a:pPr>
            <a:r>
              <a:t>Note: Social Security does not provide tax-free</a:t>
            </a:r>
            <a:br/>
            <a:r>
              <a:t>investment growth—benefits may be taxable based</a:t>
            </a:r>
            <a:br/>
            <a:r>
              <a:t>on total annual income, unlike tax-deferred accounts</a:t>
            </a:r>
            <a:br/>
            <a:r>
              <a:t>&gt;|</a:t>
            </a:r>
            <a:br/>
            <a:r>
              <a:t>% 4a ..rancelicense.myabsorb.com (</a:t>
            </a:r>
            <a:br/>
            <a:r>
              <a:t>&lt; + [22]...</a:t>
            </a:r>
          </a:p>
        </p:txBody>
      </p:sp>
    </p:spTree>
  </p:cSld>
  <p:clrMapOvr>
    <a:masterClrMapping/>
  </p:clrMapOvr>
</p:sld>
</file>

<file path=ppt/slides/slide6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John owns a small business and is</a:t>
            </a:r>
          </a:p>
          <a:p>
            <a:r>
              <a:t>looking for life insurance that will allow</a:t>
            </a:r>
          </a:p>
          <a:p>
            <a:r>
              <a:t>him to provide financial security for his</a:t>
            </a:r>
          </a:p>
          <a:p>
            <a:r>
              <a:t>family and business partners. He also</a:t>
            </a:r>
          </a:p>
          <a:p>
            <a:r>
              <a:t>wants a policy that builds cash value</a:t>
            </a:r>
          </a:p>
        </p:txBody>
      </p:sp>
    </p:spTree>
  </p:cSld>
  <p:clrMapOvr>
    <a:masterClrMapping/>
  </p:clrMapOvr>
</p:sld>
</file>

<file path=ppt/slides/slide6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200" i="1"/>
            </a:pPr>
            <a:r>
              <a:t>Note: looking for life insurance that will allow</a:t>
            </a:r>
            <a:br/>
            <a:r>
              <a:t>him to provide financial security for his</a:t>
            </a:r>
            <a:br/>
            <a:r>
              <a:t>family and business partners. He also</a:t>
            </a:r>
            <a:br/>
            <a:r>
              <a:t>wants a policy that builds cash value</a:t>
            </a:r>
            <a:br/>
            <a:r>
              <a:t>over time. Which type of insurance is</a:t>
            </a:r>
            <a:br/>
            <a:r>
              <a:t>best suited for John?</a:t>
            </a:r>
            <a:br/>
            <a:r>
              <a:t>Accidental death insurance</a:t>
            </a:r>
            <a:br/>
            <a:r>
              <a:t>Pr...</a:t>
            </a:r>
          </a:p>
        </p:txBody>
      </p:sp>
    </p:spTree>
  </p:cSld>
  <p:clrMapOvr>
    <a:masterClrMapping/>
  </p:clrMapOvr>
</p:sld>
</file>

<file path=ppt/slides/slide6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Mary wants an annuity that provides</a:t>
            </a:r>
          </a:p>
        </p:txBody>
      </p:sp>
    </p:spTree>
  </p:cSld>
  <p:clrMapOvr>
    <a:masterClrMapping/>
  </p:clrMapOvr>
</p:sld>
</file>

<file path=ppt/slides/slide6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ncome payments shortly after</a:t>
            </a:r>
            <a:br/>
            <a:r>
              <a:t>purchasing it. Which type of annuity</a:t>
            </a:r>
            <a:br/>
            <a:r>
              <a:t>best suits her needs?</a:t>
            </a:r>
            <a:br/>
            <a:br/>
            <a:r>
              <a:t>Immediate annuity</a:t>
            </a:r>
          </a:p>
          <a:p>
            <a:r>
              <a:t>☐ Indexed annuity</a:t>
            </a:r>
            <a:br/>
            <a:br/>
            <a:r>
              <a:t>€ © Deferred annuity</a:t>
            </a:r>
          </a:p>
          <a:p>
            <a:r>
              <a:t>☐ Variable annuity</a:t>
            </a:r>
          </a:p>
          <a:p>
            <a:r>
              <a:t>☐ X Immediate annuities begin making payments</a:t>
            </a:r>
            <a:br/>
            <a:br/>
            <a:r>
              <a:t>a a a a Ye cert a</a:t>
            </a:r>
            <a:br/>
            <a:br/>
            <a:r>
              <a:t>A &gt;|</a:t>
            </a:r>
            <a:br/>
            <a:br/>
            <a:r>
              <a:t>&amp; a ..rancelicense.myabsorb.com (©</a:t>
            </a:r>
            <a:br/>
            <a:br/>
            <a:r>
              <a:t>&lt; &gt; + [22]</a:t>
            </a:r>
          </a:p>
        </p:txBody>
      </p:sp>
    </p:spTree>
  </p:cSld>
  <p:clrMapOvr>
    <a:masterClrMapping/>
  </p:clrMapOvr>
</p:sld>
</file>

<file path=ppt/slides/slide6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Michael is reviewing his life insurance</a:t>
            </a:r>
          </a:p>
          <a:p>
            <a:r>
              <a:t>policy options. He wants a policy that</a:t>
            </a:r>
          </a:p>
          <a:p>
            <a:r>
              <a:t>allows him to adjust his premium</a:t>
            </a:r>
          </a:p>
          <a:p>
            <a:r>
              <a:t>payments based on his changing</a:t>
            </a:r>
          </a:p>
          <a:p>
            <a:r>
              <a:t>financial situation. Which type of policy</a:t>
            </a:r>
          </a:p>
          <a:p>
            <a:r>
              <a:t>should he consider?</a:t>
            </a:r>
          </a:p>
        </p:txBody>
      </p:sp>
    </p:spTree>
  </p:cSld>
  <p:clrMapOvr>
    <a:masterClrMapping/>
  </p:clrMapOvr>
</p:sld>
</file>

<file path=ppt/slides/slide6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Term life insurance</a:t>
            </a:r>
            <a:br/>
            <a:r>
              <a:t>3) Whole life insurance</a:t>
            </a:r>
          </a:p>
          <a:p>
            <a:r>
              <a:t>☐ e Variable life insurance</a:t>
            </a:r>
            <a:br/>
            <a:br/>
            <a:r>
              <a:t>Universal life insurance</a:t>
            </a:r>
          </a:p>
          <a:p>
            <a:br/>
            <a:pPr>
              <a:defRPr sz="1200" i="1"/>
            </a:pPr>
            <a:r>
              <a:t>Note: reviewing his life insurance</a:t>
            </a:r>
            <a:br/>
            <a:r>
              <a:t>policy options. He wants a policy that</a:t>
            </a:r>
            <a:br/>
            <a:r>
              <a:t>allows him to adjust his premium</a:t>
            </a:r>
            <a:br/>
            <a:r>
              <a:t>payments based on his changing</a:t>
            </a:r>
            <a:br/>
            <a:r>
              <a:t>financial situation. Which type of policy</a:t>
            </a:r>
            <a:br/>
            <a:r>
              <a:t>should he consider?</a:t>
            </a:r>
            <a:br/>
            <a:r>
              <a:t>x) Term life insurance</a:t>
            </a:r>
            <a:br/>
            <a:r>
              <a:t>3) Whole life insurance</a:t>
            </a:r>
            <a:br/>
            <a:r>
              <a:t>x) e Vari...</a:t>
            </a:r>
          </a:p>
        </p:txBody>
      </p:sp>
    </p:spTree>
  </p:cSld>
  <p:clrMapOvr>
    <a:masterClrMapping/>
  </p:clrMapOvr>
</p:sld>
</file>

<file path=ppt/slides/slide6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Lisa is 55 and withdrawing money</a:t>
            </a:r>
          </a:p>
          <a:p>
            <a:r>
              <a:t>from her 401(k) plan. What penalty</a:t>
            </a:r>
          </a:p>
          <a:p>
            <a:r>
              <a:t>might she face?</a:t>
            </a:r>
          </a:p>
          <a:p>
            <a:r>
              <a:t>A tax-free withdrawal if used for non-</a:t>
            </a:r>
          </a:p>
          <a:p>
            <a:r>
              <a:t>retirement expenses</a:t>
            </a:r>
          </a:p>
          <a:p>
            <a:r>
              <a:t>No penalty, since she is over 50</a:t>
            </a:r>
          </a:p>
        </p:txBody>
      </p:sp>
    </p:spTree>
  </p:cSld>
  <p:clrMapOvr>
    <a:masterClrMapping/>
  </p:clrMapOvr>
</p:sld>
</file>

<file path=ppt/slides/slide6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S|</a:t>
            </a:r>
            <a:br/>
            <a:br/>
            <a:r>
              <a:t>Question 119 Select the appropriate response</a:t>
            </a:r>
            <a:br/>
            <a:br/>
            <a:r>
              <a:t>Lisa is 55 and withdrawing money</a:t>
            </a:r>
            <a:br/>
            <a:r>
              <a:t>from her 401(k) plan. What penalty</a:t>
            </a:r>
            <a:br/>
            <a:r>
              <a:t>might she face?</a:t>
            </a:r>
            <a:br/>
            <a:br/>
            <a:r>
              <a:t>A tax-free withdrawal if used for non-</a:t>
            </a:r>
            <a:br/>
            <a:r>
              <a:t>retirement expenses</a:t>
            </a:r>
            <a:br/>
            <a:br/>
            <a:r>
              <a:t>No penalty, since she is over 50</a:t>
            </a:r>
          </a:p>
          <a:p>
            <a:r>
              <a:t>☐ A 10% penalty, unless an exception applies</a:t>
            </a:r>
            <a:br/>
            <a:br/>
            <a:r>
              <a:t>A 25% penalty on all withdrawals</a:t>
            </a:r>
          </a:p>
          <a:p>
            <a:br/>
            <a:pPr>
              <a:defRPr sz="1200" i="1"/>
            </a:pPr>
            <a:r>
              <a:t>Note: 55 and withdrawing money</a:t>
            </a:r>
            <a:br/>
            <a:r>
              <a:t>from her 401(k) plan. What penalty</a:t>
            </a:r>
            <a:br/>
            <a:r>
              <a:t>might she face?</a:t>
            </a:r>
            <a:br/>
            <a:r>
              <a:t>A tax-free withdrawal if used for non-</a:t>
            </a:r>
            <a:br/>
            <a:r>
              <a:t>retirement expenses</a:t>
            </a:r>
            <a:br/>
            <a:r>
              <a:t>No penalty, since she is over 50</a:t>
            </a:r>
            <a:br/>
            <a:r>
              <a:t>g A 10% penalty, unless an exception applies</a:t>
            </a:r>
            <a:br/>
            <a:r>
              <a:t>A 25% penalty on all withdrawals</a:t>
            </a:r>
            <a:br/>
            <a:r>
              <a:t>ds E...</a:t>
            </a:r>
          </a:p>
        </p:txBody>
      </p:sp>
    </p:spTree>
  </p:cSld>
  <p:clrMapOvr>
    <a:masterClrMapping/>
  </p:clrMapOvr>
</p:sld>
</file>

<file path=ppt/slides/slide6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process by which a stock</a:t>
            </a:r>
          </a:p>
        </p:txBody>
      </p:sp>
    </p:spTree>
  </p:cSld>
  <p:clrMapOvr>
    <a:masterClrMapping/>
  </p:clrMapOvr>
</p:sld>
</file>

<file path=ppt/slides/slide6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|</a:t>
            </a:r>
            <a:br/>
            <a:br/>
            <a:r>
              <a:t>Question 120 Select the appropriate response</a:t>
            </a:r>
            <a:br/>
            <a:br/>
            <a:r>
              <a:t>The process by which a stock</a:t>
            </a:r>
          </a:p>
          <a:p>
            <a:r>
              <a:t>☐ nsurance company transitions into a</a:t>
            </a:r>
            <a:br/>
            <a:r>
              <a:t>mutual insurance company:</a:t>
            </a:r>
            <a:br/>
            <a:br/>
            <a:r>
              <a:t>Reciprocal conversion</a:t>
            </a:r>
          </a:p>
          <a:p>
            <a:r>
              <a:t>☐ Mutualization</a:t>
            </a:r>
            <a:br/>
            <a:r>
              <a:t>Retained earnings allocation</a:t>
            </a:r>
            <a:br/>
            <a:br/>
            <a:r>
              <a:t>Demutualization</a:t>
            </a:r>
          </a:p>
          <a:p>
            <a:r>
              <a:t>☐ nto a mutual company, meaning policyholders</a:t>
            </a:r>
            <a:br/>
            <a:br/>
            <a:r>
              <a:t>become the owners.</a:t>
            </a:r>
            <a:br/>
            <a:br/>
            <a:r>
              <a:t>&gt;|</a:t>
            </a:r>
            <a:br/>
            <a:br/>
            <a:r>
              <a:t>% 4a ..rancelicense.myabsorb.com (©</a:t>
            </a:r>
            <a:br/>
            <a:br/>
            <a:r>
              <a:t>&lt; + [22]</a:t>
            </a:r>
          </a:p>
          <a:p>
            <a:br/>
            <a:pPr>
              <a:defRPr sz="1200" i="1"/>
            </a:pPr>
            <a:r>
              <a:t>Note: 9 Mutualization is when a stock company converts</a:t>
            </a:r>
            <a:br/>
            <a:r>
              <a:t>into a mutual company, meaning policyholders</a:t>
            </a:r>
            <a:br/>
            <a:r>
              <a:t>become the owners.</a:t>
            </a:r>
            <a:br/>
            <a:r>
              <a:t>&gt;|</a:t>
            </a:r>
            <a:br/>
            <a:r>
              <a:t>% 4a ..rancelicense.myabsorb.com (</a:t>
            </a:r>
            <a:br/>
            <a:r>
              <a:t>&lt; + [22]...</a:t>
            </a:r>
          </a:p>
        </p:txBody>
      </p:sp>
    </p:spTree>
  </p:cSld>
  <p:clrMapOvr>
    <a:masterClrMapping/>
  </p:clrMapOvr>
</p:sld>
</file>

<file path=ppt/slides/slide6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happens when a life insurance</a:t>
            </a:r>
          </a:p>
          <a:p>
            <a:r>
              <a:t>policy owner selects the Paid-Up</a:t>
            </a:r>
          </a:p>
          <a:p>
            <a:r>
              <a:t>Additions Dividend Option?</a:t>
            </a:r>
          </a:p>
          <a:p>
            <a:r>
              <a:t>The policy term is extended</a:t>
            </a:r>
          </a:p>
          <a:p>
            <a:r>
              <a:t>The policy is automatically renewed</a:t>
            </a:r>
          </a:p>
          <a:p>
            <a:r>
              <a:t>Additional whole life insurance is purchased</a:t>
            </a:r>
          </a:p>
          <a:p>
            <a:r>
              <a:t>using dividends</a:t>
            </a:r>
          </a:p>
        </p:txBody>
      </p:sp>
    </p:spTree>
  </p:cSld>
  <p:clrMapOvr>
    <a:masterClrMapping/>
  </p:clrMapOvr>
</p:sld>
</file>

<file path=ppt/slides/slide6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extended</a:t>
            </a:r>
            <a:br/>
            <a:r>
              <a:t>The policy is automatically renewed</a:t>
            </a:r>
            <a:br/>
            <a:r>
              <a:t>Additional whole life insurance is purchased</a:t>
            </a:r>
            <a:br/>
            <a:r>
              <a:t>using dividends</a:t>
            </a:r>
            <a:br/>
            <a:r>
              <a:t>Proceed —_</a:t>
            </a:r>
            <a:br/>
            <a:r>
              <a:t>I&lt; A &gt;|</a:t>
            </a:r>
            <a:br/>
            <a:r>
              <a:t>a ..rancelicense.myabsorb.com (</a:t>
            </a:r>
            <a:br/>
            <a:r>
              <a:t>&lt; &gt; +...</a:t>
            </a:r>
          </a:p>
        </p:txBody>
      </p:sp>
    </p:spTree>
  </p:cSld>
  <p:clrMapOvr>
    <a:masterClrMapping/>
  </p:clrMapOvr>
</p:sld>
</file>

<file path=ppt/slides/slide6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plan provides funds for a</a:t>
            </a:r>
          </a:p>
          <a:p>
            <a:r>
              <a:t>partner to buy out a deceased</a:t>
            </a:r>
          </a:p>
          <a:p>
            <a:r>
              <a:t>partner’s share in a business?</a:t>
            </a:r>
          </a:p>
          <a:p>
            <a:r>
              <a:t>Entity Plan</a:t>
            </a:r>
          </a:p>
        </p:txBody>
      </p:sp>
    </p:spTree>
  </p:cSld>
  <p:clrMapOvr>
    <a:masterClrMapping/>
  </p:clrMapOvr>
</p:sld>
</file>

<file path=ppt/slides/slide6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for a</a:t>
            </a:r>
            <a:br/>
            <a:r>
              <a:t>partner to buy out a deceased</a:t>
            </a:r>
            <a:br/>
            <a:r>
              <a:t>partner’s share in a business?</a:t>
            </a:r>
            <a:br/>
            <a:r>
              <a:t>Entity Plan</a:t>
            </a:r>
            <a:br/>
            <a:r>
              <a:t>Proceed =&gt;</a:t>
            </a:r>
            <a:br/>
            <a:r>
              <a:t>I&lt; A &gt;|</a:t>
            </a:r>
            <a:br/>
            <a:r>
              <a:t>a ..rancelicense.myabsorb.com (</a:t>
            </a:r>
            <a:br/>
            <a:r>
              <a:t>&lt; &gt; +...</a:t>
            </a:r>
          </a:p>
        </p:txBody>
      </p:sp>
    </p:spTree>
  </p:cSld>
  <p:clrMapOvr>
    <a:masterClrMapping/>
  </p:clrMapOvr>
</p:sld>
</file>

<file path=ppt/slides/slide6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is not a source of agent</a:t>
            </a:r>
          </a:p>
          <a:p>
            <a:r>
              <a:t>authority?</a:t>
            </a:r>
          </a:p>
        </p:txBody>
      </p:sp>
    </p:spTree>
  </p:cSld>
  <p:clrMapOvr>
    <a:masterClrMapping/>
  </p:clrMapOvr>
</p:sld>
</file>

<file path=ppt/slides/slide6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Absolute</a:t>
            </a:r>
          </a:p>
          <a:p>
            <a:r>
              <a:t>☐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not a source of agent</a:t>
            </a:r>
            <a:br/>
            <a:r>
              <a:t>authority?</a:t>
            </a:r>
            <a:br/>
            <a:r>
              <a:t>Implied</a:t>
            </a:r>
            <a:br/>
            <a:r>
              <a:t>Express</a:t>
            </a:r>
            <a:br/>
            <a:r>
              <a:t>g e Absolute</a:t>
            </a:r>
            <a:br/>
            <a:r>
              <a:t>Proceed —_»&gt;</a:t>
            </a:r>
            <a:br/>
            <a:r>
              <a:t>I&lt; A &gt;|</a:t>
            </a:r>
            <a:br/>
            <a:r>
              <a:t>a ..rancelicense.myabsorb.com (</a:t>
            </a:r>
            <a:br/>
            <a:r>
              <a:t>&lt; &gt; +...</a:t>
            </a:r>
          </a:p>
        </p:txBody>
      </p:sp>
    </p:spTree>
  </p:cSld>
  <p:clrMapOvr>
    <a:masterClrMapping/>
  </p:clrMapOvr>
</p:sld>
</file>

<file path=ppt/slides/slide6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best describes</a:t>
            </a:r>
          </a:p>
          <a:p>
            <a:r>
              <a:t>'Reinsurance'?</a:t>
            </a:r>
          </a:p>
          <a:p>
            <a:r>
              <a:t>A reserve fund set aside by insurance</a:t>
            </a:r>
          </a:p>
          <a:p>
            <a:r>
              <a:t>companies for unexpected claims.</a:t>
            </a:r>
          </a:p>
        </p:txBody>
      </p:sp>
    </p:spTree>
  </p:cSld>
  <p:clrMapOvr>
    <a:masterClrMapping/>
  </p:clrMapOvr>
</p:sld>
</file>

<file path=ppt/slides/slide6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for individuals who have high-risk</a:t>
            </a:r>
            <a:br/>
            <a:r>
              <a:t>profiles.</a:t>
            </a:r>
          </a:p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</p:txBody>
      </p:sp>
    </p:spTree>
  </p:cSld>
  <p:clrMapOvr>
    <a:masterClrMapping/>
  </p:clrMapOvr>
</p:sld>
</file>

<file path=ppt/slides/slide6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can a 'Cash Value Loan'</a:t>
            </a:r>
          </a:p>
          <a:p>
            <a:r>
              <a:t>provision be used for?</a:t>
            </a:r>
          </a:p>
          <a:p>
            <a:r>
              <a:t>@  Borrowing against the policy’s value.</a:t>
            </a:r>
          </a:p>
          <a:p>
            <a:r>
              <a:t>Extending policy term.</a:t>
            </a:r>
          </a:p>
        </p:txBody>
      </p:sp>
    </p:spTree>
  </p:cSld>
  <p:clrMapOvr>
    <a:masterClrMapping/>
  </p:clrMapOvr>
</p:sld>
</file>

<file path=ppt/slides/slide6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</p:txBody>
      </p:sp>
    </p:spTree>
  </p:cSld>
  <p:clrMapOvr>
    <a:masterClrMapping/>
  </p:clrMapOvr>
</p:sld>
</file>

<file path=ppt/slides/slide6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John applies for a life insurance policy</a:t>
            </a:r>
          </a:p>
          <a:p>
            <a:r>
              <a:t>and mentions his skydiving hobby on</a:t>
            </a:r>
          </a:p>
          <a:p>
            <a:r>
              <a:t>the application. What additional step</a:t>
            </a:r>
          </a:p>
          <a:p>
            <a:r>
              <a:t>might the insurance company require</a:t>
            </a:r>
          </a:p>
          <a:p>
            <a:r>
              <a:t>before approving his policy?</a:t>
            </a:r>
          </a:p>
          <a:p>
            <a:r>
              <a:t>A letter of recommendation.</a:t>
            </a:r>
          </a:p>
          <a:p>
            <a:r>
              <a:t>An immediate premium increase.</a:t>
            </a:r>
          </a:p>
          <a:p>
            <a:r>
              <a:t>@  Aspecial aviation questionnaire.</a:t>
            </a:r>
          </a:p>
        </p:txBody>
      </p:sp>
    </p:spTree>
  </p:cSld>
  <p:clrMapOvr>
    <a:masterClrMapping/>
  </p:clrMapOvr>
</p:sld>
</file>

<file path=ppt/slides/slide6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skydiving hobby on</a:t>
            </a:r>
            <a:br/>
            <a:r>
              <a:t>the application. What additional step</a:t>
            </a:r>
            <a:br/>
            <a:r>
              <a:t>might the insurance company require</a:t>
            </a:r>
            <a:br/>
            <a:r>
              <a:t>before approving his policy?</a:t>
            </a:r>
            <a:br/>
            <a:r>
              <a:t>A letter of recommendation.</a:t>
            </a:r>
            <a:br/>
            <a:r>
              <a:t>An immediate premium increase.</a:t>
            </a:r>
            <a:br/>
            <a:r>
              <a:t>@  Aspecial aviation questionnaire.</a:t>
            </a:r>
            <a:br/>
            <a:r>
              <a:t>Proceed -_</a:t>
            </a:r>
            <a:br/>
            <a:r>
              <a:t>I&lt; A &gt;|</a:t>
            </a:r>
            <a:br/>
            <a:r>
              <a:t>a ..rancelicen...</a:t>
            </a:r>
          </a:p>
        </p:txBody>
      </p:sp>
    </p:spTree>
  </p:cSld>
  <p:clrMapOvr>
    <a:masterClrMapping/>
  </p:clrMapOvr>
</p:sld>
</file>

<file path=ppt/slides/slide6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type of annuity offering the highest</a:t>
            </a:r>
          </a:p>
          <a:p>
            <a:r>
              <a:t>possible monthly income to a single</a:t>
            </a:r>
          </a:p>
          <a:p>
            <a:r>
              <a:t>annuitant is known as a(n):</a:t>
            </a:r>
          </a:p>
          <a:p>
            <a:r>
              <a:t>Life Annuity with Period Certain</a:t>
            </a:r>
          </a:p>
          <a:p>
            <a:r>
              <a:t>Joint And Survivor</a:t>
            </a:r>
          </a:p>
          <a:p>
            <a:r>
              <a:t>Systematic Withdrawal</a:t>
            </a:r>
          </a:p>
          <a:p>
            <a:r>
              <a:t>@  Straight Life Annuity</a:t>
            </a:r>
          </a:p>
        </p:txBody>
      </p:sp>
    </p:spTree>
  </p:cSld>
  <p:clrMapOvr>
    <a:masterClrMapping/>
  </p:clrMapOvr>
</p:sld>
</file>

<file path=ppt/slides/slide6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known as a(n):</a:t>
            </a:r>
            <a:br/>
            <a:r>
              <a:t>Life Annuity with Period Certain</a:t>
            </a:r>
            <a:br/>
            <a:r>
              <a:t>Joint And Survivor</a:t>
            </a:r>
            <a:br/>
            <a:r>
              <a:t>Systematic Withdrawal</a:t>
            </a:r>
            <a:br/>
            <a:r>
              <a:t>@  Straight Life Annuity</a:t>
            </a:r>
            <a:br/>
            <a:r>
              <a:t>Proceed =&gt;</a:t>
            </a:r>
            <a:br/>
            <a:r>
              <a:t>I&lt; A &gt;|</a:t>
            </a:r>
            <a:br/>
            <a:r>
              <a:t>a ..rancelicense.myabsorb.com (</a:t>
            </a:r>
            <a:br/>
            <a:r>
              <a:t>&lt; &gt; +...</a:t>
            </a:r>
          </a:p>
        </p:txBody>
      </p:sp>
    </p:spTree>
  </p:cSld>
  <p:clrMapOvr>
    <a:masterClrMapping/>
  </p:clrMapOvr>
</p:sld>
</file>

<file path=ppt/slides/slide6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kind of annuity ties benefits to</a:t>
            </a:r>
          </a:p>
          <a:p>
            <a:r>
              <a:t>market performance?</a:t>
            </a:r>
          </a:p>
        </p:txBody>
      </p:sp>
    </p:spTree>
  </p:cSld>
  <p:clrMapOvr>
    <a:masterClrMapping/>
  </p:clrMapOvr>
</p:sld>
</file>

<file path=ppt/slides/slide6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</p:txBody>
      </p:sp>
    </p:spTree>
  </p:cSld>
  <p:clrMapOvr>
    <a:masterClrMapping/>
  </p:clrMapOvr>
</p:sld>
</file>

<file path=ppt/slides/slide6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happens if an insured individual</a:t>
            </a:r>
          </a:p>
          <a:p>
            <a:r>
              <a:t>dies during the Grace Period of their</a:t>
            </a:r>
          </a:p>
          <a:p>
            <a:r>
              <a:t>life insurance policy?</a:t>
            </a:r>
          </a:p>
          <a:p>
            <a:r>
              <a:t>Full benefits are paid without any</a:t>
            </a:r>
          </a:p>
          <a:p>
            <a:r>
              <a:t>deductions.</a:t>
            </a:r>
          </a:p>
        </p:txBody>
      </p:sp>
    </p:spTree>
  </p:cSld>
  <p:clrMapOvr>
    <a:masterClrMapping/>
  </p:clrMapOvr>
</p:sld>
</file>

<file path=ppt/slides/slide6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The policy's death benefit is reduced by the</a:t>
            </a:r>
            <a:br/>
            <a:r>
              <a:t>unpaid premium.</a:t>
            </a:r>
          </a:p>
          <a:p>
            <a:r>
              <a:t>☐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reduced by the</a:t>
            </a:r>
            <a:br/>
            <a:r>
              <a:t>unpaid premium.</a:t>
            </a:r>
            <a:br/>
            <a:r>
              <a:t>Proceed =&gt;</a:t>
            </a:r>
            <a:br/>
            <a:r>
              <a:t>I&lt; A &gt;|</a:t>
            </a:r>
            <a:br/>
            <a:r>
              <a:t>a ..rancelicense.myabsorb.com (</a:t>
            </a:r>
            <a:br/>
            <a:r>
              <a:t>&lt; &gt; +...</a:t>
            </a:r>
          </a:p>
        </p:txBody>
      </p:sp>
    </p:spTree>
  </p:cSld>
  <p:clrMapOvr>
    <a:masterClrMapping/>
  </p:clrMapOvr>
</p:sld>
</file>

<file path=ppt/slides/slide6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USA Patriot Act requires insurance</a:t>
            </a:r>
          </a:p>
          <a:p>
            <a:r>
              <a:t>companies to establish formal programs for:</a:t>
            </a:r>
          </a:p>
          <a:p>
            <a:r>
              <a:t>) Underwriting speed</a:t>
            </a:r>
          </a:p>
          <a:p>
            <a:r>
              <a:t>@  Anti-money laundering (x)</a:t>
            </a:r>
          </a:p>
        </p:txBody>
      </p:sp>
    </p:spTree>
  </p:cSld>
  <p:clrMapOvr>
    <a:masterClrMapping/>
  </p:clrMapOvr>
</p:sld>
</file>

<file path=ppt/slides/slide6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Policy delivery efficiency</a:t>
            </a:r>
          </a:p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</p:txBody>
      </p:sp>
    </p:spTree>
  </p:cSld>
  <p:clrMapOvr>
    <a:masterClrMapping/>
  </p:clrMapOvr>
</p:sld>
</file>

<file path=ppt/slides/slide6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many times can an applicant</a:t>
            </a:r>
          </a:p>
          <a:p>
            <a:r>
              <a:t>attempt the insurance licensing exam</a:t>
            </a:r>
          </a:p>
          <a:p>
            <a:r>
              <a:t>within a twelve-month period in</a:t>
            </a:r>
          </a:p>
          <a:p>
            <a:r>
              <a:t>Arizona?</a:t>
            </a:r>
          </a:p>
          <a:p>
            <a:r>
              <a:t>Two</a:t>
            </a:r>
          </a:p>
          <a:p>
            <a:r>
              <a:t>Unlimited</a:t>
            </a:r>
          </a:p>
          <a:p>
            <a:r>
              <a:t>Three</a:t>
            </a:r>
          </a:p>
        </p:txBody>
      </p:sp>
    </p:spTree>
  </p:cSld>
  <p:clrMapOvr>
    <a:masterClrMapping/>
  </p:clrMapOvr>
</p:sld>
</file>

<file path=ppt/slides/slide6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Four</a:t>
            </a:r>
          </a:p>
          <a:p>
            <a:r>
              <a:t>☐ a ..rancelicense.myabsorb.com (©</a:t>
            </a:r>
            <a:br/>
            <a:br/>
            <a:r>
              <a:t>&lt; &gt; +</a:t>
            </a:r>
          </a:p>
        </p:txBody>
      </p:sp>
    </p:spTree>
  </p:cSld>
  <p:clrMapOvr>
    <a:masterClrMapping/>
  </p:clrMapOvr>
</p:sld>
</file>

<file path=ppt/slides/slide6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primary purpose of Term</a:t>
            </a:r>
          </a:p>
          <a:p>
            <a:r>
              <a:t>Life Insurance?</a:t>
            </a:r>
          </a:p>
          <a:p>
            <a:r>
              <a:t>To cover multiple individuals under one</a:t>
            </a:r>
          </a:p>
          <a:p>
            <a:r>
              <a:t>PA e To provide temporary coverage for a</a:t>
            </a:r>
          </a:p>
          <a:p>
            <a:r>
              <a:t>epeciied Period</a:t>
            </a:r>
          </a:p>
          <a:p>
            <a:r>
              <a:t>To offer lifelong coverage</a:t>
            </a:r>
          </a:p>
        </p:txBody>
      </p:sp>
    </p:spTree>
  </p:cSld>
  <p:clrMapOvr>
    <a:masterClrMapping/>
  </p:clrMapOvr>
</p:sld>
</file>

<file path=ppt/slides/slide6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To accumulate cash value over time</a:t>
            </a:r>
          </a:p>
          <a:p>
            <a:r>
              <a:t>☐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the primary purpose of Term</a:t>
            </a:r>
            <a:br/>
            <a:r>
              <a:t>Life Insurance?</a:t>
            </a:r>
            <a:br/>
            <a:r>
              <a:t>To cover multiple individuals under one</a:t>
            </a:r>
            <a:br/>
            <a:r>
              <a:t>PA e To provide temporary coverage for a</a:t>
            </a:r>
            <a:br/>
            <a:r>
              <a:t>epeciied Period</a:t>
            </a:r>
            <a:br/>
            <a:r>
              <a:t>To offer lifelong coverage</a:t>
            </a:r>
            <a:br/>
            <a:r>
              <a:t>x To accumulate cash value over time</a:t>
            </a:r>
            <a:br/>
            <a:r>
              <a:t>Proceed —_»&gt;</a:t>
            </a:r>
            <a:br/>
            <a:r>
              <a:t>I&lt; A &gt;|</a:t>
            </a:r>
            <a:br/>
            <a:r>
              <a:t>a ..rancelicense.myabsor...</a:t>
            </a:r>
          </a:p>
        </p:txBody>
      </p:sp>
    </p:spTree>
  </p:cSld>
  <p:clrMapOvr>
    <a:masterClrMapping/>
  </p:clrMapOvr>
</p:sld>
</file>

<file path=ppt/slides/slide6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typical consequence for a</a:t>
            </a:r>
          </a:p>
          <a:p>
            <a:r>
              <a:t>life insurance policy if the insured dies</a:t>
            </a:r>
          </a:p>
          <a:p>
            <a:r>
              <a:t>from engaging in a hazardous hobby?</a:t>
            </a:r>
          </a:p>
          <a:p>
            <a:r>
              <a:t>The policy is transferred to a relative</a:t>
            </a:r>
          </a:p>
          <a:p>
            <a:r>
              <a:t>The death benefit is doubled</a:t>
            </a:r>
          </a:p>
        </p:txBody>
      </p:sp>
    </p:spTree>
  </p:cSld>
  <p:clrMapOvr>
    <a:masterClrMapping/>
  </p:clrMapOvr>
</p:sld>
</file>

<file path=ppt/slides/slide7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The death benefit may be excluded or a</a:t>
            </a:r>
            <a:br/>
            <a:r>
              <a:t>higher premium charged</a:t>
            </a:r>
          </a:p>
          <a:p>
            <a:r>
              <a:t>☐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the typical consequence for a</a:t>
            </a:r>
            <a:br/>
            <a:r>
              <a:t>life insurance policy if the insured dies</a:t>
            </a:r>
            <a:br/>
            <a:r>
              <a:t>from engaging in a hazardous hobby?</a:t>
            </a:r>
            <a:br/>
            <a:r>
              <a:t>The policy is transferred to a relative</a:t>
            </a:r>
            <a:br/>
            <a:r>
              <a:t>The death benefit is doubled</a:t>
            </a:r>
            <a:br/>
            <a:r>
              <a:t>g e The death benefit may be excluded or a</a:t>
            </a:r>
            <a:br/>
            <a:r>
              <a:t>higher premium charged</a:t>
            </a:r>
            <a:br/>
            <a:r>
              <a:t>Proceed...</a:t>
            </a:r>
          </a:p>
        </p:txBody>
      </p:sp>
    </p:spTree>
  </p:cSld>
  <p:clrMapOvr>
    <a:masterClrMapping/>
  </p:clrMapOvr>
</p:sld>
</file>

<file path=ppt/slides/slide7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act governs the sending of</a:t>
            </a:r>
          </a:p>
          <a:p>
            <a:r>
              <a:t>commercial emails and sets rules for</a:t>
            </a:r>
          </a:p>
          <a:p>
            <a:r>
              <a:t>commercial messaging?</a:t>
            </a:r>
          </a:p>
          <a:p>
            <a:r>
              <a:t>@  CAN-SPAM Act of 2003</a:t>
            </a:r>
          </a:p>
          <a:p>
            <a:r>
              <a:t>Telemarketing Sales Rule</a:t>
            </a:r>
          </a:p>
        </p:txBody>
      </p:sp>
    </p:spTree>
  </p:cSld>
  <p:clrMapOvr>
    <a:masterClrMapping/>
  </p:clrMapOvr>
</p:sld>
</file>

<file path=ppt/slides/slide7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</p:txBody>
      </p:sp>
    </p:spTree>
  </p:cSld>
  <p:clrMapOvr>
    <a:masterClrMapping/>
  </p:clrMapOvr>
</p:sld>
</file>

<file path=ppt/slides/slide7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characteristic of a fixed</a:t>
            </a:r>
          </a:p>
          <a:p>
            <a:r>
              <a:t>annuity?</a:t>
            </a:r>
          </a:p>
          <a:p>
            <a:r>
              <a:t>Benefits fluctuate with market</a:t>
            </a:r>
          </a:p>
        </p:txBody>
      </p:sp>
    </p:spTree>
  </p:cSld>
  <p:clrMapOvr>
    <a:masterClrMapping/>
  </p:clrMapOvr>
</p:sld>
</file>

<file path=ppt/slides/slide7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Guaranteed minimum interest rate</a:t>
            </a:r>
          </a:p>
          <a:p>
            <a:r>
              <a:t>☐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characteristic of a fixed</a:t>
            </a:r>
            <a:br/>
            <a:r>
              <a:t>annuity?</a:t>
            </a:r>
            <a:br/>
            <a:r>
              <a:t>Benefits fluctuate with market</a:t>
            </a:r>
            <a:br/>
            <a:r>
              <a:t>g e Guaranteed minimum interest rate</a:t>
            </a:r>
            <a:br/>
            <a:r>
              <a:t>Proceed —_</a:t>
            </a:r>
            <a:br/>
            <a:r>
              <a:t>I&lt; A &gt;|</a:t>
            </a:r>
            <a:br/>
            <a:r>
              <a:t>a ..rancelicense.myabsorb.com (</a:t>
            </a:r>
            <a:br/>
            <a:r>
              <a:t>&lt; &gt; +...</a:t>
            </a:r>
          </a:p>
        </p:txBody>
      </p:sp>
    </p:spTree>
  </p:cSld>
  <p:clrMapOvr>
    <a:masterClrMapping/>
  </p:clrMapOvr>
</p:sld>
</file>

<file path=ppt/slides/slide7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individual applying for an insurance</a:t>
            </a:r>
          </a:p>
          <a:p>
            <a:r>
              <a:t>producer license in Arizona must</a:t>
            </a:r>
          </a:p>
          <a:p>
            <a:r>
              <a:t>affirm that the information provided in</a:t>
            </a:r>
          </a:p>
          <a:p>
            <a:r>
              <a:t>the application is:</a:t>
            </a:r>
          </a:p>
          <a:p>
            <a:r>
              <a:t>@  Accurate, complete, and true</a:t>
            </a:r>
          </a:p>
        </p:txBody>
      </p:sp>
    </p:spTree>
  </p:cSld>
  <p:clrMapOvr>
    <a:masterClrMapping/>
  </p:clrMapOvr>
</p:sld>
</file>

<file path=ppt/slides/slide7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Sufficient</a:t>
            </a:r>
          </a:p>
          <a:p>
            <a:r>
              <a:t>☐ Notarized</a:t>
            </a:r>
          </a:p>
          <a:p>
            <a:r>
              <a:t>☐ Endorsed by a current licensee</a:t>
            </a:r>
          </a:p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</p:txBody>
      </p:sp>
    </p:spTree>
  </p:cSld>
  <p:clrMapOvr>
    <a:masterClrMapping/>
  </p:clrMapOvr>
</p:sld>
</file>

<file path=ppt/slides/slide7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type of insurance is</a:t>
            </a:r>
          </a:p>
          <a:p>
            <a:r>
              <a:t>specifically designed to decrease in</a:t>
            </a:r>
          </a:p>
          <a:p>
            <a:r>
              <a:t>face amount over time?</a:t>
            </a:r>
          </a:p>
          <a:p>
            <a:r>
              <a:t>@  Decreasing Term Insurance</a:t>
            </a:r>
          </a:p>
          <a:p>
            <a:r>
              <a:t>Whole Life Insurance</a:t>
            </a:r>
          </a:p>
        </p:txBody>
      </p:sp>
    </p:spTree>
  </p:cSld>
  <p:clrMapOvr>
    <a:masterClrMapping/>
  </p:clrMapOvr>
</p:sld>
</file>

<file path=ppt/slides/slide7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specifically designed to decrease in</a:t>
            </a:r>
            <a:br/>
            <a:r>
              <a:t>face amount over time?</a:t>
            </a:r>
            <a:br/>
            <a:r>
              <a:t>@  Decreasing Term Insurance</a:t>
            </a:r>
            <a:br/>
            <a:r>
              <a:t>Whole Life Insurance</a:t>
            </a:r>
            <a:br/>
            <a:r>
              <a:t>Increasing Term Insurance</a:t>
            </a:r>
            <a:br/>
            <a:r>
              <a:t>Term Life Insurance</a:t>
            </a:r>
            <a:br/>
            <a:r>
              <a:t>I&lt; A &gt;|</a:t>
            </a:r>
            <a:br/>
            <a:r>
              <a:t>a ..rancelicense.myabsorb.com (</a:t>
            </a:r>
            <a:br/>
            <a:r>
              <a:t>&lt; &gt; +...</a:t>
            </a:r>
          </a:p>
        </p:txBody>
      </p:sp>
    </p:spTree>
  </p:cSld>
  <p:clrMapOvr>
    <a:masterClrMapping/>
  </p:clrMapOvr>
</p:sld>
</file>

<file path=ppt/slides/slide7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is coverage effective under an</a:t>
            </a:r>
          </a:p>
          <a:p>
            <a:r>
              <a:t>Approval Receipt in a life insurance</a:t>
            </a:r>
          </a:p>
        </p:txBody>
      </p:sp>
    </p:spTree>
  </p:cSld>
  <p:clrMapOvr>
    <a:masterClrMapping/>
  </p:clrMapOvr>
</p:sld>
</file>

<file path=ppt/slides/slide7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nce the applicant passes a medical</a:t>
            </a:r>
            <a:br/>
            <a:r>
              <a:t>examination.</a:t>
            </a:r>
            <a:br/>
            <a:br/>
            <a:r>
              <a:t>After the insurer approves the application.</a:t>
            </a:r>
            <a:br/>
            <a:br/>
            <a:r>
              <a:t>Immediately upon application submission.</a:t>
            </a:r>
          </a:p>
          <a:p>
            <a:pPr>
              <a:defRPr b="1"/>
            </a:pPr>
            <a:r>
              <a:t>✅ n the policy delivery date.</a:t>
            </a:r>
          </a:p>
          <a:p>
            <a:r>
              <a:t>☐ a ..rancelicense.myabsorb.com (©</a:t>
            </a:r>
            <a:br/>
            <a:br/>
            <a:r>
              <a:t>&gt; +</a:t>
            </a:r>
          </a:p>
          <a:p>
            <a:br/>
            <a:pPr>
              <a:defRPr sz="1200" i="1"/>
            </a:pPr>
            <a:r>
              <a:t>Note: coverage effective under an</a:t>
            </a:r>
            <a:br/>
            <a:r>
              <a:t>Approval Receipt in a life insurance</a:t>
            </a:r>
            <a:br/>
            <a:r>
              <a:t>Once the applicant passes a medical</a:t>
            </a:r>
            <a:br/>
            <a:r>
              <a:t>examination.</a:t>
            </a:r>
            <a:br/>
            <a:r>
              <a:t>After the insurer approves the application.</a:t>
            </a:r>
            <a:br/>
            <a:r>
              <a:t>Immediately upon application submission.</a:t>
            </a:r>
            <a:br/>
            <a:r>
              <a:t>On the policy delivery date.</a:t>
            </a:r>
            <a:br/>
            <a:r>
              <a:t>Proceed =&gt;</a:t>
            </a:r>
            <a:br/>
            <a:r>
              <a:t>A &gt;|</a:t>
            </a:r>
            <a:br/>
            <a:r>
              <a:t>a ..ra...</a:t>
            </a:r>
          </a:p>
        </p:txBody>
      </p:sp>
    </p:spTree>
  </p:cSld>
  <p:clrMapOvr>
    <a:masterClrMapping/>
  </p:clrMapOvr>
</p:sld>
</file>

<file path=ppt/slides/slide7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 the Fair Credit Reporting Act,</a:t>
            </a:r>
          </a:p>
          <a:p>
            <a:r>
              <a:t>what must insurers provide to an</a:t>
            </a:r>
          </a:p>
          <a:p>
            <a:r>
              <a:t>applicant when they use a credit report</a:t>
            </a:r>
          </a:p>
          <a:p>
            <a:r>
              <a:t>to make an underwriting decision?</a:t>
            </a:r>
          </a:p>
        </p:txBody>
      </p:sp>
    </p:spTree>
  </p:cSld>
  <p:clrMapOvr>
    <a:masterClrMapping/>
  </p:clrMapOvr>
</p:sld>
</file>

<file path=ppt/slides/slide7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A comprehensive financial plan</a:t>
            </a:r>
          </a:p>
          <a:p>
            <a:pPr>
              <a:defRPr b="1"/>
            </a:pPr>
            <a:r>
              <a:t>✅ e The name and address of the consumer</a:t>
            </a:r>
            <a:br/>
            <a:r>
              <a:t>reporting agency that supplied the report</a:t>
            </a:r>
          </a:p>
          <a:p>
            <a:r>
              <a:t>☐ A list of all policy types available</a:t>
            </a:r>
            <a:br/>
            <a:br/>
            <a:r>
              <a:t>' ¢) Details on how premiums are calculated</a:t>
            </a:r>
          </a:p>
          <a:p>
            <a:r>
              <a:t>☐ a ..rancelicense.myabsorb.com (©</a:t>
            </a:r>
            <a:br/>
            <a:br/>
            <a:r>
              <a:t>&lt; &gt; +</a:t>
            </a:r>
          </a:p>
        </p:txBody>
      </p:sp>
    </p:spTree>
  </p:cSld>
  <p:clrMapOvr>
    <a:masterClrMapping/>
  </p:clrMapOvr>
</p:sld>
</file>

<file path=ppt/slides/slide7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the 'Grace Period'</a:t>
            </a:r>
          </a:p>
          <a:p>
            <a:r>
              <a:t>provision in life insurance policies</a:t>
            </a:r>
          </a:p>
          <a:p>
            <a:r>
              <a:t>provide?</a:t>
            </a:r>
          </a:p>
          <a:p>
            <a:r>
              <a:t>Extension for policy renewal.</a:t>
            </a:r>
          </a:p>
          <a:p>
            <a:r>
              <a:t>Delay for policy activation.</a:t>
            </a:r>
          </a:p>
          <a:p>
            <a:r>
              <a:t>@  Extension to pay overdue premiums.</a:t>
            </a:r>
          </a:p>
        </p:txBody>
      </p:sp>
    </p:spTree>
  </p:cSld>
  <p:clrMapOvr>
    <a:masterClrMapping/>
  </p:clrMapOvr>
</p:sld>
</file>

<file path=ppt/slides/slide7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</p:txBody>
      </p:sp>
    </p:spTree>
  </p:cSld>
  <p:clrMapOvr>
    <a:masterClrMapping/>
  </p:clrMapOvr>
</p:sld>
</file>

<file path=ppt/slides/slide7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an example of a contract not</a:t>
            </a:r>
          </a:p>
          <a:p>
            <a:r>
              <a:t>having a lawful purpose?</a:t>
            </a:r>
          </a:p>
          <a:p>
            <a:r>
              <a:t>A contract for the sale of a house</a:t>
            </a:r>
          </a:p>
          <a:p>
            <a:r>
              <a:t>Acontract for employment benefits</a:t>
            </a:r>
          </a:p>
          <a:p>
            <a:r>
              <a:t>A contract involving a payment for</a:t>
            </a:r>
          </a:p>
          <a:p>
            <a:r>
              <a:t>committing an illegal act, like murder</a:t>
            </a:r>
          </a:p>
        </p:txBody>
      </p:sp>
    </p:spTree>
  </p:cSld>
  <p:clrMapOvr>
    <a:masterClrMapping/>
  </p:clrMapOvr>
</p:sld>
</file>

<file path=ppt/slides/slide7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an example of a contract not</a:t>
            </a:r>
            <a:br/>
            <a:r>
              <a:t>having a lawful purpose?</a:t>
            </a:r>
            <a:br/>
            <a:r>
              <a:t>A contract for the sale of a house</a:t>
            </a:r>
            <a:br/>
            <a:r>
              <a:t>Acontract for employment benefits</a:t>
            </a:r>
            <a:br/>
            <a:r>
              <a:t>A contract involving a payment for</a:t>
            </a:r>
            <a:br/>
            <a:r>
              <a:t>committing an illegal act, like murder</a:t>
            </a:r>
            <a:br/>
            <a:r>
              <a:t>Proceed =&gt;</a:t>
            </a:r>
            <a:br/>
            <a:r>
              <a:t>I&lt; A &gt;|</a:t>
            </a:r>
            <a:br/>
            <a:r>
              <a:t>a ..rancelicense.myabsorb.com (</a:t>
            </a:r>
            <a:br/>
            <a:r>
              <a:t>&lt; ...</a:t>
            </a:r>
          </a:p>
        </p:txBody>
      </p:sp>
    </p:spTree>
  </p:cSld>
  <p:clrMapOvr>
    <a:masterClrMapping/>
  </p:clrMapOvr>
</p:sld>
</file>

<file path=ppt/slides/slide7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these mandates do insurers</a:t>
            </a:r>
          </a:p>
          <a:p>
            <a:r>
              <a:t>reveal when investigating an</a:t>
            </a:r>
          </a:p>
          <a:p>
            <a:r>
              <a:t>applicant's consumer or credit history?</a:t>
            </a:r>
          </a:p>
          <a:p>
            <a:r>
              <a:t>1958 - Federal Trade Commission's</a:t>
            </a:r>
          </a:p>
        </p:txBody>
      </p:sp>
    </p:spTree>
  </p:cSld>
  <p:clrMapOvr>
    <a:masterClrMapping/>
  </p:clrMapOvr>
</p:sld>
</file>

<file path=ppt/slides/slide7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</p:txBody>
      </p:sp>
    </p:spTree>
  </p:cSld>
  <p:clrMapOvr>
    <a:masterClrMapping/>
  </p:clrMapOvr>
</p:sld>
</file>

<file path=ppt/slides/slide7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required for a life insurance</a:t>
            </a:r>
          </a:p>
          <a:p>
            <a:r>
              <a:t>contract to be legally enforceable?</a:t>
            </a:r>
          </a:p>
          <a:p>
            <a:r>
              <a:t>Legal documentation of the insured's</a:t>
            </a:r>
          </a:p>
          <a:p>
            <a:r>
              <a:t>health.</a:t>
            </a:r>
          </a:p>
          <a:p>
            <a:r>
              <a:t>Unlimited insurable interest.</a:t>
            </a:r>
          </a:p>
        </p:txBody>
      </p:sp>
    </p:spTree>
  </p:cSld>
  <p:clrMapOvr>
    <a:masterClrMapping/>
  </p:clrMapOvr>
</p:sld>
</file>

<file path=ppt/slides/slide7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required for a life insurance</a:t>
            </a:r>
            <a:br/>
            <a:r>
              <a:t>contract to be legally enforceable?</a:t>
            </a:r>
            <a:br/>
            <a:r>
              <a:t>Legal documentation of the insured's</a:t>
            </a:r>
            <a:br/>
            <a:r>
              <a:t>health.</a:t>
            </a:r>
            <a:br/>
            <a:r>
              <a:t>Unlimited insurable interest.</a:t>
            </a:r>
            <a:br/>
            <a:r>
              <a:t>Insurable interest at the time of the</a:t>
            </a:r>
            <a:br/>
            <a:r>
              <a:t>application.</a:t>
            </a:r>
            <a:br/>
            <a:r>
              <a:t>Insurable interest throughout the policy</a:t>
            </a:r>
            <a:br/>
            <a:r>
              <a:t>term.</a:t>
            </a:r>
            <a:br/>
            <a:r>
              <a:t>Proceed —_</a:t>
            </a:r>
            <a:br/>
            <a:r>
              <a:t>...</a:t>
            </a:r>
          </a:p>
        </p:txBody>
      </p:sp>
    </p:spTree>
  </p:cSld>
  <p:clrMapOvr>
    <a:masterClrMapping/>
  </p:clrMapOvr>
</p:sld>
</file>

<file path=ppt/slides/slide7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action constitutes the</a:t>
            </a:r>
          </a:p>
          <a:p>
            <a:r>
              <a:t>"transaction" of insurance business in</a:t>
            </a:r>
          </a:p>
          <a:p>
            <a:r>
              <a:t>Arizona?</a:t>
            </a:r>
          </a:p>
          <a:p>
            <a:r>
              <a:t>Handling administrative tasks for an</a:t>
            </a:r>
          </a:p>
        </p:txBody>
      </p:sp>
    </p:spTree>
  </p:cSld>
  <p:clrMapOvr>
    <a:masterClrMapping/>
  </p:clrMapOvr>
</p:sld>
</file>

<file path=ppt/slides/slide7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nsurance company</a:t>
            </a:r>
            <a:br/>
            <a:br/>
            <a:r>
              <a:t>Providing financial advice on insurance</a:t>
            </a:r>
            <a:br/>
            <a:br/>
            <a:r>
              <a:t>Selling, soliciting, and negotiating insurance</a:t>
            </a:r>
          </a:p>
          <a:p>
            <a:r>
              <a:t>☐ nly the selling of insurance policies</a:t>
            </a:r>
          </a:p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</p:txBody>
      </p:sp>
    </p:spTree>
  </p:cSld>
  <p:clrMapOvr>
    <a:masterClrMapping/>
  </p:clrMapOvr>
</p:sld>
</file>

<file path=ppt/slides/slide7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an immediate annuity</a:t>
            </a:r>
          </a:p>
          <a:p>
            <a:r>
              <a:t>provide?</a:t>
            </a:r>
          </a:p>
          <a:p>
            <a:r>
              <a:t>Payments starting after five years</a:t>
            </a:r>
          </a:p>
        </p:txBody>
      </p:sp>
    </p:spTree>
  </p:cSld>
  <p:clrMapOvr>
    <a:masterClrMapping/>
  </p:clrMapOvr>
</p:sld>
</file>

<file path=ppt/slides/slide7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</p:txBody>
      </p:sp>
    </p:spTree>
  </p:cSld>
  <p:clrMapOvr>
    <a:masterClrMapping/>
  </p:clrMapOvr>
</p:sld>
</file>

<file path=ppt/slides/slide7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Fair Credit Reporting Act requires</a:t>
            </a:r>
          </a:p>
          <a:p>
            <a:r>
              <a:t>Consumer Information Reports can be</a:t>
            </a:r>
          </a:p>
        </p:txBody>
      </p:sp>
    </p:spTree>
  </p:cSld>
  <p:clrMapOvr>
    <a:masterClrMapping/>
  </p:clrMapOvr>
</p:sld>
</file>

<file path=ppt/slides/slide7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nspection company is investigating them.</a:t>
            </a:r>
          </a:p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investigating them.</a:t>
            </a:r>
            <a:br/>
            <a:r>
              <a:t>Proceed —_</a:t>
            </a:r>
            <a:br/>
            <a:r>
              <a:t>I&lt; A &gt;|</a:t>
            </a:r>
            <a:br/>
            <a:r>
              <a:t>a ..rancelicense.myabsorb.com (</a:t>
            </a:r>
            <a:br/>
            <a:r>
              <a:t>&lt; &gt; +...</a:t>
            </a:r>
          </a:p>
        </p:txBody>
      </p:sp>
    </p:spTree>
  </p:cSld>
  <p:clrMapOvr>
    <a:masterClrMapping/>
  </p:clrMapOvr>
</p:sld>
</file>

<file path=ppt/slides/slide7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type of term life insurance is</a:t>
            </a:r>
          </a:p>
          <a:p>
            <a:r>
              <a:t>typically used for mortgage protection?</a:t>
            </a:r>
          </a:p>
        </p:txBody>
      </p:sp>
    </p:spTree>
  </p:cSld>
  <p:clrMapOvr>
    <a:masterClrMapping/>
  </p:clrMapOvr>
</p:sld>
</file>

<file path=ppt/slides/slide7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Increasing Term</a:t>
            </a:r>
            <a:br/>
            <a:br/>
            <a:r>
              <a:t>@ © Decreasing Term</a:t>
            </a:r>
          </a:p>
          <a:p>
            <a:r>
              <a:t>☐ Level Term</a:t>
            </a:r>
            <a:br/>
            <a:br/>
            <a:r>
              <a:t>Renewable Term</a:t>
            </a:r>
          </a:p>
          <a:p>
            <a:r>
              <a:t>☐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typically used for mortgage protection?</a:t>
            </a:r>
            <a:br/>
            <a:r>
              <a:t>x) Increasing Term</a:t>
            </a:r>
            <a:br/>
            <a:r>
              <a:t>@  Decreasing Term</a:t>
            </a:r>
            <a:br/>
            <a:r>
              <a:t>x) Level Term</a:t>
            </a:r>
            <a:br/>
            <a:r>
              <a:t>Renewable Term</a:t>
            </a:r>
            <a:br/>
            <a:r>
              <a:t>Proceed =&gt;</a:t>
            </a:r>
            <a:br/>
            <a:r>
              <a:t>I&lt; A &gt;|</a:t>
            </a:r>
            <a:br/>
            <a:r>
              <a:t>a ..rancelicense.myabsorb.com (</a:t>
            </a:r>
            <a:br/>
            <a:r>
              <a:t>&lt; &gt; +...</a:t>
            </a:r>
          </a:p>
        </p:txBody>
      </p:sp>
    </p:spTree>
  </p:cSld>
  <p:clrMapOvr>
    <a:masterClrMapping/>
  </p:clrMapOvr>
</p:sld>
</file>

<file path=ppt/slides/slide7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primary role of an</a:t>
            </a:r>
          </a:p>
          <a:p>
            <a:r>
              <a:t>underwriter in the insurance industry?</a:t>
            </a:r>
          </a:p>
          <a:p>
            <a:r>
              <a:t>e To assess the risk and determine the</a:t>
            </a:r>
          </a:p>
        </p:txBody>
      </p:sp>
    </p:spTree>
  </p:cSld>
  <p:clrMapOvr>
    <a:masterClrMapping/>
  </p:clrMapOvr>
</p:sld>
</file>

<file path=ppt/slides/slide7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nsurability of applicants</a:t>
            </a:r>
            <a:br/>
            <a:br/>
            <a:r>
              <a:t>To design insurance products</a:t>
            </a:r>
            <a:br/>
            <a:br/>
            <a:r>
              <a:t>To process claims and disburse payments</a:t>
            </a:r>
          </a:p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the primary role of an</a:t>
            </a:r>
            <a:br/>
            <a:r>
              <a:t>underwriter in the insurance industry?</a:t>
            </a:r>
            <a:br/>
            <a:r>
              <a:t>e To assess the risk and determine the</a:t>
            </a:r>
            <a:br/>
            <a:r>
              <a:t>insurability of applicants</a:t>
            </a:r>
            <a:br/>
            <a:r>
              <a:t>To design insurance products</a:t>
            </a:r>
            <a:br/>
            <a:r>
              <a:t>To process claims and disburse payments</a:t>
            </a:r>
            <a:br/>
            <a:r>
              <a:t>Proceed =&gt;</a:t>
            </a:r>
            <a:br/>
            <a:r>
              <a:t>A &gt;|</a:t>
            </a:r>
            <a:br/>
            <a:r>
              <a:t>a ..rancelicense.myabsorb.com (</a:t>
            </a:r>
            <a:br/>
            <a:r>
              <a:t>&lt; &gt; +...</a:t>
            </a:r>
          </a:p>
        </p:txBody>
      </p:sp>
    </p:spTree>
  </p:cSld>
  <p:clrMapOvr>
    <a:masterClrMapping/>
  </p:clrMapOvr>
</p:sld>
</file>

<file path=ppt/slides/slide7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a Money Purchase Plan, what</a:t>
            </a:r>
          </a:p>
          <a:p>
            <a:r>
              <a:t>determines the future benefits to a</a:t>
            </a:r>
          </a:p>
          <a:p>
            <a:r>
              <a:t>participant?</a:t>
            </a:r>
          </a:p>
          <a:p>
            <a:r>
              <a:t>Total amounts contributed plus interest and</a:t>
            </a:r>
          </a:p>
          <a:p>
            <a:r>
              <a:t>dividends earned</a:t>
            </a:r>
          </a:p>
          <a:p>
            <a:r>
              <a:t>The average salary of the participant in their</a:t>
            </a:r>
          </a:p>
          <a:p>
            <a:r>
              <a:t>last 5 years of employment</a:t>
            </a:r>
          </a:p>
          <a:p>
            <a:r>
              <a:t>The performance of the company's stocks</a:t>
            </a:r>
          </a:p>
        </p:txBody>
      </p:sp>
    </p:spTree>
  </p:cSld>
  <p:clrMapOvr>
    <a:masterClrMapping/>
  </p:clrMapOvr>
</p:sld>
</file>

<file path=ppt/slides/slide7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earned</a:t>
            </a:r>
            <a:br/>
            <a:r>
              <a:t>The average salary of the participant in their</a:t>
            </a:r>
            <a:br/>
            <a:r>
              <a:t>last 5 years of employment</a:t>
            </a:r>
            <a:br/>
            <a:r>
              <a:t>The performance of the company's stocks</a:t>
            </a:r>
            <a:br/>
            <a:r>
              <a:t>I&lt; A &gt;|</a:t>
            </a:r>
            <a:br/>
            <a:r>
              <a:t>a ..rancelicense.myabsorb.com (</a:t>
            </a:r>
            <a:br/>
            <a:r>
              <a:t>&lt; &gt; +...</a:t>
            </a:r>
          </a:p>
        </p:txBody>
      </p:sp>
    </p:spTree>
  </p:cSld>
  <p:clrMapOvr>
    <a:masterClrMapping/>
  </p:clrMapOvr>
</p:sld>
</file>

<file path=ppt/slides/slide7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does the Needs Approach differ</a:t>
            </a:r>
          </a:p>
          <a:p>
            <a:r>
              <a:t>from the Human Life Value Approach?</a:t>
            </a:r>
          </a:p>
        </p:txBody>
      </p:sp>
    </p:spTree>
  </p:cSld>
  <p:clrMapOvr>
    <a:masterClrMapping/>
  </p:clrMapOvr>
</p:sld>
</file>

<file path=ppt/slides/slide7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It only covers medical expenses.</a:t>
            </a:r>
          </a:p>
          <a:p>
            <a:r>
              <a:t>☐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Approach differ</a:t>
            </a:r>
            <a:br/>
            <a:r>
              <a:t>from the Human Life Value Approach?</a:t>
            </a:r>
            <a:br/>
            <a:r>
              <a:t>It bases insurance needs solely on the</a:t>
            </a:r>
            <a:br/>
            <a:r>
              <a:t>policyholder’s income.</a:t>
            </a:r>
            <a:br/>
            <a:r>
              <a:t>It is used only for calculating retirement</a:t>
            </a:r>
            <a:br/>
            <a:r>
              <a:t>benefits.</a:t>
            </a:r>
            <a:br/>
            <a:r>
              <a:t>It calculates based on specific financial</a:t>
            </a:r>
            <a:br/>
            <a:r>
              <a:t>needs and goals.</a:t>
            </a:r>
            <a:br/>
            <a:r>
              <a:t>x) It only covers medica...</a:t>
            </a:r>
          </a:p>
        </p:txBody>
      </p:sp>
    </p:spTree>
  </p:cSld>
  <p:clrMapOvr>
    <a:masterClrMapping/>
  </p:clrMapOvr>
</p:sld>
</file>

<file path=ppt/slides/slide7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action must be taken if there is a</a:t>
            </a:r>
          </a:p>
          <a:p>
            <a:r>
              <a:t>change among the members,</a:t>
            </a:r>
          </a:p>
          <a:p>
            <a:r>
              <a:t>directors, or officers of a business</a:t>
            </a:r>
          </a:p>
          <a:p>
            <a:r>
              <a:t>entity licensed as an insurance</a:t>
            </a:r>
          </a:p>
          <a:p>
            <a:r>
              <a:t>producer in Arizona?</a:t>
            </a:r>
          </a:p>
          <a:p>
            <a:r>
              <a:t>Apply for a new license</a:t>
            </a:r>
          </a:p>
        </p:txBody>
      </p:sp>
    </p:spTree>
  </p:cSld>
  <p:clrMapOvr>
    <a:masterClrMapping/>
  </p:clrMapOvr>
</p:sld>
</file>

<file path=ppt/slides/slide7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Report the change to the IRS</a:t>
            </a:r>
            <a:br/>
            <a:br/>
            <a:r>
              <a:t>@ © Notify the Director within 30 days</a:t>
            </a:r>
            <a:br/>
            <a:br/>
            <a:r>
              <a:t>' ¢) Hold a general meeting</a:t>
            </a:r>
          </a:p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a</a:t>
            </a:r>
            <a:br/>
            <a:r>
              <a:t>change among the members,</a:t>
            </a:r>
            <a:br/>
            <a:r>
              <a:t>directors, or officers of a business</a:t>
            </a:r>
            <a:br/>
            <a:r>
              <a:t>entity licensed as an insurance</a:t>
            </a:r>
            <a:br/>
            <a:r>
              <a:t>producer in Arizona?</a:t>
            </a:r>
            <a:br/>
            <a:r>
              <a:t>Apply for a new license</a:t>
            </a:r>
            <a:br/>
            <a:r>
              <a:t>x Report the change to the IRS</a:t>
            </a:r>
            <a:br/>
            <a:r>
              <a:t>@  Notify the Director within 30 days</a:t>
            </a:r>
            <a:br/>
            <a:r>
              <a:t>' ¢) Hold a general meeting</a:t>
            </a:r>
            <a:br/>
            <a:r>
              <a:t>Proceed —_</a:t>
            </a:r>
            <a:br/>
            <a:r>
              <a:t>...</a:t>
            </a:r>
          </a:p>
        </p:txBody>
      </p:sp>
    </p:spTree>
  </p:cSld>
  <p:clrMapOvr>
    <a:masterClrMapping/>
  </p:clrMapOvr>
</p:sld>
</file>

<file path=ppt/slides/slide7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the Fair Credit Reporting</a:t>
            </a:r>
          </a:p>
          <a:p>
            <a:r>
              <a:t>Act regulate?</a:t>
            </a:r>
          </a:p>
          <a:p>
            <a:r>
              <a:t>The methods by which companies can</a:t>
            </a:r>
          </a:p>
          <a:p>
            <a:r>
              <a:t>market products over the phone</a:t>
            </a:r>
          </a:p>
          <a:p>
            <a:r>
              <a:t>The accuracy and privacy of consumer</a:t>
            </a:r>
          </a:p>
        </p:txBody>
      </p:sp>
    </p:spTree>
  </p:cSld>
  <p:clrMapOvr>
    <a:masterClrMapping/>
  </p:clrMapOvr>
</p:sld>
</file>

<file path=ppt/slides/slide7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nformation in credit reports</a:t>
            </a:r>
            <a:br/>
            <a:br/>
            <a:r>
              <a:t>The way insurance companies report credit</a:t>
            </a:r>
            <a:br/>
            <a:r>
              <a:t>transactions</a:t>
            </a:r>
            <a:br/>
            <a:br/>
            <a:r>
              <a:t>The handling and disclosure of non-public</a:t>
            </a:r>
            <a:br/>
            <a:r>
              <a:t>personal information</a:t>
            </a:r>
          </a:p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by which companies can</a:t>
            </a:r>
            <a:br/>
            <a:r>
              <a:t>market products over the phone</a:t>
            </a:r>
            <a:br/>
            <a:r>
              <a:t>The accuracy and privacy of consumer</a:t>
            </a:r>
            <a:br/>
            <a:r>
              <a:t>information in credit reports</a:t>
            </a:r>
            <a:br/>
            <a:r>
              <a:t>The way insurance companies report credit</a:t>
            </a:r>
            <a:br/>
            <a:r>
              <a:t>transactions</a:t>
            </a:r>
            <a:br/>
            <a:r>
              <a:t>The handling and disclosure of non-public</a:t>
            </a:r>
            <a:br/>
            <a:r>
              <a:t>personal information</a:t>
            </a:r>
            <a:br/>
            <a:r>
              <a:t>Proceed —_</a:t>
            </a:r>
            <a:br/>
            <a:r>
              <a:t>...</a:t>
            </a:r>
          </a:p>
        </p:txBody>
      </p:sp>
    </p:spTree>
  </p:cSld>
  <p:clrMapOvr>
    <a:masterClrMapping/>
  </p:clrMapOvr>
</p:sld>
</file>

<file path=ppt/slides/slide7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type of business information</a:t>
            </a:r>
          </a:p>
          <a:p>
            <a:r>
              <a:t>must be reported to the Director when</a:t>
            </a:r>
          </a:p>
          <a:p>
            <a:r>
              <a:t>there is a change?</a:t>
            </a:r>
          </a:p>
          <a:p>
            <a:r>
              <a:t>Change in service pricing</a:t>
            </a:r>
          </a:p>
          <a:p>
            <a:r>
              <a:t>Change in business hours</a:t>
            </a:r>
          </a:p>
          <a:p>
            <a:r>
              <a:t>@  Change in business address</a:t>
            </a:r>
          </a:p>
        </p:txBody>
      </p:sp>
    </p:spTree>
  </p:cSld>
  <p:clrMapOvr>
    <a:masterClrMapping/>
  </p:clrMapOvr>
</p:sld>
</file>

<file path=ppt/slides/slide7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a change?</a:t>
            </a:r>
            <a:br/>
            <a:r>
              <a:t>Change in service pricing</a:t>
            </a:r>
            <a:br/>
            <a:r>
              <a:t>Change in business hours</a:t>
            </a:r>
            <a:br/>
            <a:r>
              <a:t>@  Change in business address</a:t>
            </a:r>
            <a:br/>
            <a:r>
              <a:t>Proceed =&gt;</a:t>
            </a:r>
            <a:br/>
            <a:r>
              <a:t>I&lt; A &gt;|</a:t>
            </a:r>
            <a:br/>
            <a:r>
              <a:t>a ..rancelicense.myabsorb.com (</a:t>
            </a:r>
            <a:br/>
            <a:r>
              <a:t>&lt; &gt; +...</a:t>
            </a:r>
          </a:p>
        </p:txBody>
      </p:sp>
    </p:spTree>
  </p:cSld>
  <p:clrMapOvr>
    <a:masterClrMapping/>
  </p:clrMapOvr>
</p:sld>
</file>

<file path=ppt/slides/slide7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age requirement to apply</a:t>
            </a:r>
          </a:p>
          <a:p>
            <a:r>
              <a:t>for an insurance producer license in</a:t>
            </a:r>
          </a:p>
          <a:p>
            <a:r>
              <a:t>Arizona?</a:t>
            </a:r>
          </a:p>
          <a:p>
            <a:r>
              <a:t>16 years</a:t>
            </a:r>
          </a:p>
        </p:txBody>
      </p:sp>
    </p:spTree>
  </p:cSld>
  <p:clrMapOvr>
    <a:masterClrMapping/>
  </p:clrMapOvr>
</p:sld>
</file>

<file path=ppt/slides/slide7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the age requirement to apply</a:t>
            </a:r>
            <a:br/>
            <a:r>
              <a:t>for an insurance producer license in</a:t>
            </a:r>
            <a:br/>
            <a:r>
              <a:t>Arizona?</a:t>
            </a:r>
            <a:br/>
            <a:r>
              <a:t>16 years</a:t>
            </a:r>
            <a:br/>
            <a:r>
              <a:t>Proceed =&gt;</a:t>
            </a:r>
            <a:br/>
            <a:r>
              <a:t>I&lt; A &gt;|</a:t>
            </a:r>
            <a:br/>
            <a:r>
              <a:t>a ..rancelicense.myabsorb.com (</a:t>
            </a:r>
            <a:br/>
            <a:r>
              <a:t>&lt; &gt; +...</a:t>
            </a:r>
          </a:p>
        </p:txBody>
      </p:sp>
    </p:spTree>
  </p:cSld>
  <p:clrMapOvr>
    <a:masterClrMapping/>
  </p:clrMapOvr>
</p:sld>
</file>

<file path=ppt/slides/slide7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purpose of an Accelerated</a:t>
            </a:r>
          </a:p>
          <a:p>
            <a:r>
              <a:t>Benefit Rider in life insurance?</a:t>
            </a:r>
          </a:p>
          <a:p>
            <a:r>
              <a:t>@  Toaccess part of the death benefit early in</a:t>
            </a:r>
          </a:p>
          <a:p>
            <a:r>
              <a:t>case of terminal illness</a:t>
            </a:r>
          </a:p>
          <a:p>
            <a:r>
              <a:t>To reduce the premium cost</a:t>
            </a:r>
          </a:p>
          <a:p>
            <a:r>
              <a:t>To extend the policy term</a:t>
            </a:r>
          </a:p>
        </p:txBody>
      </p:sp>
    </p:spTree>
  </p:cSld>
  <p:clrMapOvr>
    <a:masterClrMapping/>
  </p:clrMapOvr>
</p:sld>
</file>

<file path=ppt/slides/slide7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the purpose of an Accelerated</a:t>
            </a:r>
            <a:br/>
            <a:r>
              <a:t>Benefit Rider in life insurance?</a:t>
            </a:r>
            <a:br/>
            <a:r>
              <a:t>@  Toaccess part of the death benefit early in</a:t>
            </a:r>
            <a:br/>
            <a:r>
              <a:t>case of terminal illness</a:t>
            </a:r>
            <a:br/>
            <a:r>
              <a:t>To reduce the premium cost</a:t>
            </a:r>
            <a:br/>
            <a:r>
              <a:t>To extend the policy term</a:t>
            </a:r>
            <a:br/>
            <a:r>
              <a:t>Proceed =&gt;</a:t>
            </a:r>
            <a:br/>
            <a:r>
              <a:t>I&lt; A &gt;|</a:t>
            </a:r>
            <a:br/>
            <a:r>
              <a:t>a ..rancelicense.myabsorb.com (</a:t>
            </a:r>
            <a:br/>
            <a:r>
              <a:t>&lt; &gt; +...</a:t>
            </a:r>
          </a:p>
        </p:txBody>
      </p:sp>
    </p:spTree>
  </p:cSld>
  <p:clrMapOvr>
    <a:masterClrMapping/>
  </p:clrMapOvr>
</p:sld>
</file>

<file path=ppt/slides/slide7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entity in Arizona is responsible</a:t>
            </a:r>
          </a:p>
          <a:p>
            <a:r>
              <a:t>for verifying that a license applicant</a:t>
            </a:r>
          </a:p>
          <a:p>
            <a:r>
              <a:t>has not engaged in activities that</a:t>
            </a:r>
          </a:p>
          <a:p>
            <a:r>
              <a:t>would justify license denial,</a:t>
            </a:r>
          </a:p>
          <a:p>
            <a:r>
              <a:t>suspension, or revocation?</a:t>
            </a:r>
          </a:p>
          <a:p>
            <a:r>
              <a:t>The Governor's Office</a:t>
            </a:r>
          </a:p>
          <a:p>
            <a:r>
              <a:t>The State Police</a:t>
            </a:r>
          </a:p>
          <a:p>
            <a:r>
              <a:t>The Department of State</a:t>
            </a:r>
          </a:p>
          <a:p>
            <a:r>
              <a:t>@  The Director of the Department of Insurance</a:t>
            </a:r>
          </a:p>
        </p:txBody>
      </p:sp>
    </p:spTree>
  </p:cSld>
  <p:clrMapOvr>
    <a:masterClrMapping/>
  </p:clrMapOvr>
</p:sld>
</file>

<file path=ppt/slides/slide7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responsible</a:t>
            </a:r>
            <a:br/>
            <a:r>
              <a:t>for verifying that a license applicant</a:t>
            </a:r>
            <a:br/>
            <a:r>
              <a:t>has not engaged in activities that</a:t>
            </a:r>
            <a:br/>
            <a:r>
              <a:t>would justify license denial,</a:t>
            </a:r>
            <a:br/>
            <a:r>
              <a:t>suspension, or revocation?</a:t>
            </a:r>
            <a:br/>
            <a:r>
              <a:t>The Governor's Office</a:t>
            </a:r>
            <a:br/>
            <a:r>
              <a:t>The State Police</a:t>
            </a:r>
            <a:br/>
            <a:r>
              <a:t>The Department of State</a:t>
            </a:r>
            <a:br/>
            <a:r>
              <a:t>@  The Director of the Department of Insuran...</a:t>
            </a:r>
          </a:p>
        </p:txBody>
      </p:sp>
    </p:spTree>
  </p:cSld>
  <p:clrMapOvr>
    <a:masterClrMapping/>
  </p:clrMapOvr>
</p:sld>
</file>

<file path=ppt/slides/slide7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a Deferred Compensation</a:t>
            </a:r>
          </a:p>
          <a:p>
            <a:r>
              <a:t>Plan primarily offer to an employee?</a:t>
            </a:r>
          </a:p>
          <a:p>
            <a:r>
              <a:t>@  Away to defer income to retirement or</a:t>
            </a:r>
          </a:p>
          <a:p>
            <a:r>
              <a:t>another future date, often funded through</a:t>
            </a:r>
          </a:p>
          <a:p>
            <a:r>
              <a:t>life insurance.</a:t>
            </a:r>
          </a:p>
        </p:txBody>
      </p:sp>
    </p:spTree>
  </p:cSld>
  <p:clrMapOvr>
    <a:masterClrMapping/>
  </p:clrMapOvr>
</p:sld>
</file>

<file path=ppt/slides/slide7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</p:txBody>
      </p:sp>
    </p:spTree>
  </p:cSld>
  <p:clrMapOvr>
    <a:masterClrMapping/>
  </p:clrMapOvr>
</p:sld>
</file>

<file path=ppt/slides/slide7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purpose of the 'Free Look'</a:t>
            </a:r>
          </a:p>
          <a:p>
            <a:r>
              <a:t>period in insurance policies?</a:t>
            </a:r>
          </a:p>
          <a:p>
            <a:r>
              <a:t>Apply for additional coverage.</a:t>
            </a:r>
          </a:p>
          <a:p>
            <a:r>
              <a:t>Change the premium payment schedule.</a:t>
            </a:r>
          </a:p>
        </p:txBody>
      </p:sp>
    </p:spTree>
  </p:cSld>
  <p:clrMapOvr>
    <a:masterClrMapping/>
  </p:clrMapOvr>
</p:sld>
</file>

<file path=ppt/slides/slide7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the purpose of the 'Free Look'</a:t>
            </a:r>
            <a:br/>
            <a:r>
              <a:t>period in insurance policies?</a:t>
            </a:r>
            <a:br/>
            <a:r>
              <a:t>Apply for additional coverage.</a:t>
            </a:r>
            <a:br/>
            <a:r>
              <a:t>Change the premium payment schedule.</a:t>
            </a:r>
            <a:br/>
            <a:r>
              <a:t>Proceed —_</a:t>
            </a:r>
            <a:br/>
            <a:r>
              <a:t>A &gt;|</a:t>
            </a:r>
            <a:br/>
            <a:r>
              <a:t>a ..rancelicense.myabsorb.com (</a:t>
            </a:r>
            <a:br/>
            <a:r>
              <a:t>&lt; &gt; +...</a:t>
            </a:r>
          </a:p>
        </p:txBody>
      </p:sp>
    </p:spTree>
  </p:cSld>
  <p:clrMapOvr>
    <a:masterClrMapping/>
  </p:clrMapOvr>
</p:sld>
</file>

<file path=ppt/slides/slide7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required for a person or entity</a:t>
            </a:r>
          </a:p>
          <a:p>
            <a:r>
              <a:t>to transact insurance business in</a:t>
            </a:r>
          </a:p>
          <a:p>
            <a:r>
              <a:t>Arizona?</a:t>
            </a:r>
          </a:p>
          <a:p>
            <a:r>
              <a:t>Membership in a state insurance</a:t>
            </a:r>
          </a:p>
          <a:p>
            <a:r>
              <a:t>association</a:t>
            </a:r>
          </a:p>
          <a:p>
            <a:r>
              <a:t>A bond of indemnity</a:t>
            </a:r>
          </a:p>
          <a:p>
            <a:r>
              <a:t>A certificate of authority</a:t>
            </a:r>
          </a:p>
          <a:p>
            <a:r>
              <a:t>A business license</a:t>
            </a:r>
          </a:p>
        </p:txBody>
      </p:sp>
    </p:spTree>
  </p:cSld>
  <p:clrMapOvr>
    <a:masterClrMapping/>
  </p:clrMapOvr>
</p:sld>
</file>

<file path=ppt/slides/slide7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required for a person or entity</a:t>
            </a:r>
            <a:br/>
            <a:r>
              <a:t>to transact insurance business in</a:t>
            </a:r>
            <a:br/>
            <a:r>
              <a:t>Arizona?</a:t>
            </a:r>
            <a:br/>
            <a:r>
              <a:t>Membership in a state insurance</a:t>
            </a:r>
            <a:br/>
            <a:r>
              <a:t>association</a:t>
            </a:r>
            <a:br/>
            <a:r>
              <a:t>A bond of indemnity</a:t>
            </a:r>
            <a:br/>
            <a:r>
              <a:t>A certificate of authority</a:t>
            </a:r>
            <a:br/>
            <a:r>
              <a:t>A business license</a:t>
            </a:r>
            <a:br/>
            <a:r>
              <a:t>Proceed =</a:t>
            </a:r>
            <a:br/>
            <a:r>
              <a:t>I&lt; A &gt;|</a:t>
            </a:r>
            <a:br/>
            <a:r>
              <a:t>a ..rancelicense.myabsorb.com (</a:t>
            </a:r>
            <a:br/>
            <a:r>
              <a:t>&lt; &gt; +...</a:t>
            </a:r>
          </a:p>
        </p:txBody>
      </p:sp>
    </p:spTree>
  </p:cSld>
  <p:clrMapOvr>
    <a:masterClrMapping/>
  </p:clrMapOvr>
</p:sld>
</file>

<file path=ppt/slides/slide7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does a 'Single Premium Whole</a:t>
            </a:r>
          </a:p>
          <a:p>
            <a:r>
              <a:t>Life' policy operate?</a:t>
            </a:r>
          </a:p>
        </p:txBody>
      </p:sp>
    </p:spTree>
  </p:cSld>
  <p:clrMapOvr>
    <a:masterClrMapping/>
  </p:clrMapOvr>
</p:sld>
</file>

<file path=ppt/slides/slide7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Premiums vary annually</a:t>
            </a:r>
            <a:br/>
            <a:br/>
            <a:r>
              <a:t>&amp; Premiums increase with age</a:t>
            </a:r>
          </a:p>
          <a:p>
            <a:r>
              <a:t>☐ Dividends pay the premiums</a:t>
            </a:r>
            <a:br/>
            <a:br/>
            <a:r>
              <a:t>@ © Entire premium paid in one lump sum</a:t>
            </a:r>
          </a:p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pay the premiums</a:t>
            </a:r>
            <a:br/>
            <a:r>
              <a:t>@  Entire premium paid in one lump sum</a:t>
            </a:r>
            <a:br/>
            <a:r>
              <a:t>Proceed =&gt;</a:t>
            </a:r>
            <a:br/>
            <a:r>
              <a:t>I&lt; A &gt;|</a:t>
            </a:r>
            <a:br/>
            <a:r>
              <a:t>a ..rancelicense.myabsorb.com (</a:t>
            </a:r>
            <a:br/>
            <a:r>
              <a:t>&lt; &gt; +...</a:t>
            </a:r>
          </a:p>
        </p:txBody>
      </p:sp>
    </p:spTree>
  </p:cSld>
  <p:clrMapOvr>
    <a:masterClrMapping/>
  </p:clrMapOvr>
</p:sld>
</file>

<file path=ppt/slides/slide7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 securing a large loan, Sarah</a:t>
            </a:r>
          </a:p>
          <a:p>
            <a:r>
              <a:t>decides to buy a life insurance policy</a:t>
            </a:r>
          </a:p>
          <a:p>
            <a:r>
              <a:t>and names her creditor as the</a:t>
            </a:r>
          </a:p>
          <a:p>
            <a:r>
              <a:t>beneficiary. What does this scenario</a:t>
            </a:r>
          </a:p>
          <a:p>
            <a:r>
              <a:t>exemplify?</a:t>
            </a:r>
          </a:p>
          <a:p>
            <a:r>
              <a:t>An example of a revocable beneficiary.</a:t>
            </a:r>
          </a:p>
          <a:p>
            <a:r>
              <a:t>@  Aninsurable interest existing between</a:t>
            </a:r>
          </a:p>
          <a:p>
            <a:r>
              <a:t>Sarah and her creditor.</a:t>
            </a:r>
          </a:p>
        </p:txBody>
      </p:sp>
    </p:spTree>
  </p:cSld>
  <p:clrMapOvr>
    <a:masterClrMapping/>
  </p:clrMapOvr>
</p:sld>
</file>

<file path=ppt/slides/slide7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scenario</a:t>
            </a:r>
            <a:br/>
            <a:r>
              <a:t>exemplify?</a:t>
            </a:r>
            <a:br/>
            <a:r>
              <a:t>An example of a revocable beneficiary.</a:t>
            </a:r>
            <a:br/>
            <a:r>
              <a:t>@  Aninsurable interest existing between</a:t>
            </a:r>
            <a:br/>
            <a:r>
              <a:t>Sarah and her creditor.</a:t>
            </a:r>
            <a:br/>
            <a:r>
              <a:t>I&lt; A &gt;|</a:t>
            </a:r>
            <a:br/>
            <a:r>
              <a:t>a ..rancelicense.myabsorb.com (</a:t>
            </a:r>
            <a:br/>
            <a:r>
              <a:t>&lt; &gt; +...</a:t>
            </a:r>
          </a:p>
        </p:txBody>
      </p:sp>
    </p:spTree>
  </p:cSld>
  <p:clrMapOvr>
    <a:masterClrMapping/>
  </p:clrMapOvr>
</p:sld>
</file>

<file path=ppt/slides/slide7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a married couple filing jointly, at</a:t>
            </a:r>
          </a:p>
          <a:p>
            <a:r>
              <a:t>what combined annual income will</a:t>
            </a:r>
          </a:p>
          <a:p>
            <a:r>
              <a:t>they start paying federal income tax on</a:t>
            </a:r>
          </a:p>
          <a:p>
            <a:r>
              <a:t>their Social Security benefits?</a:t>
            </a:r>
          </a:p>
          <a:p>
            <a:r>
              <a:t>@ « $32,000</a:t>
            </a:r>
          </a:p>
        </p:txBody>
      </p:sp>
    </p:spTree>
  </p:cSld>
  <p:clrMapOvr>
    <a:masterClrMapping/>
  </p:clrMapOvr>
</p:sld>
</file>

<file path=ppt/slides/slide7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</p:txBody>
      </p:sp>
    </p:spTree>
  </p:cSld>
  <p:clrMapOvr>
    <a:masterClrMapping/>
  </p:clrMapOvr>
</p:sld>
</file>

<file path=ppt/slides/slide7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required for a contract to be</a:t>
            </a:r>
          </a:p>
          <a:p>
            <a:r>
              <a:t>considered legally enforceable?</a:t>
            </a:r>
          </a:p>
        </p:txBody>
      </p:sp>
    </p:spTree>
  </p:cSld>
  <p:clrMapOvr>
    <a:masterClrMapping/>
  </p:clrMapOvr>
</p:sld>
</file>

<file path=ppt/slides/slide7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Specific essential elements like offer,</a:t>
            </a:r>
            <a:br/>
            <a:r>
              <a:t>acceptance, and consideration</a:t>
            </a:r>
            <a:br/>
            <a:br/>
            <a:r>
              <a:t>Payment of a fee to a legal authority</a:t>
            </a:r>
            <a:br/>
            <a:br/>
            <a:r>
              <a:t>An agreement beneficial to all parties</a:t>
            </a:r>
            <a:br/>
            <a:br/>
            <a:r>
              <a:t>Approval by a government official</a:t>
            </a:r>
          </a:p>
          <a:p>
            <a:r>
              <a:t>☐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required for a contract to be</a:t>
            </a:r>
            <a:br/>
            <a:r>
              <a:t>considered legally enforceable?</a:t>
            </a:r>
            <a:br/>
            <a:r>
              <a:t>g e Specific essential elements like offer,</a:t>
            </a:r>
            <a:br/>
            <a:r>
              <a:t>acceptance, and consideration</a:t>
            </a:r>
            <a:br/>
            <a:r>
              <a:t>Payment of a fee to a legal authority</a:t>
            </a:r>
            <a:br/>
            <a:r>
              <a:t>An agreement beneficial to all parties</a:t>
            </a:r>
            <a:br/>
            <a:r>
              <a:t>Approval by a government official</a:t>
            </a:r>
            <a:br/>
            <a:r>
              <a:t>Pro...</a:t>
            </a:r>
          </a:p>
        </p:txBody>
      </p:sp>
    </p:spTree>
  </p:cSld>
  <p:clrMapOvr>
    <a:masterClrMapping/>
  </p:clrMapOvr>
</p:sld>
</file>

<file path=ppt/slides/slide7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role does a Salary Continuation</a:t>
            </a:r>
          </a:p>
          <a:p>
            <a:r>
              <a:t>Plan play in employee benefits?</a:t>
            </a:r>
          </a:p>
          <a:p>
            <a:r>
              <a:t>Acts as an additional health insurance fund.</a:t>
            </a:r>
          </a:p>
          <a:p>
            <a:r>
              <a:t>Covers educational expenses for</a:t>
            </a:r>
          </a:p>
          <a:p>
            <a:r>
              <a:t>employees’ children.</a:t>
            </a:r>
          </a:p>
        </p:txBody>
      </p:sp>
    </p:spTree>
  </p:cSld>
  <p:clrMapOvr>
    <a:masterClrMapping/>
  </p:clrMapOvr>
</p:sld>
</file>

<file path=ppt/slides/slide7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☐ ffers a one-time payment to employees</a:t>
            </a:r>
            <a:br/>
            <a:r>
              <a:t>upon unexpected business closure.</a:t>
            </a:r>
            <a:br/>
            <a:br/>
            <a:r>
              <a:t>Provides ongoing financial support under</a:t>
            </a:r>
            <a:br/>
            <a:r>
              <a:t>specific circumstances such as retirement or</a:t>
            </a:r>
            <a:br/>
            <a:r>
              <a:t>disability.</a:t>
            </a:r>
          </a:p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</p:txBody>
      </p:sp>
    </p:spTree>
  </p:cSld>
  <p:clrMapOvr>
    <a:masterClrMapping/>
  </p:clrMapOvr>
</p:sld>
</file>

<file path=ppt/slides/slide7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describes</a:t>
            </a:r>
          </a:p>
          <a:p>
            <a:r>
              <a:t>‘consideration' in an insurance</a:t>
            </a:r>
          </a:p>
          <a:p>
            <a:r>
              <a:t>contract?</a:t>
            </a:r>
          </a:p>
          <a:p>
            <a:r>
              <a:t>The negotiation process between the</a:t>
            </a:r>
          </a:p>
          <a:p>
            <a:r>
              <a:t>applicant and the insurance company</a:t>
            </a:r>
          </a:p>
          <a:p>
            <a:r>
              <a:t>The exchange of value in the form of</a:t>
            </a:r>
          </a:p>
          <a:p>
            <a:r>
              <a:t>premium payments and coverage promise</a:t>
            </a:r>
          </a:p>
          <a:p>
            <a:r>
              <a:t>The final approval of the insurance</a:t>
            </a:r>
          </a:p>
          <a:p>
            <a:r>
              <a:t>application</a:t>
            </a:r>
          </a:p>
          <a:p>
            <a:r>
              <a:t>The legal advice received when entering the</a:t>
            </a:r>
          </a:p>
          <a:p>
            <a:r>
              <a:t>contract</a:t>
            </a:r>
          </a:p>
        </p:txBody>
      </p:sp>
    </p:spTree>
  </p:cSld>
  <p:clrMapOvr>
    <a:masterClrMapping/>
  </p:clrMapOvr>
</p:sld>
</file>

<file path=ppt/slides/slide7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</p:txBody>
      </p:sp>
    </p:spTree>
  </p:cSld>
  <p:clrMapOvr>
    <a:masterClrMapping/>
  </p:clrMapOvr>
</p:sld>
</file>

<file path=ppt/slides/slide7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rider provides coverage for total</a:t>
            </a:r>
          </a:p>
          <a:p>
            <a:r>
              <a:t>disability by waiving premiums?</a:t>
            </a:r>
          </a:p>
        </p:txBody>
      </p:sp>
    </p:spTree>
  </p:cSld>
  <p:clrMapOvr>
    <a:masterClrMapping/>
  </p:clrMapOvr>
</p:sld>
</file>

<file path=ppt/slides/slide7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e Waiver of Premium Rider.</a:t>
            </a:r>
            <a:br/>
            <a:br/>
            <a:r>
              <a:t>Disability Provision.</a:t>
            </a:r>
            <a:br/>
            <a:r>
              <a:t>Accidental Death Benefit Rider.</a:t>
            </a:r>
            <a:br/>
            <a:br/>
            <a:r>
              <a:t>Guaranteed Insurability Rider.</a:t>
            </a:r>
          </a:p>
          <a:p>
            <a:r>
              <a:t>☐ a ..rancelicense.myabsorb.com (©</a:t>
            </a:r>
            <a:br/>
            <a:br/>
            <a:r>
              <a:t>&lt; &gt; +</a:t>
            </a:r>
          </a:p>
        </p:txBody>
      </p:sp>
    </p:spTree>
  </p:cSld>
  <p:clrMapOvr>
    <a:masterClrMapping/>
  </p:clrMapOvr>
</p:sld>
</file>

<file path=ppt/slides/slide7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annuity disburses</a:t>
            </a:r>
          </a:p>
          <a:p>
            <a:r>
              <a:t>benefits in units instead of fixed dollar</a:t>
            </a:r>
          </a:p>
          <a:p>
            <a:r>
              <a:t>amounts.</a:t>
            </a:r>
          </a:p>
          <a:p>
            <a:r>
              <a:t>Fixed</a:t>
            </a:r>
          </a:p>
          <a:p>
            <a:r>
              <a:t>%) e Indexed</a:t>
            </a:r>
          </a:p>
        </p:txBody>
      </p:sp>
    </p:spTree>
  </p:cSld>
  <p:clrMapOvr>
    <a:masterClrMapping/>
  </p:clrMapOvr>
</p:sld>
</file>

<file path=ppt/slides/slide7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Variable</a:t>
            </a:r>
          </a:p>
          <a:p>
            <a:r>
              <a:t>☐ a ..rancelicense.myabsorb.com (©</a:t>
            </a:r>
            <a:br/>
            <a:br/>
            <a:r>
              <a:t>&lt; &gt; +</a:t>
            </a:r>
          </a:p>
        </p:txBody>
      </p:sp>
    </p:spTree>
  </p:cSld>
  <p:clrMapOvr>
    <a:masterClrMapping/>
  </p:clrMapOvr>
</p:sld>
</file>

<file path=ppt/slides/slide7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 reviewing his new life insurance</a:t>
            </a:r>
          </a:p>
          <a:p>
            <a:r>
              <a:t>policy, Robert decides it doesn't meet</a:t>
            </a:r>
          </a:p>
          <a:p>
            <a:r>
              <a:t>his needs within the first week. He</a:t>
            </a:r>
          </a:p>
          <a:p>
            <a:r>
              <a:t>knows he has a specific period during</a:t>
            </a:r>
          </a:p>
          <a:p>
            <a:r>
              <a:t>which he can cancel the policy for a</a:t>
            </a:r>
          </a:p>
          <a:p>
            <a:r>
              <a:t>full refund. This period is known as</a:t>
            </a:r>
          </a:p>
          <a:p>
            <a:r>
              <a:t>the:</a:t>
            </a:r>
          </a:p>
          <a:p>
            <a:r>
              <a:t>Cooling-off period.</a:t>
            </a:r>
          </a:p>
          <a:p>
            <a:r>
              <a:t>@  Free-look period.</a:t>
            </a:r>
          </a:p>
          <a:p>
            <a:r>
              <a:t>Trial period.</a:t>
            </a:r>
          </a:p>
        </p:txBody>
      </p:sp>
    </p:spTree>
  </p:cSld>
  <p:clrMapOvr>
    <a:masterClrMapping/>
  </p:clrMapOvr>
</p:sld>
</file>

<file path=ppt/slides/slide7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new life insurance</a:t>
            </a:r>
            <a:br/>
            <a:r>
              <a:t>policy, Robert decides it doesn't meet</a:t>
            </a:r>
            <a:br/>
            <a:r>
              <a:t>his needs within the first week. He</a:t>
            </a:r>
            <a:br/>
            <a:r>
              <a:t>knows he has a specific period during</a:t>
            </a:r>
            <a:br/>
            <a:r>
              <a:t>which he can cancel the policy for a</a:t>
            </a:r>
            <a:br/>
            <a:r>
              <a:t>full refund. This period is known as</a:t>
            </a:r>
            <a:br/>
            <a:r>
              <a:t>the:</a:t>
            </a:r>
            <a:br/>
            <a:r>
              <a:t>Cooling-off period.</a:t>
            </a:r>
            <a:br/>
            <a:r>
              <a:t>@  Free-look period...</a:t>
            </a:r>
          </a:p>
        </p:txBody>
      </p:sp>
    </p:spTree>
  </p:cSld>
  <p:clrMapOvr>
    <a:masterClrMapping/>
  </p:clrMapOvr>
</p:sld>
</file>

<file path=ppt/slides/slide7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is a</a:t>
            </a:r>
          </a:p>
          <a:p>
            <a:r>
              <a:t>characteristic of whole life insurance?</a:t>
            </a:r>
          </a:p>
          <a:p>
            <a:r>
              <a:t>Flexible Premiums</a:t>
            </a:r>
          </a:p>
          <a:p>
            <a:r>
              <a:t>Temporary Coverage</a:t>
            </a:r>
          </a:p>
        </p:txBody>
      </p:sp>
    </p:spTree>
  </p:cSld>
  <p:clrMapOvr>
    <a:masterClrMapping/>
  </p:clrMapOvr>
</p:sld>
</file>

<file path=ppt/slides/slide7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a ..rancelicense.myabsorb.com (©</a:t>
            </a:r>
            <a:br/>
            <a:br/>
            <a:r>
              <a:t>&lt; &gt; +</a:t>
            </a:r>
          </a:p>
          <a:p>
            <a:br/>
            <a:pPr>
              <a:defRPr sz="1200" i="1"/>
            </a:pPr>
            <a:r>
              <a:t>Note: a</a:t>
            </a:r>
            <a:br/>
            <a:r>
              <a:t>characteristic of whole life insurance?</a:t>
            </a:r>
            <a:br/>
            <a:r>
              <a:t>Flexible Premiums</a:t>
            </a:r>
            <a:br/>
            <a:r>
              <a:t>Temporary Coverage</a:t>
            </a:r>
            <a:br/>
            <a:r>
              <a:t>Proceed —_</a:t>
            </a:r>
            <a:br/>
            <a:r>
              <a:t>I&lt; A &gt;|</a:t>
            </a:r>
            <a:br/>
            <a:r>
              <a:t>a ..rancelicense.myabsorb.com (</a:t>
            </a:r>
            <a:br/>
            <a:r>
              <a:t>&lt; &gt; +...</a:t>
            </a:r>
          </a:p>
        </p:txBody>
      </p:sp>
    </p:spTree>
  </p:cSld>
  <p:clrMapOvr>
    <a:masterClrMapping/>
  </p:clrMapOvr>
</p:sld>
</file>

<file path=ppt/slides/slide7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'Automatic Premium Loan'</a:t>
            </a:r>
          </a:p>
          <a:p>
            <a:r>
              <a:t>feature designed to prevent?</a:t>
            </a:r>
          </a:p>
          <a:p>
            <a:r>
              <a:t>Excessive interest on loans.</a:t>
            </a:r>
          </a:p>
          <a:p>
            <a:r>
              <a:t>The sale of the policy.</a:t>
            </a:r>
          </a:p>
        </p:txBody>
      </p:sp>
    </p:spTree>
  </p:cSld>
  <p:clrMapOvr>
    <a:masterClrMapping/>
  </p:clrMapOvr>
</p:sld>
</file>

<file path=ppt/slides/slide7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Policy cancellation due to non-payment.</a:t>
            </a:r>
            <a:br/>
            <a:br/>
            <a:r>
              <a:t>Unauthorized beneficiary changes.</a:t>
            </a:r>
          </a:p>
          <a:p>
            <a:br/>
            <a:pPr>
              <a:defRPr sz="1200" i="1"/>
            </a:pPr>
            <a:r>
              <a:t>Note: the 'Automatic Premium Loan'</a:t>
            </a:r>
            <a:br/>
            <a:r>
              <a:t>feature designed to prevent?</a:t>
            </a:r>
            <a:br/>
            <a:r>
              <a:t>Excessive interest on loans.</a:t>
            </a:r>
            <a:br/>
            <a:r>
              <a:t>The sale of the policy.</a:t>
            </a:r>
            <a:br/>
            <a:r>
              <a:t>g Policy cancellation due to non-payment.</a:t>
            </a:r>
            <a:br/>
            <a:r>
              <a:t>Unauthorized beneficiary changes.</a:t>
            </a:r>
            <a:br/>
            <a:r>
              <a:t>I&lt; &gt;I</a:t>
            </a:r>
            <a:br/>
            <a:r>
              <a:t>@% 4a ..rancelicense.myabsorb.com (</a:t>
            </a:r>
            <a:br/>
            <a:r>
              <a:t>&lt; +...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