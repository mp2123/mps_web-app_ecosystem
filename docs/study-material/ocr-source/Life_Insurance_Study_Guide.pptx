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a:t>
            </a:r>
          </a:p>
        </p:txBody>
      </p:sp>
      <p:sp>
        <p:nvSpPr>
          <p:cNvPr id="3" name="Content Placeholder 2"/>
          <p:cNvSpPr>
            <a:spLocks noGrp="1"/>
          </p:cNvSpPr>
          <p:nvPr>
            <p:ph idx="1"/>
          </p:nvPr>
        </p:nvSpPr>
        <p:spPr/>
        <p:txBody>
          <a:bodyPr/>
          <a:lstStyle/>
          <a:p>
            <a:r>
              <a:t>Sarah applies for a life insurance</a:t>
            </a:r>
          </a:p>
          <a:p>
            <a:r>
              <a:t>policy on June 1 and pays the initial</a:t>
            </a:r>
          </a:p>
          <a:p>
            <a:r>
              <a:t>premium. She completes the required</a:t>
            </a:r>
          </a:p>
          <a:p>
            <a:r>
              <a:t>medical exam on June 3. If the insurer</a:t>
            </a:r>
          </a:p>
          <a:p>
            <a:r>
              <a:t>finds her insurable as of June 1, when</a:t>
            </a:r>
          </a:p>
          <a:p>
            <a:r>
              <a:t>does her coverage become effective?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a:t>
            </a:r>
          </a:p>
        </p:txBody>
      </p:sp>
      <p:sp>
        <p:nvSpPr>
          <p:cNvPr id="3" name="Content Placeholder 2"/>
          <p:cNvSpPr>
            <a:spLocks noGrp="1"/>
          </p:cNvSpPr>
          <p:nvPr>
            <p:ph idx="1"/>
          </p:nvPr>
        </p:nvSpPr>
        <p:spPr/>
        <p:txBody>
          <a:bodyPr/>
          <a:lstStyle/>
          <a:p/>
          <a:p>
            <a:pPr>
              <a:defRPr b="1"/>
            </a:pPr>
            <a:r>
              <a:t>✅ Upon policy delivery</a:t>
            </a:r>
          </a:p>
          <a:p>
            <a:r>
              <a:t>☐ After first premium payment</a:t>
            </a:r>
          </a:p>
          <a:p>
            <a:r>
              <a:t>☐ June 3</a:t>
            </a:r>
          </a:p>
          <a:p>
            <a:br/>
            <a:pPr>
              <a:defRPr sz="1400" i="1"/>
            </a:pPr>
            <a:r>
              <a:t>Explanation: her insurable as of June 1, when</a:t>
            </a:r>
            <a:br/>
            <a:r>
              <a:t>does her coverage become effective?</a:t>
            </a:r>
            <a:br/>
            <a:r>
              <a:t>Upon policy delivery</a:t>
            </a:r>
            <a:br/>
            <a:r>
              <a:t>After first premium payment</a:t>
            </a:r>
            <a:br/>
            <a:r>
              <a:t>June 3</a:t>
            </a:r>
            <a:br/>
            <a:r>
              <a:t>A</a:t>
            </a:r>
            <a:br/>
            <a:r>
              <a:t>% 4 ...rancelicense.myabsorb.com </a:t>
            </a:r>
            <a:br/>
            <a:r>
              <a:t>&lt; &gt;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a:t>
            </a:r>
          </a:p>
        </p:txBody>
      </p:sp>
      <p:sp>
        <p:nvSpPr>
          <p:cNvPr id="3" name="Content Placeholder 2"/>
          <p:cNvSpPr>
            <a:spLocks noGrp="1"/>
          </p:cNvSpPr>
          <p:nvPr>
            <p:ph idx="1"/>
          </p:nvPr>
        </p:nvSpPr>
        <p:spPr/>
        <p:txBody>
          <a:bodyPr/>
          <a:lstStyle/>
          <a:p>
            <a:r>
              <a:t>The Medical Information Bureau (MIB)</a:t>
            </a:r>
          </a:p>
          <a:p>
            <a:r>
              <a:t>provides: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a:t>
            </a:r>
          </a:p>
        </p:txBody>
      </p:sp>
      <p:sp>
        <p:nvSpPr>
          <p:cNvPr id="3" name="Content Placeholder 2"/>
          <p:cNvSpPr>
            <a:spLocks noGrp="1"/>
          </p:cNvSpPr>
          <p:nvPr>
            <p:ph idx="1"/>
          </p:nvPr>
        </p:nvSpPr>
        <p:spPr/>
        <p:txBody>
          <a:bodyPr/>
          <a:lstStyle/>
          <a:p/>
          <a:p>
            <a:pPr>
              <a:defRPr b="1"/>
            </a:pPr>
            <a:r>
              <a:t>✅ Medical history information shared among</a:t>
            </a:r>
          </a:p>
          <a:p>
            <a:r>
              <a:t>☐ nsurers</a:t>
            </a:r>
          </a:p>
          <a:p>
            <a:r>
              <a:t>☐ None of the above</a:t>
            </a:r>
          </a:p>
          <a:p>
            <a:r>
              <a:t>☐ Information on an applicant’s financial history</a:t>
            </a:r>
          </a:p>
          <a:p>
            <a:r>
              <a:t>☐ Details about the insurer’s financial status</a:t>
            </a:r>
          </a:p>
          <a:p>
            <a:br/>
            <a:pPr>
              <a:defRPr sz="1400" i="1"/>
            </a:pPr>
            <a:r>
              <a:t>Explanation: The Medical Information Bureau (MIB) is a</a:t>
            </a:r>
            <a:br/>
            <a:r>
              <a:t>resource used by insurance companies to share</a:t>
            </a:r>
            <a:br/>
            <a:r>
              <a:t>medical history information about applicants to</a:t>
            </a:r>
            <a:br/>
            <a:r>
              <a:t>prevent fraud and ensure underwriting decisions are</a:t>
            </a:r>
            <a:br/>
            <a:r>
              <a:t>&amp; a ..rancel...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a:t>
            </a:r>
          </a:p>
        </p:txBody>
      </p:sp>
      <p:sp>
        <p:nvSpPr>
          <p:cNvPr id="3" name="Content Placeholder 2"/>
          <p:cNvSpPr>
            <a:spLocks noGrp="1"/>
          </p:cNvSpPr>
          <p:nvPr>
            <p:ph idx="1"/>
          </p:nvPr>
        </p:nvSpPr>
        <p:spPr/>
        <p:txBody>
          <a:bodyPr/>
          <a:lstStyle/>
          <a:p>
            <a:r>
              <a:t>Adverse selection refers 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a:t>
            </a:r>
          </a:p>
        </p:txBody>
      </p:sp>
      <p:sp>
        <p:nvSpPr>
          <p:cNvPr id="3" name="Content Placeholder 2"/>
          <p:cNvSpPr>
            <a:spLocks noGrp="1"/>
          </p:cNvSpPr>
          <p:nvPr>
            <p:ph idx="1"/>
          </p:nvPr>
        </p:nvSpPr>
        <p:spPr/>
        <p:txBody>
          <a:bodyPr/>
          <a:lstStyle/>
          <a:p/>
          <a:p>
            <a:r>
              <a:t>☐ Offering policies at lower premiums</a:t>
            </a:r>
          </a:p>
          <a:p>
            <a:r>
              <a:t>☐ None of the above</a:t>
            </a:r>
          </a:p>
          <a:p>
            <a:pPr>
              <a:defRPr b="1"/>
            </a:pPr>
            <a:r>
              <a:t>✅ Rejecting all high-risk applicants Insuring high-risk individuals more frequently</a:t>
            </a:r>
          </a:p>
          <a:p>
            <a:br/>
            <a:pPr>
              <a:defRPr sz="1400" i="1"/>
            </a:pPr>
            <a:r>
              <a:t>Explanation: Adverse selection occurs when insurers end up</a:t>
            </a:r>
            <a:br/>
            <a:r>
              <a:t>covering more high-risk individuals than average-risk</a:t>
            </a:r>
            <a:br/>
            <a:r>
              <a:t>or low-risk ones. This situation can lead to increased</a:t>
            </a:r>
            <a:br/>
            <a:r>
              <a:t>losses and is a phenomenon that insurers aim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a:t>
            </a:r>
          </a:p>
        </p:txBody>
      </p:sp>
      <p:sp>
        <p:nvSpPr>
          <p:cNvPr id="3" name="Content Placeholder 2"/>
          <p:cNvSpPr>
            <a:spLocks noGrp="1"/>
          </p:cNvSpPr>
          <p:nvPr>
            <p:ph idx="1"/>
          </p:nvPr>
        </p:nvSpPr>
        <p:spPr/>
        <p:txBody>
          <a:bodyPr/>
          <a:lstStyle/>
          <a:p>
            <a:r>
              <a:t>A provides immediate,</a:t>
            </a:r>
          </a:p>
          <a:p>
            <a:r>
              <a:t>albeit temporary, coverage until the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a:t>
            </a:r>
          </a:p>
        </p:txBody>
      </p:sp>
      <p:sp>
        <p:nvSpPr>
          <p:cNvPr id="3" name="Content Placeholder 2"/>
          <p:cNvSpPr>
            <a:spLocks noGrp="1"/>
          </p:cNvSpPr>
          <p:nvPr>
            <p:ph idx="1"/>
          </p:nvPr>
        </p:nvSpPr>
        <p:spPr/>
        <p:txBody>
          <a:bodyPr/>
          <a:lstStyle/>
          <a:p/>
          <a:p>
            <a:r>
              <a:t>☐ nsurer formally rejects the application.</a:t>
            </a:r>
          </a:p>
          <a:p>
            <a:pPr>
              <a:defRPr b="1"/>
            </a:pPr>
            <a:r>
              <a:t>✅ Binding receipt</a:t>
            </a:r>
          </a:p>
          <a:p>
            <a:r>
              <a:t>☐ Inspection receipt</a:t>
            </a:r>
          </a:p>
          <a:p>
            <a:r>
              <a:t>☐ Premium receipt</a:t>
            </a:r>
          </a:p>
          <a:p>
            <a:r>
              <a:t>☐ Conditional receipt</a:t>
            </a:r>
          </a:p>
          <a:p>
            <a:br/>
            <a:pPr>
              <a:defRPr sz="1400" i="1"/>
            </a:pPr>
            <a:r>
              <a:t>Explanation: A binding receipt provides immediate temporary</a:t>
            </a:r>
            <a:br/>
            <a:r>
              <a:t>coverage from the time an application and initial</a:t>
            </a:r>
            <a:br/>
            <a:r>
              <a:t>premium are received until a formal decision on the</a:t>
            </a:r>
            <a:br/>
            <a:r>
              <a:t>application is made by the insurer. This ensures 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a:t>
            </a:r>
          </a:p>
        </p:txBody>
      </p:sp>
      <p:sp>
        <p:nvSpPr>
          <p:cNvPr id="3" name="Content Placeholder 2"/>
          <p:cNvSpPr>
            <a:spLocks noGrp="1"/>
          </p:cNvSpPr>
          <p:nvPr>
            <p:ph idx="1"/>
          </p:nvPr>
        </p:nvSpPr>
        <p:spPr/>
        <p:txBody>
          <a:bodyPr/>
          <a:lstStyle/>
          <a:p>
            <a:r>
              <a:t>The principle that larger numbers of</a:t>
            </a:r>
          </a:p>
          <a:p>
            <a:r>
              <a:t>similar risks make losses more</a:t>
            </a:r>
          </a:p>
          <a:p>
            <a:r>
              <a:t>predictable is known as:</a:t>
            </a:r>
          </a:p>
          <a:p>
            <a:r>
              <a:t>' ¢) Risk classification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a:t>
            </a:r>
          </a:p>
        </p:txBody>
      </p:sp>
      <p:sp>
        <p:nvSpPr>
          <p:cNvPr id="3" name="Content Placeholder 2"/>
          <p:cNvSpPr>
            <a:spLocks noGrp="1"/>
          </p:cNvSpPr>
          <p:nvPr>
            <p:ph idx="1"/>
          </p:nvPr>
        </p:nvSpPr>
        <p:spPr/>
        <p:txBody>
          <a:bodyPr/>
          <a:lstStyle/>
          <a:p/>
          <a:p>
            <a:r>
              <a:t>☐ Law of large numbers @ Risk pooling</a:t>
            </a:r>
          </a:p>
          <a:p>
            <a:pPr>
              <a:defRPr b="1"/>
            </a:pPr>
            <a:r>
              <a:t>✅ Adverse selection</a:t>
            </a:r>
          </a:p>
          <a:p>
            <a:br/>
            <a:pPr>
              <a:defRPr sz="1400" i="1"/>
            </a:pPr>
            <a:r>
              <a:t>Explanation: known as:</a:t>
            </a:r>
            <a:br/>
            <a:r>
              <a:t>' ¢) Risk classification</a:t>
            </a:r>
            <a:br/>
            <a:r>
              <a:t>g Law of large numbers</a:t>
            </a:r>
            <a:br/>
            <a:r>
              <a:t>@ Risk pooling</a:t>
            </a:r>
            <a:br/>
            <a:r>
              <a:t>x) Adverse selection</a:t>
            </a:r>
            <a:br/>
            <a:r>
              <a:t>Proceed a</a:t>
            </a:r>
            <a:br/>
            <a:r>
              <a:t>ds The Law of large numbers is a statistical concept</a:t>
            </a:r>
            <a:br/>
            <a:r>
              <a:t>used in insurance to predict losses more ac...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a:t>
            </a:r>
          </a:p>
        </p:txBody>
      </p:sp>
      <p:sp>
        <p:nvSpPr>
          <p:cNvPr id="3" name="Content Placeholder 2"/>
          <p:cNvSpPr>
            <a:spLocks noGrp="1"/>
          </p:cNvSpPr>
          <p:nvPr>
            <p:ph idx="1"/>
          </p:nvPr>
        </p:nvSpPr>
        <p:spPr/>
        <p:txBody>
          <a:bodyPr/>
          <a:lstStyle/>
          <a:p>
            <a:r>
              <a:t>Insurers use the to</a:t>
            </a:r>
          </a:p>
          <a:p>
            <a:r>
              <a:t>predict the likelihood of death based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a:t>
            </a:r>
          </a:p>
        </p:txBody>
      </p:sp>
      <p:sp>
        <p:nvSpPr>
          <p:cNvPr id="3" name="Content Placeholder 2"/>
          <p:cNvSpPr>
            <a:spLocks noGrp="1"/>
          </p:cNvSpPr>
          <p:nvPr>
            <p:ph idx="1"/>
          </p:nvPr>
        </p:nvSpPr>
        <p:spPr/>
        <p:txBody>
          <a:bodyPr/>
          <a:lstStyle/>
          <a:p/>
          <a:p>
            <a:pPr>
              <a:defRPr b="1"/>
            </a:pPr>
            <a:r>
              <a:t>✅ Mortality tables</a:t>
            </a:r>
          </a:p>
          <a:p>
            <a:r>
              <a:t>☐ Medical Information Bureau @ Attending Physician's Statement</a:t>
            </a:r>
          </a:p>
          <a:p>
            <a:r>
              <a:t>☐ Law of large numbers</a:t>
            </a:r>
          </a:p>
          <a:p>
            <a:br/>
            <a:pPr>
              <a:defRPr sz="1400" i="1"/>
            </a:pPr>
            <a:r>
              <a:t>Explanation: Mortality tables are used by insurers to predict</a:t>
            </a:r>
            <a:br/>
            <a:r>
              <a:t>the likelihood of death based on various</a:t>
            </a:r>
            <a:br/>
            <a:r>
              <a:t>demographic and health factors. These statistical</a:t>
            </a:r>
            <a:br/>
            <a:r>
              <a:t>tables help determine life expectancy and are crucial</a:t>
            </a:r>
            <a:br/>
            <a:r>
              <a:t>&amp; a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a:t>
            </a:r>
          </a:p>
        </p:txBody>
      </p:sp>
      <p:sp>
        <p:nvSpPr>
          <p:cNvPr id="3" name="Content Placeholder 2"/>
          <p:cNvSpPr>
            <a:spLocks noGrp="1"/>
          </p:cNvSpPr>
          <p:nvPr>
            <p:ph idx="1"/>
          </p:nvPr>
        </p:nvSpPr>
        <p:spPr/>
        <p:txBody>
          <a:bodyPr/>
          <a:lstStyle/>
          <a:p>
            <a:r>
              <a:t>Which of the following statements is</a:t>
            </a:r>
          </a:p>
          <a:p>
            <a:r>
              <a:t>true about insurable interest?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a:t>
            </a:r>
          </a:p>
        </p:txBody>
      </p:sp>
      <p:sp>
        <p:nvSpPr>
          <p:cNvPr id="3" name="Content Placeholder 2"/>
          <p:cNvSpPr>
            <a:spLocks noGrp="1"/>
          </p:cNvSpPr>
          <p:nvPr>
            <p:ph idx="1"/>
          </p:nvPr>
        </p:nvSpPr>
        <p:spPr/>
        <p:txBody>
          <a:bodyPr/>
          <a:lstStyle/>
          <a:p/>
          <a:p>
            <a:pPr>
              <a:defRPr b="1"/>
            </a:pPr>
            <a:r>
              <a:t>✅ It is required at the time of loss</a:t>
            </a:r>
          </a:p>
          <a:p>
            <a:r>
              <a:t>☐ It is not required</a:t>
            </a:r>
          </a:p>
          <a:p>
            <a:r>
              <a:t>☐ It is required at the time of policy issuance %) It is required at the time of application only</a:t>
            </a:r>
          </a:p>
          <a:p>
            <a:r>
              <a:t>☐ ssuance to validate an insurance contract. This requirement ensures that there is a legitimate risk of financial loss to the policyholder if the insured event occurs, making the insurance contract legally and % aa ...rancelicense.myabsorb.com &lt; &gt; + 6</a:t>
            </a:r>
          </a:p>
          <a:p>
            <a:br/>
            <a:pPr>
              <a:defRPr sz="1400" i="1"/>
            </a:pPr>
            <a:r>
              <a:t>Explanation: true about insurable interest?</a:t>
            </a:r>
            <a:br/>
            <a:r>
              <a:t>x) It is required at the time of loss</a:t>
            </a:r>
            <a:br/>
            <a:r>
              <a:t>x) It is not required</a:t>
            </a:r>
            <a:br/>
            <a:r>
              <a:t>g It is required at the time of policy issuance</a:t>
            </a:r>
            <a:br/>
            <a:r>
              <a:t>%) It is required at the time of application only</a:t>
            </a:r>
            <a:br/>
            <a:r>
              <a:t>Proceed —_</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a:t>
            </a:r>
          </a:p>
        </p:txBody>
      </p:sp>
      <p:sp>
        <p:nvSpPr>
          <p:cNvPr id="3" name="Content Placeholder 2"/>
          <p:cNvSpPr>
            <a:spLocks noGrp="1"/>
          </p:cNvSpPr>
          <p:nvPr>
            <p:ph idx="1"/>
          </p:nvPr>
        </p:nvSpPr>
        <p:spPr/>
        <p:txBody>
          <a:bodyPr/>
          <a:lstStyle/>
          <a:p>
            <a:r>
              <a:t>An agent submits an application</a:t>
            </a:r>
          </a:p>
          <a:p>
            <a:r>
              <a:t>without collecting the initial premium.</a:t>
            </a:r>
          </a:p>
          <a:p>
            <a:r>
              <a:t>This type of application is Known as:</a:t>
            </a:r>
          </a:p>
          <a:p>
            <a:r>
              <a:t>€  Conditional application</a:t>
            </a:r>
          </a:p>
          <a:p>
            <a:r>
              <a:t>Nonmedical application</a:t>
            </a:r>
          </a:p>
          <a:p>
            <a:r>
              <a:t>Trial application</a:t>
            </a:r>
          </a:p>
          <a:p>
            <a:r>
              <a:t>Temporary application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a:t>
            </a:r>
          </a:p>
        </p:txBody>
      </p:sp>
      <p:sp>
        <p:nvSpPr>
          <p:cNvPr id="3" name="Content Placeholder 2"/>
          <p:cNvSpPr>
            <a:spLocks noGrp="1"/>
          </p:cNvSpPr>
          <p:nvPr>
            <p:ph idx="1"/>
          </p:nvPr>
        </p:nvSpPr>
        <p:spPr/>
        <p:txBody>
          <a:bodyPr/>
          <a:lstStyle/>
          <a:p/>
          <a:p>
            <a:br/>
            <a:pPr>
              <a:defRPr sz="1400" i="1"/>
            </a:pPr>
            <a:r>
              <a:t>Explanation: type of application is Known as:</a:t>
            </a:r>
            <a:br/>
            <a:r>
              <a:t>€  Conditional application</a:t>
            </a:r>
            <a:br/>
            <a:r>
              <a:t>Nonmedical application</a:t>
            </a:r>
            <a:br/>
            <a:r>
              <a:t>Trial application</a:t>
            </a:r>
            <a:br/>
            <a:r>
              <a:t>Temporary application</a:t>
            </a:r>
            <a:br/>
            <a:r>
              <a:t>Proceed =&gt;</a:t>
            </a:r>
            <a:br/>
            <a:r>
              <a:t>% When an agent submits an application without</a:t>
            </a:r>
            <a:br/>
            <a:r>
              <a:t>collecting the init...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a:t>
            </a:r>
          </a:p>
        </p:txBody>
      </p:sp>
      <p:sp>
        <p:nvSpPr>
          <p:cNvPr id="3" name="Content Placeholder 2"/>
          <p:cNvSpPr>
            <a:spLocks noGrp="1"/>
          </p:cNvSpPr>
          <p:nvPr>
            <p:ph idx="1"/>
          </p:nvPr>
        </p:nvSpPr>
        <p:spPr/>
        <p:txBody>
          <a:bodyPr/>
          <a:lstStyle/>
          <a:p>
            <a:r>
              <a:t>Errors and Omissions insurance is</a:t>
            </a:r>
          </a:p>
          <a:p>
            <a:r>
              <a:t>recommended for: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a:t>
            </a:r>
          </a:p>
        </p:txBody>
      </p:sp>
      <p:sp>
        <p:nvSpPr>
          <p:cNvPr id="3" name="Content Placeholder 2"/>
          <p:cNvSpPr>
            <a:spLocks noGrp="1"/>
          </p:cNvSpPr>
          <p:nvPr>
            <p:ph idx="1"/>
          </p:nvPr>
        </p:nvSpPr>
        <p:spPr/>
        <p:txBody>
          <a:bodyPr/>
          <a:lstStyle/>
          <a:p/>
          <a:p>
            <a:r>
              <a:t>☐ Question 13 Select the appropriate response Errors and Omissions insurance is recommended for:</a:t>
            </a:r>
          </a:p>
          <a:p>
            <a:pPr>
              <a:defRPr b="1"/>
            </a:pPr>
            <a:r>
              <a:t>✅ Underwriters</a:t>
            </a:r>
          </a:p>
          <a:p>
            <a:r>
              <a:t>☐ Policyholders</a:t>
            </a:r>
          </a:p>
          <a:p>
            <a:r>
              <a:t>☐ Beneficiaries</a:t>
            </a:r>
          </a:p>
          <a:p>
            <a:r>
              <a:t>☐ Insurance agents</a:t>
            </a:r>
          </a:p>
          <a:p>
            <a:br/>
            <a:pPr>
              <a:defRPr sz="1400" i="1"/>
            </a:pPr>
            <a:r>
              <a:t>Explanation: recommended for:</a:t>
            </a:r>
            <a:br/>
            <a:r>
              <a:t>x) Underwriters</a:t>
            </a:r>
            <a:br/>
            <a:r>
              <a:t>x) Policyholders</a:t>
            </a:r>
            <a:br/>
            <a:r>
              <a:t>x) Beneficiaries</a:t>
            </a:r>
            <a:br/>
            <a:r>
              <a:t>g Insurance agents</a:t>
            </a:r>
            <a:br/>
            <a:r>
              <a:t>Proceed —_</a:t>
            </a:r>
            <a:br/>
            <a:r>
              <a:t>ds Errors and Omissions (E&amp;O) insurance is highly</a:t>
            </a:r>
            <a:br/>
            <a:r>
              <a:t>recommended for insurance agents because it</a:t>
            </a:r>
            <a:br/>
            <a:r>
              <a:t>protects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a:t>
            </a:r>
          </a:p>
        </p:txBody>
      </p:sp>
      <p:sp>
        <p:nvSpPr>
          <p:cNvPr id="3" name="Content Placeholder 2"/>
          <p:cNvSpPr>
            <a:spLocks noGrp="1"/>
          </p:cNvSpPr>
          <p:nvPr>
            <p:ph idx="1"/>
          </p:nvPr>
        </p:nvSpPr>
        <p:spPr/>
        <p:txBody>
          <a:bodyPr/>
          <a:lstStyle/>
          <a:p>
            <a:r>
              <a:t>Which of the following is NOT typically</a:t>
            </a:r>
          </a:p>
          <a:p>
            <a:r>
              <a:t>reviewed by an underwriter?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a:t>
            </a:r>
          </a:p>
        </p:txBody>
      </p:sp>
      <p:sp>
        <p:nvSpPr>
          <p:cNvPr id="3" name="Content Placeholder 2"/>
          <p:cNvSpPr>
            <a:spLocks noGrp="1"/>
          </p:cNvSpPr>
          <p:nvPr>
            <p:ph idx="1"/>
          </p:nvPr>
        </p:nvSpPr>
        <p:spPr/>
        <p:txBody>
          <a:bodyPr/>
          <a:lstStyle/>
          <a:p/>
          <a:p>
            <a:r>
              <a:t>☐ 7:07 ef Question 14 Select the appropriate response Which of the following is NOT typically reviewed by an underwriter?</a:t>
            </a:r>
          </a:p>
          <a:p>
            <a:pPr>
              <a:defRPr b="1"/>
            </a:pPr>
            <a:r>
              <a:t>✅ Applicant’s hobbies</a:t>
            </a:r>
          </a:p>
          <a:p>
            <a:r>
              <a:t>☐ Applicant’s health</a:t>
            </a:r>
          </a:p>
          <a:p>
            <a:r>
              <a:t>☐ Applicant’s political views %) Applicant's lifestyle</a:t>
            </a:r>
          </a:p>
          <a:p>
            <a:br/>
            <a:pPr>
              <a:defRPr sz="1400" i="1"/>
            </a:pPr>
            <a:r>
              <a:t>Explanation: NOT typically</a:t>
            </a:r>
            <a:br/>
            <a:r>
              <a:t>reviewed by an underwriter?</a:t>
            </a:r>
            <a:br/>
            <a:r>
              <a:t>x) Applicant’s hobbies</a:t>
            </a:r>
            <a:br/>
            <a:r>
              <a:t>x) Applicant’s health</a:t>
            </a:r>
            <a:br/>
            <a:r>
              <a:t>g Applicant’s political views</a:t>
            </a:r>
            <a:br/>
            <a:r>
              <a:t>%) Applicant's lifestyle</a:t>
            </a:r>
            <a:br/>
            <a:r>
              <a:t>Proceed —_</a:t>
            </a:r>
            <a:br/>
            <a:r>
              <a:t>ds 'n the underwriting process, the applicant’s...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a:t>
            </a:r>
          </a:p>
        </p:txBody>
      </p:sp>
      <p:sp>
        <p:nvSpPr>
          <p:cNvPr id="3" name="Content Placeholder 2"/>
          <p:cNvSpPr>
            <a:spLocks noGrp="1"/>
          </p:cNvSpPr>
          <p:nvPr>
            <p:ph idx="1"/>
          </p:nvPr>
        </p:nvSpPr>
        <p:spPr/>
        <p:txBody>
          <a:bodyPr/>
          <a:lstStyle/>
          <a:p>
            <a:r>
              <a:t>The insurability type conditional receipt</a:t>
            </a:r>
          </a:p>
          <a:p>
            <a:r>
              <a:t>provides coverage: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a:t>
            </a:r>
          </a:p>
        </p:txBody>
      </p:sp>
      <p:sp>
        <p:nvSpPr>
          <p:cNvPr id="3" name="Content Placeholder 2"/>
          <p:cNvSpPr>
            <a:spLocks noGrp="1"/>
          </p:cNvSpPr>
          <p:nvPr>
            <p:ph idx="1"/>
          </p:nvPr>
        </p:nvSpPr>
        <p:spPr/>
        <p:txBody>
          <a:bodyPr/>
          <a:lstStyle/>
          <a:p/>
          <a:p>
            <a:r>
              <a:t>☐ Only after policy approval</a:t>
            </a:r>
          </a:p>
          <a:p>
            <a:r>
              <a:t>☐ After the first premium payment is made</a:t>
            </a:r>
          </a:p>
          <a:p>
            <a:r>
              <a:t>☐ As of the date of application or medical exam, subject to insurability</a:t>
            </a:r>
          </a:p>
          <a:p>
            <a:pPr>
              <a:defRPr b="1"/>
            </a:pPr>
            <a:r>
              <a:t>✅ From the date the policy is delivered</a:t>
            </a:r>
          </a:p>
          <a:p>
            <a:br/>
            <a:pPr>
              <a:defRPr sz="1400" i="1"/>
            </a:pPr>
            <a:r>
              <a:t>Explanation: made</a:t>
            </a:r>
            <a:br/>
            <a:r>
              <a:t>g As of the date of application or medical</a:t>
            </a:r>
            <a:br/>
            <a:r>
              <a:t>exam, subject to insurability</a:t>
            </a:r>
            <a:br/>
            <a:r>
              <a:t>x) From the date the policy is delivered</a:t>
            </a:r>
            <a:br/>
            <a:r>
              <a:t>ds An insurability type conditional receipt provides</a:t>
            </a:r>
            <a:br/>
            <a:r>
              <a:t>temporary coverage from the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a:t>
            </a:r>
          </a:p>
        </p:txBody>
      </p:sp>
      <p:sp>
        <p:nvSpPr>
          <p:cNvPr id="3" name="Content Placeholder 2"/>
          <p:cNvSpPr>
            <a:spLocks noGrp="1"/>
          </p:cNvSpPr>
          <p:nvPr>
            <p:ph idx="1"/>
          </p:nvPr>
        </p:nvSpPr>
        <p:spPr/>
        <p:txBody>
          <a:bodyPr/>
          <a:lstStyle/>
          <a:p>
            <a:r>
              <a:t>What is the term for the test that</a:t>
            </a:r>
          </a:p>
          <a:p>
            <a:r>
              <a:t>ensures a life insurance policy does</a:t>
            </a:r>
          </a:p>
          <a:p>
            <a:r>
              <a:t>not become overfunded within the first</a:t>
            </a:r>
          </a:p>
          <a:p>
            <a:r>
              <a:t>seven years?</a:t>
            </a:r>
          </a:p>
          <a:p>
            <a:r>
              <a:t>MEC test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a:t>
            </a:r>
          </a:p>
        </p:txBody>
      </p:sp>
      <p:sp>
        <p:nvSpPr>
          <p:cNvPr id="3" name="Content Placeholder 2"/>
          <p:cNvSpPr>
            <a:spLocks noGrp="1"/>
          </p:cNvSpPr>
          <p:nvPr>
            <p:ph idx="1"/>
          </p:nvPr>
        </p:nvSpPr>
        <p:spPr/>
        <p:txBody>
          <a:bodyPr/>
          <a:lstStyle/>
          <a:p/>
          <a:p>
            <a:r>
              <a:t>☐ Question 1 Select the appropriate response What is the term for the test that ensures a life insurance policy does not become overfunded within the first seven years? MEC test</a:t>
            </a:r>
          </a:p>
          <a:p>
            <a:pPr>
              <a:defRPr b="1"/>
            </a:pPr>
            <a:r>
              <a:t>✅ 7-Pay test Convertible test Premium test</a:t>
            </a:r>
          </a:p>
          <a:p>
            <a:r>
              <a:t>☐ f a life insurance policy is classified as a Modified Endowment Contract (MEC). This test checks &gt;| % 4a ..rancelicense.myabsorb.com (© &lt; +</a:t>
            </a:r>
          </a:p>
          <a:p>
            <a:br/>
            <a:pPr>
              <a:defRPr sz="1400" i="1"/>
            </a:pPr>
            <a:r>
              <a:t>Explanation: the term for the test that</a:t>
            </a:r>
            <a:br/>
            <a:r>
              <a:t>ensures a life insurance policy does</a:t>
            </a:r>
            <a:br/>
            <a:r>
              <a:t>not become overfunded within the first</a:t>
            </a:r>
            <a:br/>
            <a:r>
              <a:t>seven years?</a:t>
            </a:r>
            <a:br/>
            <a:r>
              <a:t>MEC test</a:t>
            </a:r>
            <a:br/>
            <a:r>
              <a:t>g 7-Pay test</a:t>
            </a:r>
            <a:br/>
            <a:r>
              <a:t>Convertible test</a:t>
            </a:r>
            <a:br/>
            <a:r>
              <a:t>Premium test</a:t>
            </a:r>
            <a:br/>
            <a:r>
              <a:t>Proceed =&gt;</a:t>
            </a:r>
            <a:br/>
            <a:r>
              <a:t>ds The 7-Pay test is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a:t>
            </a:r>
          </a:p>
        </p:txBody>
      </p:sp>
      <p:sp>
        <p:nvSpPr>
          <p:cNvPr id="3" name="Content Placeholder 2"/>
          <p:cNvSpPr>
            <a:spLocks noGrp="1"/>
          </p:cNvSpPr>
          <p:nvPr>
            <p:ph idx="1"/>
          </p:nvPr>
        </p:nvSpPr>
        <p:spPr/>
        <p:txBody>
          <a:bodyPr/>
          <a:lstStyle/>
          <a:p>
            <a:r>
              <a:t>Sarah has a whole life policy with a</a:t>
            </a:r>
          </a:p>
          <a:p>
            <a:r>
              <a:t>face amount of $120,000. After 10</a:t>
            </a:r>
          </a:p>
          <a:p>
            <a:r>
              <a:t>years, her cash value is $18,000.</a:t>
            </a:r>
          </a:p>
          <a:p>
            <a:r>
              <a:t>What is the insurer’s liability at this</a:t>
            </a:r>
          </a:p>
          <a:p>
            <a:r>
              <a:t>point?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a:t>
            </a:r>
          </a:p>
        </p:txBody>
      </p:sp>
      <p:sp>
        <p:nvSpPr>
          <p:cNvPr id="3" name="Content Placeholder 2"/>
          <p:cNvSpPr>
            <a:spLocks noGrp="1"/>
          </p:cNvSpPr>
          <p:nvPr>
            <p:ph idx="1"/>
          </p:nvPr>
        </p:nvSpPr>
        <p:spPr/>
        <p:txBody>
          <a:bodyPr/>
          <a:lstStyle/>
          <a:p/>
          <a:p>
            <a:r>
              <a:t>☐ — $60,000 @ «© $102,000</a:t>
            </a:r>
          </a:p>
          <a:p>
            <a:pPr>
              <a:defRPr b="1"/>
            </a:pPr>
            <a:r>
              <a:t>✅ ] $120,000</a:t>
            </a:r>
          </a:p>
          <a:p>
            <a:r>
              <a:t>☐ ] $18,000</a:t>
            </a:r>
          </a:p>
          <a:p>
            <a:br/>
            <a:pPr>
              <a:defRPr sz="1400" i="1"/>
            </a:pPr>
            <a:r>
              <a:t>Explanation: $18,000.</a:t>
            </a:r>
            <a:br/>
            <a:r>
              <a:t>What is the insurer’s liability at this</a:t>
            </a:r>
            <a:br/>
            <a:r>
              <a:t>point?</a:t>
            </a:r>
            <a:br/>
            <a:r>
              <a:t>— $60,000</a:t>
            </a:r>
            <a:br/>
            <a:r>
              <a:t>@ « $102,000</a:t>
            </a:r>
            <a:br/>
            <a:r>
              <a:t>x] $120,000</a:t>
            </a:r>
            <a:br/>
            <a:r>
              <a:t>ix] $18,000</a:t>
            </a:r>
            <a:br/>
            <a:r>
              <a:t>Proceed =&gt;</a:t>
            </a:r>
            <a:br/>
            <a:r>
              <a:t>és In this scenario, Sarah's whole life policy has a</a:t>
            </a:r>
            <a:br/>
            <a:r>
              <a:t>total face amount of $120,000, 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a:t>
            </a:r>
          </a:p>
        </p:txBody>
      </p:sp>
      <p:sp>
        <p:nvSpPr>
          <p:cNvPr id="3" name="Content Placeholder 2"/>
          <p:cNvSpPr>
            <a:spLocks noGrp="1"/>
          </p:cNvSpPr>
          <p:nvPr>
            <p:ph idx="1"/>
          </p:nvPr>
        </p:nvSpPr>
        <p:spPr/>
        <p:txBody>
          <a:bodyPr/>
          <a:lstStyle/>
          <a:p>
            <a:r>
              <a:t>Which policy allows partial withdrawals</a:t>
            </a:r>
          </a:p>
          <a:p>
            <a:r>
              <a:t>from the cash value account?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a:t>
            </a:r>
          </a:p>
        </p:txBody>
      </p:sp>
      <p:sp>
        <p:nvSpPr>
          <p:cNvPr id="3" name="Content Placeholder 2"/>
          <p:cNvSpPr>
            <a:spLocks noGrp="1"/>
          </p:cNvSpPr>
          <p:nvPr>
            <p:ph idx="1"/>
          </p:nvPr>
        </p:nvSpPr>
        <p:spPr/>
        <p:txBody>
          <a:bodyPr/>
          <a:lstStyle/>
          <a:p/>
          <a:p>
            <a:pPr>
              <a:defRPr b="1"/>
            </a:pPr>
            <a:r>
              <a:t>✅ Universal life insurance</a:t>
            </a:r>
          </a:p>
          <a:p>
            <a:r>
              <a:t>☐ Term life insurance ) Variable life insurance ' ¢) Whole life insurance</a:t>
            </a:r>
          </a:p>
          <a:p>
            <a:br/>
            <a:pPr>
              <a:defRPr sz="1400" i="1"/>
            </a:pPr>
            <a:r>
              <a:t>Explanation: Universal Life Insurance policies are flexible and</a:t>
            </a:r>
            <a:br/>
            <a:r>
              <a:t>allow the policyholder to make partial withdrawals</a:t>
            </a:r>
            <a:br/>
            <a:r>
              <a:t>from the cash value account, which can adjust the</a:t>
            </a:r>
            <a:br/>
            <a:r>
              <a:t>premiums and death benefits according to the</a:t>
            </a:r>
            <a:br/>
            <a:r>
              <a:t>pol...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a:t>
            </a:r>
          </a:p>
        </p:txBody>
      </p:sp>
      <p:sp>
        <p:nvSpPr>
          <p:cNvPr id="3" name="Content Placeholder 2"/>
          <p:cNvSpPr>
            <a:spLocks noGrp="1"/>
          </p:cNvSpPr>
          <p:nvPr>
            <p:ph idx="1"/>
          </p:nvPr>
        </p:nvSpPr>
        <p:spPr/>
        <p:txBody>
          <a:bodyPr/>
          <a:lstStyle/>
          <a:p>
            <a:r>
              <a:t>What is the main advantage of a</a:t>
            </a:r>
          </a:p>
          <a:p>
            <a:r>
              <a:t>single-premium whole life policy?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a:t>
            </a:r>
          </a:p>
        </p:txBody>
      </p:sp>
      <p:sp>
        <p:nvSpPr>
          <p:cNvPr id="3" name="Content Placeholder 2"/>
          <p:cNvSpPr>
            <a:spLocks noGrp="1"/>
          </p:cNvSpPr>
          <p:nvPr>
            <p:ph idx="1"/>
          </p:nvPr>
        </p:nvSpPr>
        <p:spPr/>
        <p:txBody>
          <a:bodyPr/>
          <a:lstStyle/>
          <a:p/>
          <a:p>
            <a:pPr>
              <a:defRPr b="1"/>
            </a:pPr>
            <a:r>
              <a:t>✅ No cash value</a:t>
            </a:r>
          </a:p>
          <a:p>
            <a:r>
              <a:t>☐ Variable death benefit</a:t>
            </a:r>
          </a:p>
          <a:p>
            <a:r>
              <a:t>☐ Higher ongoing premiums</a:t>
            </a:r>
          </a:p>
          <a:p>
            <a:r>
              <a:t>☐ Lower total cost</a:t>
            </a:r>
          </a:p>
          <a:p>
            <a:r>
              <a:t>☐ s a distinctive benefit over policies that require &gt;|</a:t>
            </a:r>
          </a:p>
          <a:p>
            <a:r>
              <a:t>☐ a ..rancelicense.myabsorb.com (© &lt; &gt; + (21)</a:t>
            </a:r>
          </a:p>
          <a:p>
            <a:br/>
            <a:pPr>
              <a:defRPr sz="1400" i="1"/>
            </a:pPr>
            <a:r>
              <a:t>Explanation: the main advantage of a</a:t>
            </a:r>
            <a:br/>
            <a:r>
              <a:t>single-premium whole life policy?</a:t>
            </a:r>
            <a:br/>
            <a:r>
              <a:t>x) No cash value</a:t>
            </a:r>
            <a:br/>
            <a:r>
              <a:t>x) Variable death benefit</a:t>
            </a:r>
            <a:br/>
            <a:r>
              <a:t>x) Higher ongoing premiums</a:t>
            </a:r>
            <a:br/>
            <a:r>
              <a:t>g Lower total cost</a:t>
            </a:r>
            <a:br/>
            <a:r>
              <a:t>Proceed =</a:t>
            </a:r>
            <a:br/>
            <a:r>
              <a:t>% The main advantage of a Single-Premium Wh...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a:t>
            </a:r>
          </a:p>
        </p:txBody>
      </p:sp>
      <p:sp>
        <p:nvSpPr>
          <p:cNvPr id="3" name="Content Placeholder 2"/>
          <p:cNvSpPr>
            <a:spLocks noGrp="1"/>
          </p:cNvSpPr>
          <p:nvPr>
            <p:ph idx="1"/>
          </p:nvPr>
        </p:nvSpPr>
        <p:spPr/>
        <p:txBody>
          <a:bodyPr/>
          <a:lstStyle/>
          <a:p>
            <a:r>
              <a:t>How does a graded premium whole</a:t>
            </a:r>
          </a:p>
          <a:p>
            <a:r>
              <a:t>life policy structure its premiums?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a:t>
            </a:r>
          </a:p>
        </p:txBody>
      </p:sp>
      <p:sp>
        <p:nvSpPr>
          <p:cNvPr id="3" name="Content Placeholder 2"/>
          <p:cNvSpPr>
            <a:spLocks noGrp="1"/>
          </p:cNvSpPr>
          <p:nvPr>
            <p:ph idx="1"/>
          </p:nvPr>
        </p:nvSpPr>
        <p:spPr/>
        <p:txBody>
          <a:bodyPr/>
          <a:lstStyle/>
          <a:p/>
          <a:p>
            <a:r>
              <a:t>☐ Increasing premiums initially, then level ' ¢) Premiums based on policyholder's age</a:t>
            </a:r>
          </a:p>
          <a:p>
            <a:pPr>
              <a:defRPr b="1"/>
            </a:pPr>
            <a:r>
              <a:t>✅ Level premiums throughout</a:t>
            </a:r>
          </a:p>
          <a:p>
            <a:r>
              <a:t>☐ Decreasing premiums over time</a:t>
            </a:r>
          </a:p>
          <a:p>
            <a:r>
              <a:t>☐ AGraded Premium Whole Life Policy typically starts with lower premiums that increase over a specified period before leveling off. This structure makes the policy more affordable initially, becoming stable as the premiums level off, which is different from policies with level premiums throughout, &gt;| &amp; a ..rancelicense.myabsorb.com (© &lt; &gt; + (21)</a:t>
            </a:r>
          </a:p>
          <a:p>
            <a:br/>
            <a:pPr>
              <a:defRPr sz="1400" i="1"/>
            </a:pPr>
            <a:r>
              <a:t>Explanation: structure</a:t>
            </a:r>
            <a:br/>
            <a:r>
              <a:t>makes the policy more affordable initially, becoming</a:t>
            </a:r>
            <a:br/>
            <a:r>
              <a:t>stable as the premiums level off, which is different</a:t>
            </a:r>
            <a:br/>
            <a:r>
              <a:t>from policies with level premiums throughout,</a:t>
            </a:r>
            <a:br/>
            <a:r>
              <a:t>&gt;|</a:t>
            </a:r>
            <a:br/>
            <a:r>
              <a:t>&amp; a ..rancelicense.myabsorb.com (</a:t>
            </a:r>
            <a:br/>
            <a:r>
              <a:t>&lt;...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a:t>
            </a:r>
          </a:p>
        </p:txBody>
      </p:sp>
      <p:sp>
        <p:nvSpPr>
          <p:cNvPr id="3" name="Content Placeholder 2"/>
          <p:cNvSpPr>
            <a:spLocks noGrp="1"/>
          </p:cNvSpPr>
          <p:nvPr>
            <p:ph idx="1"/>
          </p:nvPr>
        </p:nvSpPr>
        <p:spPr/>
        <p:txBody>
          <a:bodyPr/>
          <a:lstStyle/>
          <a:p>
            <a:r>
              <a:t>What type of insurance policy is</a:t>
            </a:r>
          </a:p>
          <a:p>
            <a:r>
              <a:t>designed to provide coverage for a set</a:t>
            </a:r>
          </a:p>
          <a:p>
            <a:r>
              <a:t>period and then terminate?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a:t>
            </a:r>
          </a:p>
        </p:txBody>
      </p:sp>
      <p:sp>
        <p:nvSpPr>
          <p:cNvPr id="3" name="Content Placeholder 2"/>
          <p:cNvSpPr>
            <a:spLocks noGrp="1"/>
          </p:cNvSpPr>
          <p:nvPr>
            <p:ph idx="1"/>
          </p:nvPr>
        </p:nvSpPr>
        <p:spPr/>
        <p:txBody>
          <a:bodyPr/>
          <a:lstStyle/>
          <a:p/>
          <a:p>
            <a:pPr>
              <a:defRPr b="1"/>
            </a:pPr>
            <a:r>
              <a:t>✅ Whole Life Insurance</a:t>
            </a:r>
          </a:p>
          <a:p>
            <a:r>
              <a:t>☐ Variable Life Insurance %) Universal Life Insurance</a:t>
            </a:r>
          </a:p>
          <a:p>
            <a:r>
              <a:t>☐ Term Life Insurance</a:t>
            </a:r>
          </a:p>
          <a:p>
            <a:br/>
            <a:pPr>
              <a:defRPr sz="1400" i="1"/>
            </a:pPr>
            <a:r>
              <a:t>Explanation: designed to provide coverage for a set</a:t>
            </a:r>
            <a:br/>
            <a:r>
              <a:t>period and then terminate?</a:t>
            </a:r>
            <a:br/>
            <a:r>
              <a:t>x) Whole Life Insurance</a:t>
            </a:r>
            <a:br/>
            <a:r>
              <a:t>x) Variable Life Insurance</a:t>
            </a:r>
            <a:br/>
            <a:r>
              <a:t>%) Universal Life Insurance</a:t>
            </a:r>
            <a:br/>
            <a:r>
              <a:t>g Term Life Insurance</a:t>
            </a:r>
            <a:br/>
            <a:r>
              <a:t>ds Term Life Insurance is specifi...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a:t>
            </a:r>
          </a:p>
        </p:txBody>
      </p:sp>
      <p:sp>
        <p:nvSpPr>
          <p:cNvPr id="3" name="Content Placeholder 2"/>
          <p:cNvSpPr>
            <a:spLocks noGrp="1"/>
          </p:cNvSpPr>
          <p:nvPr>
            <p:ph idx="1"/>
          </p:nvPr>
        </p:nvSpPr>
        <p:spPr/>
        <p:txBody>
          <a:bodyPr/>
          <a:lstStyle/>
          <a:p>
            <a:r>
              <a:t>A policy provides</a:t>
            </a:r>
          </a:p>
          <a:p>
            <a:r>
              <a:t>coverage for two individuals and pays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a:t>
            </a:r>
          </a:p>
        </p:txBody>
      </p:sp>
      <p:sp>
        <p:nvSpPr>
          <p:cNvPr id="3" name="Content Placeholder 2"/>
          <p:cNvSpPr>
            <a:spLocks noGrp="1"/>
          </p:cNvSpPr>
          <p:nvPr>
            <p:ph idx="1"/>
          </p:nvPr>
        </p:nvSpPr>
        <p:spPr/>
        <p:txBody>
          <a:bodyPr/>
          <a:lstStyle/>
          <a:p/>
          <a:p>
            <a:r>
              <a:t>☐ nsured. &gt;) Joint life</a:t>
            </a:r>
          </a:p>
          <a:p>
            <a:r>
              <a:t>☐ Universal life @ © Sunivorship life ' ¢) Variable life</a:t>
            </a:r>
          </a:p>
          <a:p>
            <a:br/>
            <a:pPr>
              <a:defRPr sz="1400" i="1"/>
            </a:pPr>
            <a:r>
              <a:t>Explanation: A Survivorship Life policy, also known as</a:t>
            </a:r>
            <a:br/>
            <a:r>
              <a:t>second-to-die life insurance, covers two individuals</a:t>
            </a:r>
            <a:br/>
            <a:r>
              <a:t>and is designed to pay out the death benefit after the</a:t>
            </a:r>
            <a:br/>
            <a:r>
              <a:t>A &gt;|</a:t>
            </a:r>
            <a:br/>
            <a:r>
              <a:t>&amp; a ..rancelicense.myabsorb.com (</a:t>
            </a:r>
            <a:br/>
            <a:r>
              <a:t>&lt; &gt; + (21)...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a:t>
            </a:r>
          </a:p>
        </p:txBody>
      </p:sp>
      <p:sp>
        <p:nvSpPr>
          <p:cNvPr id="3" name="Content Placeholder 2"/>
          <p:cNvSpPr>
            <a:spLocks noGrp="1"/>
          </p:cNvSpPr>
          <p:nvPr>
            <p:ph idx="1"/>
          </p:nvPr>
        </p:nvSpPr>
        <p:spPr/>
        <p:txBody>
          <a:bodyPr/>
          <a:lstStyle/>
          <a:p>
            <a:r>
              <a:t>What is the key feature of an equity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a:t>
            </a:r>
          </a:p>
        </p:txBody>
      </p:sp>
      <p:sp>
        <p:nvSpPr>
          <p:cNvPr id="3" name="Content Placeholder 2"/>
          <p:cNvSpPr>
            <a:spLocks noGrp="1"/>
          </p:cNvSpPr>
          <p:nvPr>
            <p:ph idx="1"/>
          </p:nvPr>
        </p:nvSpPr>
        <p:spPr/>
        <p:txBody>
          <a:bodyPr/>
          <a:lstStyle/>
          <a:p/>
          <a:p>
            <a:pPr>
              <a:defRPr b="1"/>
            </a:pPr>
            <a:r>
              <a:t>✅ ndex universal life insurance policy?</a:t>
            </a:r>
          </a:p>
          <a:p>
            <a:r>
              <a:t>☐ Tied to an equity index</a:t>
            </a:r>
          </a:p>
          <a:p>
            <a:r>
              <a:t>☐ Fixed interest rate</a:t>
            </a:r>
          </a:p>
          <a:p>
            <a:r>
              <a:t>☐ No cash value</a:t>
            </a:r>
          </a:p>
          <a:p>
            <a:r>
              <a:t>☐ Guaranteed death benefit</a:t>
            </a:r>
          </a:p>
          <a:p>
            <a:r>
              <a:t>☐ s linked to a stock market index, such as the S&amp;P 500. This allows the cash value to potentially</a:t>
            </a:r>
          </a:p>
          <a:p>
            <a:r>
              <a:t>☐ ncrease based on the performance of the index, although typically with certain protections against &gt;| &amp; a ..rancelicense.myabsorb.com (© &lt; &gt; + (21)</a:t>
            </a:r>
          </a:p>
          <a:p>
            <a:br/>
            <a:pPr>
              <a:defRPr sz="1400" i="1"/>
            </a:pPr>
            <a:r>
              <a:t>Explanation: the key feature of an equity</a:t>
            </a:r>
            <a:br/>
            <a:r>
              <a:t>index universal life insurance policy?</a:t>
            </a:r>
            <a:br/>
            <a:r>
              <a:t>g Tied to an equity index</a:t>
            </a:r>
            <a:br/>
            <a:r>
              <a:t>x) Fixed interest rate</a:t>
            </a:r>
            <a:br/>
            <a:r>
              <a:t>x) No cash value</a:t>
            </a:r>
            <a:br/>
            <a:r>
              <a:t>x) Guaranteed death benefit</a:t>
            </a:r>
            <a:br/>
            <a:r>
              <a:t>Proceed and</a:t>
            </a:r>
            <a:br/>
            <a:r>
              <a:t>ds The distinctive feature...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a:t>
            </a:r>
          </a:p>
        </p:txBody>
      </p:sp>
      <p:sp>
        <p:nvSpPr>
          <p:cNvPr id="3" name="Content Placeholder 2"/>
          <p:cNvSpPr>
            <a:spLocks noGrp="1"/>
          </p:cNvSpPr>
          <p:nvPr>
            <p:ph idx="1"/>
          </p:nvPr>
        </p:nvSpPr>
        <p:spPr/>
        <p:txBody>
          <a:bodyPr/>
          <a:lstStyle/>
          <a:p>
            <a:r>
              <a:t>What does 'Convertible Term'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a:t>
            </a:r>
          </a:p>
        </p:txBody>
      </p:sp>
      <p:sp>
        <p:nvSpPr>
          <p:cNvPr id="3" name="Content Placeholder 2"/>
          <p:cNvSpPr>
            <a:spLocks noGrp="1"/>
          </p:cNvSpPr>
          <p:nvPr>
            <p:ph idx="1"/>
          </p:nvPr>
        </p:nvSpPr>
        <p:spPr/>
        <p:txBody>
          <a:bodyPr/>
          <a:lstStyle/>
          <a:p/>
          <a:p>
            <a:r>
              <a:t>☐ nsurance allow the policy owner to do?</a:t>
            </a:r>
          </a:p>
          <a:p>
            <a:r>
              <a:t>☐ Transfer the policy to another individual. @ © Convert the term policy into a permanent policy without proof of insurability. Extend the term indefinitely without additional premiums.</a:t>
            </a:r>
          </a:p>
          <a:p>
            <a:r>
              <a:t>☐ Increase the face amount without additional underwriting.</a:t>
            </a:r>
          </a:p>
          <a:p>
            <a:br/>
            <a:pPr>
              <a:defRPr sz="1400" i="1"/>
            </a:pPr>
            <a:r>
              <a:t>Explanation: ‘Convertible Term' insurance allows the</a:t>
            </a:r>
            <a:br/>
            <a:r>
              <a:t>policyowner to convert the term policy into a</a:t>
            </a:r>
            <a:br/>
            <a:r>
              <a:t>permanent policy without providing proof of</a:t>
            </a:r>
            <a:br/>
            <a:r>
              <a:t>A &gt;|</a:t>
            </a:r>
            <a:br/>
            <a:r>
              <a:t>&amp; a ..rancelicense.myabsorb.com (</a:t>
            </a:r>
            <a:br/>
            <a:r>
              <a:t>&lt; &gt; + (21)...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a:t>
            </a:r>
          </a:p>
        </p:txBody>
      </p:sp>
      <p:sp>
        <p:nvSpPr>
          <p:cNvPr id="3" name="Content Placeholder 2"/>
          <p:cNvSpPr>
            <a:spLocks noGrp="1"/>
          </p:cNvSpPr>
          <p:nvPr>
            <p:ph idx="1"/>
          </p:nvPr>
        </p:nvSpPr>
        <p:spPr/>
        <p:txBody>
          <a:bodyPr/>
          <a:lstStyle/>
          <a:p>
            <a:r>
              <a:t>Which type of insurance policy</a:t>
            </a:r>
          </a:p>
          <a:p>
            <a:r>
              <a:t>provides a lump sum death benefit and</a:t>
            </a:r>
          </a:p>
          <a:p>
            <a:r>
              <a:t>an income stream for a specified</a:t>
            </a:r>
          </a:p>
          <a:p>
            <a:r>
              <a:t>period?</a:t>
            </a:r>
          </a:p>
          <a:p>
            <a:r>
              <a:t>Equity indexed life insurance</a:t>
            </a:r>
          </a:p>
          <a:p>
            <a:r>
              <a:t>Family plan policy</a:t>
            </a:r>
          </a:p>
          <a:p>
            <a:r>
              <a:t>Universal life insurance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a:t>
            </a:r>
          </a:p>
        </p:txBody>
      </p:sp>
      <p:sp>
        <p:nvSpPr>
          <p:cNvPr id="3" name="Content Placeholder 2"/>
          <p:cNvSpPr>
            <a:spLocks noGrp="1"/>
          </p:cNvSpPr>
          <p:nvPr>
            <p:ph idx="1"/>
          </p:nvPr>
        </p:nvSpPr>
        <p:spPr/>
        <p:txBody>
          <a:bodyPr/>
          <a:lstStyle/>
          <a:p/>
          <a:p>
            <a:r>
              <a:t>☐ Question 11 Select the appropriate response Which type of insurance policy provides a lump sum death benefit and an income stream for a specified period? Equity indexed life insurance Family plan policy Universal life insurance</a:t>
            </a:r>
          </a:p>
          <a:p>
            <a:pPr>
              <a:defRPr b="1"/>
            </a:pPr>
            <a:r>
              <a:t>✅ Family income policy</a:t>
            </a:r>
          </a:p>
          <a:p>
            <a:br/>
            <a:pPr>
              <a:defRPr sz="1400" i="1"/>
            </a:pPr>
            <a:r>
              <a:t>Explanation: A Family Income Policy provides a lump sum</a:t>
            </a:r>
            <a:br/>
            <a:r>
              <a:t>death benefit and also establishes an income stream</a:t>
            </a:r>
            <a:br/>
            <a:r>
              <a:t>for the beneficiaries for a specified period after the</a:t>
            </a:r>
            <a:br/>
            <a:r>
              <a:t>&gt;|...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a:t>
            </a:r>
          </a:p>
        </p:txBody>
      </p:sp>
      <p:sp>
        <p:nvSpPr>
          <p:cNvPr id="3" name="Content Placeholder 2"/>
          <p:cNvSpPr>
            <a:spLocks noGrp="1"/>
          </p:cNvSpPr>
          <p:nvPr>
            <p:ph idx="1"/>
          </p:nvPr>
        </p:nvSpPr>
        <p:spPr/>
        <p:txBody>
          <a:bodyPr/>
          <a:lstStyle/>
          <a:p>
            <a:r>
              <a:t>What type of term life insurance is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a:t>
            </a:r>
          </a:p>
        </p:txBody>
      </p:sp>
      <p:sp>
        <p:nvSpPr>
          <p:cNvPr id="3" name="Content Placeholder 2"/>
          <p:cNvSpPr>
            <a:spLocks noGrp="1"/>
          </p:cNvSpPr>
          <p:nvPr>
            <p:ph idx="1"/>
          </p:nvPr>
        </p:nvSpPr>
        <p:spPr/>
        <p:txBody>
          <a:bodyPr/>
          <a:lstStyle/>
          <a:p/>
          <a:p>
            <a:pPr>
              <a:defRPr b="1"/>
            </a:pPr>
            <a:r>
              <a:t>✅ Increasing term</a:t>
            </a:r>
          </a:p>
          <a:p>
            <a:r>
              <a:t>☐ Level term</a:t>
            </a:r>
          </a:p>
          <a:p>
            <a:r>
              <a:t>☐ Renewable term</a:t>
            </a:r>
          </a:p>
          <a:p>
            <a:r>
              <a:t>☐ Decreasing term</a:t>
            </a:r>
          </a:p>
          <a:p>
            <a:br/>
            <a:pPr>
              <a:defRPr sz="1400" i="1"/>
            </a:pPr>
            <a:r>
              <a:t>Explanation: often used to protect a mortgage?</a:t>
            </a:r>
            <a:br/>
            <a:r>
              <a:t>x) Increasing term</a:t>
            </a:r>
            <a:br/>
            <a:r>
              <a:t>x) Level term</a:t>
            </a:r>
            <a:br/>
            <a:r>
              <a:t>x) Renewable term</a:t>
            </a:r>
            <a:br/>
            <a:r>
              <a:t>g Decreasing term</a:t>
            </a:r>
            <a:br/>
            <a:r>
              <a:t>Proceed —_</a:t>
            </a:r>
            <a:br/>
            <a:r>
              <a:t>ds Decreasing Term Life Insurance is often used to</a:t>
            </a:r>
            <a:br/>
            <a:r>
              <a:t>protect a mortgage because the poli...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a:t>
            </a:r>
          </a:p>
        </p:txBody>
      </p:sp>
      <p:sp>
        <p:nvSpPr>
          <p:cNvPr id="3" name="Content Placeholder 2"/>
          <p:cNvSpPr>
            <a:spLocks noGrp="1"/>
          </p:cNvSpPr>
          <p:nvPr>
            <p:ph idx="1"/>
          </p:nvPr>
        </p:nvSpPr>
        <p:spPr/>
        <p:txBody>
          <a:bodyPr/>
          <a:lstStyle/>
          <a:p>
            <a:r>
              <a:t>The feature in a term</a:t>
            </a:r>
          </a:p>
          <a:p>
            <a:r>
              <a:t>policy allows the policyholder to renew</a:t>
            </a:r>
          </a:p>
          <a:p>
            <a:r>
              <a:t>without proving insurability.</a:t>
            </a:r>
          </a:p>
          <a:p>
            <a:r>
              <a:t>' ¢) Convertible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a:t>
            </a:r>
          </a:p>
        </p:txBody>
      </p:sp>
      <p:sp>
        <p:nvSpPr>
          <p:cNvPr id="3" name="Content Placeholder 2"/>
          <p:cNvSpPr>
            <a:spLocks noGrp="1"/>
          </p:cNvSpPr>
          <p:nvPr>
            <p:ph idx="1"/>
          </p:nvPr>
        </p:nvSpPr>
        <p:spPr/>
        <p:txBody>
          <a:bodyPr/>
          <a:lstStyle/>
          <a:p/>
          <a:p>
            <a:r>
              <a:t>☐ Equity indexed</a:t>
            </a:r>
          </a:p>
          <a:p>
            <a:pPr>
              <a:defRPr b="1"/>
            </a:pPr>
            <a:r>
              <a:t>✅ Renewable</a:t>
            </a:r>
          </a:p>
          <a:p>
            <a:r>
              <a:t>☐ Adjustable</a:t>
            </a:r>
          </a:p>
          <a:p>
            <a:br/>
            <a:pPr>
              <a:defRPr sz="1400" i="1"/>
            </a:pPr>
            <a:r>
              <a:t>Explanation: The Renewable feature in a term life insurance</a:t>
            </a:r>
            <a:br/>
            <a:r>
              <a:t>policy allows the policyholder to renew the policy for</a:t>
            </a:r>
            <a:br/>
            <a:r>
              <a:t>additional terms without having to provide evidence</a:t>
            </a:r>
            <a:br/>
            <a:r>
              <a:t>of insurability, securing ongoing coverage 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a:t>
            </a:r>
          </a:p>
        </p:txBody>
      </p:sp>
      <p:sp>
        <p:nvSpPr>
          <p:cNvPr id="3" name="Content Placeholder 2"/>
          <p:cNvSpPr>
            <a:spLocks noGrp="1"/>
          </p:cNvSpPr>
          <p:nvPr>
            <p:ph idx="1"/>
          </p:nvPr>
        </p:nvSpPr>
        <p:spPr/>
        <p:txBody>
          <a:bodyPr/>
          <a:lstStyle/>
          <a:p>
            <a:r>
              <a:t>What does the 'Payor Provision’ in</a:t>
            </a:r>
          </a:p>
          <a:p>
            <a:r>
              <a:t>Juvenile Insurance policies ensure?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a:t>
            </a:r>
          </a:p>
        </p:txBody>
      </p:sp>
      <p:sp>
        <p:nvSpPr>
          <p:cNvPr id="3" name="Content Placeholder 2"/>
          <p:cNvSpPr>
            <a:spLocks noGrp="1"/>
          </p:cNvSpPr>
          <p:nvPr>
            <p:ph idx="1"/>
          </p:nvPr>
        </p:nvSpPr>
        <p:spPr/>
        <p:txBody>
          <a:bodyPr/>
          <a:lstStyle/>
          <a:p/>
          <a:p>
            <a:pPr>
              <a:defRPr b="1"/>
            </a:pPr>
            <a:r>
              <a:t>✅ e Premiums will be waived if the adult payor dies or becomes disabled. Children can pay their premiums when they reach adulthood. Premiums will be invested in high-yield funds. The policy matures when the child reaches a certain age</a:t>
            </a:r>
          </a:p>
          <a:p>
            <a:br/>
            <a:pPr>
              <a:defRPr sz="1400" i="1"/>
            </a:pPr>
            <a:r>
              <a:t>Explanation: The 'Payor Provision' in Juvenile Insurance</a:t>
            </a:r>
            <a:br/>
            <a:r>
              <a:t>nolicies ancures that nremiums will he waived if the</a:t>
            </a:r>
            <a:br/>
            <a:r>
              <a:t>A &gt;|</a:t>
            </a:r>
            <a:br/>
            <a:r>
              <a:t>&amp; a ..rancelicense.myabsorb.com (</a:t>
            </a:r>
            <a:br/>
            <a:r>
              <a:t>&lt; &gt; + (21)...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a:t>
            </a:r>
          </a:p>
        </p:txBody>
      </p:sp>
      <p:sp>
        <p:nvSpPr>
          <p:cNvPr id="3" name="Content Placeholder 2"/>
          <p:cNvSpPr>
            <a:spLocks noGrp="1"/>
          </p:cNvSpPr>
          <p:nvPr>
            <p:ph idx="1"/>
          </p:nvPr>
        </p:nvSpPr>
        <p:spPr/>
        <p:txBody>
          <a:bodyPr/>
          <a:lstStyle/>
          <a:p>
            <a:r>
              <a:t>Which clause protects the policyholder</a:t>
            </a:r>
          </a:p>
          <a:p>
            <a:r>
              <a:t>from the insurer contesting the policy</a:t>
            </a:r>
          </a:p>
          <a:p>
            <a:r>
              <a:t>after a specified period?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a:t>
            </a:r>
          </a:p>
        </p:txBody>
      </p:sp>
      <p:sp>
        <p:nvSpPr>
          <p:cNvPr id="3" name="Content Placeholder 2"/>
          <p:cNvSpPr>
            <a:spLocks noGrp="1"/>
          </p:cNvSpPr>
          <p:nvPr>
            <p:ph idx="1"/>
          </p:nvPr>
        </p:nvSpPr>
        <p:spPr/>
        <p:txBody>
          <a:bodyPr/>
          <a:lstStyle/>
          <a:p/>
          <a:p>
            <a:r>
              <a:t>☐ Question 1 Select the appropriate response Which clause protects the policyholder from the insurer contesting the policy after a specified period?</a:t>
            </a:r>
          </a:p>
          <a:p>
            <a:r>
              <a:t>☐ Consideration clause</a:t>
            </a:r>
          </a:p>
          <a:p>
            <a:r>
              <a:t>☐ Suicide clause</a:t>
            </a:r>
          </a:p>
          <a:p>
            <a:r>
              <a:t>☐ Misstatement of age or sex provision</a:t>
            </a:r>
          </a:p>
          <a:p>
            <a:pPr>
              <a:defRPr b="1"/>
            </a:pPr>
            <a:r>
              <a:t>✅ Incontestable clause</a:t>
            </a:r>
          </a:p>
          <a:p>
            <a:r>
              <a:t>☐ nsurer can contest the validity of the insurance policy, usually to two years. After this period, the &amp; a ..rancelicense.myabsorb.com (© &lt; &gt; + (21)</a:t>
            </a:r>
          </a:p>
          <a:p>
            <a:br/>
            <a:pPr>
              <a:defRPr sz="1400" i="1"/>
            </a:pPr>
            <a:r>
              <a:t>Explanation: The Incontestable Clause protects the</a:t>
            </a:r>
            <a:br/>
            <a:r>
              <a:t>policyholder by limiting the time during which an</a:t>
            </a:r>
            <a:br/>
            <a:r>
              <a:t>insurer can contest the validity of the insurance</a:t>
            </a:r>
            <a:br/>
            <a:r>
              <a:t>policy, usually to two years. After this period, the</a:t>
            </a:r>
            <a:br/>
            <a:r>
              <a:t>&amp; a ..ran...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a:t>
            </a:r>
          </a:p>
        </p:txBody>
      </p:sp>
      <p:sp>
        <p:nvSpPr>
          <p:cNvPr id="3" name="Content Placeholder 2"/>
          <p:cNvSpPr>
            <a:spLocks noGrp="1"/>
          </p:cNvSpPr>
          <p:nvPr>
            <p:ph idx="1"/>
          </p:nvPr>
        </p:nvSpPr>
        <p:spPr/>
        <p:txBody>
          <a:bodyPr/>
          <a:lstStyle/>
          <a:p>
            <a:r>
              <a:t>How does the Consideration Clause in</a:t>
            </a:r>
          </a:p>
          <a:p>
            <a:r>
              <a:t>a life insurance policy function?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a:t>
            </a:r>
          </a:p>
        </p:txBody>
      </p:sp>
      <p:sp>
        <p:nvSpPr>
          <p:cNvPr id="3" name="Content Placeholder 2"/>
          <p:cNvSpPr>
            <a:spLocks noGrp="1"/>
          </p:cNvSpPr>
          <p:nvPr>
            <p:ph idx="1"/>
          </p:nvPr>
        </p:nvSpPr>
        <p:spPr/>
        <p:txBody>
          <a:bodyPr/>
          <a:lstStyle/>
          <a:p/>
          <a:p>
            <a:r>
              <a:t>☐ It sets the terms for policy cancellation. It states the premium and application completion as part of the policyowner's payment. It outlines the insurer's investment strategies. It determines the beneficiary's rights.</a:t>
            </a:r>
          </a:p>
          <a:p>
            <a:r>
              <a:t>☐ &lt; A &gt;| &amp; a ..rancelicense.myabsorb.com (© &lt; &gt; + (21)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a:t>
            </a:r>
          </a:p>
        </p:txBody>
      </p:sp>
      <p:sp>
        <p:nvSpPr>
          <p:cNvPr id="3" name="Content Placeholder 2"/>
          <p:cNvSpPr>
            <a:spLocks noGrp="1"/>
          </p:cNvSpPr>
          <p:nvPr>
            <p:ph idx="1"/>
          </p:nvPr>
        </p:nvSpPr>
        <p:spPr/>
        <p:txBody>
          <a:bodyPr/>
          <a:lstStyle/>
          <a:p>
            <a:r>
              <a:t>What is the purpose of the</a:t>
            </a:r>
          </a:p>
          <a:p>
            <a:r>
              <a:t>Discretionary Provision in life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a:t>
            </a:r>
          </a:p>
        </p:txBody>
      </p:sp>
      <p:sp>
        <p:nvSpPr>
          <p:cNvPr id="3" name="Content Placeholder 2"/>
          <p:cNvSpPr>
            <a:spLocks noGrp="1"/>
          </p:cNvSpPr>
          <p:nvPr>
            <p:ph idx="1"/>
          </p:nvPr>
        </p:nvSpPr>
        <p:spPr/>
        <p:txBody>
          <a:bodyPr/>
          <a:lstStyle/>
          <a:p/>
          <a:p>
            <a:pPr>
              <a:defRPr b="1"/>
            </a:pPr>
            <a:r>
              <a:t>✅ nsurance policies?</a:t>
            </a:r>
          </a:p>
          <a:p>
            <a:r>
              <a:t>☐ e To give the insurer authority in determining benefit eligibility To provide flexibility in choosing beneficiaries To adjust premiums based on policy performance To allow for investment options</a:t>
            </a:r>
          </a:p>
          <a:p>
            <a:br/>
            <a:pPr>
              <a:defRPr sz="1400" i="1"/>
            </a:pPr>
            <a:r>
              <a:t>Explanation: the purpose of the</a:t>
            </a:r>
            <a:br/>
            <a:r>
              <a:t>Discretionary Provision in life</a:t>
            </a:r>
            <a:br/>
            <a:r>
              <a:t>insurance policies?</a:t>
            </a:r>
            <a:br/>
            <a:r>
              <a:t>g e To give the insurer authority in determining</a:t>
            </a:r>
            <a:br/>
            <a:r>
              <a:t>benefit eligibility</a:t>
            </a:r>
            <a:br/>
            <a:r>
              <a:t>To provide flexibility in choosing</a:t>
            </a:r>
            <a:br/>
            <a:r>
              <a:t>beneficiaries</a:t>
            </a:r>
            <a:br/>
            <a:r>
              <a:t>To adjust p...</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a:t>
            </a:r>
          </a:p>
        </p:txBody>
      </p:sp>
      <p:sp>
        <p:nvSpPr>
          <p:cNvPr id="3" name="Content Placeholder 2"/>
          <p:cNvSpPr>
            <a:spLocks noGrp="1"/>
          </p:cNvSpPr>
          <p:nvPr>
            <p:ph idx="1"/>
          </p:nvPr>
        </p:nvSpPr>
        <p:spPr/>
        <p:txBody>
          <a:bodyPr/>
          <a:lstStyle/>
          <a:p>
            <a:r>
              <a:t>The rider waives</a:t>
            </a:r>
          </a:p>
          <a:p>
            <a:r>
              <a:t>premium payments if the insured</a:t>
            </a:r>
          </a:p>
          <a:p>
            <a:r>
              <a:t>becomes totally disabled.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a:t>
            </a:r>
          </a:p>
        </p:txBody>
      </p:sp>
      <p:sp>
        <p:nvSpPr>
          <p:cNvPr id="3" name="Content Placeholder 2"/>
          <p:cNvSpPr>
            <a:spLocks noGrp="1"/>
          </p:cNvSpPr>
          <p:nvPr>
            <p:ph idx="1"/>
          </p:nvPr>
        </p:nvSpPr>
        <p:spPr/>
        <p:txBody>
          <a:bodyPr/>
          <a:lstStyle/>
          <a:p/>
          <a:p>
            <a:r>
              <a:t>☐ Cash value</a:t>
            </a:r>
          </a:p>
          <a:p>
            <a:pPr>
              <a:defRPr b="1"/>
            </a:pPr>
            <a:r>
              <a:t>✅ Waiver of premium</a:t>
            </a:r>
          </a:p>
          <a:p>
            <a:r>
              <a:t>☐ Accelerated benefits</a:t>
            </a:r>
          </a:p>
          <a:p>
            <a:r>
              <a:t>☐ Long-term care</a:t>
            </a:r>
          </a:p>
          <a:p>
            <a:br/>
            <a:pPr>
              <a:defRPr sz="1400" i="1"/>
            </a:pPr>
            <a:r>
              <a:t>Explanation: The waiver of premium rider is specifically</a:t>
            </a:r>
            <a:br/>
            <a:r>
              <a:t>designed to waive premium payments if the insured</a:t>
            </a:r>
            <a:br/>
            <a:r>
              <a:t>becomes totally disabled, ensuring that the policy</a:t>
            </a:r>
            <a:br/>
            <a:r>
              <a:t>remains in force without the need for further premium</a:t>
            </a:r>
            <a:br/>
            <a:r>
              <a:t>&amp;...</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a:t>
            </a:r>
          </a:p>
        </p:txBody>
      </p:sp>
      <p:sp>
        <p:nvSpPr>
          <p:cNvPr id="3" name="Content Placeholder 2"/>
          <p:cNvSpPr>
            <a:spLocks noGrp="1"/>
          </p:cNvSpPr>
          <p:nvPr>
            <p:ph idx="1"/>
          </p:nvPr>
        </p:nvSpPr>
        <p:spPr/>
        <p:txBody>
          <a:bodyPr/>
          <a:lstStyle/>
          <a:p>
            <a:r>
              <a:t>How is the death benefit affected if</a:t>
            </a:r>
          </a:p>
          <a:p>
            <a:r>
              <a:t>there is an outstanding policy loan?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a:t>
            </a:r>
          </a:p>
        </p:txBody>
      </p:sp>
      <p:sp>
        <p:nvSpPr>
          <p:cNvPr id="3" name="Content Placeholder 2"/>
          <p:cNvSpPr>
            <a:spLocks noGrp="1"/>
          </p:cNvSpPr>
          <p:nvPr>
            <p:ph idx="1"/>
          </p:nvPr>
        </p:nvSpPr>
        <p:spPr/>
        <p:txBody>
          <a:bodyPr/>
          <a:lstStyle/>
          <a:p/>
          <a:p>
            <a:r>
              <a:t>☐ Question 6 Select the appropriate response How is the death benefit affected if there is an outstanding policy loan?</a:t>
            </a:r>
          </a:p>
          <a:p>
            <a:pPr>
              <a:defRPr b="1"/>
            </a:pPr>
            <a:r>
              <a:t>✅ It is reduced by the loan amount plus</a:t>
            </a:r>
          </a:p>
          <a:p>
            <a:r>
              <a:t>☐ nterest</a:t>
            </a:r>
          </a:p>
          <a:p>
            <a:r>
              <a:t>☐ It remains the same</a:t>
            </a:r>
          </a:p>
          <a:p>
            <a:r>
              <a:t>☐ It is increased %) It is waived</a:t>
            </a:r>
          </a:p>
          <a:p>
            <a:br/>
            <a:pPr>
              <a:defRPr sz="1400" i="1"/>
            </a:pPr>
            <a:r>
              <a:t>Explanation: the death benefit affected if</a:t>
            </a:r>
            <a:br/>
            <a:r>
              <a:t>there is an outstanding policy loan?</a:t>
            </a:r>
            <a:br/>
            <a:r>
              <a:t>iv) It is reduced by the loan amount plus</a:t>
            </a:r>
            <a:br/>
            <a:r>
              <a:t>interest</a:t>
            </a:r>
            <a:br/>
            <a:r>
              <a:t>x) It remains the same</a:t>
            </a:r>
            <a:br/>
            <a:r>
              <a:t>x) It is increased</a:t>
            </a:r>
            <a:br/>
            <a:r>
              <a:t>%) It is waived</a:t>
            </a:r>
            <a:br/>
            <a:r>
              <a:t>Proceed and</a:t>
            </a:r>
            <a:br/>
            <a:r>
              <a:t>ds 'f there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a:t>
            </a:r>
          </a:p>
        </p:txBody>
      </p:sp>
      <p:sp>
        <p:nvSpPr>
          <p:cNvPr id="3" name="Content Placeholder 2"/>
          <p:cNvSpPr>
            <a:spLocks noGrp="1"/>
          </p:cNvSpPr>
          <p:nvPr>
            <p:ph idx="1"/>
          </p:nvPr>
        </p:nvSpPr>
        <p:spPr/>
        <p:txBody>
          <a:bodyPr/>
          <a:lstStyle/>
          <a:p>
            <a:r>
              <a:t>The provision allows</a:t>
            </a:r>
          </a:p>
          <a:p>
            <a:r>
              <a:t>the policy owner to transfer ownership</a:t>
            </a:r>
          </a:p>
          <a:p>
            <a:r>
              <a:t>rights to another person.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a:t>
            </a:r>
          </a:p>
        </p:txBody>
      </p:sp>
      <p:sp>
        <p:nvSpPr>
          <p:cNvPr id="3" name="Content Placeholder 2"/>
          <p:cNvSpPr>
            <a:spLocks noGrp="1"/>
          </p:cNvSpPr>
          <p:nvPr>
            <p:ph idx="1"/>
          </p:nvPr>
        </p:nvSpPr>
        <p:spPr/>
        <p:txBody>
          <a:bodyPr/>
          <a:lstStyle/>
          <a:p/>
          <a:p>
            <a:pPr>
              <a:defRPr b="1"/>
            </a:pPr>
            <a:r>
              <a:t>✅ Assignment</a:t>
            </a:r>
          </a:p>
          <a:p>
            <a:r>
              <a:t>☐ Grace period</a:t>
            </a:r>
          </a:p>
          <a:p>
            <a:r>
              <a:t>☐ Nonforfeiture</a:t>
            </a:r>
          </a:p>
          <a:p>
            <a:r>
              <a:t>☐ Reinstatement</a:t>
            </a:r>
          </a:p>
          <a:p>
            <a:r>
              <a:t>☐ nsurance policy to another person. This can be used for various personal or business reasons, providing &amp; a ..rancelicense.myabsorb.com (© &lt; &gt; + (21)</a:t>
            </a:r>
          </a:p>
          <a:p>
            <a:br/>
            <a:pPr>
              <a:defRPr sz="1400" i="1"/>
            </a:pPr>
            <a:r>
              <a:t>Explanation: The assignment provision allows a policy owner</a:t>
            </a:r>
            <a:br/>
            <a:r>
              <a:t>to transfer ownership rights and responsibilities of the</a:t>
            </a:r>
            <a:br/>
            <a:r>
              <a:t>insurance policy to another person. This can be used</a:t>
            </a:r>
            <a:br/>
            <a:r>
              <a:t>for various personal or business reasons, p...</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a:t>
            </a:r>
          </a:p>
        </p:txBody>
      </p:sp>
      <p:sp>
        <p:nvSpPr>
          <p:cNvPr id="3" name="Content Placeholder 2"/>
          <p:cNvSpPr>
            <a:spLocks noGrp="1"/>
          </p:cNvSpPr>
          <p:nvPr>
            <p:ph idx="1"/>
          </p:nvPr>
        </p:nvSpPr>
        <p:spPr/>
        <p:txBody>
          <a:bodyPr/>
          <a:lstStyle/>
          <a:p>
            <a:r>
              <a:t>What is required for the automatic</a:t>
            </a:r>
          </a:p>
          <a:p>
            <a:r>
              <a:t>premium loan provision to function?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a:t>
            </a:r>
          </a:p>
        </p:txBody>
      </p:sp>
      <p:sp>
        <p:nvSpPr>
          <p:cNvPr id="3" name="Content Placeholder 2"/>
          <p:cNvSpPr>
            <a:spLocks noGrp="1"/>
          </p:cNvSpPr>
          <p:nvPr>
            <p:ph idx="1"/>
          </p:nvPr>
        </p:nvSpPr>
        <p:spPr/>
        <p:txBody>
          <a:bodyPr/>
          <a:lstStyle/>
          <a:p/>
          <a:p>
            <a:r>
              <a:t>☐ Question 8 Select the appropriate response What is required for the automatic premium loan provision to function?</a:t>
            </a:r>
          </a:p>
          <a:p>
            <a:pPr>
              <a:defRPr b="1"/>
            </a:pPr>
            <a:r>
              <a:t>✅ Sufficient cash value in the policy Anew policy application Approval from the insurer L)</a:t>
            </a:r>
          </a:p>
          <a:p>
            <a:r>
              <a:t>☐ Proof of insurability L)</a:t>
            </a:r>
          </a:p>
          <a:p>
            <a:br/>
            <a:pPr>
              <a:defRPr sz="1400" i="1"/>
            </a:pPr>
            <a:r>
              <a:t>Explanation: required for the automatic</a:t>
            </a:r>
            <a:br/>
            <a:r>
              <a:t>premium loan provision to function?</a:t>
            </a:r>
            <a:br/>
            <a:r>
              <a:t>iv) Sufficient cash value in the policy</a:t>
            </a:r>
            <a:br/>
            <a:r>
              <a:t>Anew policy application</a:t>
            </a:r>
            <a:br/>
            <a:r>
              <a:t>Approval from the insurer</a:t>
            </a:r>
            <a:br/>
            <a:r>
              <a:t>L)</a:t>
            </a:r>
            <a:br/>
            <a:r>
              <a:t>x) Proof of insurability</a:t>
            </a:r>
            <a:br/>
            <a:r>
              <a:t>L)</a:t>
            </a:r>
            <a:br/>
            <a:r>
              <a:t>Proceed —_</a:t>
            </a:r>
            <a:br/>
            <a:r>
              <a:t>de Fo...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a:t>
            </a:r>
          </a:p>
        </p:txBody>
      </p:sp>
      <p:sp>
        <p:nvSpPr>
          <p:cNvPr id="3" name="Content Placeholder 2"/>
          <p:cNvSpPr>
            <a:spLocks noGrp="1"/>
          </p:cNvSpPr>
          <p:nvPr>
            <p:ph idx="1"/>
          </p:nvPr>
        </p:nvSpPr>
        <p:spPr/>
        <p:txBody>
          <a:bodyPr/>
          <a:lstStyle/>
          <a:p>
            <a:r>
              <a:t>Sarah's policy has a grace period of 31</a:t>
            </a:r>
          </a:p>
          <a:p>
            <a:r>
              <a:t>days. She misses her premium</a:t>
            </a:r>
          </a:p>
          <a:p>
            <a:r>
              <a:t>payment, but pays it within the grace</a:t>
            </a:r>
          </a:p>
          <a:p>
            <a:r>
              <a:t>period. What happens to her policy?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a:t>
            </a:r>
          </a:p>
        </p:txBody>
      </p:sp>
      <p:sp>
        <p:nvSpPr>
          <p:cNvPr id="3" name="Content Placeholder 2"/>
          <p:cNvSpPr>
            <a:spLocks noGrp="1"/>
          </p:cNvSpPr>
          <p:nvPr>
            <p:ph idx="1"/>
          </p:nvPr>
        </p:nvSpPr>
        <p:spPr/>
        <p:txBody>
          <a:bodyPr/>
          <a:lstStyle/>
          <a:p/>
          <a:p>
            <a:pPr>
              <a:defRPr b="1"/>
            </a:pPr>
            <a:r>
              <a:t>✅ Question 9 Select the appropriate response Sarah's policy has a grace period of 31 days. She misses her premium payment, but pays it within the grace period. What happens to her policy? It is reinstated It is canceled</a:t>
            </a:r>
          </a:p>
          <a:p>
            <a:r>
              <a:t>☐ It remains in force It is modified</a:t>
            </a:r>
          </a:p>
          <a:p>
            <a:r>
              <a:t>☐ nterruption. This provision prevents the policy from I&lt; % 4a ..rancelicense.myabsorb.com (© &lt; + (21)</a:t>
            </a:r>
          </a:p>
          <a:p>
            <a:br/>
            <a:pPr>
              <a:defRPr sz="1400" i="1"/>
            </a:pPr>
            <a:r>
              <a:t>Explanation: reinstated</a:t>
            </a:r>
            <a:br/>
            <a:r>
              <a:t>It is canceled</a:t>
            </a:r>
            <a:br/>
            <a:r>
              <a:t>g It remains in force</a:t>
            </a:r>
            <a:br/>
            <a:r>
              <a:t>It is modified</a:t>
            </a:r>
            <a:br/>
            <a:r>
              <a:t>Proceed =&gt;</a:t>
            </a:r>
            <a:br/>
            <a:r>
              <a:t>ds Since Sarah pays her missed premium within</a:t>
            </a:r>
            <a:br/>
            <a:r>
              <a:t>the 31-day grace period, her policy continues without</a:t>
            </a:r>
            <a:br/>
            <a:r>
              <a:t>interruption. This provisi...</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a:t>
            </a:r>
          </a:p>
        </p:txBody>
      </p:sp>
      <p:sp>
        <p:nvSpPr>
          <p:cNvPr id="3" name="Content Placeholder 2"/>
          <p:cNvSpPr>
            <a:spLocks noGrp="1"/>
          </p:cNvSpPr>
          <p:nvPr>
            <p:ph idx="1"/>
          </p:nvPr>
        </p:nvSpPr>
        <p:spPr/>
        <p:txBody>
          <a:bodyPr/>
          <a:lstStyle/>
          <a:p>
            <a:r>
              <a:t>How does the excess interest</a:t>
            </a:r>
          </a:p>
          <a:p>
            <a:r>
              <a:t>provision benefit the policy owner?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a:t>
            </a:r>
          </a:p>
        </p:txBody>
      </p:sp>
      <p:sp>
        <p:nvSpPr>
          <p:cNvPr id="3" name="Content Placeholder 2"/>
          <p:cNvSpPr>
            <a:spLocks noGrp="1"/>
          </p:cNvSpPr>
          <p:nvPr>
            <p:ph idx="1"/>
          </p:nvPr>
        </p:nvSpPr>
        <p:spPr/>
        <p:txBody>
          <a:bodyPr/>
          <a:lstStyle/>
          <a:p/>
          <a:p>
            <a:r>
              <a:t>☐ Question 10 Select the appropriate response How does the excess interest provision benefit the policy owner?</a:t>
            </a:r>
          </a:p>
          <a:p>
            <a:pPr>
              <a:defRPr b="1"/>
            </a:pPr>
            <a:r>
              <a:t>✅ By increasing cash value growth beyond the</a:t>
            </a:r>
          </a:p>
          <a:p>
            <a:r>
              <a:t>☐ uaranteed rate</a:t>
            </a:r>
          </a:p>
          <a:p>
            <a:r>
              <a:t>☐ By extending the grace period</a:t>
            </a:r>
          </a:p>
          <a:p>
            <a:r>
              <a:t>☐ By reducing premiums By allowing policy modifications</a:t>
            </a:r>
          </a:p>
          <a:p>
            <a:r>
              <a:t>☐ uaranteed minimum rate. This feature allows policyholders to benefit from higher returns in &amp; a ..rancelicense.myabsorb.com (© &lt; &gt; + (21)</a:t>
            </a:r>
          </a:p>
          <a:p>
            <a:br/>
            <a:pPr>
              <a:defRPr sz="1400" i="1"/>
            </a:pPr>
            <a:r>
              <a:t>Explanation: The excess interest provision benefits the policy</a:t>
            </a:r>
            <a:br/>
            <a:r>
              <a:t>owner by increasing cash value growth beyond the</a:t>
            </a:r>
            <a:br/>
            <a:r>
              <a:t>guaranteed minimum rate. This feature allows</a:t>
            </a:r>
            <a:br/>
            <a:r>
              <a:t>policyholders to benefit from higher returns in</a:t>
            </a:r>
            <a:br/>
            <a:r>
              <a:t>&amp; a ..ra...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a:t>
            </a:r>
          </a:p>
        </p:txBody>
      </p:sp>
      <p:sp>
        <p:nvSpPr>
          <p:cNvPr id="3" name="Content Placeholder 2"/>
          <p:cNvSpPr>
            <a:spLocks noGrp="1"/>
          </p:cNvSpPr>
          <p:nvPr>
            <p:ph idx="1"/>
          </p:nvPr>
        </p:nvSpPr>
        <p:spPr/>
        <p:txBody>
          <a:bodyPr/>
          <a:lstStyle/>
          <a:p>
            <a:r>
              <a:t>Who has the authority to modify a life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a:t>
            </a:r>
          </a:p>
        </p:txBody>
      </p:sp>
      <p:sp>
        <p:nvSpPr>
          <p:cNvPr id="3" name="Content Placeholder 2"/>
          <p:cNvSpPr>
            <a:spLocks noGrp="1"/>
          </p:cNvSpPr>
          <p:nvPr>
            <p:ph idx="1"/>
          </p:nvPr>
        </p:nvSpPr>
        <p:spPr/>
        <p:txBody>
          <a:bodyPr/>
          <a:lstStyle/>
          <a:p/>
          <a:p>
            <a:r>
              <a:t>☐ Question 11 Select the appropriate response Who has the authority to modify a life</a:t>
            </a:r>
          </a:p>
          <a:p>
            <a:r>
              <a:t>☐ nsurance policy before its approval?</a:t>
            </a:r>
          </a:p>
          <a:p>
            <a:r>
              <a:t>☐ Beneficiary Insurance agent</a:t>
            </a:r>
          </a:p>
          <a:p>
            <a:pPr>
              <a:defRPr b="1"/>
            </a:pPr>
            <a:r>
              <a:t>✅ Authorized company officers &amp; Policy owner</a:t>
            </a:r>
          </a:p>
          <a:p>
            <a:r>
              <a:t>☐ ndividuals who have the authority to make modifications to a life insurance policy before it is finalized and issued. This ensures that any changes are officially sanctioned and properly documented, &amp; a ..rancelicense.myabsorb.com (© &lt; &gt; + (21)</a:t>
            </a:r>
          </a:p>
          <a:p>
            <a:br/>
            <a:pPr>
              <a:defRPr sz="1400" i="1"/>
            </a:pPr>
            <a:r>
              <a:t>Explanation: finalized and issued. This ensures that any changes</a:t>
            </a:r>
            <a:br/>
            <a:r>
              <a:t>are officially sanctioned and properly documented,</a:t>
            </a:r>
            <a:br/>
            <a:r>
              <a:t>&amp; a ..rancelicense.myabsorb.com (</a:t>
            </a:r>
            <a:br/>
            <a:r>
              <a:t>&lt; &gt; + (21)...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a:t>
            </a:r>
          </a:p>
        </p:txBody>
      </p:sp>
      <p:sp>
        <p:nvSpPr>
          <p:cNvPr id="3" name="Content Placeholder 2"/>
          <p:cNvSpPr>
            <a:spLocks noGrp="1"/>
          </p:cNvSpPr>
          <p:nvPr>
            <p:ph idx="1"/>
          </p:nvPr>
        </p:nvSpPr>
        <p:spPr/>
        <p:txBody>
          <a:bodyPr/>
          <a:lstStyle/>
          <a:p>
            <a:r>
              <a:t>What option does a policy owner have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a:t>
            </a:r>
          </a:p>
        </p:txBody>
      </p:sp>
      <p:sp>
        <p:nvSpPr>
          <p:cNvPr id="3" name="Content Placeholder 2"/>
          <p:cNvSpPr>
            <a:spLocks noGrp="1"/>
          </p:cNvSpPr>
          <p:nvPr>
            <p:ph idx="1"/>
          </p:nvPr>
        </p:nvSpPr>
        <p:spPr/>
        <p:txBody>
          <a:bodyPr/>
          <a:lstStyle/>
          <a:p/>
          <a:p>
            <a:r>
              <a:t>☐ f they stop paying premiums ona whole life policy? Surrender the policy for cash value Increase the policy face amount Modify the insuring clause € © Assign the policy to another party</a:t>
            </a:r>
          </a:p>
          <a:p>
            <a:r>
              <a:t>☐ &lt; A &gt;| &amp; a ..rancelicense.myabsorb.com (© &lt; &gt; + (21)</a:t>
            </a:r>
          </a:p>
          <a:p>
            <a:br/>
            <a:pPr>
              <a:defRPr sz="1400" i="1"/>
            </a:pPr>
            <a:r>
              <a:t>Explanation: to surrender</a:t>
            </a:r>
            <a:br/>
            <a:r>
              <a:t>the policy for its cash value. This allows the</a:t>
            </a:r>
            <a:br/>
            <a:r>
              <a:t>policyholder to access the accumulated funds in the</a:t>
            </a:r>
            <a:br/>
            <a:r>
              <a:t>i&lt; A &gt;|</a:t>
            </a:r>
            <a:br/>
            <a:r>
              <a:t>&amp; a ..rancelicense.myabsorb.com (</a:t>
            </a:r>
            <a:br/>
            <a:r>
              <a:t>&lt; &gt; + (21)...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a:t>
            </a:r>
          </a:p>
        </p:txBody>
      </p:sp>
      <p:sp>
        <p:nvSpPr>
          <p:cNvPr id="3" name="Content Placeholder 2"/>
          <p:cNvSpPr>
            <a:spLocks noGrp="1"/>
          </p:cNvSpPr>
          <p:nvPr>
            <p:ph idx="1"/>
          </p:nvPr>
        </p:nvSpPr>
        <p:spPr/>
        <p:txBody>
          <a:bodyPr/>
          <a:lstStyle/>
          <a:p>
            <a:r>
              <a:t>The provision protects</a:t>
            </a:r>
          </a:p>
          <a:p>
            <a:r>
              <a:t>the policy from lapsing due toa</a:t>
            </a:r>
          </a:p>
          <a:p>
            <a:r>
              <a:t>missed premium payment by using the</a:t>
            </a:r>
          </a:p>
          <a:p>
            <a:r>
              <a:t>policy's cash value.</a:t>
            </a:r>
          </a:p>
          <a:p>
            <a:r>
              <a:t>Misstatement of age</a:t>
            </a:r>
          </a:p>
          <a:p>
            <a:r>
              <a:t>Waiver of premium</a:t>
            </a:r>
          </a:p>
          <a:p>
            <a:r>
              <a:t>Accelerated benefits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a:t>
            </a:r>
          </a:p>
        </p:txBody>
      </p:sp>
      <p:sp>
        <p:nvSpPr>
          <p:cNvPr id="3" name="Content Placeholder 2"/>
          <p:cNvSpPr>
            <a:spLocks noGrp="1"/>
          </p:cNvSpPr>
          <p:nvPr>
            <p:ph idx="1"/>
          </p:nvPr>
        </p:nvSpPr>
        <p:spPr/>
        <p:txBody>
          <a:bodyPr/>
          <a:lstStyle/>
          <a:p/>
          <a:p>
            <a:pPr>
              <a:defRPr b="1"/>
            </a:pPr>
            <a:r>
              <a:t>✅ Automatic premium loan</a:t>
            </a:r>
          </a:p>
          <a:p>
            <a:br/>
            <a:pPr>
              <a:defRPr sz="1400" i="1"/>
            </a:pPr>
            <a:r>
              <a:t>Explanation: The automatic premium loan provision helps</a:t>
            </a:r>
            <a:br/>
            <a:r>
              <a:t>prevent a policy from lapsing by automatically</a:t>
            </a:r>
            <a:br/>
            <a:r>
              <a:t>applying a loan against the policy’s cash value to</a:t>
            </a:r>
            <a:br/>
            <a:r>
              <a:t>I&lt;...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a:t>
            </a:r>
          </a:p>
        </p:txBody>
      </p:sp>
      <p:sp>
        <p:nvSpPr>
          <p:cNvPr id="3" name="Content Placeholder 2"/>
          <p:cNvSpPr>
            <a:spLocks noGrp="1"/>
          </p:cNvSpPr>
          <p:nvPr>
            <p:ph idx="1"/>
          </p:nvPr>
        </p:nvSpPr>
        <p:spPr/>
        <p:txBody>
          <a:bodyPr/>
          <a:lstStyle/>
          <a:p>
            <a:r>
              <a:t>What does the suicide clause stipulate</a:t>
            </a:r>
          </a:p>
          <a:p>
            <a:r>
              <a:t>about death caused by suicide within</a:t>
            </a:r>
          </a:p>
          <a:p>
            <a:r>
              <a:t>the initial policy period?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a:t>
            </a:r>
          </a:p>
        </p:txBody>
      </p:sp>
      <p:sp>
        <p:nvSpPr>
          <p:cNvPr id="3" name="Content Placeholder 2"/>
          <p:cNvSpPr>
            <a:spLocks noGrp="1"/>
          </p:cNvSpPr>
          <p:nvPr>
            <p:ph idx="1"/>
          </p:nvPr>
        </p:nvSpPr>
        <p:spPr/>
        <p:txBody>
          <a:bodyPr/>
          <a:lstStyle/>
          <a:p/>
          <a:p>
            <a:r>
              <a:t>☐ Question 14 Select the appropriate response What does the suicide clause stipulate about death caused by suicide within the initial policy period?</a:t>
            </a:r>
          </a:p>
          <a:p>
            <a:r>
              <a:t>☐ It is covered</a:t>
            </a:r>
          </a:p>
          <a:p>
            <a:pPr>
              <a:defRPr b="1"/>
            </a:pPr>
            <a:r>
              <a:t>✅ The death benefit is doubled</a:t>
            </a:r>
          </a:p>
          <a:p>
            <a:r>
              <a:t>☐ The premiums are refunded with interest</a:t>
            </a:r>
          </a:p>
          <a:p>
            <a:r>
              <a:t>☐ It is excluded from coverage</a:t>
            </a:r>
          </a:p>
          <a:p>
            <a:br/>
            <a:pPr>
              <a:defRPr sz="1400" i="1"/>
            </a:pPr>
            <a:r>
              <a:t>Explanation: covered</a:t>
            </a:r>
            <a:br/>
            <a:r>
              <a:t>x) The death benefit is doubled</a:t>
            </a:r>
            <a:br/>
            <a:r>
              <a:t>x) The premiums are refunded with interest</a:t>
            </a:r>
            <a:br/>
            <a:r>
              <a:t>g It is excluded from coverage</a:t>
            </a:r>
            <a:br/>
            <a:r>
              <a:t>Proceed =</a:t>
            </a:r>
            <a:br/>
            <a:r>
              <a:t>és The suicide clause specifically excludes</a:t>
            </a:r>
            <a:br/>
            <a:r>
              <a:t>coverage for deaths due to suici...</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a:t>
            </a:r>
          </a:p>
        </p:txBody>
      </p:sp>
      <p:sp>
        <p:nvSpPr>
          <p:cNvPr id="3" name="Content Placeholder 2"/>
          <p:cNvSpPr>
            <a:spLocks noGrp="1"/>
          </p:cNvSpPr>
          <p:nvPr>
            <p:ph idx="1"/>
          </p:nvPr>
        </p:nvSpPr>
        <p:spPr/>
        <p:txBody>
          <a:bodyPr/>
          <a:lstStyle/>
          <a:p>
            <a:r>
              <a:t>What happens if the insured's age is</a:t>
            </a:r>
          </a:p>
          <a:p>
            <a:r>
              <a:t>misstated in the policy application?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a:t>
            </a:r>
          </a:p>
        </p:txBody>
      </p:sp>
      <p:sp>
        <p:nvSpPr>
          <p:cNvPr id="3" name="Content Placeholder 2"/>
          <p:cNvSpPr>
            <a:spLocks noGrp="1"/>
          </p:cNvSpPr>
          <p:nvPr>
            <p:ph idx="1"/>
          </p:nvPr>
        </p:nvSpPr>
        <p:spPr/>
        <p:txBody>
          <a:bodyPr/>
          <a:lstStyle/>
          <a:p/>
          <a:p>
            <a:r>
              <a:t>☐ Question 15 Select the appropriate response What happens if the insured's age is misstated in the policy application?</a:t>
            </a:r>
          </a:p>
          <a:p>
            <a:pPr>
              <a:defRPr b="1"/>
            </a:pPr>
            <a:r>
              <a:t>✅ The insured must prove insurability</a:t>
            </a:r>
          </a:p>
          <a:p>
            <a:r>
              <a:t>☐ The premiums or death benefit (after death) are adjusted</a:t>
            </a:r>
          </a:p>
          <a:p>
            <a:r>
              <a:t>☐ The death benefit is increased %) The policy is voided</a:t>
            </a:r>
          </a:p>
          <a:p>
            <a:br/>
            <a:pPr>
              <a:defRPr sz="1400" i="1"/>
            </a:pPr>
            <a:r>
              <a:t>Explanation: misstated in the policy application?</a:t>
            </a:r>
            <a:br/>
            <a:r>
              <a:t>x) The insured must prove insurability</a:t>
            </a:r>
            <a:br/>
            <a:r>
              <a:t>g The premiums or death benefit (after death)</a:t>
            </a:r>
            <a:br/>
            <a:r>
              <a:t>are adjusted</a:t>
            </a:r>
            <a:br/>
            <a:r>
              <a:t>x) The death benefit is increased</a:t>
            </a:r>
            <a:br/>
            <a:r>
              <a:t>%) The policy is voided</a:t>
            </a:r>
            <a:br/>
            <a:r>
              <a:t>ds |f 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39</a:t>
            </a:r>
          </a:p>
        </p:txBody>
      </p:sp>
      <p:sp>
        <p:nvSpPr>
          <p:cNvPr id="3" name="Content Placeholder 2"/>
          <p:cNvSpPr>
            <a:spLocks noGrp="1"/>
          </p:cNvSpPr>
          <p:nvPr>
            <p:ph idx="1"/>
          </p:nvPr>
        </p:nvSpPr>
        <p:spPr/>
        <p:txBody>
          <a:bodyPr/>
          <a:lstStyle/>
          <a:p>
            <a:r>
              <a:t>Which group is NOT typically eligible</a:t>
            </a:r>
          </a:p>
          <a:p>
            <a:r>
              <a:t>for group life insurance?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39</a:t>
            </a:r>
          </a:p>
        </p:txBody>
      </p:sp>
      <p:sp>
        <p:nvSpPr>
          <p:cNvPr id="3" name="Content Placeholder 2"/>
          <p:cNvSpPr>
            <a:spLocks noGrp="1"/>
          </p:cNvSpPr>
          <p:nvPr>
            <p:ph idx="1"/>
          </p:nvPr>
        </p:nvSpPr>
        <p:spPr/>
        <p:txBody>
          <a:bodyPr/>
          <a:lstStyle/>
          <a:p/>
          <a:p>
            <a:r>
              <a:t>☐ Question 1 Select the appropriate response Which group is NOT typically eligible for group life insurance?</a:t>
            </a:r>
          </a:p>
          <a:p>
            <a:pPr>
              <a:defRPr b="1"/>
            </a:pPr>
            <a:r>
              <a:t>✅ Individuals with no common association</a:t>
            </a:r>
          </a:p>
          <a:p>
            <a:r>
              <a:t>☐ Employees of a single employer</a:t>
            </a:r>
          </a:p>
          <a:p>
            <a:r>
              <a:t>☐ Members of a labor union Members of a credit union</a:t>
            </a:r>
          </a:p>
          <a:p>
            <a:br/>
            <a:pPr>
              <a:defRPr sz="1400" i="1"/>
            </a:pPr>
            <a:r>
              <a:t>Explanation: NOT typically eligible</a:t>
            </a:r>
            <a:br/>
            <a:r>
              <a:t>for group life insurance?</a:t>
            </a:r>
            <a:br/>
            <a:r>
              <a:t>iv) Individuals with no common association</a:t>
            </a:r>
            <a:br/>
            <a:r>
              <a:t>x) Employees of a single employer</a:t>
            </a:r>
            <a:br/>
            <a:r>
              <a:t>x) Members of a labor union</a:t>
            </a:r>
            <a:br/>
            <a:r>
              <a:t>Members of a credit union</a:t>
            </a:r>
            <a:br/>
            <a:r>
              <a:t>Proceed —_</a:t>
            </a:r>
            <a:br/>
            <a:r>
              <a:t>ds ndivid...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40</a:t>
            </a:r>
          </a:p>
        </p:txBody>
      </p:sp>
      <p:sp>
        <p:nvSpPr>
          <p:cNvPr id="3" name="Content Placeholder 2"/>
          <p:cNvSpPr>
            <a:spLocks noGrp="1"/>
          </p:cNvSpPr>
          <p:nvPr>
            <p:ph idx="1"/>
          </p:nvPr>
        </p:nvSpPr>
        <p:spPr/>
        <p:txBody>
          <a:bodyPr/>
          <a:lstStyle/>
          <a:p>
            <a:r>
              <a:t>What is the primary purpose of the Master</a:t>
            </a:r>
          </a:p>
          <a:p>
            <a:r>
              <a:t>Policy in a group life insurance plan?</a:t>
            </a:r>
          </a:p>
          <a:p>
            <a:r>
              <a:t>To cover independent contractors only</a:t>
            </a:r>
          </a:p>
          <a:p>
            <a:r>
              <a:t>To provide health insurance</a:t>
            </a:r>
          </a:p>
          <a:p>
            <a:r>
              <a:t>To provide individual coverage to each</a:t>
            </a:r>
          </a:p>
          <a:p>
            <a:r>
              <a:t>employee's children.</a:t>
            </a:r>
          </a:p>
          <a:p>
            <a:r>
              <a:t>° 8 8 8</a:t>
            </a:r>
          </a:p>
          <a:p>
            <a:r>
              <a:t>To insure several people under one</a:t>
            </a:r>
          </a:p>
          <a:p>
            <a:r>
              <a:t>contract.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40</a:t>
            </a:r>
          </a:p>
        </p:txBody>
      </p:sp>
      <p:sp>
        <p:nvSpPr>
          <p:cNvPr id="3" name="Content Placeholder 2"/>
          <p:cNvSpPr>
            <a:spLocks noGrp="1"/>
          </p:cNvSpPr>
          <p:nvPr>
            <p:ph idx="1"/>
          </p:nvPr>
        </p:nvSpPr>
        <p:spPr/>
        <p:txBody>
          <a:bodyPr/>
          <a:lstStyle/>
          <a:p/>
          <a:p>
            <a:r>
              <a:t>☐ nsures multiple people under one contract, &gt;| &amp; a ..rancelicense.myabsorb.com (© &lt; &gt; + (21)</a:t>
            </a:r>
          </a:p>
          <a:p>
            <a:br/>
            <a:pPr>
              <a:defRPr sz="1400" i="1"/>
            </a:pPr>
            <a:r>
              <a:t>Explanation: the primary purpose of the Master</a:t>
            </a:r>
            <a:br/>
            <a:r>
              <a:t>Policy in a group life insurance plan?</a:t>
            </a:r>
            <a:br/>
            <a:r>
              <a:t>To cover independent contractors only</a:t>
            </a:r>
            <a:br/>
            <a:r>
              <a:t>To provide health insurance</a:t>
            </a:r>
            <a:br/>
            <a:r>
              <a:t>To provide individual coverage to each</a:t>
            </a:r>
            <a:br/>
            <a:r>
              <a:t>employee's children.</a:t>
            </a:r>
            <a:br/>
            <a:r>
              <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41</a:t>
            </a:r>
          </a:p>
        </p:txBody>
      </p:sp>
      <p:sp>
        <p:nvSpPr>
          <p:cNvPr id="3" name="Content Placeholder 2"/>
          <p:cNvSpPr>
            <a:spLocks noGrp="1"/>
          </p:cNvSpPr>
          <p:nvPr>
            <p:ph idx="1"/>
          </p:nvPr>
        </p:nvSpPr>
        <p:spPr/>
        <p:txBody>
          <a:bodyPr/>
          <a:lstStyle/>
          <a:p>
            <a:r>
              <a:t>What type of life insurance is typically</a:t>
            </a:r>
          </a:p>
          <a:p>
            <a:r>
              <a:t>used in group credit life insurance?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41</a:t>
            </a:r>
          </a:p>
        </p:txBody>
      </p:sp>
      <p:sp>
        <p:nvSpPr>
          <p:cNvPr id="3" name="Content Placeholder 2"/>
          <p:cNvSpPr>
            <a:spLocks noGrp="1"/>
          </p:cNvSpPr>
          <p:nvPr>
            <p:ph idx="1"/>
          </p:nvPr>
        </p:nvSpPr>
        <p:spPr/>
        <p:txBody>
          <a:bodyPr/>
          <a:lstStyle/>
          <a:p/>
          <a:p>
            <a:r>
              <a:t>☐ Question 3 Select the appropriate response What type of life insurance is typically used in group credit life insurance?</a:t>
            </a:r>
          </a:p>
          <a:p>
            <a:r>
              <a:t>☐ Whole life insurance Decreasing term insurance Endowment insurance Vv)</a:t>
            </a:r>
          </a:p>
          <a:p>
            <a:r>
              <a:t>☐ Increasing term insurance L)</a:t>
            </a:r>
          </a:p>
          <a:p>
            <a:pPr>
              <a:defRPr b="1"/>
            </a:pPr>
            <a:r>
              <a:t>✅ roup credit life insurance as it aligns the decreasing</a:t>
            </a:r>
          </a:p>
          <a:p>
            <a:r>
              <a:t>☐ nsurance coverage amount with the diminishing loan balances of the insured members. This specific use contrasts with Whole life insurance, which provides a &gt;| &amp; a ..rancelicense.myabsorb.com (© &lt; &gt; + (21)</a:t>
            </a:r>
          </a:p>
          <a:p>
            <a:br/>
            <a:pPr>
              <a:defRPr sz="1400" i="1"/>
            </a:pPr>
            <a:r>
              <a:t>Explanation: typically</a:t>
            </a:r>
            <a:br/>
            <a:r>
              <a:t>used in group credit life insurance?</a:t>
            </a:r>
            <a:br/>
            <a:r>
              <a:t>x) Whole life insurance</a:t>
            </a:r>
            <a:br/>
            <a:r>
              <a:t>Decreasing term insurance</a:t>
            </a:r>
            <a:br/>
            <a:r>
              <a:t>Endowment insurance</a:t>
            </a:r>
            <a:br/>
            <a:r>
              <a:t>Vv)</a:t>
            </a:r>
            <a:br/>
            <a:r>
              <a:t>x) Increasing term insurance</a:t>
            </a:r>
            <a:br/>
            <a:r>
              <a:t>L)</a:t>
            </a:r>
            <a:br/>
            <a:r>
              <a:t>Proceed —_</a:t>
            </a:r>
            <a:br/>
            <a:r>
              <a:t>ds Decreasing term insurance is most...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42</a:t>
            </a:r>
          </a:p>
        </p:txBody>
      </p:sp>
      <p:sp>
        <p:nvSpPr>
          <p:cNvPr id="3" name="Content Placeholder 2"/>
          <p:cNvSpPr>
            <a:spLocks noGrp="1"/>
          </p:cNvSpPr>
          <p:nvPr>
            <p:ph idx="1"/>
          </p:nvPr>
        </p:nvSpPr>
        <p:spPr/>
        <p:txBody>
          <a:bodyPr/>
          <a:lstStyle/>
          <a:p>
            <a:r>
              <a:t>A plan is where the employer</a:t>
            </a:r>
          </a:p>
          <a:p>
            <a:r>
              <a:t>bears the entire cost of insurance</a:t>
            </a:r>
          </a:p>
          <a:p>
            <a:r>
              <a:t>premiums.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42</a:t>
            </a:r>
          </a:p>
        </p:txBody>
      </p:sp>
      <p:sp>
        <p:nvSpPr>
          <p:cNvPr id="3" name="Content Placeholder 2"/>
          <p:cNvSpPr>
            <a:spLocks noGrp="1"/>
          </p:cNvSpPr>
          <p:nvPr>
            <p:ph idx="1"/>
          </p:nvPr>
        </p:nvSpPr>
        <p:spPr/>
        <p:txBody>
          <a:bodyPr/>
          <a:lstStyle/>
          <a:p/>
          <a:p>
            <a:pPr>
              <a:defRPr b="1"/>
            </a:pPr>
            <a:r>
              <a:t>✅ noncontributory</a:t>
            </a:r>
          </a:p>
          <a:p>
            <a:r>
              <a:t>☐ participatory</a:t>
            </a:r>
          </a:p>
          <a:p>
            <a:r>
              <a:t>☐ collaborative</a:t>
            </a:r>
          </a:p>
          <a:p>
            <a:r>
              <a:t>☐ contributory</a:t>
            </a:r>
          </a:p>
          <a:p>
            <a:br/>
            <a:pPr>
              <a:defRPr sz="1400" i="1"/>
            </a:pPr>
            <a:r>
              <a:t>Explanation: where the employer</a:t>
            </a:r>
            <a:br/>
            <a:r>
              <a:t>bears the entire cost of insurance</a:t>
            </a:r>
            <a:br/>
            <a:r>
              <a:t>premiums.</a:t>
            </a:r>
            <a:br/>
            <a:r>
              <a:t>g noncontributory</a:t>
            </a:r>
            <a:br/>
            <a:r>
              <a:t>x) participatory</a:t>
            </a:r>
            <a:br/>
            <a:r>
              <a:t>x) collaborative</a:t>
            </a:r>
            <a:br/>
            <a:r>
              <a:t>x) contributory</a:t>
            </a:r>
            <a:br/>
            <a:r>
              <a:t>Proceed =</a:t>
            </a:r>
            <a:br/>
            <a:r>
              <a:t>és Anoncontributory plan is one where the</a:t>
            </a:r>
            <a:br/>
            <a:r>
              <a:t>employer bears 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43</a:t>
            </a:r>
          </a:p>
        </p:txBody>
      </p:sp>
      <p:sp>
        <p:nvSpPr>
          <p:cNvPr id="3" name="Content Placeholder 2"/>
          <p:cNvSpPr>
            <a:spLocks noGrp="1"/>
          </p:cNvSpPr>
          <p:nvPr>
            <p:ph idx="1"/>
          </p:nvPr>
        </p:nvSpPr>
        <p:spPr/>
        <p:txBody>
          <a:bodyPr/>
          <a:lstStyle/>
          <a:p>
            <a:r>
              <a:t>What must a terminated employee do</a:t>
            </a:r>
          </a:p>
          <a:p>
            <a:r>
              <a:t>within 31 days to maintain coverage?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43</a:t>
            </a:r>
          </a:p>
        </p:txBody>
      </p:sp>
      <p:sp>
        <p:nvSpPr>
          <p:cNvPr id="3" name="Content Placeholder 2"/>
          <p:cNvSpPr>
            <a:spLocks noGrp="1"/>
          </p:cNvSpPr>
          <p:nvPr>
            <p:ph idx="1"/>
          </p:nvPr>
        </p:nvSpPr>
        <p:spPr/>
        <p:txBody>
          <a:bodyPr/>
          <a:lstStyle/>
          <a:p/>
          <a:p>
            <a:r>
              <a:t>☐ 2:23@ : Question 5 Select the appropriate response What must a terminated employee do within 31 days to maintain coverage?</a:t>
            </a:r>
          </a:p>
          <a:p>
            <a:r>
              <a:t>☐ Reapply for group coverage</a:t>
            </a:r>
          </a:p>
          <a:p>
            <a:r>
              <a:t>☐ Provide proof of insurability</a:t>
            </a:r>
          </a:p>
          <a:p>
            <a:pPr>
              <a:defRPr b="1"/>
            </a:pPr>
            <a:r>
              <a:t>✅ Convert the group policy to an individual policy %) Pay a conversion fee</a:t>
            </a:r>
          </a:p>
          <a:p>
            <a:r>
              <a:t>☐ roup policy to an individual policy within 31 days to maintain continuous life insurance coverage. This is critical as it ensures coverage continuity independent &gt;| &amp; a ..rancelicense.myabsorb.com (© &lt; &gt; + (21)</a:t>
            </a:r>
          </a:p>
          <a:p>
            <a:br/>
            <a:pPr>
              <a:defRPr sz="1400" i="1"/>
            </a:pPr>
            <a:r>
              <a:t>Explanation: is</a:t>
            </a:r>
            <a:br/>
            <a:r>
              <a:t>critical as it ensures coverage continuity independent</a:t>
            </a:r>
            <a:br/>
            <a:r>
              <a:t>&gt;|</a:t>
            </a:r>
            <a:br/>
            <a:r>
              <a:t>&amp; a ..rancelicense.myabsorb.com (</a:t>
            </a:r>
            <a:br/>
            <a:r>
              <a:t>&lt; &gt; + (21)...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44</a:t>
            </a:r>
          </a:p>
        </p:txBody>
      </p:sp>
      <p:sp>
        <p:nvSpPr>
          <p:cNvPr id="3" name="Content Placeholder 2"/>
          <p:cNvSpPr>
            <a:spLocks noGrp="1"/>
          </p:cNvSpPr>
          <p:nvPr>
            <p:ph idx="1"/>
          </p:nvPr>
        </p:nvSpPr>
        <p:spPr/>
        <p:txBody>
          <a:bodyPr/>
          <a:lstStyle/>
          <a:p>
            <a:r>
              <a:t>What is a Retired Lives Reserve</a:t>
            </a:r>
          </a:p>
          <a:p>
            <a:r>
              <a:t>(RLR)?</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44</a:t>
            </a:r>
          </a:p>
        </p:txBody>
      </p:sp>
      <p:sp>
        <p:nvSpPr>
          <p:cNvPr id="3" name="Content Placeholder 2"/>
          <p:cNvSpPr>
            <a:spLocks noGrp="1"/>
          </p:cNvSpPr>
          <p:nvPr>
            <p:ph idx="1"/>
          </p:nvPr>
        </p:nvSpPr>
        <p:spPr/>
        <p:txBody>
          <a:bodyPr/>
          <a:lstStyle/>
          <a:p/>
          <a:p>
            <a:r>
              <a:t>☐ A group life insurance product providing coverage beyond retirement</a:t>
            </a:r>
          </a:p>
          <a:p>
            <a:pPr>
              <a:defRPr b="1"/>
            </a:pPr>
            <a:r>
              <a:t>✅ A type of whole life insurance policy</a:t>
            </a:r>
          </a:p>
          <a:p>
            <a:r>
              <a:t>☐ e Agroup health insurance product %) An individual retirement account</a:t>
            </a:r>
          </a:p>
          <a:p>
            <a:r>
              <a:t>☐ A Retired Lives Reserve (RLR) is a group life</a:t>
            </a:r>
          </a:p>
          <a:p>
            <a:r>
              <a:t>☐ nsurance product that provides coverage to employees even after they retire, ensuring that they continue to have life insurance protection into Pe ee ee eee ee ee ee oe ee eee ee ee ld A &gt;| &amp; a ..rancelicense.myabsorb.com (© &lt; &gt; + (21)</a:t>
            </a:r>
          </a:p>
          <a:p>
            <a:br/>
            <a:pPr>
              <a:defRPr sz="1400" i="1"/>
            </a:pPr>
            <a:r>
              <a:t>Explanation: a Retired Lives Reserve</a:t>
            </a:r>
            <a:br/>
            <a:r>
              <a:t>(RLR)?</a:t>
            </a:r>
            <a:br/>
            <a:r>
              <a:t>iv) A group life insurance product providing</a:t>
            </a:r>
            <a:br/>
            <a:r>
              <a:t>coverage beyond retirement</a:t>
            </a:r>
            <a:br/>
            <a:r>
              <a:t>x) A type of whole life insurance policy</a:t>
            </a:r>
            <a:br/>
            <a:r>
              <a:t>x) e Agroup health insurance product</a:t>
            </a:r>
            <a:br/>
            <a:r>
              <a:t>%) An individual re...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45</a:t>
            </a:r>
          </a:p>
        </p:txBody>
      </p:sp>
      <p:sp>
        <p:nvSpPr>
          <p:cNvPr id="3" name="Content Placeholder 2"/>
          <p:cNvSpPr>
            <a:spLocks noGrp="1"/>
          </p:cNvSpPr>
          <p:nvPr>
            <p:ph idx="1"/>
          </p:nvPr>
        </p:nvSpPr>
        <p:spPr/>
        <p:txBody>
          <a:bodyPr/>
          <a:lstStyle/>
          <a:p>
            <a:r>
              <a:t>Lisa's employer offers a</a:t>
            </a:r>
          </a:p>
          <a:p>
            <a:r>
              <a:t>noncontributory group life insurance</a:t>
            </a:r>
          </a:p>
          <a:p>
            <a:r>
              <a:t>plan. What does this mean for Lisa?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45</a:t>
            </a:r>
          </a:p>
        </p:txBody>
      </p:sp>
      <p:sp>
        <p:nvSpPr>
          <p:cNvPr id="3" name="Content Placeholder 2"/>
          <p:cNvSpPr>
            <a:spLocks noGrp="1"/>
          </p:cNvSpPr>
          <p:nvPr>
            <p:ph idx="1"/>
          </p:nvPr>
        </p:nvSpPr>
        <p:spPr/>
        <p:txBody>
          <a:bodyPr/>
          <a:lstStyle/>
          <a:p/>
          <a:p>
            <a:pPr>
              <a:defRPr b="1"/>
            </a:pPr>
            <a:r>
              <a:t>✅ She must pay the full cost of premiums</a:t>
            </a:r>
          </a:p>
          <a:p>
            <a:r>
              <a:t>☐ She must share the cost with her employer</a:t>
            </a:r>
          </a:p>
          <a:p>
            <a:r>
              <a:t>☐ She does not contribute to the premium payments</a:t>
            </a:r>
          </a:p>
          <a:p>
            <a:r>
              <a:t>☐ She must provide proof of insurability</a:t>
            </a:r>
          </a:p>
          <a:p>
            <a:br/>
            <a:pPr>
              <a:defRPr sz="1400" i="1"/>
            </a:pPr>
            <a:r>
              <a:t>Explanation: mean for Lisa?</a:t>
            </a:r>
            <a:br/>
            <a:r>
              <a:t>x) She must pay the full cost of premiums</a:t>
            </a:r>
            <a:br/>
            <a:r>
              <a:t>x) She must share the cost with her employer</a:t>
            </a:r>
            <a:br/>
            <a:r>
              <a:t>g She does not contribute to the premium</a:t>
            </a:r>
            <a:br/>
            <a:r>
              <a:t>payments</a:t>
            </a:r>
            <a:br/>
            <a:r>
              <a:t>x) She must provide proof of insurability</a:t>
            </a:r>
            <a:br/>
            <a:r>
              <a:t>Procee...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46</a:t>
            </a:r>
          </a:p>
        </p:txBody>
      </p:sp>
      <p:sp>
        <p:nvSpPr>
          <p:cNvPr id="3" name="Content Placeholder 2"/>
          <p:cNvSpPr>
            <a:spLocks noGrp="1"/>
          </p:cNvSpPr>
          <p:nvPr>
            <p:ph idx="1"/>
          </p:nvPr>
        </p:nvSpPr>
        <p:spPr/>
        <p:txBody>
          <a:bodyPr/>
          <a:lstStyle/>
          <a:p>
            <a:r>
              <a:t>What kind of group insurance plan</a:t>
            </a:r>
          </a:p>
          <a:p>
            <a:r>
              <a:t>requires employees to contribute to</a:t>
            </a:r>
          </a:p>
          <a:p>
            <a:r>
              <a:t>the cost?</a:t>
            </a:r>
          </a:p>
          <a:p>
            <a:r>
              <a:t>Non-Contributory</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46</a:t>
            </a:r>
          </a:p>
        </p:txBody>
      </p:sp>
      <p:sp>
        <p:nvSpPr>
          <p:cNvPr id="3" name="Content Placeholder 2"/>
          <p:cNvSpPr>
            <a:spLocks noGrp="1"/>
          </p:cNvSpPr>
          <p:nvPr>
            <p:ph idx="1"/>
          </p:nvPr>
        </p:nvSpPr>
        <p:spPr/>
        <p:txBody>
          <a:bodyPr/>
          <a:lstStyle/>
          <a:p/>
          <a:p>
            <a:br/>
            <a:pPr>
              <a:defRPr sz="1400" i="1"/>
            </a:pPr>
            <a:r>
              <a:t>Explanation: The type of group insurance plan where</a:t>
            </a:r>
            <a:br/>
            <a:r>
              <a:t>A &gt;|</a:t>
            </a:r>
            <a:br/>
            <a:r>
              <a:t>&amp; a ..rancelicense.myabsorb.com (</a:t>
            </a:r>
            <a:br/>
            <a:r>
              <a:t>&lt; &gt; + (21)...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47</a:t>
            </a:r>
          </a:p>
        </p:txBody>
      </p:sp>
      <p:sp>
        <p:nvSpPr>
          <p:cNvPr id="3" name="Content Placeholder 2"/>
          <p:cNvSpPr>
            <a:spLocks noGrp="1"/>
          </p:cNvSpPr>
          <p:nvPr>
            <p:ph idx="1"/>
          </p:nvPr>
        </p:nvSpPr>
        <p:spPr/>
        <p:txBody>
          <a:bodyPr/>
          <a:lstStyle/>
          <a:p>
            <a:r>
              <a:t>Who can be the policy owner in group</a:t>
            </a:r>
          </a:p>
          <a:p>
            <a:r>
              <a:t>life insurance?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47</a:t>
            </a:r>
          </a:p>
        </p:txBody>
      </p:sp>
      <p:sp>
        <p:nvSpPr>
          <p:cNvPr id="3" name="Content Placeholder 2"/>
          <p:cNvSpPr>
            <a:spLocks noGrp="1"/>
          </p:cNvSpPr>
          <p:nvPr>
            <p:ph idx="1"/>
          </p:nvPr>
        </p:nvSpPr>
        <p:spPr/>
        <p:txBody>
          <a:bodyPr/>
          <a:lstStyle/>
          <a:p/>
          <a:p>
            <a:r>
              <a:t>☐ 2:26 AT Question 11 Select the appropriate response Who can be the policy owner in group life insurance?</a:t>
            </a:r>
          </a:p>
          <a:p>
            <a:r>
              <a:t>☐ The beneficiary The employer or plan sponsor The insurance company</a:t>
            </a:r>
          </a:p>
          <a:p>
            <a:r>
              <a:t>☐ The employee (x)</a:t>
            </a:r>
          </a:p>
          <a:p>
            <a:r>
              <a:t>☐ nsurer. This central ownership facilitates administrative oversight and collective bargaining &gt;| &amp; a ..rancelicense.myabsorb.com (© &lt; &gt; + (21)</a:t>
            </a:r>
          </a:p>
          <a:p>
            <a:br/>
            <a:pPr>
              <a:defRPr sz="1400" i="1"/>
            </a:pPr>
            <a:r>
              <a:t>Explanation: the</a:t>
            </a:r>
            <a:br/>
            <a:r>
              <a:t>policy ownership in a group life insurance setup, as</a:t>
            </a:r>
            <a:br/>
            <a:r>
              <a:t>they are responsible for the master contract with the</a:t>
            </a:r>
            <a:br/>
            <a:r>
              <a:t>insurer. This central ownership facilitates</a:t>
            </a:r>
            <a:br/>
            <a:r>
              <a:t>administrative oversight and collective barga...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48</a:t>
            </a:r>
          </a:p>
        </p:txBody>
      </p:sp>
      <p:sp>
        <p:nvSpPr>
          <p:cNvPr id="3" name="Content Placeholder 2"/>
          <p:cNvSpPr>
            <a:spLocks noGrp="1"/>
          </p:cNvSpPr>
          <p:nvPr>
            <p:ph idx="1"/>
          </p:nvPr>
        </p:nvSpPr>
        <p:spPr/>
        <p:txBody>
          <a:bodyPr/>
          <a:lstStyle/>
          <a:p>
            <a:r>
              <a:t>Michael, an employee of a</a:t>
            </a:r>
          </a:p>
          <a:p>
            <a:r>
              <a:t>manufacturing company, receives a</a:t>
            </a:r>
          </a:p>
          <a:p>
            <a:r>
              <a:t>certificate of insurance. What does this</a:t>
            </a:r>
          </a:p>
          <a:p>
            <a:r>
              <a:t>signify?</a:t>
            </a:r>
          </a:p>
          <a:p>
            <a:r>
              <a:t>He is covered under the group life insurance</a:t>
            </a:r>
          </a:p>
          <a:p>
            <a:r>
              <a:t>plan</a:t>
            </a:r>
          </a:p>
          <a:p>
            <a:r>
              <a:t>He must pay all premiums</a:t>
            </a:r>
          </a:p>
          <a:p>
            <a:r>
              <a:t>He is the beneficiary of the policy</a:t>
            </a:r>
          </a:p>
          <a:p>
            <a:r>
              <a:t>€  He owns the master policy</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48</a:t>
            </a:r>
          </a:p>
        </p:txBody>
      </p:sp>
      <p:sp>
        <p:nvSpPr>
          <p:cNvPr id="3" name="Content Placeholder 2"/>
          <p:cNvSpPr>
            <a:spLocks noGrp="1"/>
          </p:cNvSpPr>
          <p:nvPr>
            <p:ph idx="1"/>
          </p:nvPr>
        </p:nvSpPr>
        <p:spPr/>
        <p:txBody>
          <a:bodyPr/>
          <a:lstStyle/>
          <a:p/>
          <a:p>
            <a:r>
              <a:t>☐ nsurance, it signifies that he is covered under the ae He ae ee eee ee Pe eee el ee tee eee ld A &gt;| &amp; a ..rancelicense.myabsorb.com (© &lt; &gt; + (21)</a:t>
            </a:r>
          </a:p>
          <a:p>
            <a:br/>
            <a:pPr>
              <a:defRPr sz="1400" i="1"/>
            </a:pPr>
            <a:r>
              <a:t>Explanation: signify?</a:t>
            </a:r>
            <a:br/>
            <a:r>
              <a:t>He is covered under the group life insurance</a:t>
            </a:r>
            <a:br/>
            <a:r>
              <a:t>plan</a:t>
            </a:r>
            <a:br/>
            <a:r>
              <a:t>He must pay all premiums</a:t>
            </a:r>
            <a:br/>
            <a:r>
              <a:t>He is the beneficiary of the policy</a:t>
            </a:r>
            <a:br/>
            <a:r>
              <a:t>€  He owns the master policy</a:t>
            </a:r>
            <a:br/>
            <a:r>
              <a:t>Proceed —_</a:t>
            </a:r>
            <a:br/>
            <a:r>
              <a:t>% When Michael receives a certificate of...</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49</a:t>
            </a:r>
          </a:p>
        </p:txBody>
      </p:sp>
      <p:sp>
        <p:nvSpPr>
          <p:cNvPr id="3" name="Content Placeholder 2"/>
          <p:cNvSpPr>
            <a:spLocks noGrp="1"/>
          </p:cNvSpPr>
          <p:nvPr>
            <p:ph idx="1"/>
          </p:nvPr>
        </p:nvSpPr>
        <p:spPr/>
        <p:txBody>
          <a:bodyPr/>
          <a:lstStyle/>
          <a:p>
            <a:r>
              <a:t>John is leaving his job and has 31</a:t>
            </a:r>
          </a:p>
          <a:p>
            <a:r>
              <a:t>days to convert his group life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49</a:t>
            </a:r>
          </a:p>
        </p:txBody>
      </p:sp>
      <p:sp>
        <p:nvSpPr>
          <p:cNvPr id="3" name="Content Placeholder 2"/>
          <p:cNvSpPr>
            <a:spLocks noGrp="1"/>
          </p:cNvSpPr>
          <p:nvPr>
            <p:ph idx="1"/>
          </p:nvPr>
        </p:nvSpPr>
        <p:spPr/>
        <p:txBody>
          <a:bodyPr/>
          <a:lstStyle/>
          <a:p/>
          <a:p>
            <a:r>
              <a:t>☐ nsurance to an individual policy. What happens if he dies during this period? &gt;) The death benefit is reduced The death benefit is not paid The death benefit is paid under the group policy The death benefit is paid under a new</a:t>
            </a:r>
          </a:p>
          <a:p>
            <a:pPr>
              <a:defRPr b="1"/>
            </a:pPr>
            <a:r>
              <a:t>✅ ndividual policy</a:t>
            </a:r>
          </a:p>
          <a:p>
            <a:br/>
            <a:pPr>
              <a:defRPr sz="1400" i="1"/>
            </a:pPr>
            <a:r>
              <a:t>Explanation: leaving his job and has 31</a:t>
            </a:r>
            <a:br/>
            <a:r>
              <a:t>days to convert his group life</a:t>
            </a:r>
            <a:br/>
            <a:r>
              <a:t>insurance to an individual policy. What</a:t>
            </a:r>
            <a:br/>
            <a:r>
              <a:t>happens if he dies during this period?</a:t>
            </a:r>
            <a:br/>
            <a:r>
              <a:t>&gt;) The death benefit is reduced</a:t>
            </a:r>
            <a:br/>
            <a:r>
              <a:t>The death benefit is not paid</a:t>
            </a:r>
            <a:br/>
            <a:r>
              <a:t>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50</a:t>
            </a:r>
          </a:p>
        </p:txBody>
      </p:sp>
      <p:sp>
        <p:nvSpPr>
          <p:cNvPr id="3" name="Content Placeholder 2"/>
          <p:cNvSpPr>
            <a:spLocks noGrp="1"/>
          </p:cNvSpPr>
          <p:nvPr>
            <p:ph idx="1"/>
          </p:nvPr>
        </p:nvSpPr>
        <p:spPr/>
        <p:txBody>
          <a:bodyPr/>
          <a:lstStyle/>
          <a:p>
            <a:r>
              <a:t>What is a key characteristic of</a:t>
            </a:r>
          </a:p>
          <a:p>
            <a:r>
              <a:t>franchise life insurance?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50</a:t>
            </a:r>
          </a:p>
        </p:txBody>
      </p:sp>
      <p:sp>
        <p:nvSpPr>
          <p:cNvPr id="3" name="Content Placeholder 2"/>
          <p:cNvSpPr>
            <a:spLocks noGrp="1"/>
          </p:cNvSpPr>
          <p:nvPr>
            <p:ph idx="1"/>
          </p:nvPr>
        </p:nvSpPr>
        <p:spPr/>
        <p:txBody>
          <a:bodyPr/>
          <a:lstStyle/>
          <a:p/>
          <a:p>
            <a:r>
              <a:t>☐ e Itrequires proof of insurability for each participant It excludes employees with physical</a:t>
            </a:r>
          </a:p>
          <a:p>
            <a:r>
              <a:t>☐ mpairments It issues a master policy to the employer</a:t>
            </a:r>
          </a:p>
          <a:p>
            <a:r>
              <a:t>☐ ssuing individual policies to participants rather than a single master policy. This structure allows each member to have a policy tailored to their specific needs and situations, unlike group policies that are uniform. This differs from a setup where a master EAN Ne ae ee ee ee I&lt; A &gt;| &amp; a ..rancelicense.myabsorb.com (© &lt; &gt; + (21)</a:t>
            </a:r>
          </a:p>
          <a:p>
            <a:br/>
            <a:pPr>
              <a:defRPr sz="1400" i="1"/>
            </a:pPr>
            <a:r>
              <a:t>Explanation: a key characteristic of</a:t>
            </a:r>
            <a:br/>
            <a:r>
              <a:t>franchise life insurance?</a:t>
            </a:r>
            <a:br/>
            <a:r>
              <a:t>x) e  Itrequires proof of insurability for each</a:t>
            </a:r>
            <a:br/>
            <a:r>
              <a:t>participant</a:t>
            </a:r>
            <a:br/>
            <a:r>
              <a:t>It excludes employees with physical</a:t>
            </a:r>
            <a:br/>
            <a:r>
              <a:t>impairments</a:t>
            </a:r>
            <a:br/>
            <a:r>
              <a:t>It issues a master policy to the employer</a:t>
            </a:r>
            <a:br/>
            <a:r>
              <a: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51</a:t>
            </a:r>
          </a:p>
        </p:txBody>
      </p:sp>
      <p:sp>
        <p:nvSpPr>
          <p:cNvPr id="3" name="Content Placeholder 2"/>
          <p:cNvSpPr>
            <a:spLocks noGrp="1"/>
          </p:cNvSpPr>
          <p:nvPr>
            <p:ph idx="1"/>
          </p:nvPr>
        </p:nvSpPr>
        <p:spPr/>
        <p:txBody>
          <a:bodyPr/>
          <a:lstStyle/>
          <a:p>
            <a:r>
              <a:t>What is an Irrevocable Beneficiary?</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51</a:t>
            </a:r>
          </a:p>
        </p:txBody>
      </p:sp>
      <p:sp>
        <p:nvSpPr>
          <p:cNvPr id="3" name="Content Placeholder 2"/>
          <p:cNvSpPr>
            <a:spLocks noGrp="1"/>
          </p:cNvSpPr>
          <p:nvPr>
            <p:ph idx="1"/>
          </p:nvPr>
        </p:nvSpPr>
        <p:spPr/>
        <p:txBody>
          <a:bodyPr/>
          <a:lstStyle/>
          <a:p/>
          <a:p>
            <a:r>
              <a:t>☐ Question 1 Select the appropriate response What is an Irrevocable Beneficiary?</a:t>
            </a:r>
          </a:p>
          <a:p>
            <a:r>
              <a:t>☐ A beneficiary designated by the insurer A beneficiary that cannot be changed without their consent</a:t>
            </a:r>
          </a:p>
          <a:p>
            <a:pPr>
              <a:defRPr b="1"/>
            </a:pPr>
            <a:r>
              <a:t>✅ %) A secondary beneficiary</a:t>
            </a:r>
          </a:p>
          <a:p>
            <a:r>
              <a:t>☐ A beneficiary that can be changed at any time</a:t>
            </a:r>
          </a:p>
          <a:p>
            <a:br/>
            <a:pPr>
              <a:defRPr sz="1400" i="1"/>
            </a:pPr>
            <a:r>
              <a:t>Explanation: an Irrevocable Beneficiary?</a:t>
            </a:r>
            <a:br/>
            <a:r>
              <a:t>x) A beneficiary designated by the insurer</a:t>
            </a:r>
            <a:br/>
            <a:r>
              <a:t>A beneficiary that cannot be changed</a:t>
            </a:r>
            <a:br/>
            <a:r>
              <a:t>without their consent</a:t>
            </a:r>
            <a:br/>
            <a:r>
              <a:t>v)</a:t>
            </a:r>
            <a:br/>
            <a:r>
              <a:t>%) A secondary beneficiary</a:t>
            </a:r>
            <a:br/>
            <a:r>
              <a:t>x)</a:t>
            </a:r>
            <a:br/>
            <a:r>
              <a:t>A beneficiary that can be changed at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52</a:t>
            </a:r>
          </a:p>
        </p:txBody>
      </p:sp>
      <p:sp>
        <p:nvSpPr>
          <p:cNvPr id="3" name="Content Placeholder 2"/>
          <p:cNvSpPr>
            <a:spLocks noGrp="1"/>
          </p:cNvSpPr>
          <p:nvPr>
            <p:ph idx="1"/>
          </p:nvPr>
        </p:nvSpPr>
        <p:spPr/>
        <p:txBody>
          <a:bodyPr/>
          <a:lstStyle/>
          <a:p>
            <a:r>
              <a:t>The option allows the insurance</a:t>
            </a:r>
          </a:p>
          <a:p>
            <a:r>
              <a:t>company to hold the death proceeds</a:t>
            </a:r>
          </a:p>
          <a:p>
            <a:r>
              <a:t>and pay only the interest earned to the</a:t>
            </a:r>
          </a:p>
          <a:p>
            <a:r>
              <a:t>beneficiary.</a:t>
            </a:r>
          </a:p>
          <a:p>
            <a:r>
              <a:t>Lump Sum</a:t>
            </a:r>
          </a:p>
          <a:p>
            <a:r>
              <a:t>Fixed Period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52</a:t>
            </a:r>
          </a:p>
        </p:txBody>
      </p:sp>
      <p:sp>
        <p:nvSpPr>
          <p:cNvPr id="3" name="Content Placeholder 2"/>
          <p:cNvSpPr>
            <a:spLocks noGrp="1"/>
          </p:cNvSpPr>
          <p:nvPr>
            <p:ph idx="1"/>
          </p:nvPr>
        </p:nvSpPr>
        <p:spPr/>
        <p:txBody>
          <a:bodyPr/>
          <a:lstStyle/>
          <a:p/>
          <a:p>
            <a:pPr>
              <a:defRPr b="1"/>
            </a:pPr>
            <a:r>
              <a:t>✅ Interest Only Fixed Amount</a:t>
            </a:r>
          </a:p>
          <a:p>
            <a:br/>
            <a:pPr>
              <a:defRPr sz="1400" i="1"/>
            </a:pPr>
            <a:r>
              <a:t>Explanation: and pay only the interest earned to the</a:t>
            </a:r>
            <a:br/>
            <a:r>
              <a:t>beneficiary.</a:t>
            </a:r>
            <a:br/>
            <a:r>
              <a:t>Lump Sum</a:t>
            </a:r>
            <a:br/>
            <a:r>
              <a:t>Fixed Period</a:t>
            </a:r>
            <a:br/>
            <a:r>
              <a:t>g Interest Only</a:t>
            </a:r>
            <a:br/>
            <a:r>
              <a:t>Fixed Amount</a:t>
            </a:r>
            <a:br/>
            <a:r>
              <a:t>Proceed =&gt;</a:t>
            </a:r>
            <a:br/>
            <a:r>
              <a:t>és The Interest Only option involves the insurance</a:t>
            </a:r>
            <a:br/>
            <a:r>
              <a:t>company holding the entire death b...</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53</a:t>
            </a:r>
          </a:p>
        </p:txBody>
      </p:sp>
      <p:sp>
        <p:nvSpPr>
          <p:cNvPr id="3" name="Content Placeholder 2"/>
          <p:cNvSpPr>
            <a:spLocks noGrp="1"/>
          </p:cNvSpPr>
          <p:nvPr>
            <p:ph idx="1"/>
          </p:nvPr>
        </p:nvSpPr>
        <p:spPr/>
        <p:txBody>
          <a:bodyPr/>
          <a:lstStyle/>
          <a:p>
            <a:r>
              <a:t>Sarah is terminally ill and wants to</a:t>
            </a:r>
          </a:p>
          <a:p>
            <a:r>
              <a:t>access her life insurance benefits to</a:t>
            </a:r>
          </a:p>
          <a:p>
            <a:r>
              <a:t>cover her medical expenses. Which</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53</a:t>
            </a:r>
          </a:p>
        </p:txBody>
      </p:sp>
      <p:sp>
        <p:nvSpPr>
          <p:cNvPr id="3" name="Content Placeholder 2"/>
          <p:cNvSpPr>
            <a:spLocks noGrp="1"/>
          </p:cNvSpPr>
          <p:nvPr>
            <p:ph idx="1"/>
          </p:nvPr>
        </p:nvSpPr>
        <p:spPr/>
        <p:txBody>
          <a:bodyPr/>
          <a:lstStyle/>
          <a:p/>
          <a:p>
            <a:r>
              <a:t>☐ Question 3 Select the appropriate response Sarah is terminally ill and wants to access her life insurance benefits to cover her medical expenses. Which option allows her to do this?</a:t>
            </a:r>
          </a:p>
          <a:p>
            <a:pPr>
              <a:defRPr b="1"/>
            </a:pPr>
            <a:r>
              <a:t>✅ Accelerated Benefit Rider Interest Only Option Fixed Period Option Lump Sum Option</a:t>
            </a:r>
          </a:p>
          <a:p>
            <a:r>
              <a:t>☐ llness necessitates early access to life insurance &gt;| % 4a ..rancelicense.myabsorb.com (© &lt; + (21)</a:t>
            </a:r>
          </a:p>
          <a:p>
            <a:br/>
            <a:pPr>
              <a:defRPr sz="1400" i="1"/>
            </a:pPr>
            <a:r>
              <a:t>Explanation: terminally ill and wants to</a:t>
            </a:r>
            <a:br/>
            <a:r>
              <a:t>access her life insurance benefits to</a:t>
            </a:r>
            <a:br/>
            <a:r>
              <a:t>cover her medical expenses. Which</a:t>
            </a:r>
            <a:br/>
            <a:r>
              <a:t>option allows her to do this?</a:t>
            </a:r>
            <a:br/>
            <a:r>
              <a:t>g Accelerated Benefit Rider</a:t>
            </a:r>
            <a:br/>
            <a:r>
              <a:t>Interest Only Option</a:t>
            </a:r>
            <a:br/>
            <a:r>
              <a:t>Fixed Period Option</a:t>
            </a:r>
            <a:br/>
            <a:r>
              <a:t>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54</a:t>
            </a:r>
          </a:p>
        </p:txBody>
      </p:sp>
      <p:sp>
        <p:nvSpPr>
          <p:cNvPr id="3" name="Content Placeholder 2"/>
          <p:cNvSpPr>
            <a:spLocks noGrp="1"/>
          </p:cNvSpPr>
          <p:nvPr>
            <p:ph idx="1"/>
          </p:nvPr>
        </p:nvSpPr>
        <p:spPr/>
        <p:txBody>
          <a:bodyPr/>
          <a:lstStyle/>
          <a:p>
            <a:r>
              <a:t>The clause prevents creditors</a:t>
            </a:r>
          </a:p>
          <a:p>
            <a:r>
              <a:t>from obtaining policy proceeds upon</a:t>
            </a:r>
          </a:p>
          <a:p>
            <a:r>
              <a:t>the insured's death.</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54</a:t>
            </a:r>
          </a:p>
        </p:txBody>
      </p:sp>
      <p:sp>
        <p:nvSpPr>
          <p:cNvPr id="3" name="Content Placeholder 2"/>
          <p:cNvSpPr>
            <a:spLocks noGrp="1"/>
          </p:cNvSpPr>
          <p:nvPr>
            <p:ph idx="1"/>
          </p:nvPr>
        </p:nvSpPr>
        <p:spPr/>
        <p:txBody>
          <a:bodyPr/>
          <a:lstStyle/>
          <a:p/>
          <a:p>
            <a:pPr>
              <a:defRPr b="1"/>
            </a:pPr>
            <a:r>
              <a:t>✅ Irrevocable Beneficiary</a:t>
            </a:r>
          </a:p>
          <a:p>
            <a:r>
              <a:t>☐ Facility of Payment</a:t>
            </a:r>
          </a:p>
          <a:p>
            <a:r>
              <a:t>☐ Spendthrift</a:t>
            </a:r>
          </a:p>
          <a:p>
            <a:r>
              <a:t>☐ Common Disaster</a:t>
            </a:r>
          </a:p>
          <a:p>
            <a:br/>
            <a:pPr>
              <a:defRPr sz="1400" i="1"/>
            </a:pPr>
            <a:r>
              <a:t>Explanation: upon</a:t>
            </a:r>
            <a:br/>
            <a:r>
              <a:t>the insured's death.</a:t>
            </a:r>
            <a:br/>
            <a:r>
              <a:t>x) Irrevocable Beneficiary</a:t>
            </a:r>
            <a:br/>
            <a:r>
              <a:t>x) Facility of Payment</a:t>
            </a:r>
            <a:br/>
            <a:r>
              <a:t>g Spendthrift</a:t>
            </a:r>
            <a:br/>
            <a:r>
              <a:t>x) Common Disaster</a:t>
            </a:r>
            <a:br/>
            <a:r>
              <a:t>Proceed =</a:t>
            </a:r>
            <a:br/>
            <a:r>
              <a:t>ds The Spendthrift Clause is specifically designed</a:t>
            </a:r>
            <a:br/>
            <a:r>
              <a:t>to protect life insurance proc...</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55</a:t>
            </a:r>
          </a:p>
        </p:txBody>
      </p:sp>
      <p:sp>
        <p:nvSpPr>
          <p:cNvPr id="3" name="Content Placeholder 2"/>
          <p:cNvSpPr>
            <a:spLocks noGrp="1"/>
          </p:cNvSpPr>
          <p:nvPr>
            <p:ph idx="1"/>
          </p:nvPr>
        </p:nvSpPr>
        <p:spPr/>
        <p:txBody>
          <a:bodyPr/>
          <a:lstStyle/>
          <a:p>
            <a:r>
              <a:t>What is a Life Settlement?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55</a:t>
            </a:r>
          </a:p>
        </p:txBody>
      </p:sp>
      <p:sp>
        <p:nvSpPr>
          <p:cNvPr id="3" name="Content Placeholder 2"/>
          <p:cNvSpPr>
            <a:spLocks noGrp="1"/>
          </p:cNvSpPr>
          <p:nvPr>
            <p:ph idx="1"/>
          </p:nvPr>
        </p:nvSpPr>
        <p:spPr/>
        <p:txBody>
          <a:bodyPr/>
          <a:lstStyle/>
          <a:p/>
          <a:p>
            <a:r>
              <a:t>☐ The purchase of additional coverage The transfer of a policy to a family member</a:t>
            </a:r>
          </a:p>
          <a:p>
            <a:pPr>
              <a:defRPr b="1"/>
            </a:pPr>
            <a:r>
              <a:t>✅ The sale of a life insurance policy to a third party for more than its cash surrender value The conversion of a term policy to a whole life policy</a:t>
            </a:r>
          </a:p>
          <a:p>
            <a:r>
              <a:t>☐ nsurance policy by the policyholder to a third party for an amount that is greater than the cash surrender</a:t>
            </a:r>
          </a:p>
          <a:p>
            <a:r>
              <a:t>☐ alue but typically less than the death benefit. This provides an option for policyholders who no longer &gt;| &amp; a ..rancelicense.myabsorb.com (© &lt; &gt; + (21)</a:t>
            </a:r>
          </a:p>
          <a:p>
            <a:br/>
            <a:pPr>
              <a:defRPr sz="1400" i="1"/>
            </a:pPr>
            <a:r>
              <a:t>Explanation: a Life Settlement?</a:t>
            </a:r>
            <a:br/>
            <a:r>
              <a:t>x) The purchase of additional coverage</a:t>
            </a:r>
            <a:br/>
            <a:r>
              <a:t>The transfer of a policy to a family member</a:t>
            </a:r>
            <a:br/>
            <a:r>
              <a:t>g The sale of a life insurance policy to a third</a:t>
            </a:r>
            <a:br/>
            <a:r>
              <a:t>party for more than its cash surrender value</a:t>
            </a:r>
            <a:br/>
            <a:r>
              <a:t>The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56</a:t>
            </a:r>
          </a:p>
        </p:txBody>
      </p:sp>
      <p:sp>
        <p:nvSpPr>
          <p:cNvPr id="3" name="Content Placeholder 2"/>
          <p:cNvSpPr>
            <a:spLocks noGrp="1"/>
          </p:cNvSpPr>
          <p:nvPr>
            <p:ph idx="1"/>
          </p:nvPr>
        </p:nvSpPr>
        <p:spPr/>
        <p:txBody>
          <a:bodyPr/>
          <a:lstStyle/>
          <a:p>
            <a:r>
              <a:t>What happens if a life insurance</a:t>
            </a:r>
          </a:p>
          <a:p>
            <a:r>
              <a:t>policy's cash value is surrendered?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56</a:t>
            </a:r>
          </a:p>
        </p:txBody>
      </p:sp>
      <p:sp>
        <p:nvSpPr>
          <p:cNvPr id="3" name="Content Placeholder 2"/>
          <p:cNvSpPr>
            <a:spLocks noGrp="1"/>
          </p:cNvSpPr>
          <p:nvPr>
            <p:ph idx="1"/>
          </p:nvPr>
        </p:nvSpPr>
        <p:spPr/>
        <p:txBody>
          <a:bodyPr/>
          <a:lstStyle/>
          <a:p/>
          <a:p>
            <a:r>
              <a:t>☐ 7 34 ef Question 6 Select the appropriate response What happens if a life insurance policy's cash value is surrendered?</a:t>
            </a:r>
          </a:p>
          <a:p>
            <a:pPr>
              <a:defRPr b="1"/>
            </a:pPr>
            <a:r>
              <a:t>✅ The entire amount is tax-free</a:t>
            </a:r>
          </a:p>
          <a:p>
            <a:r>
              <a:t>☐ It automatically reinvests</a:t>
            </a:r>
          </a:p>
          <a:p>
            <a:r>
              <a:t>☐ The portion that exceeds the premiums paid</a:t>
            </a:r>
          </a:p>
          <a:p>
            <a:r>
              <a:t>☐ s taxable %) It is considered a loan</a:t>
            </a:r>
          </a:p>
          <a:p>
            <a:br/>
            <a:pPr>
              <a:defRPr sz="1400" i="1"/>
            </a:pPr>
            <a:r>
              <a:t>Explanation: surrendered?</a:t>
            </a:r>
            <a:br/>
            <a:r>
              <a:t>x) The entire amount is tax-free</a:t>
            </a:r>
            <a:br/>
            <a:r>
              <a:t>x) It automatically reinvests</a:t>
            </a:r>
            <a:br/>
            <a:r>
              <a:t>g The portion that exceeds the premiums paid</a:t>
            </a:r>
            <a:br/>
            <a:r>
              <a:t>is taxable</a:t>
            </a:r>
            <a:br/>
            <a:r>
              <a:t>%) It is considered a loan</a:t>
            </a:r>
            <a:br/>
            <a:r>
              <a:t>Proceed and</a:t>
            </a:r>
            <a:br/>
            <a:r>
              <a:t>ds When a life insurance poli...</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57</a:t>
            </a:r>
          </a:p>
        </p:txBody>
      </p:sp>
      <p:sp>
        <p:nvSpPr>
          <p:cNvPr id="3" name="Content Placeholder 2"/>
          <p:cNvSpPr>
            <a:spLocks noGrp="1"/>
          </p:cNvSpPr>
          <p:nvPr>
            <p:ph idx="1"/>
          </p:nvPr>
        </p:nvSpPr>
        <p:spPr/>
        <p:txBody>
          <a:bodyPr/>
          <a:lstStyle/>
          <a:p>
            <a:r>
              <a:t>What is Earned Premium in life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57</a:t>
            </a:r>
          </a:p>
        </p:txBody>
      </p:sp>
      <p:sp>
        <p:nvSpPr>
          <p:cNvPr id="3" name="Content Placeholder 2"/>
          <p:cNvSpPr>
            <a:spLocks noGrp="1"/>
          </p:cNvSpPr>
          <p:nvPr>
            <p:ph idx="1"/>
          </p:nvPr>
        </p:nvSpPr>
        <p:spPr/>
        <p:txBody>
          <a:bodyPr/>
          <a:lstStyle/>
          <a:p/>
          <a:p>
            <a:r>
              <a:t>☐ 2:35 ef Question 7 Select the appropriate response What is Earned Premium in life</a:t>
            </a:r>
          </a:p>
          <a:p>
            <a:pPr>
              <a:defRPr b="1"/>
            </a:pPr>
            <a:r>
              <a:t>✅ nsurance?</a:t>
            </a:r>
          </a:p>
          <a:p>
            <a:r>
              <a:t>☐ Future premium payments</a:t>
            </a:r>
          </a:p>
          <a:p>
            <a:r>
              <a:t>☐ Premium for coverage already received</a:t>
            </a:r>
          </a:p>
          <a:p>
            <a:r>
              <a:t>☐ Total premium due</a:t>
            </a:r>
          </a:p>
          <a:p>
            <a:r>
              <a:t>☐ Refunded premium</a:t>
            </a:r>
          </a:p>
          <a:p>
            <a:br/>
            <a:pPr>
              <a:defRPr sz="1400" i="1"/>
            </a:pPr>
            <a:r>
              <a:t>Explanation: Earned Premium in life</a:t>
            </a:r>
            <a:br/>
            <a:r>
              <a:t>insurance?</a:t>
            </a:r>
            <a:br/>
            <a:r>
              <a:t>x) Future premium payments</a:t>
            </a:r>
            <a:br/>
            <a:r>
              <a:t>g Premium for coverage already received</a:t>
            </a:r>
            <a:br/>
            <a:r>
              <a:t>x) Total premium due</a:t>
            </a:r>
            <a:br/>
            <a:r>
              <a:t>x) Refunded premium</a:t>
            </a:r>
            <a:br/>
            <a:r>
              <a:t>Proceed =</a:t>
            </a:r>
            <a:br/>
            <a:r>
              <a:t>és Earned Premium in life insurance refers to th...</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58</a:t>
            </a:r>
          </a:p>
        </p:txBody>
      </p:sp>
      <p:sp>
        <p:nvSpPr>
          <p:cNvPr id="3" name="Content Placeholder 2"/>
          <p:cNvSpPr>
            <a:spLocks noGrp="1"/>
          </p:cNvSpPr>
          <p:nvPr>
            <p:ph idx="1"/>
          </p:nvPr>
        </p:nvSpPr>
        <p:spPr/>
        <p:txBody>
          <a:bodyPr/>
          <a:lstStyle/>
          <a:p>
            <a:r>
              <a:t>What is the implication of designating</a:t>
            </a:r>
          </a:p>
          <a:p>
            <a:r>
              <a:t>an Irrevocable Beneficiary?</a:t>
            </a:r>
          </a:p>
          <a:p>
            <a:r>
              <a:t>Temporary beneficiary status</a:t>
            </a:r>
          </a:p>
          <a:p>
            <a:r>
              <a:t>Flexibility in changing beneficiaries</a:t>
            </a:r>
          </a:p>
          <a:p>
            <a:r>
              <a:t>Permanent beneficiary designation without</a:t>
            </a:r>
          </a:p>
          <a:p>
            <a:r>
              <a:t>alteration unless consented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58</a:t>
            </a:r>
          </a:p>
        </p:txBody>
      </p:sp>
      <p:sp>
        <p:nvSpPr>
          <p:cNvPr id="3" name="Content Placeholder 2"/>
          <p:cNvSpPr>
            <a:spLocks noGrp="1"/>
          </p:cNvSpPr>
          <p:nvPr>
            <p:ph idx="1"/>
          </p:nvPr>
        </p:nvSpPr>
        <p:spPr/>
        <p:txBody>
          <a:bodyPr/>
          <a:lstStyle/>
          <a:p/>
          <a:p>
            <a:r>
              <a:t>☐ Question 8 Select the appropriate response What is the implication of designating an Irrevocable Beneficiary? Temporary beneficiary status Flexibility in changing beneficiaries Permanent beneficiary designation without alteration unless consented</a:t>
            </a:r>
          </a:p>
          <a:p>
            <a:r>
              <a:t>☐ Vv)</a:t>
            </a:r>
          </a:p>
          <a:p>
            <a:br/>
            <a:pPr>
              <a:defRPr sz="1400" i="1"/>
            </a:pPr>
            <a:r>
              <a:t>Explanation: the implication of designating</a:t>
            </a:r>
            <a:br/>
            <a:r>
              <a:t>an Irrevocable Beneficiary?</a:t>
            </a:r>
            <a:br/>
            <a:r>
              <a:t>Temporary beneficiary status</a:t>
            </a:r>
            <a:br/>
            <a:r>
              <a:t>Flexibility in changing beneficiaries</a:t>
            </a:r>
            <a:br/>
            <a:r>
              <a:t>Permanent beneficiary designation without</a:t>
            </a:r>
            <a:br/>
            <a:r>
              <a:t>alteration unless consented</a:t>
            </a:r>
            <a:br/>
            <a:r>
              <a:t>x)</a:t>
            </a:r>
            <a:br/>
            <a:r>
              <a:t>x...</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59</a:t>
            </a:r>
          </a:p>
        </p:txBody>
      </p:sp>
      <p:sp>
        <p:nvSpPr>
          <p:cNvPr id="3" name="Content Placeholder 2"/>
          <p:cNvSpPr>
            <a:spLocks noGrp="1"/>
          </p:cNvSpPr>
          <p:nvPr>
            <p:ph idx="1"/>
          </p:nvPr>
        </p:nvSpPr>
        <p:spPr/>
        <p:txBody>
          <a:bodyPr/>
          <a:lstStyle/>
          <a:p>
            <a:r>
              <a:t>Who is the person or entity designated</a:t>
            </a:r>
          </a:p>
          <a:p>
            <a:r>
              <a:t>to receive the death proceeds of a life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59</a:t>
            </a:r>
          </a:p>
        </p:txBody>
      </p:sp>
      <p:sp>
        <p:nvSpPr>
          <p:cNvPr id="3" name="Content Placeholder 2"/>
          <p:cNvSpPr>
            <a:spLocks noGrp="1"/>
          </p:cNvSpPr>
          <p:nvPr>
            <p:ph idx="1"/>
          </p:nvPr>
        </p:nvSpPr>
        <p:spPr/>
        <p:txBody>
          <a:bodyPr/>
          <a:lstStyle/>
          <a:p/>
          <a:p>
            <a:r>
              <a:t>☐ 2:36 a Question 9 Select the appropriate response Who is the person or entity designated to receive the death proceeds of a life</a:t>
            </a:r>
          </a:p>
          <a:p>
            <a:pPr>
              <a:defRPr b="1"/>
            </a:pPr>
            <a:r>
              <a:t>✅ nsurance policy?</a:t>
            </a:r>
          </a:p>
          <a:p>
            <a:r>
              <a:t>☐ Insurer</a:t>
            </a:r>
          </a:p>
          <a:p>
            <a:r>
              <a:t>☐ Beneficiary</a:t>
            </a:r>
          </a:p>
          <a:p>
            <a:r>
              <a:t>☐ Policyowner</a:t>
            </a:r>
          </a:p>
          <a:p>
            <a:r>
              <a:t>☐ Underwriter</a:t>
            </a:r>
          </a:p>
          <a:p>
            <a:r>
              <a:t>☐ nsurer, who provides the coverage; the policyowner, &gt;| &amp; a ..rancelicense.myabsorb.com (© &lt; &gt; + (21)</a:t>
            </a:r>
          </a:p>
          <a:p>
            <a:br/>
            <a:pPr>
              <a:defRPr sz="1400" i="1"/>
            </a:pPr>
            <a:r>
              <a:t>Explanation: the person or entity designated</a:t>
            </a:r>
            <a:br/>
            <a:r>
              <a:t>to receive the death proceeds of a life</a:t>
            </a:r>
            <a:br/>
            <a:r>
              <a:t>insurance policy?</a:t>
            </a:r>
            <a:br/>
            <a:r>
              <a:t>x) Insurer</a:t>
            </a:r>
            <a:br/>
            <a:r>
              <a:t>g Beneficiary</a:t>
            </a:r>
            <a:br/>
            <a:r>
              <a:t>x) Policyowner</a:t>
            </a:r>
            <a:br/>
            <a:r>
              <a:t>x) Underwriter</a:t>
            </a:r>
            <a:br/>
            <a:r>
              <a:t>Proceed =</a:t>
            </a:r>
            <a:br/>
            <a:r>
              <a:t>és The beneficiary is the designated person o...</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60</a:t>
            </a:r>
          </a:p>
        </p:txBody>
      </p:sp>
      <p:sp>
        <p:nvSpPr>
          <p:cNvPr id="3" name="Content Placeholder 2"/>
          <p:cNvSpPr>
            <a:spLocks noGrp="1"/>
          </p:cNvSpPr>
          <p:nvPr>
            <p:ph idx="1"/>
          </p:nvPr>
        </p:nvSpPr>
        <p:spPr/>
        <p:txBody>
          <a:bodyPr/>
          <a:lstStyle/>
          <a:p>
            <a:r>
              <a:t>Which term refers to the frequency</a:t>
            </a:r>
          </a:p>
          <a:p>
            <a:r>
              <a:t>with which a policyowner elects to pay</a:t>
            </a:r>
          </a:p>
          <a:p>
            <a:r>
              <a:t>premiums?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60</a:t>
            </a:r>
          </a:p>
        </p:txBody>
      </p:sp>
      <p:sp>
        <p:nvSpPr>
          <p:cNvPr id="3" name="Content Placeholder 2"/>
          <p:cNvSpPr>
            <a:spLocks noGrp="1"/>
          </p:cNvSpPr>
          <p:nvPr>
            <p:ph idx="1"/>
          </p:nvPr>
        </p:nvSpPr>
        <p:spPr/>
        <p:txBody>
          <a:bodyPr/>
          <a:lstStyle/>
          <a:p/>
          <a:p>
            <a:r>
              <a:t>☐ 2:36 ' Question 10 Select the appropriate response Which term refers to the frequency with which a policyowner elects to pay premiums?</a:t>
            </a:r>
          </a:p>
          <a:p>
            <a:r>
              <a:t>☐ Premium Calculation</a:t>
            </a:r>
          </a:p>
          <a:p>
            <a:r>
              <a:t>☐ Expense Factor</a:t>
            </a:r>
          </a:p>
          <a:p>
            <a:r>
              <a:t>☐ Cash Value</a:t>
            </a:r>
          </a:p>
          <a:p>
            <a:pPr>
              <a:defRPr b="1"/>
            </a:pPr>
            <a:r>
              <a:t>✅ Premium Mode</a:t>
            </a:r>
          </a:p>
          <a:p>
            <a:br/>
            <a:pPr>
              <a:defRPr sz="1400" i="1"/>
            </a:pPr>
            <a:r>
              <a:t>Explanation: Premium Mode refers to the frequency at which</a:t>
            </a:r>
            <a:br/>
            <a:r>
              <a:t>a policyowner opts to pay premiums, such as</a:t>
            </a:r>
            <a:br/>
            <a:r>
              <a:t>monthly, quarterly, semiannually, or annually. This</a:t>
            </a:r>
            <a:br/>
            <a:r>
              <a:t>term is specifically about the timing of payments,</a:t>
            </a:r>
            <a:br/>
            <a:r>
              <a:t>&gt;|</a:t>
            </a:r>
            <a:br/>
            <a:r>
              <a:t>&amp; a ...</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61</a:t>
            </a:r>
          </a:p>
        </p:txBody>
      </p:sp>
      <p:sp>
        <p:nvSpPr>
          <p:cNvPr id="3" name="Content Placeholder 2"/>
          <p:cNvSpPr>
            <a:spLocks noGrp="1"/>
          </p:cNvSpPr>
          <p:nvPr>
            <p:ph idx="1"/>
          </p:nvPr>
        </p:nvSpPr>
        <p:spPr/>
        <p:txBody>
          <a:bodyPr/>
          <a:lstStyle/>
          <a:p>
            <a:r>
              <a:t>The option provides the</a:t>
            </a:r>
          </a:p>
          <a:p>
            <a:r>
              <a:t>beneficiary with an income that they</a:t>
            </a:r>
          </a:p>
          <a:p>
            <a:r>
              <a:t>cannot outlive.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61</a:t>
            </a:r>
          </a:p>
        </p:txBody>
      </p:sp>
      <p:sp>
        <p:nvSpPr>
          <p:cNvPr id="3" name="Content Placeholder 2"/>
          <p:cNvSpPr>
            <a:spLocks noGrp="1"/>
          </p:cNvSpPr>
          <p:nvPr>
            <p:ph idx="1"/>
          </p:nvPr>
        </p:nvSpPr>
        <p:spPr/>
        <p:txBody>
          <a:bodyPr/>
          <a:lstStyle/>
          <a:p/>
          <a:p>
            <a:r>
              <a:t>☐ Interest Only</a:t>
            </a:r>
          </a:p>
          <a:p>
            <a:r>
              <a:t>☐ Fixed Period</a:t>
            </a:r>
          </a:p>
          <a:p>
            <a:pPr>
              <a:defRPr b="1"/>
            </a:pPr>
            <a:r>
              <a:t>✅ Life Income</a:t>
            </a:r>
          </a:p>
          <a:p>
            <a:r>
              <a:t>☐ Lump Sum</a:t>
            </a:r>
          </a:p>
          <a:p>
            <a:br/>
            <a:pPr>
              <a:defRPr sz="1400" i="1"/>
            </a:pPr>
            <a:r>
              <a:t>Explanation: The Life Income option ensures that</a:t>
            </a:r>
            <a:br/>
            <a:r>
              <a:t>beneficiaries receive a regular income for the</a:t>
            </a:r>
            <a:br/>
            <a:r>
              <a:t>remainder of their lives, regardless of how long they</a:t>
            </a:r>
            <a:br/>
            <a:r>
              <a:t>live. This provides a steady and reliable financial</a:t>
            </a:r>
            <a:br/>
            <a:r>
              <a:t>&gt;|</a:t>
            </a:r>
            <a:br/>
            <a:r>
              <a:t>&amp; a ..ra...</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62</a:t>
            </a:r>
          </a:p>
        </p:txBody>
      </p:sp>
      <p:sp>
        <p:nvSpPr>
          <p:cNvPr id="3" name="Content Placeholder 2"/>
          <p:cNvSpPr>
            <a:spLocks noGrp="1"/>
          </p:cNvSpPr>
          <p:nvPr>
            <p:ph idx="1"/>
          </p:nvPr>
        </p:nvSpPr>
        <p:spPr/>
        <p:txBody>
          <a:bodyPr/>
          <a:lstStyle/>
          <a:p>
            <a:r>
              <a:t>What is the Cash Value in a life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62</a:t>
            </a:r>
          </a:p>
        </p:txBody>
      </p:sp>
      <p:sp>
        <p:nvSpPr>
          <p:cNvPr id="3" name="Content Placeholder 2"/>
          <p:cNvSpPr>
            <a:spLocks noGrp="1"/>
          </p:cNvSpPr>
          <p:nvPr>
            <p:ph idx="1"/>
          </p:nvPr>
        </p:nvSpPr>
        <p:spPr/>
        <p:txBody>
          <a:bodyPr/>
          <a:lstStyle/>
          <a:p/>
          <a:p>
            <a:pPr>
              <a:defRPr b="1"/>
            </a:pPr>
            <a:r>
              <a:t>✅ nsurance policy?</a:t>
            </a:r>
          </a:p>
          <a:p>
            <a:r>
              <a:t>☐ e The initial premium paid by the policyowner The equity or savings element of whole life</a:t>
            </a:r>
          </a:p>
          <a:p>
            <a:r>
              <a:t>☐ nsurance policies The amount paid to the beneficiary The face value of the policy</a:t>
            </a:r>
          </a:p>
          <a:p>
            <a:r>
              <a:t>☐ n whole life and other forms of permanent life</a:t>
            </a:r>
          </a:p>
          <a:p>
            <a:r>
              <a:t>☐ nsurance. This accumulated amount can be used for Ee ee ee ee ee ee ee ld A &gt;| &amp; a ..rancelicense.myabsorb.com (© &lt; &gt; + (21)</a:t>
            </a:r>
          </a:p>
          <a:p>
            <a:br/>
            <a:pPr>
              <a:defRPr sz="1400" i="1"/>
            </a:pPr>
            <a:r>
              <a:t>Explanation: the Cash Value in a life</a:t>
            </a:r>
            <a:br/>
            <a:r>
              <a:t>insurance policy?</a:t>
            </a:r>
            <a:br/>
            <a:r>
              <a:t>x) e The initial premium paid by the policyowner</a:t>
            </a:r>
            <a:br/>
            <a:r>
              <a:t>The equity or savings element of whole life</a:t>
            </a:r>
            <a:br/>
            <a:r>
              <a:t>insurance policies</a:t>
            </a:r>
            <a:br/>
            <a:r>
              <a:t>The amount paid to the beneficiary</a:t>
            </a:r>
            <a:br/>
            <a:r>
              <a:t>The face v...</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63</a:t>
            </a:r>
          </a:p>
        </p:txBody>
      </p:sp>
      <p:sp>
        <p:nvSpPr>
          <p:cNvPr id="3" name="Content Placeholder 2"/>
          <p:cNvSpPr>
            <a:spLocks noGrp="1"/>
          </p:cNvSpPr>
          <p:nvPr>
            <p:ph idx="1"/>
          </p:nvPr>
        </p:nvSpPr>
        <p:spPr/>
        <p:txBody>
          <a:bodyPr/>
          <a:lstStyle/>
          <a:p>
            <a:r>
              <a:t>What is the tax implication for death</a:t>
            </a:r>
          </a:p>
          <a:p>
            <a:r>
              <a:t>benefit installments in life insurance?</a:t>
            </a:r>
          </a:p>
          <a:p>
            <a:r>
              <a:t>Entire amount is taxable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63</a:t>
            </a:r>
          </a:p>
        </p:txBody>
      </p:sp>
      <p:sp>
        <p:nvSpPr>
          <p:cNvPr id="3" name="Content Placeholder 2"/>
          <p:cNvSpPr>
            <a:spLocks noGrp="1"/>
          </p:cNvSpPr>
          <p:nvPr>
            <p:ph idx="1"/>
          </p:nvPr>
        </p:nvSpPr>
        <p:spPr/>
        <p:txBody>
          <a:bodyPr/>
          <a:lstStyle/>
          <a:p/>
          <a:p>
            <a:br/>
            <a:pPr>
              <a:defRPr sz="1400" i="1"/>
            </a:pPr>
            <a:r>
              <a:t>Explanation: the tax implication for death</a:t>
            </a:r>
            <a:br/>
            <a:r>
              <a:t>benefit installments in life insurance?</a:t>
            </a:r>
            <a:br/>
            <a:r>
              <a:t>Entire amount is taxable</a:t>
            </a:r>
            <a:br/>
            <a:r>
              <a:t>% For death benefit installments in life insurance,</a:t>
            </a:r>
            <a:br/>
            <a:r>
              <a:t>the interest component of the payments is taxable.</a:t>
            </a:r>
            <a:br/>
            <a:r>
              <a:t>Wh...</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64</a:t>
            </a:r>
          </a:p>
        </p:txBody>
      </p:sp>
      <p:sp>
        <p:nvSpPr>
          <p:cNvPr id="3" name="Content Placeholder 2"/>
          <p:cNvSpPr>
            <a:spLocks noGrp="1"/>
          </p:cNvSpPr>
          <p:nvPr>
            <p:ph idx="1"/>
          </p:nvPr>
        </p:nvSpPr>
        <p:spPr/>
        <p:txBody>
          <a:bodyPr/>
          <a:lstStyle/>
          <a:p>
            <a:r>
              <a:t>The Human Life Value Approach</a:t>
            </a:r>
          </a:p>
          <a:p>
            <a:r>
              <a:t>estimates the capitalized value of an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64</a:t>
            </a:r>
          </a:p>
        </p:txBody>
      </p:sp>
      <p:sp>
        <p:nvSpPr>
          <p:cNvPr id="3" name="Content Placeholder 2"/>
          <p:cNvSpPr>
            <a:spLocks noGrp="1"/>
          </p:cNvSpPr>
          <p:nvPr>
            <p:ph idx="1"/>
          </p:nvPr>
        </p:nvSpPr>
        <p:spPr/>
        <p:txBody>
          <a:bodyPr/>
          <a:lstStyle/>
          <a:p/>
          <a:p>
            <a:r>
              <a:t>☐ Question 1 Select the appropriate response The Human Life Value Approach estimates the capitalized value of an</a:t>
            </a:r>
          </a:p>
          <a:p>
            <a:pPr>
              <a:defRPr b="1"/>
            </a:pPr>
            <a:r>
              <a:t>✅ ndividual's future net</a:t>
            </a:r>
          </a:p>
          <a:p>
            <a:r>
              <a:t>☐ Earnings</a:t>
            </a:r>
          </a:p>
          <a:p>
            <a:r>
              <a:t>☐ Expenses</a:t>
            </a:r>
          </a:p>
          <a:p>
            <a:r>
              <a:t>☐ Assets</a:t>
            </a:r>
          </a:p>
          <a:p>
            <a:r>
              <a:t>☐ Debts</a:t>
            </a:r>
          </a:p>
          <a:p>
            <a:br/>
            <a:pPr>
              <a:defRPr sz="1400" i="1"/>
            </a:pPr>
            <a:r>
              <a:t>Explanation: The Human Life Value Approach estimates the</a:t>
            </a:r>
            <a:br/>
            <a:r>
              <a:t>capitalized value of an individual's future net</a:t>
            </a:r>
            <a:br/>
            <a:r>
              <a:t>earnings. This method calculates the economic value</a:t>
            </a:r>
            <a:br/>
            <a:r>
              <a:t>of an individual by projecting their future income and</a:t>
            </a:r>
            <a:br/>
            <a:r>
              <a:t>&amp;...</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65</a:t>
            </a:r>
          </a:p>
        </p:txBody>
      </p:sp>
      <p:sp>
        <p:nvSpPr>
          <p:cNvPr id="3" name="Content Placeholder 2"/>
          <p:cNvSpPr>
            <a:spLocks noGrp="1"/>
          </p:cNvSpPr>
          <p:nvPr>
            <p:ph idx="1"/>
          </p:nvPr>
        </p:nvSpPr>
        <p:spPr/>
        <p:txBody>
          <a:bodyPr/>
          <a:lstStyle/>
          <a:p>
            <a:r>
              <a:t>An Executive Bonus Plan provides a</a:t>
            </a:r>
          </a:p>
          <a:p>
            <a:r>
              <a:t>compensation bonus to an employee,</a:t>
            </a:r>
          </a:p>
          <a:p>
            <a:r>
              <a:t>who uses it to pay on a life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65</a:t>
            </a:r>
          </a:p>
        </p:txBody>
      </p:sp>
      <p:sp>
        <p:nvSpPr>
          <p:cNvPr id="3" name="Content Placeholder 2"/>
          <p:cNvSpPr>
            <a:spLocks noGrp="1"/>
          </p:cNvSpPr>
          <p:nvPr>
            <p:ph idx="1"/>
          </p:nvPr>
        </p:nvSpPr>
        <p:spPr/>
        <p:txBody>
          <a:bodyPr/>
          <a:lstStyle/>
          <a:p/>
          <a:p>
            <a:r>
              <a:t>☐ Question 2 Select the appropriate response An Executive Bonus Plan provides a compensation bonus to an employee, who uses it to pay on a life</a:t>
            </a:r>
          </a:p>
          <a:p>
            <a:r>
              <a:t>☐ nsurance policy. Claims</a:t>
            </a:r>
          </a:p>
          <a:p>
            <a:pPr>
              <a:defRPr b="1"/>
            </a:pPr>
            <a:r>
              <a:t>✅ Premiums Dividends Loans</a:t>
            </a:r>
          </a:p>
          <a:p>
            <a:br/>
            <a:pPr>
              <a:defRPr sz="1400" i="1"/>
            </a:pPr>
            <a:r>
              <a:t>Explanation: Loans</a:t>
            </a:r>
            <a:br/>
            <a:r>
              <a:t>Proceed =&gt;</a:t>
            </a:r>
            <a:br/>
            <a:r>
              <a:t>ds An Executive Bonus Plan provides a</a:t>
            </a:r>
            <a:br/>
            <a:r>
              <a:t>compensation bonus to an employee, who uses it to</a:t>
            </a:r>
            <a:br/>
            <a:r>
              <a:t>pay premiums on a life insurance policy. This bonus...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66</a:t>
            </a:r>
          </a:p>
        </p:txBody>
      </p:sp>
      <p:sp>
        <p:nvSpPr>
          <p:cNvPr id="3" name="Content Placeholder 2"/>
          <p:cNvSpPr>
            <a:spLocks noGrp="1"/>
          </p:cNvSpPr>
          <p:nvPr>
            <p:ph idx="1"/>
          </p:nvPr>
        </p:nvSpPr>
        <p:spPr/>
        <p:txBody>
          <a:bodyPr/>
          <a:lstStyle/>
          <a:p>
            <a:r>
              <a:t>Key employee insurance helps to</a:t>
            </a:r>
          </a:p>
          <a:p>
            <a:r>
              <a:t>mitigate the financial impact of the</a:t>
            </a:r>
          </a:p>
          <a:p>
            <a:r>
              <a:t>death of a key employee by providing</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66</a:t>
            </a:r>
          </a:p>
        </p:txBody>
      </p:sp>
      <p:sp>
        <p:nvSpPr>
          <p:cNvPr id="3" name="Content Placeholder 2"/>
          <p:cNvSpPr>
            <a:spLocks noGrp="1"/>
          </p:cNvSpPr>
          <p:nvPr>
            <p:ph idx="1"/>
          </p:nvPr>
        </p:nvSpPr>
        <p:spPr/>
        <p:txBody>
          <a:bodyPr/>
          <a:lstStyle/>
          <a:p/>
          <a:p>
            <a:r>
              <a:t>☐ 2:43 : Question 3 Select the appropriate response Key employee insurance helps to mitigate the financial impact of the death of a key employee by providing</a:t>
            </a:r>
          </a:p>
          <a:p>
            <a:pPr>
              <a:defRPr b="1"/>
            </a:pPr>
            <a:r>
              <a:t>✅ Financial stability Deferred bonuses Salary continuation Lower premiums</a:t>
            </a:r>
          </a:p>
          <a:p>
            <a:br/>
            <a:pPr>
              <a:defRPr sz="1400" i="1"/>
            </a:pPr>
            <a:r>
              <a:t>Explanation: Key employee insurance helps to mitigate the</a:t>
            </a:r>
            <a:br/>
            <a:r>
              <a:t>financial impact of the death of a key employee by</a:t>
            </a:r>
            <a:br/>
            <a:r>
              <a:t>providing financial stability. The proceeds from the</a:t>
            </a:r>
            <a:br/>
            <a:r>
              <a:t>% a ..rancelicense.myabsorb.com</a:t>
            </a:r>
            <a:br/>
            <a:r>
              <a:t>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67</a:t>
            </a:r>
          </a:p>
        </p:txBody>
      </p:sp>
      <p:sp>
        <p:nvSpPr>
          <p:cNvPr id="3" name="Content Placeholder 2"/>
          <p:cNvSpPr>
            <a:spLocks noGrp="1"/>
          </p:cNvSpPr>
          <p:nvPr>
            <p:ph idx="1"/>
          </p:nvPr>
        </p:nvSpPr>
        <p:spPr/>
        <p:txBody>
          <a:bodyPr/>
          <a:lstStyle/>
          <a:p>
            <a:r>
              <a:t>The Human Life Value Approach</a:t>
            </a:r>
          </a:p>
          <a:p>
            <a:r>
              <a:t>primarily calculates the economic</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67</a:t>
            </a:r>
          </a:p>
        </p:txBody>
      </p:sp>
      <p:sp>
        <p:nvSpPr>
          <p:cNvPr id="3" name="Content Placeholder 2"/>
          <p:cNvSpPr>
            <a:spLocks noGrp="1"/>
          </p:cNvSpPr>
          <p:nvPr>
            <p:ph idx="1"/>
          </p:nvPr>
        </p:nvSpPr>
        <p:spPr/>
        <p:txBody>
          <a:bodyPr/>
          <a:lstStyle/>
          <a:p/>
          <a:p>
            <a:r>
              <a:t>☐ Question 4 Select the appropriate response The Human Life Value Approach primarily calculates the economic</a:t>
            </a:r>
          </a:p>
          <a:p>
            <a:r>
              <a:t>☐ alue of which of the following?</a:t>
            </a:r>
          </a:p>
          <a:p>
            <a:r>
              <a:t>☐ Insurance premiums</a:t>
            </a:r>
          </a:p>
          <a:p>
            <a:r>
              <a:t>☐ Current assets</a:t>
            </a:r>
          </a:p>
          <a:p>
            <a:pPr>
              <a:defRPr b="1"/>
            </a:pPr>
            <a:r>
              <a:t>✅ Future earnings and contributions</a:t>
            </a:r>
          </a:p>
          <a:p>
            <a:r>
              <a:t>☐ Future expenses</a:t>
            </a:r>
          </a:p>
          <a:p>
            <a:br/>
            <a:pPr>
              <a:defRPr sz="1400" i="1"/>
            </a:pPr>
            <a:r>
              <a:t>Explanation: The Human Life Value Approach primarily</a:t>
            </a:r>
            <a:br/>
            <a:r>
              <a:t>calculates the economic value of future earnings and</a:t>
            </a:r>
            <a:br/>
            <a:r>
              <a:t>contributions. This method estimates the income that</a:t>
            </a:r>
            <a:br/>
            <a:r>
              <a:t>would be lost if the insured were to pass away,</a:t>
            </a:r>
            <a:br/>
            <a:r>
              <a:t>&amp; a .....</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68</a:t>
            </a:r>
          </a:p>
        </p:txBody>
      </p:sp>
      <p:sp>
        <p:nvSpPr>
          <p:cNvPr id="3" name="Content Placeholder 2"/>
          <p:cNvSpPr>
            <a:spLocks noGrp="1"/>
          </p:cNvSpPr>
          <p:nvPr>
            <p:ph idx="1"/>
          </p:nvPr>
        </p:nvSpPr>
        <p:spPr/>
        <p:txBody>
          <a:bodyPr/>
          <a:lstStyle/>
          <a:p>
            <a:r>
              <a:t>What is the primary purpose of key</a:t>
            </a:r>
          </a:p>
          <a:p>
            <a:r>
              <a:t>employee insurance?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68</a:t>
            </a:r>
          </a:p>
        </p:txBody>
      </p:sp>
      <p:sp>
        <p:nvSpPr>
          <p:cNvPr id="3" name="Content Placeholder 2"/>
          <p:cNvSpPr>
            <a:spLocks noGrp="1"/>
          </p:cNvSpPr>
          <p:nvPr>
            <p:ph idx="1"/>
          </p:nvPr>
        </p:nvSpPr>
        <p:spPr/>
        <p:txBody>
          <a:bodyPr/>
          <a:lstStyle/>
          <a:p/>
          <a:p>
            <a:r>
              <a:t>☐ 2:430 : Question 5 Select the appropriate response What is the primary purpose of key employee insurance?</a:t>
            </a:r>
          </a:p>
          <a:p>
            <a:pPr>
              <a:defRPr b="1"/>
            </a:pPr>
            <a:r>
              <a:t>✅ Enhancing executive bonuses</a:t>
            </a:r>
          </a:p>
          <a:p>
            <a:r>
              <a:t>☐ ffering deferred compensation Providing financial stability in the event of a</a:t>
            </a:r>
          </a:p>
          <a:p>
            <a:r>
              <a:t>☐ Funding a buy-sell agreement key employee's death</a:t>
            </a:r>
          </a:p>
          <a:p>
            <a:r>
              <a:t>☐ s providing financial stability in the event of a key employee's death. This insurance helps the company cope with the financial impact of losing a key &amp; a ..rancelicense.myabsorb.com (© &lt; &gt; + (21)</a:t>
            </a:r>
          </a:p>
          <a:p>
            <a:br/>
            <a:pPr>
              <a:defRPr sz="1400" i="1"/>
            </a:pPr>
            <a:r>
              <a:t>Explanation: the primary purpose of key</a:t>
            </a:r>
            <a:br/>
            <a:r>
              <a:t>employee insurance?</a:t>
            </a:r>
            <a:br/>
            <a:r>
              <a:t>x) Enhancing executive bonuses</a:t>
            </a:r>
            <a:br/>
            <a:r>
              <a:t>Offering deferred compensation</a:t>
            </a:r>
            <a:br/>
            <a:r>
              <a:t>Providing financial stability in the event of a</a:t>
            </a:r>
            <a:br/>
            <a:r>
              <a:t>x) Funding a buy-sell agreement</a:t>
            </a:r>
            <a:br/>
            <a:r>
              <a:t>key employe...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69</a:t>
            </a:r>
          </a:p>
        </p:txBody>
      </p:sp>
      <p:sp>
        <p:nvSpPr>
          <p:cNvPr id="3" name="Content Placeholder 2"/>
          <p:cNvSpPr>
            <a:spLocks noGrp="1"/>
          </p:cNvSpPr>
          <p:nvPr>
            <p:ph idx="1"/>
          </p:nvPr>
        </p:nvSpPr>
        <p:spPr/>
        <p:txBody>
          <a:bodyPr/>
          <a:lstStyle/>
          <a:p>
            <a:r>
              <a:t>A company needs to determine the life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69</a:t>
            </a:r>
          </a:p>
        </p:txBody>
      </p:sp>
      <p:sp>
        <p:nvSpPr>
          <p:cNvPr id="3" name="Content Placeholder 2"/>
          <p:cNvSpPr>
            <a:spLocks noGrp="1"/>
          </p:cNvSpPr>
          <p:nvPr>
            <p:ph idx="1"/>
          </p:nvPr>
        </p:nvSpPr>
        <p:spPr/>
        <p:txBody>
          <a:bodyPr/>
          <a:lstStyle/>
          <a:p/>
          <a:p>
            <a:r>
              <a:t>☐ nsurance amount to cover a key employee whose loss would significantly impact revenue. Which type of insurance is appropriate? @ «© Key Employee Life Insurance</a:t>
            </a:r>
          </a:p>
          <a:p>
            <a:pPr>
              <a:defRPr b="1"/>
            </a:pPr>
            <a:r>
              <a:t>✅ Executive Bonus Plan</a:t>
            </a:r>
          </a:p>
          <a:p>
            <a:r>
              <a:t>☐ ] Deferred Compensation Plan</a:t>
            </a:r>
          </a:p>
          <a:p>
            <a:r>
              <a:t>☐ Buy-Sell Agreement</a:t>
            </a:r>
          </a:p>
          <a:p>
            <a:br/>
            <a:pPr>
              <a:defRPr sz="1400" i="1"/>
            </a:pPr>
            <a:r>
              <a:t>Explanation: to determine the life</a:t>
            </a:r>
            <a:br/>
            <a:r>
              <a:t>insurance amount to cover a key</a:t>
            </a:r>
            <a:br/>
            <a:r>
              <a:t>employee whose loss would</a:t>
            </a:r>
            <a:br/>
            <a:r>
              <a:t>significantly impact revenue. Which</a:t>
            </a:r>
            <a:br/>
            <a:r>
              <a:t>type of insurance is appropriate?</a:t>
            </a:r>
            <a:br/>
            <a:r>
              <a:t>@ « Key Employee Life Insurance</a:t>
            </a:r>
            <a:br/>
            <a:r>
              <a:t>x) Executive Bonus...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70</a:t>
            </a:r>
          </a:p>
        </p:txBody>
      </p:sp>
      <p:sp>
        <p:nvSpPr>
          <p:cNvPr id="3" name="Content Placeholder 2"/>
          <p:cNvSpPr>
            <a:spLocks noGrp="1"/>
          </p:cNvSpPr>
          <p:nvPr>
            <p:ph idx="1"/>
          </p:nvPr>
        </p:nvSpPr>
        <p:spPr/>
        <p:txBody>
          <a:bodyPr/>
          <a:lstStyle/>
          <a:p>
            <a:r>
              <a:t>The is a method for</a:t>
            </a:r>
          </a:p>
          <a:p>
            <a:r>
              <a:t>determining life insurance coverage by</a:t>
            </a:r>
          </a:p>
          <a:p>
            <a:r>
              <a:t>analyzing a family's or business's</a:t>
            </a:r>
          </a:p>
          <a:p>
            <a:r>
              <a:t>needs and objectives in the event of</a:t>
            </a:r>
          </a:p>
          <a:p>
            <a:r>
              <a:t>the insured's death, disability, or</a:t>
            </a:r>
          </a:p>
          <a:p>
            <a:r>
              <a:t>retirement.</a:t>
            </a:r>
          </a:p>
          <a:p>
            <a:r>
              <a:t>Human Life Value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70</a:t>
            </a:r>
          </a:p>
        </p:txBody>
      </p:sp>
      <p:sp>
        <p:nvSpPr>
          <p:cNvPr id="3" name="Content Placeholder 2"/>
          <p:cNvSpPr>
            <a:spLocks noGrp="1"/>
          </p:cNvSpPr>
          <p:nvPr>
            <p:ph idx="1"/>
          </p:nvPr>
        </p:nvSpPr>
        <p:spPr/>
        <p:txBody>
          <a:bodyPr/>
          <a:lstStyle/>
          <a:p/>
          <a:p>
            <a:br/>
            <a:pPr>
              <a:defRPr sz="1400" i="1"/>
            </a:pPr>
            <a:r>
              <a:t>Explanation: a method for</a:t>
            </a:r>
            <a:br/>
            <a:r>
              <a:t>determining life insurance coverage by</a:t>
            </a:r>
            <a:br/>
            <a:r>
              <a:t>analyzing a family's or business's</a:t>
            </a:r>
            <a:br/>
            <a:r>
              <a:t>needs and objectives in the event of</a:t>
            </a:r>
            <a:br/>
            <a:r>
              <a:t>the insured's death, disability, or</a:t>
            </a:r>
            <a:br/>
            <a:r>
              <a:t>retirement.</a:t>
            </a:r>
            <a:br/>
            <a:r>
              <a:t>Human Life Value</a:t>
            </a:r>
            <a:br/>
            <a:r>
              <a:t>Proceed =</a:t>
            </a:r>
            <a:br/>
            <a:r>
              <a:t>A...</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71</a:t>
            </a:r>
          </a:p>
        </p:txBody>
      </p:sp>
      <p:sp>
        <p:nvSpPr>
          <p:cNvPr id="3" name="Content Placeholder 2"/>
          <p:cNvSpPr>
            <a:spLocks noGrp="1"/>
          </p:cNvSpPr>
          <p:nvPr>
            <p:ph idx="1"/>
          </p:nvPr>
        </p:nvSpPr>
        <p:spPr/>
        <p:txBody>
          <a:bodyPr/>
          <a:lstStyle/>
          <a:p>
            <a:r>
              <a:t>How often should a life insurance plan</a:t>
            </a:r>
          </a:p>
          <a:p>
            <a:r>
              <a:t>be reviewed and adjusted?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71</a:t>
            </a:r>
          </a:p>
        </p:txBody>
      </p:sp>
      <p:sp>
        <p:nvSpPr>
          <p:cNvPr id="3" name="Content Placeholder 2"/>
          <p:cNvSpPr>
            <a:spLocks noGrp="1"/>
          </p:cNvSpPr>
          <p:nvPr>
            <p:ph idx="1"/>
          </p:nvPr>
        </p:nvSpPr>
        <p:spPr/>
        <p:txBody>
          <a:bodyPr/>
          <a:lstStyle/>
          <a:p/>
          <a:p>
            <a:r>
              <a:t>☐ Every five years</a:t>
            </a:r>
          </a:p>
          <a:p>
            <a:r>
              <a:t>☐ Never</a:t>
            </a:r>
          </a:p>
          <a:p>
            <a:pPr>
              <a:defRPr b="1"/>
            </a:pPr>
            <a:r>
              <a:t>✅ Only when there's a major life event</a:t>
            </a:r>
          </a:p>
          <a:p>
            <a:r>
              <a:t>☐ Periodically</a:t>
            </a:r>
          </a:p>
          <a:p>
            <a:br/>
            <a:pPr>
              <a:defRPr sz="1400" i="1"/>
            </a:pPr>
            <a:r>
              <a:t>Explanation: Alife insurance plan should be reviewed and</a:t>
            </a:r>
            <a:br/>
            <a:r>
              <a:t>adjusted periodically. Regular reviews ensure that</a:t>
            </a:r>
            <a:br/>
            <a:r>
              <a:t>the coverage remains adequate as circumstances</a:t>
            </a:r>
            <a:br/>
            <a:r>
              <a:t>change. This is more proactive than reviewing every</a:t>
            </a:r>
            <a:br/>
            <a:r>
              <a:t>five 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72</a:t>
            </a:r>
          </a:p>
        </p:txBody>
      </p:sp>
      <p:sp>
        <p:nvSpPr>
          <p:cNvPr id="3" name="Content Placeholder 2"/>
          <p:cNvSpPr>
            <a:spLocks noGrp="1"/>
          </p:cNvSpPr>
          <p:nvPr>
            <p:ph idx="1"/>
          </p:nvPr>
        </p:nvSpPr>
        <p:spPr/>
        <p:txBody>
          <a:bodyPr/>
          <a:lstStyle/>
          <a:p>
            <a:r>
              <a:t>Which approach does not account for</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72</a:t>
            </a:r>
          </a:p>
        </p:txBody>
      </p:sp>
      <p:sp>
        <p:nvSpPr>
          <p:cNvPr id="3" name="Content Placeholder 2"/>
          <p:cNvSpPr>
            <a:spLocks noGrp="1"/>
          </p:cNvSpPr>
          <p:nvPr>
            <p:ph idx="1"/>
          </p:nvPr>
        </p:nvSpPr>
        <p:spPr/>
        <p:txBody>
          <a:bodyPr/>
          <a:lstStyle/>
          <a:p/>
          <a:p>
            <a:r>
              <a:t>☐ Question 9 Select the appropriate response Which approach does not account for</a:t>
            </a:r>
          </a:p>
          <a:p>
            <a:r>
              <a:t>☐ ndividuals who benefit financially from the insured's continued life?</a:t>
            </a:r>
          </a:p>
          <a:p>
            <a:r>
              <a:t>☐ Single Needs Method</a:t>
            </a:r>
          </a:p>
          <a:p>
            <a:pPr>
              <a:defRPr b="1"/>
            </a:pPr>
            <a:r>
              <a:t>✅ Human Life Value Approach</a:t>
            </a:r>
          </a:p>
          <a:p>
            <a:r>
              <a:t>☐ Multiple Earnings Method</a:t>
            </a:r>
          </a:p>
          <a:p>
            <a:r>
              <a:t>☐ Needs Approach</a:t>
            </a:r>
          </a:p>
          <a:p>
            <a:br/>
            <a:pPr>
              <a:defRPr sz="1400" i="1"/>
            </a:pPr>
            <a:r>
              <a:t>Explanation: Method</a:t>
            </a:r>
            <a:br/>
            <a:r>
              <a:t>g Human Life Value Approach</a:t>
            </a:r>
            <a:br/>
            <a:r>
              <a:t>x) Multiple Earnings Method</a:t>
            </a:r>
            <a:br/>
            <a:r>
              <a:t>x) Needs Approach</a:t>
            </a:r>
            <a:br/>
            <a:r>
              <a:t>Proceed =</a:t>
            </a:r>
            <a:br/>
            <a:r>
              <a:t>ds The Human Life Value Approach does not</a:t>
            </a:r>
            <a:br/>
            <a:r>
              <a:t>specifically account for individuals who benefit</a:t>
            </a:r>
            <a:br/>
            <a:r>
              <a:t>financially from 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73</a:t>
            </a:r>
          </a:p>
        </p:txBody>
      </p:sp>
      <p:sp>
        <p:nvSpPr>
          <p:cNvPr id="3" name="Content Placeholder 2"/>
          <p:cNvSpPr>
            <a:spLocks noGrp="1"/>
          </p:cNvSpPr>
          <p:nvPr>
            <p:ph idx="1"/>
          </p:nvPr>
        </p:nvSpPr>
        <p:spPr/>
        <p:txBody>
          <a:bodyPr/>
          <a:lstStyle/>
          <a:p>
            <a:r>
              <a:t>What is the "blackout period" in the</a:t>
            </a:r>
          </a:p>
          <a:p>
            <a:r>
              <a:t>context of life insurance?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73</a:t>
            </a:r>
          </a:p>
        </p:txBody>
      </p:sp>
      <p:sp>
        <p:nvSpPr>
          <p:cNvPr id="3" name="Content Placeholder 2"/>
          <p:cNvSpPr>
            <a:spLocks noGrp="1"/>
          </p:cNvSpPr>
          <p:nvPr>
            <p:ph idx="1"/>
          </p:nvPr>
        </p:nvSpPr>
        <p:spPr/>
        <p:txBody>
          <a:bodyPr/>
          <a:lstStyle/>
          <a:p/>
          <a:p>
            <a:r>
              <a:t>☐ 2:450 : Question 10 Select the appropriate response What is the "blackout period" in the context of life insurance?</a:t>
            </a:r>
          </a:p>
          <a:p>
            <a:pPr>
              <a:defRPr b="1"/>
            </a:pPr>
            <a:r>
              <a:t>✅ The duration of policy underwriting</a:t>
            </a:r>
          </a:p>
          <a:p>
            <a:r>
              <a:t>☐ The period from the insured's death until the surviving spouse is eligible for retirement benefits</a:t>
            </a:r>
          </a:p>
          <a:p>
            <a:r>
              <a:t>☐ The time when no premiums are due %) The time before the policy becomes active</a:t>
            </a:r>
          </a:p>
          <a:p>
            <a:r>
              <a:t>☐ nsured's death until the surviving spouse is eligible for retirement benefits. During this time, Social &amp; a ..rancelicense.myabsorb.com (© &lt; &gt; + (21)</a:t>
            </a:r>
          </a:p>
          <a:p>
            <a:br/>
            <a:pPr>
              <a:defRPr sz="1400" i="1"/>
            </a:pPr>
            <a:r>
              <a:t>Explanation: the "blackout period" in the</a:t>
            </a:r>
            <a:br/>
            <a:r>
              <a:t>context of life insurance?</a:t>
            </a:r>
            <a:br/>
            <a:r>
              <a:t>x) The duration of policy underwriting</a:t>
            </a:r>
            <a:br/>
            <a:r>
              <a:t>g The period from the insured's death until the</a:t>
            </a:r>
            <a:br/>
            <a:r>
              <a:t>surviving spouse is eligible for retirement</a:t>
            </a:r>
            <a:br/>
            <a:r>
              <a:t>benefits</a:t>
            </a:r>
            <a:br/>
            <a:r>
              <a:t>x) 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74</a:t>
            </a:r>
          </a:p>
        </p:txBody>
      </p:sp>
      <p:sp>
        <p:nvSpPr>
          <p:cNvPr id="3" name="Content Placeholder 2"/>
          <p:cNvSpPr>
            <a:spLocks noGrp="1"/>
          </p:cNvSpPr>
          <p:nvPr>
            <p:ph idx="1"/>
          </p:nvPr>
        </p:nvSpPr>
        <p:spPr/>
        <p:txBody>
          <a:bodyPr/>
          <a:lstStyle/>
          <a:p>
            <a:r>
              <a:t>Which of the following is a purpose of</a:t>
            </a:r>
          </a:p>
          <a:p>
            <a:r>
              <a:t>the Human Life Value Approach?</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74</a:t>
            </a:r>
          </a:p>
        </p:txBody>
      </p:sp>
      <p:sp>
        <p:nvSpPr>
          <p:cNvPr id="3" name="Content Placeholder 2"/>
          <p:cNvSpPr>
            <a:spLocks noGrp="1"/>
          </p:cNvSpPr>
          <p:nvPr>
            <p:ph idx="1"/>
          </p:nvPr>
        </p:nvSpPr>
        <p:spPr/>
        <p:txBody>
          <a:bodyPr/>
          <a:lstStyle/>
          <a:p/>
          <a:p>
            <a:r>
              <a:t>☐ 2:46 : Question 11 Select the appropriate response Which of the following is a purpose of the Human Life Value Approach?</a:t>
            </a:r>
          </a:p>
          <a:p>
            <a:r>
              <a:t>☐ Replacing lost income to protect dependents</a:t>
            </a:r>
          </a:p>
          <a:p>
            <a:pPr>
              <a:defRPr b="1"/>
            </a:pPr>
            <a:r>
              <a:t>✅ Protecting the estate from taxes</a:t>
            </a:r>
          </a:p>
          <a:p>
            <a:r>
              <a:t>☐ Funding a buy-sell agreement Calculating postmortem costs</a:t>
            </a:r>
          </a:p>
          <a:p>
            <a:r>
              <a:t>☐ alue of the insured's future earnings to ensure that &amp; a ..rancelicense.myabsorb.com (© &lt; &gt; + (21)</a:t>
            </a:r>
          </a:p>
          <a:p>
            <a:br/>
            <a:pPr>
              <a:defRPr sz="1400" i="1"/>
            </a:pPr>
            <a:r>
              <a:t>Explanation: a purpose of</a:t>
            </a:r>
            <a:br/>
            <a:r>
              <a:t>the Human Life Value Approach?</a:t>
            </a:r>
            <a:br/>
            <a:r>
              <a:t>iv) Replacing lost income to protect</a:t>
            </a:r>
            <a:br/>
            <a:r>
              <a:t>dependents</a:t>
            </a:r>
            <a:br/>
            <a:r>
              <a:t>x) Protecting the estate from taxes</a:t>
            </a:r>
            <a:br/>
            <a:r>
              <a:t>x) Funding a buy-sell agreement</a:t>
            </a:r>
            <a:br/>
            <a:r>
              <a:t>Calculating postmortem costs</a:t>
            </a:r>
            <a:br/>
            <a:r>
              <a:t>Proceed and...</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75</a:t>
            </a:r>
          </a:p>
        </p:txBody>
      </p:sp>
      <p:sp>
        <p:nvSpPr>
          <p:cNvPr id="3" name="Content Placeholder 2"/>
          <p:cNvSpPr>
            <a:spLocks noGrp="1"/>
          </p:cNvSpPr>
          <p:nvPr>
            <p:ph idx="1"/>
          </p:nvPr>
        </p:nvSpPr>
        <p:spPr/>
        <p:txBody>
          <a:bodyPr/>
          <a:lstStyle/>
          <a:p>
            <a:r>
              <a:t>What type of plan is fully funded by the</a:t>
            </a:r>
          </a:p>
          <a:p>
            <a:r>
              <a:t>employer and ensures income</a:t>
            </a:r>
          </a:p>
          <a:p>
            <a:r>
              <a:t>payments upon death, disability, or</a:t>
            </a:r>
          </a:p>
          <a:p>
            <a:r>
              <a:t>retirement?</a:t>
            </a:r>
          </a:p>
          <a:p>
            <a:r>
              <a:t>Deferred Compensation Plan</a:t>
            </a:r>
          </a:p>
          <a:p>
            <a:r>
              <a:t>Executive Bonus Plan</a:t>
            </a:r>
          </a:p>
          <a:p>
            <a:r>
              <a:t>Split-Dollar Plan</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75</a:t>
            </a:r>
          </a:p>
        </p:txBody>
      </p:sp>
      <p:sp>
        <p:nvSpPr>
          <p:cNvPr id="3" name="Content Placeholder 2"/>
          <p:cNvSpPr>
            <a:spLocks noGrp="1"/>
          </p:cNvSpPr>
          <p:nvPr>
            <p:ph idx="1"/>
          </p:nvPr>
        </p:nvSpPr>
        <p:spPr/>
        <p:txBody>
          <a:bodyPr/>
          <a:lstStyle/>
          <a:p/>
          <a:p>
            <a:r>
              <a:t>☐ Question 12 Select the appropriate response What type of plan is fully funded by the employer and ensures income payments upon death, disability, or retirement? Deferred Compensation Plan Executive Bonus Plan Split-Dollar Plan</a:t>
            </a:r>
          </a:p>
          <a:p>
            <a:pPr>
              <a:defRPr b="1"/>
            </a:pPr>
            <a:r>
              <a:t>✅ Salary Continuation Plan</a:t>
            </a:r>
          </a:p>
          <a:p>
            <a:br/>
            <a:pPr>
              <a:defRPr sz="1400" i="1"/>
            </a:pPr>
            <a:r>
              <a:t>Explanation: fully funded by the</a:t>
            </a:r>
            <a:br/>
            <a:r>
              <a:t>employer and ensures income</a:t>
            </a:r>
            <a:br/>
            <a:r>
              <a:t>payments upon death, disability, or</a:t>
            </a:r>
            <a:br/>
            <a:r>
              <a:t>retirement?</a:t>
            </a:r>
            <a:br/>
            <a:r>
              <a:t>Deferred Compensation Plan</a:t>
            </a:r>
            <a:br/>
            <a:r>
              <a:t>Executive Bonus Plan</a:t>
            </a:r>
            <a:br/>
            <a:r>
              <a:t>Split-Dollar Plan</a:t>
            </a:r>
            <a:br/>
            <a:r>
              <a:t>g Salary Continuation Plan</a:t>
            </a:r>
            <a:br/>
            <a:r>
              <a:t>Proceed =&gt;</a:t>
            </a:r>
            <a:br/>
            <a:r>
              <a: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76</a:t>
            </a:r>
          </a:p>
        </p:txBody>
      </p:sp>
      <p:sp>
        <p:nvSpPr>
          <p:cNvPr id="3" name="Content Placeholder 2"/>
          <p:cNvSpPr>
            <a:spLocks noGrp="1"/>
          </p:cNvSpPr>
          <p:nvPr>
            <p:ph idx="1"/>
          </p:nvPr>
        </p:nvSpPr>
        <p:spPr/>
        <p:txBody>
          <a:bodyPr/>
          <a:lstStyle/>
          <a:p>
            <a:r>
              <a:t>What is the primary goal of a buy-sell</a:t>
            </a:r>
          </a:p>
          <a:p>
            <a:r>
              <a:t>agreement?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76</a:t>
            </a:r>
          </a:p>
        </p:txBody>
      </p:sp>
      <p:sp>
        <p:nvSpPr>
          <p:cNvPr id="3" name="Content Placeholder 2"/>
          <p:cNvSpPr>
            <a:spLocks noGrp="1"/>
          </p:cNvSpPr>
          <p:nvPr>
            <p:ph idx="1"/>
          </p:nvPr>
        </p:nvSpPr>
        <p:spPr/>
        <p:txBody>
          <a:bodyPr/>
          <a:lstStyle/>
          <a:p/>
          <a:p>
            <a:pPr>
              <a:defRPr b="1"/>
            </a:pPr>
            <a:r>
              <a:t>✅ To fund an executive bonus plan</a:t>
            </a:r>
          </a:p>
          <a:p>
            <a:r>
              <a:t>☐ To ensure business continuity and provide financial security to the deceased partner's family</a:t>
            </a:r>
          </a:p>
          <a:p>
            <a:r>
              <a:t>☐ s) To avoid estate taxes</a:t>
            </a:r>
          </a:p>
          <a:p>
            <a:r>
              <a:t>☐ To reduce insurance premiums</a:t>
            </a:r>
          </a:p>
          <a:p>
            <a:br/>
            <a:pPr>
              <a:defRPr sz="1400" i="1"/>
            </a:pPr>
            <a:r>
              <a:t>Explanation: the primary goal of a buy-sell</a:t>
            </a:r>
            <a:br/>
            <a:r>
              <a:t>agreement?</a:t>
            </a:r>
            <a:br/>
            <a:r>
              <a:t>x) To fund an executive bonus plan</a:t>
            </a:r>
            <a:br/>
            <a:r>
              <a:t>g To ensure business continuity and provide</a:t>
            </a:r>
            <a:br/>
            <a:r>
              <a:t>financial security to the deceased partner's</a:t>
            </a:r>
            <a:br/>
            <a:r>
              <a:t>family</a:t>
            </a:r>
            <a:br/>
            <a:r>
              <a:t>is) To avoid estate taxes</a:t>
            </a:r>
            <a:br/>
            <a:r>
              <a:t>x...</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77</a:t>
            </a:r>
          </a:p>
        </p:txBody>
      </p:sp>
      <p:sp>
        <p:nvSpPr>
          <p:cNvPr id="3" name="Content Placeholder 2"/>
          <p:cNvSpPr>
            <a:spLocks noGrp="1"/>
          </p:cNvSpPr>
          <p:nvPr>
            <p:ph idx="1"/>
          </p:nvPr>
        </p:nvSpPr>
        <p:spPr/>
        <p:txBody>
          <a:bodyPr/>
          <a:lstStyle/>
          <a:p>
            <a:r>
              <a:t>Which of the following is a type of buy-</a:t>
            </a:r>
          </a:p>
          <a:p>
            <a:r>
              <a:t>sell agreement?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77</a:t>
            </a:r>
          </a:p>
        </p:txBody>
      </p:sp>
      <p:sp>
        <p:nvSpPr>
          <p:cNvPr id="3" name="Content Placeholder 2"/>
          <p:cNvSpPr>
            <a:spLocks noGrp="1"/>
          </p:cNvSpPr>
          <p:nvPr>
            <p:ph idx="1"/>
          </p:nvPr>
        </p:nvSpPr>
        <p:spPr/>
        <p:txBody>
          <a:bodyPr/>
          <a:lstStyle/>
          <a:p/>
          <a:p>
            <a:pPr>
              <a:defRPr b="1"/>
            </a:pPr>
            <a:r>
              <a:t>✅ Executive Bonus Plan</a:t>
            </a:r>
          </a:p>
          <a:p>
            <a:r>
              <a:t>☐ Entity Purchase Agreement</a:t>
            </a:r>
          </a:p>
          <a:p>
            <a:r>
              <a:t>☐ Deferred Compensation Plan %) Split-Dollar Plan</a:t>
            </a:r>
          </a:p>
          <a:p>
            <a:br/>
            <a:pPr>
              <a:defRPr sz="1400" i="1"/>
            </a:pPr>
            <a:r>
              <a:t>Explanation: a type of buy-</a:t>
            </a:r>
            <a:br/>
            <a:r>
              <a:t>sell agreement?</a:t>
            </a:r>
            <a:br/>
            <a:r>
              <a:t>x) Executive Bonus Plan</a:t>
            </a:r>
            <a:br/>
            <a:r>
              <a:t>g Entity Purchase Agreement</a:t>
            </a:r>
            <a:br/>
            <a:r>
              <a:t>x) Deferred Compensation Plan</a:t>
            </a:r>
            <a:br/>
            <a:r>
              <a:t>%) Split-Dollar Plan</a:t>
            </a:r>
            <a:br/>
            <a:r>
              <a:t>Proceed —_</a:t>
            </a:r>
            <a:br/>
            <a:r>
              <a:t>ds An Entity Purchase Agreement is a type of buy-</a:t>
            </a:r>
            <a:br/>
            <a:r>
              <a:t>sell ...</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78</a:t>
            </a:r>
          </a:p>
        </p:txBody>
      </p:sp>
      <p:sp>
        <p:nvSpPr>
          <p:cNvPr id="3" name="Content Placeholder 2"/>
          <p:cNvSpPr>
            <a:spLocks noGrp="1"/>
          </p:cNvSpPr>
          <p:nvPr>
            <p:ph idx="1"/>
          </p:nvPr>
        </p:nvSpPr>
        <p:spPr/>
        <p:txBody>
          <a:bodyPr/>
          <a:lstStyle/>
          <a:p>
            <a:r>
              <a:t>A client wants to ensure that their</a:t>
            </a:r>
          </a:p>
          <a:p>
            <a:r>
              <a:t>children's education is funded if they</a:t>
            </a:r>
          </a:p>
          <a:p>
            <a:r>
              <a:t>pass away. Which approach should</a:t>
            </a:r>
          </a:p>
          <a:p>
            <a:r>
              <a:t>the insurance producer consider to</a:t>
            </a:r>
          </a:p>
          <a:p>
            <a:r>
              <a:t>determine the necessary coverage?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78</a:t>
            </a:r>
          </a:p>
        </p:txBody>
      </p:sp>
      <p:sp>
        <p:nvSpPr>
          <p:cNvPr id="3" name="Content Placeholder 2"/>
          <p:cNvSpPr>
            <a:spLocks noGrp="1"/>
          </p:cNvSpPr>
          <p:nvPr>
            <p:ph idx="1"/>
          </p:nvPr>
        </p:nvSpPr>
        <p:spPr/>
        <p:txBody>
          <a:bodyPr/>
          <a:lstStyle/>
          <a:p/>
          <a:p>
            <a:pPr>
              <a:defRPr b="1"/>
            </a:pPr>
            <a:r>
              <a:t>✅ Single Needs Method</a:t>
            </a:r>
          </a:p>
          <a:p>
            <a:r>
              <a:t>☐ Needs Approach</a:t>
            </a:r>
          </a:p>
          <a:p>
            <a:r>
              <a:t>☐ Multiple Earnings Method</a:t>
            </a:r>
          </a:p>
          <a:p>
            <a:r>
              <a:t>☐ Human Life Value Approach</a:t>
            </a:r>
          </a:p>
          <a:p>
            <a:br/>
            <a:pPr>
              <a:defRPr sz="1400" i="1"/>
            </a:pPr>
            <a:r>
              <a:t>Explanation: funded if they</a:t>
            </a:r>
            <a:br/>
            <a:r>
              <a:t>pass away. Which approach should</a:t>
            </a:r>
            <a:br/>
            <a:r>
              <a:t>the insurance producer consider to</a:t>
            </a:r>
            <a:br/>
            <a:r>
              <a:t>determine the necessary coverage?</a:t>
            </a:r>
            <a:br/>
            <a:r>
              <a:t>x) Single Needs Method</a:t>
            </a:r>
            <a:br/>
            <a:r>
              <a:t>g Needs Approach</a:t>
            </a:r>
            <a:br/>
            <a:r>
              <a:t>x) Multiple Earnings Method</a:t>
            </a:r>
            <a:br/>
            <a:r>
              <a:t>x) Human Life V...</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79</a:t>
            </a:r>
          </a:p>
        </p:txBody>
      </p:sp>
      <p:sp>
        <p:nvSpPr>
          <p:cNvPr id="3" name="Content Placeholder 2"/>
          <p:cNvSpPr>
            <a:spLocks noGrp="1"/>
          </p:cNvSpPr>
          <p:nvPr>
            <p:ph idx="1"/>
          </p:nvPr>
        </p:nvSpPr>
        <p:spPr/>
        <p:txBody>
          <a:bodyPr/>
          <a:lstStyle/>
          <a:p>
            <a:r>
              <a:t>How are contributions to non-qualified</a:t>
            </a:r>
          </a:p>
          <a:p>
            <a:r>
              <a:t>annuities taxed?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79</a:t>
            </a:r>
          </a:p>
        </p:txBody>
      </p:sp>
      <p:sp>
        <p:nvSpPr>
          <p:cNvPr id="3" name="Content Placeholder 2"/>
          <p:cNvSpPr>
            <a:spLocks noGrp="1"/>
          </p:cNvSpPr>
          <p:nvPr>
            <p:ph idx="1"/>
          </p:nvPr>
        </p:nvSpPr>
        <p:spPr/>
        <p:txBody>
          <a:bodyPr/>
          <a:lstStyle/>
          <a:p/>
          <a:p>
            <a:r>
              <a:t>☐ They are taxed as ordinary income</a:t>
            </a:r>
          </a:p>
          <a:p>
            <a:pPr>
              <a:defRPr b="1"/>
            </a:pPr>
            <a:r>
              <a:t>✅ They are made with after-tax dollars</a:t>
            </a:r>
          </a:p>
          <a:p>
            <a:r>
              <a:t>☐ © They are tax-free &amp; They are tax-deductible</a:t>
            </a:r>
          </a:p>
          <a:p>
            <a:br/>
            <a:pPr>
              <a:defRPr sz="1400" i="1"/>
            </a:pPr>
            <a:r>
              <a:t>Explanation: means that the</a:t>
            </a:r>
            <a:br/>
            <a:r>
              <a:t>money used to fund the annuity has already been</a:t>
            </a:r>
            <a:br/>
            <a:r>
              <a:t>taxed. Unlike tax-deductible contributions or those</a:t>
            </a:r>
            <a:br/>
            <a:r>
              <a:t>made tax-free, the growth within the annuity is tax-</a:t>
            </a:r>
            <a:br/>
            <a:r>
              <a:t>l&lt; A &gt;|</a:t>
            </a:r>
            <a:br/>
            <a:r>
              <a:t>&amp; a ..rancelicense.myabs...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80</a:t>
            </a:r>
          </a:p>
        </p:txBody>
      </p:sp>
      <p:sp>
        <p:nvSpPr>
          <p:cNvPr id="3" name="Content Placeholder 2"/>
          <p:cNvSpPr>
            <a:spLocks noGrp="1"/>
          </p:cNvSpPr>
          <p:nvPr>
            <p:ph idx="1"/>
          </p:nvPr>
        </p:nvSpPr>
        <p:spPr/>
        <p:txBody>
          <a:bodyPr/>
          <a:lstStyle/>
          <a:p>
            <a:r>
              <a:t>Who assumes the investment risk ina</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80</a:t>
            </a:r>
          </a:p>
        </p:txBody>
      </p:sp>
      <p:sp>
        <p:nvSpPr>
          <p:cNvPr id="3" name="Content Placeholder 2"/>
          <p:cNvSpPr>
            <a:spLocks noGrp="1"/>
          </p:cNvSpPr>
          <p:nvPr>
            <p:ph idx="1"/>
          </p:nvPr>
        </p:nvSpPr>
        <p:spPr/>
        <p:txBody>
          <a:bodyPr/>
          <a:lstStyle/>
          <a:p/>
          <a:p>
            <a:r>
              <a:t>☐ Question 2 Select the appropriate response Who assumes the investment risk ina</a:t>
            </a:r>
          </a:p>
          <a:p>
            <a:pPr>
              <a:defRPr b="1"/>
            </a:pPr>
            <a:r>
              <a:t>✅ ariable annuity?</a:t>
            </a:r>
          </a:p>
          <a:p>
            <a:r>
              <a:t>☐ The state insurance department</a:t>
            </a:r>
          </a:p>
          <a:p>
            <a:r>
              <a:t>☐ The contract owner</a:t>
            </a:r>
          </a:p>
          <a:p>
            <a:r>
              <a:t>☐ The beneficiary The insurer</a:t>
            </a:r>
          </a:p>
          <a:p>
            <a:r>
              <a:t>☐ alue of the annuity and the income it generates can fluctuate based on the performance of the underlying</a:t>
            </a:r>
          </a:p>
          <a:p>
            <a:r>
              <a:t>☐ nvestments. This contrasts with the insurer, who &amp; a ..rancelicense.myabsorb.com (© &lt; &gt; + (21)</a:t>
            </a:r>
          </a:p>
          <a:p>
            <a:br/>
            <a:pPr>
              <a:defRPr sz="1400" i="1"/>
            </a:pPr>
            <a:r>
              <a:t>Explanation: means that the</a:t>
            </a:r>
            <a:br/>
            <a:r>
              <a:t>value of the annuity and the income it generates can</a:t>
            </a:r>
            <a:br/>
            <a:r>
              <a:t>fluctuate based on the performance of the underlying</a:t>
            </a:r>
            <a:br/>
            <a:r>
              <a:t>investments. This contrasts with the insurer, who</a:t>
            </a:r>
            <a:br/>
            <a:r>
              <a:t>&amp; a ..rancelicense.myabsorb.c...</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81</a:t>
            </a:r>
          </a:p>
        </p:txBody>
      </p:sp>
      <p:sp>
        <p:nvSpPr>
          <p:cNvPr id="3" name="Content Placeholder 2"/>
          <p:cNvSpPr>
            <a:spLocks noGrp="1"/>
          </p:cNvSpPr>
          <p:nvPr>
            <p:ph idx="1"/>
          </p:nvPr>
        </p:nvSpPr>
        <p:spPr/>
        <p:txBody>
          <a:bodyPr/>
          <a:lstStyle/>
          <a:p>
            <a:r>
              <a:t>The ratio is used to</a:t>
            </a:r>
          </a:p>
          <a:p>
            <a:r>
              <a:t>determine the taxable portion of each</a:t>
            </a:r>
          </a:p>
          <a:p>
            <a:r>
              <a:t>annuity payment.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81</a:t>
            </a:r>
          </a:p>
        </p:txBody>
      </p:sp>
      <p:sp>
        <p:nvSpPr>
          <p:cNvPr id="3" name="Content Placeholder 2"/>
          <p:cNvSpPr>
            <a:spLocks noGrp="1"/>
          </p:cNvSpPr>
          <p:nvPr>
            <p:ph idx="1"/>
          </p:nvPr>
        </p:nvSpPr>
        <p:spPr/>
        <p:txBody>
          <a:bodyPr/>
          <a:lstStyle/>
          <a:p/>
          <a:p>
            <a:pPr>
              <a:defRPr b="1"/>
            </a:pPr>
            <a:r>
              <a:t>✅ Participation</a:t>
            </a:r>
          </a:p>
          <a:p>
            <a:r>
              <a:t>☐ Exclusion</a:t>
            </a:r>
          </a:p>
          <a:p>
            <a:r>
              <a:t>☐ Distribution</a:t>
            </a:r>
          </a:p>
          <a:p>
            <a:r>
              <a:t>☐ Inclusion</a:t>
            </a:r>
          </a:p>
          <a:p>
            <a:br/>
            <a:pPr>
              <a:defRPr sz="1400" i="1"/>
            </a:pPr>
            <a:r>
              <a:t>Explanation: used to</a:t>
            </a:r>
            <a:br/>
            <a:r>
              <a:t>determine the taxable portion of each</a:t>
            </a:r>
            <a:br/>
            <a:r>
              <a:t>annuity payment.</a:t>
            </a:r>
            <a:br/>
            <a:r>
              <a:t>x) Participation</a:t>
            </a:r>
            <a:br/>
            <a:r>
              <a:t>g Exclusion</a:t>
            </a:r>
            <a:br/>
            <a:r>
              <a:t>x) Distribution</a:t>
            </a:r>
            <a:br/>
            <a:r>
              <a:t>x) Inclusion</a:t>
            </a:r>
            <a:br/>
            <a:r>
              <a:t>ds The exclusion ratio is used to determine the</a:t>
            </a:r>
            <a:br/>
            <a:r>
              <a:t>taxable portion of each annuity...</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82</a:t>
            </a:r>
          </a:p>
        </p:txBody>
      </p:sp>
      <p:sp>
        <p:nvSpPr>
          <p:cNvPr id="3" name="Content Placeholder 2"/>
          <p:cNvSpPr>
            <a:spLocks noGrp="1"/>
          </p:cNvSpPr>
          <p:nvPr>
            <p:ph idx="1"/>
          </p:nvPr>
        </p:nvSpPr>
        <p:spPr/>
        <p:txBody>
          <a:bodyPr/>
          <a:lstStyle/>
          <a:p>
            <a:r>
              <a:t>Mary, a 60-year-old, buys a 10-year</a:t>
            </a:r>
          </a:p>
          <a:p>
            <a:r>
              <a:t>period certain annuity. She dies at age</a:t>
            </a:r>
          </a:p>
          <a:p>
            <a:r>
              <a:t>65. What happens to her annuity</a:t>
            </a:r>
          </a:p>
          <a:p>
            <a:r>
              <a:t>payments?</a:t>
            </a:r>
          </a:p>
          <a:p>
            <a:r>
              <a:t>Payments stop immediately</a:t>
            </a:r>
          </a:p>
          <a:p>
            <a:r>
              <a:t>Payments continue to her estate indefinitely</a:t>
            </a:r>
          </a:p>
          <a:p>
            <a:r>
              <a:t>Payments are forfeited to the insurer</a:t>
            </a:r>
          </a:p>
          <a:p>
            <a:r>
              <a:t>Payments continue to her designated</a:t>
            </a:r>
          </a:p>
          <a:p>
            <a:r>
              <a:t>beneficiary for the remaining 5 years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82</a:t>
            </a:r>
          </a:p>
        </p:txBody>
      </p:sp>
      <p:sp>
        <p:nvSpPr>
          <p:cNvPr id="3" name="Content Placeholder 2"/>
          <p:cNvSpPr>
            <a:spLocks noGrp="1"/>
          </p:cNvSpPr>
          <p:nvPr>
            <p:ph idx="1"/>
          </p:nvPr>
        </p:nvSpPr>
        <p:spPr/>
        <p:txBody>
          <a:bodyPr/>
          <a:lstStyle/>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83</a:t>
            </a:r>
          </a:p>
        </p:txBody>
      </p:sp>
      <p:sp>
        <p:nvSpPr>
          <p:cNvPr id="3" name="Content Placeholder 2"/>
          <p:cNvSpPr>
            <a:spLocks noGrp="1"/>
          </p:cNvSpPr>
          <p:nvPr>
            <p:ph idx="1"/>
          </p:nvPr>
        </p:nvSpPr>
        <p:spPr/>
        <p:txBody>
          <a:bodyPr/>
          <a:lstStyle/>
          <a:p>
            <a:r>
              <a:t>An element of a Single Premium</a:t>
            </a:r>
          </a:p>
          <a:p>
            <a:r>
              <a:t>annuity includes:</a:t>
            </a:r>
          </a:p>
          <a:p>
            <a:r>
              <a:t>Premiums due at a later day</a:t>
            </a:r>
          </a:p>
          <a:p>
            <a:r>
              <a:t>Lump-sum payment</a:t>
            </a:r>
          </a:p>
          <a:p>
            <a:r>
              <a:t>Deferred payments</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83</a:t>
            </a:r>
          </a:p>
        </p:txBody>
      </p:sp>
      <p:sp>
        <p:nvSpPr>
          <p:cNvPr id="3" name="Content Placeholder 2"/>
          <p:cNvSpPr>
            <a:spLocks noGrp="1"/>
          </p:cNvSpPr>
          <p:nvPr>
            <p:ph idx="1"/>
          </p:nvPr>
        </p:nvSpPr>
        <p:spPr/>
        <p:txBody>
          <a:bodyPr/>
          <a:lstStyle/>
          <a:p/>
          <a:p>
            <a:r>
              <a:t>☐ 2:54 : Question 5 Select the appropriate response An element of a Single Premium annuity includes: Premiums due at a later day Lump-sum payment Deferred payments oo 80 8 Tax-deductible</a:t>
            </a:r>
          </a:p>
          <a:p>
            <a:br/>
            <a:pPr>
              <a:defRPr sz="1400" i="1"/>
            </a:pPr>
            <a:r>
              <a:t>Explanation: An element of a Single Premium annuity is a</a:t>
            </a:r>
            <a:br/>
            <a:r>
              <a:t>Lump-sum payment. This type of annuity is</a:t>
            </a:r>
            <a:br/>
            <a:r>
              <a:t>purchased with a single, large payment upfront, from</a:t>
            </a:r>
            <a:br/>
            <a:r>
              <a:t>which future periodic payments are made to the</a:t>
            </a:r>
            <a:br/>
            <a:r>
              <a:t>&amp; a ..rancelic...</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84</a:t>
            </a:r>
          </a:p>
        </p:txBody>
      </p:sp>
      <p:sp>
        <p:nvSpPr>
          <p:cNvPr id="3" name="Content Placeholder 2"/>
          <p:cNvSpPr>
            <a:spLocks noGrp="1"/>
          </p:cNvSpPr>
          <p:nvPr>
            <p:ph idx="1"/>
          </p:nvPr>
        </p:nvSpPr>
        <p:spPr/>
        <p:txBody>
          <a:bodyPr/>
          <a:lstStyle/>
          <a:p>
            <a:r>
              <a:t>What happens to the accumulated</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84</a:t>
            </a:r>
          </a:p>
        </p:txBody>
      </p:sp>
      <p:sp>
        <p:nvSpPr>
          <p:cNvPr id="3" name="Content Placeholder 2"/>
          <p:cNvSpPr>
            <a:spLocks noGrp="1"/>
          </p:cNvSpPr>
          <p:nvPr>
            <p:ph idx="1"/>
          </p:nvPr>
        </p:nvSpPr>
        <p:spPr/>
        <p:txBody>
          <a:bodyPr/>
          <a:lstStyle/>
          <a:p/>
          <a:p>
            <a:r>
              <a:t>☐ alue of an annuity if the contract owner dies during the accumulation period? ' ¢) It is forfeited to the insurer</a:t>
            </a:r>
          </a:p>
          <a:p>
            <a:pPr>
              <a:defRPr b="1"/>
            </a:pPr>
            <a:r>
              <a:t>✅ e Itis transferred to another annuity</a:t>
            </a:r>
          </a:p>
          <a:p>
            <a:r>
              <a:t>☐ s) It continues to accumulate interest</a:t>
            </a:r>
          </a:p>
          <a:p>
            <a:r>
              <a:t>☐ It is paid to the beneficiary</a:t>
            </a:r>
          </a:p>
          <a:p>
            <a:br/>
            <a:pPr>
              <a:defRPr sz="1400" i="1"/>
            </a:pPr>
            <a:r>
              <a:t>Explanation: forfeited to the insurer</a:t>
            </a:r>
            <a:br/>
            <a:r>
              <a:t>x) e Itis transferred to another annuity</a:t>
            </a:r>
            <a:br/>
            <a:r>
              <a:t>is) It continues to accumulate interest</a:t>
            </a:r>
            <a:br/>
            <a:r>
              <a:t>g It is paid to the beneficiary</a:t>
            </a:r>
            <a:br/>
            <a:r>
              <a:t>Proceed =&gt;</a:t>
            </a:r>
            <a:br/>
            <a:r>
              <a:t>%__ ‘If the contract owner dies during the</a:t>
            </a:r>
            <a:br/>
            <a:r>
              <a:t>accumula...</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85</a:t>
            </a:r>
          </a:p>
        </p:txBody>
      </p:sp>
      <p:sp>
        <p:nvSpPr>
          <p:cNvPr id="3" name="Content Placeholder 2"/>
          <p:cNvSpPr>
            <a:spLocks noGrp="1"/>
          </p:cNvSpPr>
          <p:nvPr>
            <p:ph idx="1"/>
          </p:nvPr>
        </p:nvSpPr>
        <p:spPr/>
        <p:txBody>
          <a:bodyPr/>
          <a:lstStyle/>
          <a:p>
            <a:r>
              <a:t>Who is the contract owner in an</a:t>
            </a:r>
          </a:p>
          <a:p>
            <a:r>
              <a:t>annuity?</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85</a:t>
            </a:r>
          </a:p>
        </p:txBody>
      </p:sp>
      <p:sp>
        <p:nvSpPr>
          <p:cNvPr id="3" name="Content Placeholder 2"/>
          <p:cNvSpPr>
            <a:spLocks noGrp="1"/>
          </p:cNvSpPr>
          <p:nvPr>
            <p:ph idx="1"/>
          </p:nvPr>
        </p:nvSpPr>
        <p:spPr/>
        <p:txBody>
          <a:bodyPr/>
          <a:lstStyle/>
          <a:p/>
          <a:p>
            <a:r>
              <a:t>☐ 2:55 : Question 7 Select the appropriate response Who is the contract owner in an annuity?</a:t>
            </a:r>
          </a:p>
          <a:p>
            <a:r>
              <a:t>☐ The beneficiary The insurance company</a:t>
            </a:r>
          </a:p>
          <a:p>
            <a:pPr>
              <a:defRPr b="1"/>
            </a:pPr>
            <a:r>
              <a:t>✅ The individual who purchases and funds the annuity The person who receives the periodic payments</a:t>
            </a:r>
          </a:p>
          <a:p>
            <a:br/>
            <a:pPr>
              <a:defRPr sz="1400" i="1"/>
            </a:pPr>
            <a:r>
              <a:t>Explanation: the contract owner in an</a:t>
            </a:r>
            <a:br/>
            <a:r>
              <a:t>annuity?</a:t>
            </a:r>
            <a:br/>
            <a:r>
              <a:t>x) The beneficiary</a:t>
            </a:r>
            <a:br/>
            <a:r>
              <a:t>The insurance company</a:t>
            </a:r>
            <a:br/>
            <a:r>
              <a:t>g The individual who purchases and funds the</a:t>
            </a:r>
            <a:br/>
            <a:r>
              <a:t>annuity</a:t>
            </a:r>
            <a:br/>
            <a:r>
              <a:t>The person who receives the periodic</a:t>
            </a:r>
            <a:br/>
            <a:r>
              <a:t>payments</a:t>
            </a:r>
            <a:br/>
            <a:r>
              <a:t>Proceed ai</a:t>
            </a:r>
            <a:br/>
            <a:r>
              <a:t>és The contract...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86</a:t>
            </a:r>
          </a:p>
        </p:txBody>
      </p:sp>
      <p:sp>
        <p:nvSpPr>
          <p:cNvPr id="3" name="Content Placeholder 2"/>
          <p:cNvSpPr>
            <a:spLocks noGrp="1"/>
          </p:cNvSpPr>
          <p:nvPr>
            <p:ph idx="1"/>
          </p:nvPr>
        </p:nvSpPr>
        <p:spPr/>
        <p:txBody>
          <a:bodyPr/>
          <a:lstStyle/>
          <a:p>
            <a:r>
              <a:t>An individual who acquires a Life</a:t>
            </a:r>
          </a:p>
          <a:p>
            <a:r>
              <a:t>annuity receives protection against: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86</a:t>
            </a:r>
          </a:p>
        </p:txBody>
      </p:sp>
      <p:sp>
        <p:nvSpPr>
          <p:cNvPr id="3" name="Content Placeholder 2"/>
          <p:cNvSpPr>
            <a:spLocks noGrp="1"/>
          </p:cNvSpPr>
          <p:nvPr>
            <p:ph idx="1"/>
          </p:nvPr>
        </p:nvSpPr>
        <p:spPr/>
        <p:txBody>
          <a:bodyPr/>
          <a:lstStyle/>
          <a:p/>
          <a:p>
            <a:r>
              <a:t>☐ Question 8 Select the appropriate response An individual who acquires a Life annuity receives protection against:</a:t>
            </a:r>
          </a:p>
          <a:p>
            <a:pPr>
              <a:defRPr b="1"/>
            </a:pPr>
            <a:r>
              <a:t>✅ The possibility of outliving one's estimated lifespan The risk of dying younger than expected Consumer Pricing Index The risk of not having enough money in retirement</a:t>
            </a:r>
          </a:p>
          <a:p>
            <a:r>
              <a:t>☐ en protection against the UR of me ones than % 4a ..rancelicense.myabsorb.com (© &lt; + (21)</a:t>
            </a:r>
          </a:p>
          <a:p>
            <a:br/>
            <a:pPr>
              <a:defRPr sz="1400" i="1"/>
            </a:pPr>
            <a:r>
              <a:t>Explanation: An individual who purchases a Life annuity is</a:t>
            </a:r>
            <a:br/>
            <a:r>
              <a:t>given protection against the UR of me ones than...</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87</a:t>
            </a:r>
          </a:p>
        </p:txBody>
      </p:sp>
      <p:sp>
        <p:nvSpPr>
          <p:cNvPr id="3" name="Content Placeholder 2"/>
          <p:cNvSpPr>
            <a:spLocks noGrp="1"/>
          </p:cNvSpPr>
          <p:nvPr>
            <p:ph idx="1"/>
          </p:nvPr>
        </p:nvSpPr>
        <p:spPr/>
        <p:txBody>
          <a:bodyPr/>
          <a:lstStyle/>
          <a:p>
            <a:r>
              <a:t>Who must register with FINRA to sell</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87</a:t>
            </a:r>
          </a:p>
        </p:txBody>
      </p:sp>
      <p:sp>
        <p:nvSpPr>
          <p:cNvPr id="3" name="Content Placeholder 2"/>
          <p:cNvSpPr>
            <a:spLocks noGrp="1"/>
          </p:cNvSpPr>
          <p:nvPr>
            <p:ph idx="1"/>
          </p:nvPr>
        </p:nvSpPr>
        <p:spPr/>
        <p:txBody>
          <a:bodyPr/>
          <a:lstStyle/>
          <a:p/>
          <a:p>
            <a:r>
              <a:t>☐ Question 9 Select the appropriate response Who must register with FINRA to sell</a:t>
            </a:r>
          </a:p>
          <a:p>
            <a:pPr>
              <a:defRPr b="1"/>
            </a:pPr>
            <a:r>
              <a:t>✅ ariable annuities?</a:t>
            </a:r>
          </a:p>
          <a:p>
            <a:r>
              <a:t>☐ Any licensed insurance agent</a:t>
            </a:r>
          </a:p>
          <a:p>
            <a:r>
              <a:t>☐ Any sales representative with a life</a:t>
            </a:r>
          </a:p>
          <a:p>
            <a:r>
              <a:t>☐ nsurance license</a:t>
            </a:r>
          </a:p>
          <a:p>
            <a:r>
              <a:t>☐ A sales representative with a Series 6 or Series 7 securities registration</a:t>
            </a:r>
          </a:p>
          <a:p>
            <a:r>
              <a:t>☐ A state insurance commissioner</a:t>
            </a:r>
          </a:p>
          <a:p>
            <a:br/>
            <a:pPr>
              <a:defRPr sz="1400" i="1"/>
            </a:pPr>
            <a:r>
              <a:t>Explanation: To sell variable annuities, a sales representative</a:t>
            </a:r>
            <a:br/>
            <a:r>
              <a:t>must have a Series 6 or Series 7 securities</a:t>
            </a:r>
            <a:br/>
            <a:r>
              <a:t>registration and be registered with FINRA (Financial</a:t>
            </a:r>
            <a:br/>
            <a:r>
              <a:t>. This registration is</a:t>
            </a:r>
            <a:br/>
            <a:r>
              <a:t>&amp; a ..rancelicense.myabsorb.c...</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88</a:t>
            </a:r>
          </a:p>
        </p:txBody>
      </p:sp>
      <p:sp>
        <p:nvSpPr>
          <p:cNvPr id="3" name="Content Placeholder 2"/>
          <p:cNvSpPr>
            <a:spLocks noGrp="1"/>
          </p:cNvSpPr>
          <p:nvPr>
            <p:ph idx="1"/>
          </p:nvPr>
        </p:nvSpPr>
        <p:spPr/>
        <p:txBody>
          <a:bodyPr/>
          <a:lstStyle/>
          <a:p>
            <a:r>
              <a:t>What is a surrender charge?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88</a:t>
            </a:r>
          </a:p>
        </p:txBody>
      </p:sp>
      <p:sp>
        <p:nvSpPr>
          <p:cNvPr id="3" name="Content Placeholder 2"/>
          <p:cNvSpPr>
            <a:spLocks noGrp="1"/>
          </p:cNvSpPr>
          <p:nvPr>
            <p:ph idx="1"/>
          </p:nvPr>
        </p:nvSpPr>
        <p:spPr/>
        <p:txBody>
          <a:bodyPr/>
          <a:lstStyle/>
          <a:p/>
          <a:p>
            <a:r>
              <a:t>☐ 2:56 : Question 10 Select the appropriate response What is a surrender charge?</a:t>
            </a:r>
          </a:p>
          <a:p>
            <a:r>
              <a:t>☐ A fee for making periodic premium payments</a:t>
            </a:r>
          </a:p>
          <a:p>
            <a:r>
              <a:t>☐ A charge for annuity contract renewal</a:t>
            </a:r>
          </a:p>
          <a:p>
            <a:pPr>
              <a:defRPr b="1"/>
            </a:pPr>
            <a:r>
              <a:t>✅ A penalty for early withdrawal A tax on annuity earnings</a:t>
            </a:r>
          </a:p>
          <a:p>
            <a:r>
              <a:t>☐ nsurer’s financial interests. It differs from a fee for % aa ...rancelicense.myabsorb.com &lt; &gt; + (21) 6</a:t>
            </a:r>
          </a:p>
          <a:p>
            <a:br/>
            <a:pPr>
              <a:defRPr sz="1400" i="1"/>
            </a:pPr>
            <a:r>
              <a:t>Explanation: a surrender charge?</a:t>
            </a:r>
            <a:br/>
            <a:r>
              <a:t>x) A fee for making periodic premium</a:t>
            </a:r>
            <a:br/>
            <a:r>
              <a:t>payments</a:t>
            </a:r>
            <a:br/>
            <a:r>
              <a:t>x) A charge for annuity contract renewal</a:t>
            </a:r>
            <a:br/>
            <a:r>
              <a:t>g A penalty for early withdrawal</a:t>
            </a:r>
            <a:br/>
            <a:r>
              <a:t>A tax on annuity earnings</a:t>
            </a:r>
            <a:br/>
            <a:r>
              <a:t>ds Assurrender charge is a penalty...</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89</a:t>
            </a:r>
          </a:p>
        </p:txBody>
      </p:sp>
      <p:sp>
        <p:nvSpPr>
          <p:cNvPr id="3" name="Content Placeholder 2"/>
          <p:cNvSpPr>
            <a:spLocks noGrp="1"/>
          </p:cNvSpPr>
          <p:nvPr>
            <p:ph idx="1"/>
          </p:nvPr>
        </p:nvSpPr>
        <p:spPr/>
        <p:txBody>
          <a:bodyPr/>
          <a:lstStyle/>
          <a:p>
            <a:r>
              <a:t>What is a single premium immediate</a:t>
            </a:r>
          </a:p>
          <a:p>
            <a:r>
              <a:t>annuity (SPIA)?</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89</a:t>
            </a:r>
          </a:p>
        </p:txBody>
      </p:sp>
      <p:sp>
        <p:nvSpPr>
          <p:cNvPr id="3" name="Content Placeholder 2"/>
          <p:cNvSpPr>
            <a:spLocks noGrp="1"/>
          </p:cNvSpPr>
          <p:nvPr>
            <p:ph idx="1"/>
          </p:nvPr>
        </p:nvSpPr>
        <p:spPr/>
        <p:txBody>
          <a:bodyPr/>
          <a:lstStyle/>
          <a:p/>
          <a:p>
            <a:r>
              <a:t>☐ Question 11 Select the appropriate response What is a single premium immediate annuity (SPIA)?</a:t>
            </a:r>
          </a:p>
          <a:p>
            <a:r>
              <a:t>☐ An annuity that defers payments to a future date</a:t>
            </a:r>
          </a:p>
          <a:p>
            <a:pPr>
              <a:defRPr b="1"/>
            </a:pPr>
            <a:r>
              <a:t>✅ An annuity with flexible premiums</a:t>
            </a:r>
          </a:p>
          <a:p>
            <a:r>
              <a:t>☐ An annuity funded with periodic payments An annuity that begins payments</a:t>
            </a:r>
          </a:p>
          <a:p>
            <a:r>
              <a:t>☐ mmediately after a lump-sum payment</a:t>
            </a:r>
          </a:p>
          <a:p>
            <a:r>
              <a:t>☐ mmediate income, which contrasts with an annuit &amp; a ..rancelicense.myabsorb.com (© &lt; &gt; + (21)</a:t>
            </a:r>
          </a:p>
          <a:p>
            <a:br/>
            <a:pPr>
              <a:defRPr sz="1400" i="1"/>
            </a:pPr>
            <a:r>
              <a:t>Explanation: a single premium immediate</a:t>
            </a:r>
            <a:br/>
            <a:r>
              <a:t>annuity (SPIA)?</a:t>
            </a:r>
            <a:br/>
            <a:r>
              <a:t>x) An annuity that defers payments to a future</a:t>
            </a:r>
            <a:br/>
            <a:r>
              <a:t>date</a:t>
            </a:r>
            <a:br/>
            <a:r>
              <a:t>x) An annuity with flexible premiums</a:t>
            </a:r>
            <a:br/>
            <a:r>
              <a:t>x) An annuity funded with periodic payments</a:t>
            </a:r>
            <a:br/>
            <a:r>
              <a:t>An annuity that begins p...</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90</a:t>
            </a:r>
          </a:p>
        </p:txBody>
      </p:sp>
      <p:sp>
        <p:nvSpPr>
          <p:cNvPr id="3" name="Content Placeholder 2"/>
          <p:cNvSpPr>
            <a:spLocks noGrp="1"/>
          </p:cNvSpPr>
          <p:nvPr>
            <p:ph idx="1"/>
          </p:nvPr>
        </p:nvSpPr>
        <p:spPr/>
        <p:txBody>
          <a:bodyPr/>
          <a:lstStyle/>
          <a:p>
            <a:r>
              <a:t>Mark, age 45, is looking for an annuity</a:t>
            </a:r>
          </a:p>
          <a:p>
            <a:r>
              <a:t>to provide income when he retires at</a:t>
            </a:r>
          </a:p>
          <a:p>
            <a:r>
              <a:t>65. He wants flexibility in making</a:t>
            </a:r>
          </a:p>
          <a:p>
            <a:r>
              <a:t>premium payments over the next 20</a:t>
            </a:r>
          </a:p>
          <a:p>
            <a:r>
              <a:t>years. Which annuity is most suitable</a:t>
            </a:r>
          </a:p>
          <a:p>
            <a:r>
              <a:t>for him?</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90</a:t>
            </a:r>
          </a:p>
        </p:txBody>
      </p:sp>
      <p:sp>
        <p:nvSpPr>
          <p:cNvPr id="3" name="Content Placeholder 2"/>
          <p:cNvSpPr>
            <a:spLocks noGrp="1"/>
          </p:cNvSpPr>
          <p:nvPr>
            <p:ph idx="1"/>
          </p:nvPr>
        </p:nvSpPr>
        <p:spPr/>
        <p:txBody>
          <a:bodyPr/>
          <a:lstStyle/>
          <a:p/>
          <a:p>
            <a:r>
              <a:t>☐ Market value adjusted annuity 3) Single premium immediate annuity</a:t>
            </a:r>
          </a:p>
          <a:p>
            <a:pPr>
              <a:defRPr b="1"/>
            </a:pPr>
            <a:r>
              <a:t>✅ Fixed annuity</a:t>
            </a:r>
          </a:p>
          <a:p>
            <a:r>
              <a:t>☐ e Flexible premium deferred annuity</a:t>
            </a:r>
          </a:p>
          <a:p>
            <a:br/>
            <a:pPr>
              <a:defRPr sz="1400" i="1"/>
            </a:pPr>
            <a:r>
              <a:t>Explanation: looking for an annuity</a:t>
            </a:r>
            <a:br/>
            <a:r>
              <a:t>to provide income when he retires at</a:t>
            </a:r>
            <a:br/>
            <a:r>
              <a:t>65. He wants flexibility in making</a:t>
            </a:r>
            <a:br/>
            <a:r>
              <a:t>premium payments over the next 20</a:t>
            </a:r>
            <a:br/>
            <a:r>
              <a:t>years. Which annuity is most suitable</a:t>
            </a:r>
            <a:br/>
            <a:r>
              <a:t>for him?</a:t>
            </a:r>
            <a:br/>
            <a:r>
              <a:t>x) Market value adjusted...</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91</a:t>
            </a:r>
          </a:p>
        </p:txBody>
      </p:sp>
      <p:sp>
        <p:nvSpPr>
          <p:cNvPr id="3" name="Content Placeholder 2"/>
          <p:cNvSpPr>
            <a:spLocks noGrp="1"/>
          </p:cNvSpPr>
          <p:nvPr>
            <p:ph idx="1"/>
          </p:nvPr>
        </p:nvSpPr>
        <p:spPr/>
        <p:txBody>
          <a:bodyPr/>
          <a:lstStyle/>
          <a:p>
            <a:r>
              <a:t>What is the primary purpose of an</a:t>
            </a:r>
          </a:p>
          <a:p>
            <a:r>
              <a:t>annuity?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91</a:t>
            </a:r>
          </a:p>
        </p:txBody>
      </p:sp>
      <p:sp>
        <p:nvSpPr>
          <p:cNvPr id="3" name="Content Placeholder 2"/>
          <p:cNvSpPr>
            <a:spLocks noGrp="1"/>
          </p:cNvSpPr>
          <p:nvPr>
            <p:ph idx="1"/>
          </p:nvPr>
        </p:nvSpPr>
        <p:spPr/>
        <p:txBody>
          <a:bodyPr/>
          <a:lstStyle/>
          <a:p/>
          <a:p>
            <a:r>
              <a:t>☐ 2:58 : Question 13 Select the appropriate response What is the primary purpose of an annuity?</a:t>
            </a:r>
          </a:p>
          <a:p>
            <a:pPr>
              <a:defRPr b="1"/>
            </a:pPr>
            <a:r>
              <a:t>✅ To fund life insurance policies</a:t>
            </a:r>
          </a:p>
          <a:p>
            <a:r>
              <a:t>☐ To provide a death benefit</a:t>
            </a:r>
          </a:p>
          <a:p>
            <a:r>
              <a:t>☐ To pay for medical expenses</a:t>
            </a:r>
          </a:p>
          <a:p>
            <a:r>
              <a:t>☐ To provide retirement income</a:t>
            </a:r>
          </a:p>
          <a:p>
            <a:br/>
            <a:pPr>
              <a:defRPr sz="1400" i="1"/>
            </a:pPr>
            <a:r>
              <a:t>Explanation: the primary purpose of an</a:t>
            </a:r>
            <a:br/>
            <a:r>
              <a:t>annuity?</a:t>
            </a:r>
            <a:br/>
            <a:r>
              <a:t>x) To fund life insurance policies</a:t>
            </a:r>
            <a:br/>
            <a:r>
              <a:t>x) To provide a death benefit</a:t>
            </a:r>
            <a:br/>
            <a:r>
              <a:t>x) To pay for medical expenses</a:t>
            </a:r>
            <a:br/>
            <a:r>
              <a:t>g To provide retirement income</a:t>
            </a:r>
            <a:br/>
            <a:r>
              <a:t>Proceed —_</a:t>
            </a:r>
            <a:br/>
            <a:r>
              <a:t>ds = The primary purpose of...</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92</a:t>
            </a:r>
          </a:p>
        </p:txBody>
      </p:sp>
      <p:sp>
        <p:nvSpPr>
          <p:cNvPr id="3" name="Content Placeholder 2"/>
          <p:cNvSpPr>
            <a:spLocks noGrp="1"/>
          </p:cNvSpPr>
          <p:nvPr>
            <p:ph idx="1"/>
          </p:nvPr>
        </p:nvSpPr>
        <p:spPr/>
        <p:txBody>
          <a:bodyPr/>
          <a:lstStyle/>
          <a:p>
            <a:r>
              <a:t>Lisa is considering an annuity that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92</a:t>
            </a:r>
          </a:p>
        </p:txBody>
      </p:sp>
      <p:sp>
        <p:nvSpPr>
          <p:cNvPr id="3" name="Content Placeholder 2"/>
          <p:cNvSpPr>
            <a:spLocks noGrp="1"/>
          </p:cNvSpPr>
          <p:nvPr>
            <p:ph idx="1"/>
          </p:nvPr>
        </p:nvSpPr>
        <p:spPr/>
        <p:txBody>
          <a:bodyPr/>
          <a:lstStyle/>
          <a:p/>
          <a:p>
            <a:r>
              <a:t>☐ © Variable annuity</a:t>
            </a:r>
          </a:p>
          <a:p>
            <a:pPr>
              <a:defRPr b="1"/>
            </a:pPr>
            <a:r>
              <a:t>✅ Fixed annuity</a:t>
            </a:r>
          </a:p>
          <a:p>
            <a:r>
              <a:t>☐ Equity-indexed annuity</a:t>
            </a:r>
          </a:p>
          <a:p>
            <a:r>
              <a:t>☐ Immediate annuity</a:t>
            </a:r>
          </a:p>
          <a:p>
            <a:br/>
            <a:pPr>
              <a:defRPr sz="1400" i="1"/>
            </a:pPr>
            <a:r>
              <a:t>Explanation: considering an annuity that</a:t>
            </a:r>
            <a:br/>
            <a:r>
              <a:t>offers inflation protection. Which type</a:t>
            </a:r>
            <a:br/>
            <a:r>
              <a:t>of annuity should she choose?</a:t>
            </a:r>
            <a:br/>
            <a:r>
              <a:t>Variable annuity</a:t>
            </a:r>
            <a:br/>
            <a:r>
              <a:t>x) Fixed annuity</a:t>
            </a:r>
            <a:br/>
            <a:r>
              <a:t>g Equity-indexed annuity</a:t>
            </a:r>
            <a:br/>
            <a:r>
              <a:t>x) Immediate annuity</a:t>
            </a:r>
            <a:br/>
            <a:r>
              <a:t>% An equity-indexed an...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93</a:t>
            </a:r>
          </a:p>
        </p:txBody>
      </p:sp>
      <p:sp>
        <p:nvSpPr>
          <p:cNvPr id="3" name="Content Placeholder 2"/>
          <p:cNvSpPr>
            <a:spLocks noGrp="1"/>
          </p:cNvSpPr>
          <p:nvPr>
            <p:ph idx="1"/>
          </p:nvPr>
        </p:nvSpPr>
        <p:spPr/>
        <p:txBody>
          <a:bodyPr/>
          <a:lstStyle/>
          <a:p>
            <a:r>
              <a:t>An immediate annuity has a:</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93</a:t>
            </a:r>
          </a:p>
        </p:txBody>
      </p:sp>
      <p:sp>
        <p:nvSpPr>
          <p:cNvPr id="3" name="Content Placeholder 2"/>
          <p:cNvSpPr>
            <a:spLocks noGrp="1"/>
          </p:cNvSpPr>
          <p:nvPr>
            <p:ph idx="1"/>
          </p:nvPr>
        </p:nvSpPr>
        <p:spPr/>
        <p:txBody>
          <a:bodyPr/>
          <a:lstStyle/>
          <a:p/>
          <a:p>
            <a:r>
              <a:t>☐ Question 15 Select the appropriate response An immediate annuity has a:</a:t>
            </a:r>
          </a:p>
          <a:p>
            <a:pPr>
              <a:defRPr b="1"/>
            </a:pPr>
            <a:r>
              <a:t>✅ Single premium</a:t>
            </a:r>
          </a:p>
          <a:p>
            <a:r>
              <a:t>☐ Flexible premium ) Indexed premium ' ¢) Deferred premium for a later date</a:t>
            </a:r>
          </a:p>
          <a:p>
            <a:br/>
            <a:pPr>
              <a:defRPr sz="1400" i="1"/>
            </a:pPr>
            <a:r>
              <a:t>Explanation: An immediate annuity consists of a single</a:t>
            </a:r>
            <a:br/>
            <a:r>
              <a:t>premium. This means the annuity is purchased with</a:t>
            </a:r>
            <a:br/>
            <a:r>
              <a:t>one lump sum payment, and income payments to the</a:t>
            </a:r>
            <a:br/>
            <a:r>
              <a:t>annuitant start almost immediately, typically within</a:t>
            </a:r>
            <a:br/>
            <a:r>
              <a:t>one ye...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94</a:t>
            </a:r>
          </a:p>
        </p:txBody>
      </p:sp>
      <p:sp>
        <p:nvSpPr>
          <p:cNvPr id="3" name="Content Placeholder 2"/>
          <p:cNvSpPr>
            <a:spLocks noGrp="1"/>
          </p:cNvSpPr>
          <p:nvPr>
            <p:ph idx="1"/>
          </p:nvPr>
        </p:nvSpPr>
        <p:spPr/>
        <p:txBody>
          <a:bodyPr/>
          <a:lstStyle/>
          <a:p>
            <a:r>
              <a:t>Social Security benefits for a fully</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94</a:t>
            </a:r>
          </a:p>
        </p:txBody>
      </p:sp>
      <p:sp>
        <p:nvSpPr>
          <p:cNvPr id="3" name="Content Placeholder 2"/>
          <p:cNvSpPr>
            <a:spLocks noGrp="1"/>
          </p:cNvSpPr>
          <p:nvPr>
            <p:ph idx="1"/>
          </p:nvPr>
        </p:nvSpPr>
        <p:spPr/>
        <p:txBody>
          <a:bodyPr/>
          <a:lstStyle/>
          <a:p/>
          <a:p>
            <a:r>
              <a:t>☐ nsured worker opting for early retirement at age 62 will be: &gt;) Reduced to 75% of their PIA</a:t>
            </a:r>
          </a:p>
          <a:p>
            <a:pPr>
              <a:defRPr b="1"/>
            </a:pPr>
            <a:r>
              <a:t>✅ Reduced to 80% of their PIA</a:t>
            </a:r>
          </a:p>
          <a:p>
            <a:r>
              <a:t>☐ e Reduced to 70% of their PIA &gt;) Reduced to 85% of their PIA</a:t>
            </a:r>
          </a:p>
          <a:p>
            <a:br/>
            <a:pPr>
              <a:defRPr sz="1400" i="1"/>
            </a:pPr>
            <a:r>
              <a:t>Explanation: reduction accounts for the</a:t>
            </a:r>
            <a:br/>
            <a:r>
              <a:t>longer period over which benefits will be paid. This is</a:t>
            </a:r>
            <a:br/>
            <a:r>
              <a:t>I&lt; A ea</a:t>
            </a:r>
            <a:br/>
            <a:r>
              <a:t>&amp; a ..rancelicense.myabsorb.com (</a:t>
            </a:r>
            <a:br/>
            <a:r>
              <a:t>&lt; &gt; + (21)...</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95</a:t>
            </a:r>
          </a:p>
        </p:txBody>
      </p:sp>
      <p:sp>
        <p:nvSpPr>
          <p:cNvPr id="3" name="Content Placeholder 2"/>
          <p:cNvSpPr>
            <a:spLocks noGrp="1"/>
          </p:cNvSpPr>
          <p:nvPr>
            <p:ph idx="1"/>
          </p:nvPr>
        </p:nvSpPr>
        <p:spPr/>
        <p:txBody>
          <a:bodyPr/>
          <a:lstStyle/>
          <a:p>
            <a:r>
              <a:t>The lump-sum death benefit provided</a:t>
            </a:r>
          </a:p>
          <a:p>
            <a:r>
              <a:t>by Social Security is: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95</a:t>
            </a:r>
          </a:p>
        </p:txBody>
      </p:sp>
      <p:sp>
        <p:nvSpPr>
          <p:cNvPr id="3" name="Content Placeholder 2"/>
          <p:cNvSpPr>
            <a:spLocks noGrp="1"/>
          </p:cNvSpPr>
          <p:nvPr>
            <p:ph idx="1"/>
          </p:nvPr>
        </p:nvSpPr>
        <p:spPr/>
        <p:txBody>
          <a:bodyPr/>
          <a:lstStyle/>
          <a:p/>
          <a:p>
            <a:r>
              <a:t>☐ 3:02 : Question 2 Select the appropriate response The lump-sum death benefit provided by Social Security is:</a:t>
            </a:r>
          </a:p>
          <a:p>
            <a:r>
              <a:t>☐ $355 @ © $255</a:t>
            </a:r>
          </a:p>
          <a:p>
            <a:r>
              <a:t>☐ $455 } $155</a:t>
            </a:r>
          </a:p>
          <a:p>
            <a:br/>
            <a:pPr>
              <a:defRPr sz="1400" i="1"/>
            </a:pPr>
            <a:r>
              <a:t>Explanation: The lump-sum death benefit provided by Social</a:t>
            </a:r>
            <a:br/>
            <a:r>
              <a:t>Security is $255. This one-time payment is made to</a:t>
            </a:r>
            <a:br/>
            <a:r>
              <a:t>the eligible surviving spouse or, if none, to the eligible</a:t>
            </a:r>
            <a:br/>
            <a:r>
              <a:t>children of the deceased worker. The amounts...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96</a:t>
            </a:r>
          </a:p>
        </p:txBody>
      </p:sp>
      <p:sp>
        <p:nvSpPr>
          <p:cNvPr id="3" name="Content Placeholder 2"/>
          <p:cNvSpPr>
            <a:spLocks noGrp="1"/>
          </p:cNvSpPr>
          <p:nvPr>
            <p:ph idx="1"/>
          </p:nvPr>
        </p:nvSpPr>
        <p:spPr/>
        <p:txBody>
          <a:bodyPr/>
          <a:lstStyle/>
          <a:p>
            <a:r>
              <a:t>The maximum family benefit for Social</a:t>
            </a:r>
          </a:p>
          <a:p>
            <a:r>
              <a:t>Security is based on:</a:t>
            </a:r>
          </a:p>
          <a:p>
            <a:r>
              <a:t>The number of years the worker paid into</a:t>
            </a:r>
          </a:p>
          <a:p>
            <a:r>
              <a:t>Social Security</a:t>
            </a:r>
          </a:p>
          <a:p>
            <a:r>
              <a:t>The worker's PIA</a:t>
            </a:r>
          </a:p>
          <a:p>
            <a:r>
              <a:t>The total number of family members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96</a:t>
            </a:r>
          </a:p>
        </p:txBody>
      </p:sp>
      <p:sp>
        <p:nvSpPr>
          <p:cNvPr id="3" name="Content Placeholder 2"/>
          <p:cNvSpPr>
            <a:spLocks noGrp="1"/>
          </p:cNvSpPr>
          <p:nvPr>
            <p:ph idx="1"/>
          </p:nvPr>
        </p:nvSpPr>
        <p:spPr/>
        <p:txBody>
          <a:bodyPr/>
          <a:lstStyle/>
          <a:p/>
          <a:p>
            <a:r>
              <a:t>☐ s based on the worker's Primary Insurance Amount (PIA). The PIA is a key factor in determining the &amp; a ..rancelicense.myabsorb.com (© &lt; &gt; + (21)</a:t>
            </a:r>
          </a:p>
          <a:p>
            <a:br/>
            <a:pPr>
              <a:defRPr sz="1400" i="1"/>
            </a:pPr>
            <a:r>
              <a:t>Explanation: based on:</a:t>
            </a:r>
            <a:br/>
            <a:r>
              <a:t>The number of years the worker paid into</a:t>
            </a:r>
            <a:br/>
            <a:r>
              <a:t>Social Security</a:t>
            </a:r>
            <a:br/>
            <a:r>
              <a:t>The worker's PIA</a:t>
            </a:r>
            <a:br/>
            <a:r>
              <a:t>The total number of family members</a:t>
            </a:r>
            <a:br/>
            <a:r>
              <a:t>oo9g 98</a:t>
            </a:r>
            <a:br/>
            <a:r>
              <a:t>The age of the worker at retirement</a:t>
            </a:r>
            <a:br/>
            <a:r>
              <a:t>Proceed —_</a:t>
            </a:r>
            <a:br/>
            <a:r>
              <a:t>ds The maximum family bene...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97</a:t>
            </a:r>
          </a:p>
        </p:txBody>
      </p:sp>
      <p:sp>
        <p:nvSpPr>
          <p:cNvPr id="3" name="Content Placeholder 2"/>
          <p:cNvSpPr>
            <a:spLocks noGrp="1"/>
          </p:cNvSpPr>
          <p:nvPr>
            <p:ph idx="1"/>
          </p:nvPr>
        </p:nvSpPr>
        <p:spPr/>
        <p:txBody>
          <a:bodyPr/>
          <a:lstStyle/>
          <a:p>
            <a:r>
              <a:t>What is the primary funding source for</a:t>
            </a:r>
          </a:p>
          <a:p>
            <a:r>
              <a:t>Social Security?</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97</a:t>
            </a:r>
          </a:p>
        </p:txBody>
      </p:sp>
      <p:sp>
        <p:nvSpPr>
          <p:cNvPr id="3" name="Content Placeholder 2"/>
          <p:cNvSpPr>
            <a:spLocks noGrp="1"/>
          </p:cNvSpPr>
          <p:nvPr>
            <p:ph idx="1"/>
          </p:nvPr>
        </p:nvSpPr>
        <p:spPr/>
        <p:txBody>
          <a:bodyPr/>
          <a:lstStyle/>
          <a:p/>
          <a:p>
            <a:r>
              <a:t>☐ Question 4 Select the appropriate response What is the primary funding source for Social Security?</a:t>
            </a:r>
          </a:p>
          <a:p>
            <a:r>
              <a:t>☐ Payroll taxes from employees, employers, and the self-employed</a:t>
            </a:r>
          </a:p>
          <a:p>
            <a:pPr>
              <a:defRPr b="1"/>
            </a:pPr>
            <a:r>
              <a:t>✅ Property taxes</a:t>
            </a:r>
          </a:p>
          <a:p>
            <a:r>
              <a:t>☐ Sales tax %) Income tax</a:t>
            </a:r>
          </a:p>
          <a:p>
            <a:br/>
            <a:pPr>
              <a:defRPr sz="1400" i="1"/>
            </a:pPr>
            <a:r>
              <a:t>Explanation: the primary funding source for</a:t>
            </a:r>
            <a:br/>
            <a:r>
              <a:t>Social Security?</a:t>
            </a:r>
            <a:br/>
            <a:r>
              <a:t>iv) Payroll taxes from employees, employers,</a:t>
            </a:r>
            <a:br/>
            <a:r>
              <a:t>and the self-employed</a:t>
            </a:r>
            <a:br/>
            <a:r>
              <a:t>x) Property taxes</a:t>
            </a:r>
            <a:br/>
            <a:r>
              <a:t>x) Sales tax</a:t>
            </a:r>
            <a:br/>
            <a:r>
              <a:t>%) Income tax</a:t>
            </a:r>
            <a:br/>
            <a:r>
              <a:t>Proceed —_</a:t>
            </a:r>
            <a:br/>
            <a:r>
              <a:t>ds = The primary funding sour...</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98</a:t>
            </a:r>
          </a:p>
        </p:txBody>
      </p:sp>
      <p:sp>
        <p:nvSpPr>
          <p:cNvPr id="3" name="Content Placeholder 2"/>
          <p:cNvSpPr>
            <a:spLocks noGrp="1"/>
          </p:cNvSpPr>
          <p:nvPr>
            <p:ph idx="1"/>
          </p:nvPr>
        </p:nvSpPr>
        <p:spPr/>
        <p:txBody>
          <a:bodyPr/>
          <a:lstStyle/>
          <a:p>
            <a:r>
              <a:t>What does AIME stand for in the</a:t>
            </a:r>
          </a:p>
          <a:p>
            <a:r>
              <a:t>context of Social Security?</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98</a:t>
            </a:r>
          </a:p>
        </p:txBody>
      </p:sp>
      <p:sp>
        <p:nvSpPr>
          <p:cNvPr id="3" name="Content Placeholder 2"/>
          <p:cNvSpPr>
            <a:spLocks noGrp="1"/>
          </p:cNvSpPr>
          <p:nvPr>
            <p:ph idx="1"/>
          </p:nvPr>
        </p:nvSpPr>
        <p:spPr/>
        <p:txBody>
          <a:bodyPr/>
          <a:lstStyle/>
          <a:p/>
          <a:p>
            <a:pPr>
              <a:defRPr b="1"/>
            </a:pPr>
            <a:r>
              <a:t>✅ Average Indexed Monthly Earnings Additional Indexed Monthly Earnings</a:t>
            </a:r>
          </a:p>
          <a:p>
            <a:r>
              <a:t>☐ Adjusted Indexed Monthly Earnings &amp; Annual Indexed Monthly Earnings</a:t>
            </a:r>
          </a:p>
          <a:p>
            <a:br/>
            <a:pPr>
              <a:defRPr sz="1400" i="1"/>
            </a:pPr>
            <a:r>
              <a:t>Explanation: 'n the context of Social Security, AIME stands for</a:t>
            </a:r>
            <a:br/>
            <a:r>
              <a:t>Average Indexed Monthly Earnings. This figure is</a:t>
            </a:r>
            <a:br/>
            <a:r>
              <a:t>used to calculate the Primary Insurance Amount</a:t>
            </a:r>
            <a:br/>
            <a:r>
              <a:t>(PIA) and reflects the average of an individual's</a:t>
            </a:r>
            <a:br/>
            <a:r>
              <a:t>mon...</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99</a:t>
            </a:r>
          </a:p>
        </p:txBody>
      </p:sp>
      <p:sp>
        <p:nvSpPr>
          <p:cNvPr id="3" name="Content Placeholder 2"/>
          <p:cNvSpPr>
            <a:spLocks noGrp="1"/>
          </p:cNvSpPr>
          <p:nvPr>
            <p:ph idx="1"/>
          </p:nvPr>
        </p:nvSpPr>
        <p:spPr/>
        <p:txBody>
          <a:bodyPr/>
          <a:lstStyle/>
          <a:p>
            <a:r>
              <a:t>What is a common misconception</a:t>
            </a:r>
          </a:p>
          <a:p>
            <a:r>
              <a:t>about Social Security?</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99</a:t>
            </a:r>
          </a:p>
        </p:txBody>
      </p:sp>
      <p:sp>
        <p:nvSpPr>
          <p:cNvPr id="3" name="Content Placeholder 2"/>
          <p:cNvSpPr>
            <a:spLocks noGrp="1"/>
          </p:cNvSpPr>
          <p:nvPr>
            <p:ph idx="1"/>
          </p:nvPr>
        </p:nvSpPr>
        <p:spPr/>
        <p:txBody>
          <a:bodyPr/>
          <a:lstStyle/>
          <a:p/>
          <a:p>
            <a:r>
              <a:t>☐ Question 6 Select the appropriate response What is a common misconception about Social Security?</a:t>
            </a:r>
          </a:p>
          <a:p>
            <a:pPr>
              <a:defRPr b="1"/>
            </a:pPr>
            <a:r>
              <a:t>✅ It offers a basic level of protection</a:t>
            </a:r>
          </a:p>
          <a:p>
            <a:r>
              <a:t>☐ It provides disability income</a:t>
            </a:r>
          </a:p>
          <a:p>
            <a:r>
              <a:t>☐ It supplements personal insurance plans</a:t>
            </a:r>
          </a:p>
          <a:p>
            <a:r>
              <a:t>☐ It fully covers all financial needs</a:t>
            </a:r>
          </a:p>
          <a:p>
            <a:r>
              <a:t>☐ s that it fully covers all financial needs. In reality, Social Security is designed to provide a basic level of protection and to supplement personal savings, pensions, and other retirement plans. It offers basic % aa ...rancelicense.myabsorb.com &lt; &gt; + (21) 6</a:t>
            </a:r>
          </a:p>
          <a:p>
            <a:br/>
            <a:pPr>
              <a:defRPr sz="1400" i="1"/>
            </a:pPr>
            <a:r>
              <a:t>Explanation: a common misconception</a:t>
            </a:r>
            <a:br/>
            <a:r>
              <a:t>about Social Security?</a:t>
            </a:r>
            <a:br/>
            <a:r>
              <a:t>x) It offers a basic level of protection</a:t>
            </a:r>
            <a:br/>
            <a:r>
              <a:t>x) It provides disability income</a:t>
            </a:r>
            <a:br/>
            <a:r>
              <a:t>x) It supplements personal insurance plans</a:t>
            </a:r>
            <a:br/>
            <a:r>
              <a:t>g It fully covers all financial needs...</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100</a:t>
            </a:r>
          </a:p>
        </p:txBody>
      </p:sp>
      <p:sp>
        <p:nvSpPr>
          <p:cNvPr id="3" name="Content Placeholder 2"/>
          <p:cNvSpPr>
            <a:spLocks noGrp="1"/>
          </p:cNvSpPr>
          <p:nvPr>
            <p:ph idx="1"/>
          </p:nvPr>
        </p:nvSpPr>
        <p:spPr/>
        <p:txBody>
          <a:bodyPr/>
          <a:lstStyle/>
          <a:p>
            <a:r>
              <a:t>Mary is currently insured and has</a:t>
            </a:r>
          </a:p>
          <a:p>
            <a:r>
              <a:t>recently passed away. What benefits</a:t>
            </a:r>
          </a:p>
          <a:p>
            <a:r>
              <a:t>are available to her survivors?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100</a:t>
            </a:r>
          </a:p>
        </p:txBody>
      </p:sp>
      <p:sp>
        <p:nvSpPr>
          <p:cNvPr id="3" name="Content Placeholder 2"/>
          <p:cNvSpPr>
            <a:spLocks noGrp="1"/>
          </p:cNvSpPr>
          <p:nvPr>
            <p:ph idx="1"/>
          </p:nvPr>
        </p:nvSpPr>
        <p:spPr/>
        <p:txBody>
          <a:bodyPr/>
          <a:lstStyle/>
          <a:p/>
          <a:p>
            <a:pPr>
              <a:defRPr b="1"/>
            </a:pPr>
            <a:r>
              <a:t>✅ Retirement benefits</a:t>
            </a:r>
          </a:p>
          <a:p>
            <a:r>
              <a:t>☐ Survivor benefits</a:t>
            </a:r>
          </a:p>
          <a:p>
            <a:r>
              <a:t>☐ Medicare benefits</a:t>
            </a:r>
          </a:p>
          <a:p>
            <a:r>
              <a:t>☐ Disability benefits</a:t>
            </a:r>
          </a:p>
          <a:p>
            <a:br/>
            <a:pPr>
              <a:defRPr sz="1400" i="1"/>
            </a:pPr>
            <a:r>
              <a:t>Explanation: currently insured and has</a:t>
            </a:r>
            <a:br/>
            <a:r>
              <a:t>recently passed away. What benefits</a:t>
            </a:r>
            <a:br/>
            <a:r>
              <a:t>are available to her survivors?</a:t>
            </a:r>
            <a:br/>
            <a:r>
              <a:t>x) Retirement benefits</a:t>
            </a:r>
            <a:br/>
            <a:r>
              <a:t>g Survivor benefits</a:t>
            </a:r>
            <a:br/>
            <a:r>
              <a:t>x) Medicare benefits</a:t>
            </a:r>
            <a:br/>
            <a:r>
              <a:t>x) Disability benefits</a:t>
            </a:r>
            <a:br/>
            <a:r>
              <a:t>Proceed =</a:t>
            </a:r>
            <a:br/>
            <a:r>
              <a:t>és Since ...</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101</a:t>
            </a:r>
          </a:p>
        </p:txBody>
      </p:sp>
      <p:sp>
        <p:nvSpPr>
          <p:cNvPr id="3" name="Content Placeholder 2"/>
          <p:cNvSpPr>
            <a:spLocks noGrp="1"/>
          </p:cNvSpPr>
          <p:nvPr>
            <p:ph idx="1"/>
          </p:nvPr>
        </p:nvSpPr>
        <p:spPr/>
        <p:txBody>
          <a:bodyPr/>
          <a:lstStyle/>
          <a:p>
            <a:r>
              <a:t>How many quarters of coverage are</a:t>
            </a:r>
          </a:p>
          <a:p>
            <a:r>
              <a:t>needed to be considered fully insured?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101</a:t>
            </a:r>
          </a:p>
        </p:txBody>
      </p:sp>
      <p:sp>
        <p:nvSpPr>
          <p:cNvPr id="3" name="Content Placeholder 2"/>
          <p:cNvSpPr>
            <a:spLocks noGrp="1"/>
          </p:cNvSpPr>
          <p:nvPr>
            <p:ph idx="1"/>
          </p:nvPr>
        </p:nvSpPr>
        <p:spPr/>
        <p:txBody>
          <a:bodyPr/>
          <a:lstStyle/>
          <a:p/>
          <a:p>
            <a:r>
              <a:t>☐ 20 quarters</a:t>
            </a:r>
          </a:p>
          <a:p>
            <a:pPr>
              <a:defRPr b="1"/>
            </a:pPr>
            <a:r>
              <a:t>✅ 40 quarters</a:t>
            </a:r>
          </a:p>
          <a:p>
            <a:r>
              <a:t>☐ 30 quarters &amp; 50 quarters</a:t>
            </a:r>
          </a:p>
          <a:p>
            <a:br/>
            <a:pPr>
              <a:defRPr sz="1400" i="1"/>
            </a:pPr>
            <a:r>
              <a:t>Explanation: To be considered fully insured for Social Security</a:t>
            </a:r>
            <a:br/>
            <a:r>
              <a:t>benefits, an individual needs 40 quarters of</a:t>
            </a:r>
            <a:br/>
            <a:r>
              <a:t>coverage, equivalent to 10 years of work. This</a:t>
            </a:r>
            <a:br/>
            <a:r>
              <a:t>requirement ensures eligibility for retirement and</a:t>
            </a:r>
            <a:br/>
            <a:r>
              <a:t>disabi...</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102</a:t>
            </a:r>
          </a:p>
        </p:txBody>
      </p:sp>
      <p:sp>
        <p:nvSpPr>
          <p:cNvPr id="3" name="Content Placeholder 2"/>
          <p:cNvSpPr>
            <a:spLocks noGrp="1"/>
          </p:cNvSpPr>
          <p:nvPr>
            <p:ph idx="1"/>
          </p:nvPr>
        </p:nvSpPr>
        <p:spPr/>
        <p:txBody>
          <a:bodyPr/>
          <a:lstStyle/>
          <a:p>
            <a:r>
              <a:t>Sam, a fully insured worker, becomes</a:t>
            </a:r>
          </a:p>
          <a:p>
            <a:r>
              <a:t>disabled at age 50. When can he start</a:t>
            </a:r>
          </a:p>
          <a:p>
            <a:r>
              <a:t>receiving disability benefits from Social</a:t>
            </a:r>
          </a:p>
          <a:p>
            <a:r>
              <a:t>Security?</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102</a:t>
            </a:r>
          </a:p>
        </p:txBody>
      </p:sp>
      <p:sp>
        <p:nvSpPr>
          <p:cNvPr id="3" name="Content Placeholder 2"/>
          <p:cNvSpPr>
            <a:spLocks noGrp="1"/>
          </p:cNvSpPr>
          <p:nvPr>
            <p:ph idx="1"/>
          </p:nvPr>
        </p:nvSpPr>
        <p:spPr/>
        <p:txBody>
          <a:bodyPr/>
          <a:lstStyle/>
          <a:p/>
          <a:p>
            <a:r>
              <a:t>☐ 3:05 : Question 9 Select the appropriate response Sam, a fully insured worker, becomes disabled at age 50. When can he start receiving disability benefits from Social Security?</a:t>
            </a:r>
          </a:p>
          <a:p>
            <a:pPr>
              <a:defRPr b="1"/>
            </a:pPr>
            <a:r>
              <a:t>✅ After a five-month waiting period After one year Immediately At age 62</a:t>
            </a:r>
          </a:p>
          <a:p>
            <a:br/>
            <a:pPr>
              <a:defRPr sz="1400" i="1"/>
            </a:pPr>
            <a:r>
              <a:t>Explanation: Sam, as a fully insured worker who becomes</a:t>
            </a:r>
            <a:br/>
            <a:r>
              <a:t>disabled at age 50, can start receiving disability</a:t>
            </a:r>
            <a:br/>
            <a:r>
              <a:t>benefits from Social Security after a five-month...</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103</a:t>
            </a:r>
          </a:p>
        </p:txBody>
      </p:sp>
      <p:sp>
        <p:nvSpPr>
          <p:cNvPr id="3" name="Content Placeholder 2"/>
          <p:cNvSpPr>
            <a:spLocks noGrp="1"/>
          </p:cNvSpPr>
          <p:nvPr>
            <p:ph idx="1"/>
          </p:nvPr>
        </p:nvSpPr>
        <p:spPr/>
        <p:txBody>
          <a:bodyPr/>
          <a:lstStyle/>
          <a:p>
            <a:r>
              <a:t>Who is not typically covered by Social</a:t>
            </a:r>
          </a:p>
          <a:p>
            <a:r>
              <a:t>Security?</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103</a:t>
            </a:r>
          </a:p>
        </p:txBody>
      </p:sp>
      <p:sp>
        <p:nvSpPr>
          <p:cNvPr id="3" name="Content Placeholder 2"/>
          <p:cNvSpPr>
            <a:spLocks noGrp="1"/>
          </p:cNvSpPr>
          <p:nvPr>
            <p:ph idx="1"/>
          </p:nvPr>
        </p:nvSpPr>
        <p:spPr/>
        <p:txBody>
          <a:bodyPr/>
          <a:lstStyle/>
          <a:p/>
          <a:p>
            <a:r>
              <a:t>☐ e State and local government employees Railroad workers Federal employees hired before 1984 Self-employed individuals</a:t>
            </a:r>
          </a:p>
          <a:p>
            <a:r>
              <a:t>☐ Federal employees hired before 1984 are not typically covered by Social Security because they were covered by the Civil Service Retirement System (CSRS). This is different from state and local</a:t>
            </a:r>
          </a:p>
          <a:p>
            <a:pPr>
              <a:defRPr b="1"/>
            </a:pPr>
            <a:r>
              <a:t>✅ overnment employees, railroad workers, and self- l&lt; A &gt;| &amp; a ..rancelicense.myabsorb.com (© &lt; &gt; + (21)</a:t>
            </a:r>
          </a:p>
          <a:p>
            <a:br/>
            <a:pPr>
              <a:defRPr sz="1400" i="1"/>
            </a:pPr>
            <a:r>
              <a:t>Explanation: not typically covered by Social</a:t>
            </a:r>
            <a:br/>
            <a:r>
              <a:t>Security?</a:t>
            </a:r>
            <a:br/>
            <a:r>
              <a:t>x) e State and local government employees</a:t>
            </a:r>
            <a:br/>
            <a:r>
              <a:t>Railroad workers</a:t>
            </a:r>
            <a:br/>
            <a:r>
              <a:t>Federal employees hired before 1984</a:t>
            </a:r>
            <a:br/>
            <a:r>
              <a:t>Self-employed individuals</a:t>
            </a:r>
            <a:br/>
            <a:r>
              <a:t>Proceed =&gt;</a:t>
            </a:r>
            <a:br/>
            <a:r>
              <a:t>x Federal employees hired ...</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104</a:t>
            </a:r>
          </a:p>
        </p:txBody>
      </p:sp>
      <p:sp>
        <p:nvSpPr>
          <p:cNvPr id="3" name="Content Placeholder 2"/>
          <p:cNvSpPr>
            <a:spLocks noGrp="1"/>
          </p:cNvSpPr>
          <p:nvPr>
            <p:ph idx="1"/>
          </p:nvPr>
        </p:nvSpPr>
        <p:spPr/>
        <p:txBody>
          <a:bodyPr/>
          <a:lstStyle/>
          <a:p>
            <a:r>
              <a:t>Which type of Social Security benefit</a:t>
            </a:r>
          </a:p>
          <a:p>
            <a:r>
              <a:t>requires fully insured status and also</a:t>
            </a:r>
          </a:p>
          <a:p>
            <a:r>
              <a:t>meeting the definition of disability?</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104</a:t>
            </a:r>
          </a:p>
        </p:txBody>
      </p:sp>
      <p:sp>
        <p:nvSpPr>
          <p:cNvPr id="3" name="Content Placeholder 2"/>
          <p:cNvSpPr>
            <a:spLocks noGrp="1"/>
          </p:cNvSpPr>
          <p:nvPr>
            <p:ph idx="1"/>
          </p:nvPr>
        </p:nvSpPr>
        <p:spPr/>
        <p:txBody>
          <a:bodyPr/>
          <a:lstStyle/>
          <a:p/>
          <a:p>
            <a:r>
              <a:t>☐ Survivor benefits</a:t>
            </a:r>
          </a:p>
          <a:p>
            <a:r>
              <a:t>☐ Retirement benefits</a:t>
            </a:r>
          </a:p>
          <a:p>
            <a:pPr>
              <a:defRPr b="1"/>
            </a:pPr>
            <a:r>
              <a:t>✅ Disability benefits Medicare benefits</a:t>
            </a:r>
          </a:p>
          <a:p>
            <a:br/>
            <a:pPr>
              <a:defRPr sz="1400" i="1"/>
            </a:pPr>
            <a:r>
              <a:t>Explanation: Disability benefits under Social Security require</a:t>
            </a:r>
            <a:br/>
            <a:r>
              <a:t>that the individual be fully insured and meet the</a:t>
            </a:r>
            <a:br/>
            <a:r>
              <a:t>definition of disability as outlined by the Social</a:t>
            </a:r>
            <a:br/>
            <a:r>
              <a:t>Security Administration. This is different from</a:t>
            </a:r>
            <a:br/>
            <a:r>
              <a:t>&amp;...</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105</a:t>
            </a:r>
          </a:p>
        </p:txBody>
      </p:sp>
      <p:sp>
        <p:nvSpPr>
          <p:cNvPr id="3" name="Content Placeholder 2"/>
          <p:cNvSpPr>
            <a:spLocks noGrp="1"/>
          </p:cNvSpPr>
          <p:nvPr>
            <p:ph idx="1"/>
          </p:nvPr>
        </p:nvSpPr>
        <p:spPr/>
        <p:txBody>
          <a:bodyPr/>
          <a:lstStyle/>
          <a:p>
            <a:r>
              <a:t>Jane, a retired worker, earns $20,000</a:t>
            </a:r>
          </a:p>
          <a:p>
            <a:r>
              <a:t>from a part-time job at age 63. How</a:t>
            </a:r>
          </a:p>
          <a:p>
            <a:r>
              <a:t>will her Social Security benefits be</a:t>
            </a:r>
          </a:p>
          <a:p>
            <a:r>
              <a:t>affected?</a:t>
            </a:r>
          </a:p>
          <a:p>
            <a:r>
              <a:t>' ¢) e Her benefits will not be affected</a:t>
            </a:r>
          </a:p>
          <a:p>
            <a:r>
              <a:t>Her benefits will increase</a:t>
            </a:r>
          </a:p>
          <a:p>
            <a:r>
              <a:t>Her benefits will be reduced by $1 for every</a:t>
            </a:r>
          </a:p>
          <a:p>
            <a:r>
              <a:t>$2 earned above the limit</a:t>
            </a:r>
          </a:p>
          <a:p>
            <a:r>
              <a:t>Her benefits will be reduced by $1 for every</a:t>
            </a:r>
          </a:p>
          <a:p>
            <a:r>
              <a:t>$3 earned above the limit</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105</a:t>
            </a:r>
          </a:p>
        </p:txBody>
      </p:sp>
      <p:sp>
        <p:nvSpPr>
          <p:cNvPr id="3" name="Content Placeholder 2"/>
          <p:cNvSpPr>
            <a:spLocks noGrp="1"/>
          </p:cNvSpPr>
          <p:nvPr>
            <p:ph idx="1"/>
          </p:nvPr>
        </p:nvSpPr>
        <p:spPr/>
        <p:txBody>
          <a:bodyPr/>
          <a:lstStyle/>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106</a:t>
            </a:r>
          </a:p>
        </p:txBody>
      </p:sp>
      <p:sp>
        <p:nvSpPr>
          <p:cNvPr id="3" name="Content Placeholder 2"/>
          <p:cNvSpPr>
            <a:spLocks noGrp="1"/>
          </p:cNvSpPr>
          <p:nvPr>
            <p:ph idx="1"/>
          </p:nvPr>
        </p:nvSpPr>
        <p:spPr/>
        <p:txBody>
          <a:bodyPr/>
          <a:lstStyle/>
          <a:p>
            <a:r>
              <a:t>What does OASDHI stand for?</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106</a:t>
            </a:r>
          </a:p>
        </p:txBody>
      </p:sp>
      <p:sp>
        <p:nvSpPr>
          <p:cNvPr id="3" name="Content Placeholder 2"/>
          <p:cNvSpPr>
            <a:spLocks noGrp="1"/>
          </p:cNvSpPr>
          <p:nvPr>
            <p:ph idx="1"/>
          </p:nvPr>
        </p:nvSpPr>
        <p:spPr/>
        <p:txBody>
          <a:bodyPr/>
          <a:lstStyle/>
          <a:p/>
          <a:p>
            <a:r>
              <a:t>☐ Old Age, Sickness, Disability, Health Insurance</a:t>
            </a:r>
          </a:p>
          <a:p>
            <a:r>
              <a:t>☐ ld Age, Survivors, Disability, Health Insurance</a:t>
            </a:r>
          </a:p>
          <a:p>
            <a:r>
              <a:t>☐ Old Age, Savings, Disability, Health Insurance</a:t>
            </a:r>
          </a:p>
          <a:p>
            <a:r>
              <a:t>☐ ld Age, Survivors, Dependent Health Insurance</a:t>
            </a:r>
          </a:p>
          <a:p>
            <a:br/>
            <a:pPr>
              <a:defRPr sz="1400" i="1"/>
            </a:pPr>
            <a:r>
              <a:t>Explanation: OASDHI stands for Old Age, Survivors,</a:t>
            </a:r>
            <a:br/>
            <a:r>
              <a:t>Disability, Health Insurance, which is a</a:t>
            </a:r>
            <a:br/>
            <a:r>
              <a:t>comprehensive term for the benefits provided under</a:t>
            </a:r>
            <a:br/>
            <a:r>
              <a:t>&amp; a ..rancelicense.myabsorb.com (</a:t>
            </a:r>
            <a:br/>
            <a:r>
              <a:t>&lt; &gt; + (21)...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107</a:t>
            </a:r>
          </a:p>
        </p:txBody>
      </p:sp>
      <p:sp>
        <p:nvSpPr>
          <p:cNvPr id="3" name="Content Placeholder 2"/>
          <p:cNvSpPr>
            <a:spLocks noGrp="1"/>
          </p:cNvSpPr>
          <p:nvPr>
            <p:ph idx="1"/>
          </p:nvPr>
        </p:nvSpPr>
        <p:spPr/>
        <p:txBody>
          <a:bodyPr/>
          <a:lstStyle/>
          <a:p>
            <a:r>
              <a:t>The Primary Insurance Amount (PIA)</a:t>
            </a:r>
          </a:p>
          <a:p>
            <a:r>
              <a:t>represents the benefits</a:t>
            </a:r>
          </a:p>
          <a:p>
            <a:r>
              <a:t>available to an eligible individual at</a:t>
            </a:r>
          </a:p>
          <a:p>
            <a:r>
              <a:t>age 65.</a:t>
            </a:r>
          </a:p>
          <a:p>
            <a:r>
              <a:t>Partial retirement</a:t>
            </a:r>
          </a:p>
          <a:p>
            <a:r>
              <a:t>Survivor</a:t>
            </a:r>
          </a:p>
          <a:p>
            <a:r>
              <a:t>Disability</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107</a:t>
            </a:r>
          </a:p>
        </p:txBody>
      </p:sp>
      <p:sp>
        <p:nvSpPr>
          <p:cNvPr id="3" name="Content Placeholder 2"/>
          <p:cNvSpPr>
            <a:spLocks noGrp="1"/>
          </p:cNvSpPr>
          <p:nvPr>
            <p:ph idx="1"/>
          </p:nvPr>
        </p:nvSpPr>
        <p:spPr/>
        <p:txBody>
          <a:bodyPr/>
          <a:lstStyle/>
          <a:p/>
          <a:p>
            <a:r>
              <a:t>☐ Question 14 Select the appropriate response The Primary Insurance Amount (PIA) represents the benefits available to an eligible individual at age 65. Partial retirement Survivor Disability</a:t>
            </a:r>
          </a:p>
          <a:p>
            <a:pPr>
              <a:defRPr b="1"/>
            </a:pPr>
            <a:r>
              <a:t>✅ Full retirement</a:t>
            </a:r>
          </a:p>
          <a:p>
            <a:r>
              <a:t>☐ ndividual at age 65. This amount is calculated based % 4a ..rancelicense.myabsorb.com (© &lt; + (21)</a:t>
            </a:r>
          </a:p>
          <a:p>
            <a:br/>
            <a:pPr>
              <a:defRPr sz="1400" i="1"/>
            </a:pPr>
            <a:r>
              <a:t>Explanation: The Primary Insurance Amount (PIA) represents</a:t>
            </a:r>
            <a:br/>
            <a:r>
              <a:t>the full retirement benefits available to an eligible</a:t>
            </a:r>
            <a:br/>
            <a:r>
              <a:t>individual at age 65. This amount is calculated based...</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108</a:t>
            </a:r>
          </a:p>
        </p:txBody>
      </p:sp>
      <p:sp>
        <p:nvSpPr>
          <p:cNvPr id="3" name="Content Placeholder 2"/>
          <p:cNvSpPr>
            <a:spLocks noGrp="1"/>
          </p:cNvSpPr>
          <p:nvPr>
            <p:ph idx="1"/>
          </p:nvPr>
        </p:nvSpPr>
        <p:spPr/>
        <p:txBody>
          <a:bodyPr/>
          <a:lstStyle/>
          <a:p>
            <a:r>
              <a:t>What happens to a worker's Social</a:t>
            </a:r>
          </a:p>
          <a:p>
            <a:r>
              <a:t>Security retirement benefits if they</a:t>
            </a:r>
          </a:p>
          <a:p>
            <a:r>
              <a:t>choose to retire early at 62?</a:t>
            </a:r>
          </a:p>
          <a:p>
            <a:r>
              <a:t>Benefits remain the same</a:t>
            </a:r>
          </a:p>
          <a:p>
            <a:r>
              <a:t>Benefits are temporarily reduced</a:t>
            </a:r>
          </a:p>
          <a:p>
            <a:r>
              <a:t>Benefits are permanently increased</a:t>
            </a:r>
          </a:p>
          <a:p>
            <a:r>
              <a:t>Benefits are permanently reduced</a:t>
            </a:r>
          </a:p>
          <a:p>
            <a:r>
              <a:t>9 8 8 8</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108</a:t>
            </a:r>
          </a:p>
        </p:txBody>
      </p:sp>
      <p:sp>
        <p:nvSpPr>
          <p:cNvPr id="3" name="Content Placeholder 2"/>
          <p:cNvSpPr>
            <a:spLocks noGrp="1"/>
          </p:cNvSpPr>
          <p:nvPr>
            <p:ph idx="1"/>
          </p:nvPr>
        </p:nvSpPr>
        <p:spPr/>
        <p:txBody>
          <a:bodyPr/>
          <a:lstStyle/>
          <a:p/>
          <a:p>
            <a:r>
              <a:t>☐ Question 15 Select the appropriate response What happens to a worker's Social Security retirement benefits if they choose to retire early at 62? Benefits remain the same Benefits are temporarily reduced Benefits are permanently increased Benefits are permanently reduced 9 8 8 8</a:t>
            </a:r>
          </a:p>
          <a:p>
            <a:br/>
            <a:pPr>
              <a:defRPr sz="1400" i="1"/>
            </a:pPr>
            <a:r>
              <a:t>Explanation: 'f a worker chooses to retire early at 62, their</a:t>
            </a:r>
            <a:br/>
            <a:r>
              <a:t>Social Security retirement benefits are permanently</a:t>
            </a:r>
            <a:br/>
            <a:r>
              <a:t>reduced. This reduction is compared to the amount</a:t>
            </a:r>
            <a:br/>
            <a:r>
              <a:t>they would receive if they waited until their ful...</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109</a:t>
            </a:r>
          </a:p>
        </p:txBody>
      </p:sp>
      <p:sp>
        <p:nvSpPr>
          <p:cNvPr id="3" name="Content Placeholder 2"/>
          <p:cNvSpPr>
            <a:spLocks noGrp="1"/>
          </p:cNvSpPr>
          <p:nvPr>
            <p:ph idx="1"/>
          </p:nvPr>
        </p:nvSpPr>
        <p:spPr/>
        <p:txBody>
          <a:bodyPr/>
          <a:lstStyle/>
          <a:p>
            <a:r>
              <a:t>A plan is a retirement or</a:t>
            </a:r>
          </a:p>
          <a:p>
            <a:r>
              <a:t>employee compensation plan that</a:t>
            </a:r>
          </a:p>
          <a:p>
            <a:r>
              <a:t>meets IRS guidelines and</a:t>
            </a:r>
          </a:p>
          <a:p>
            <a:r>
              <a:t>consequently receives favorable tax</a:t>
            </a:r>
          </a:p>
          <a:p>
            <a:r>
              <a:t>treatment</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109</a:t>
            </a:r>
          </a:p>
        </p:txBody>
      </p:sp>
      <p:sp>
        <p:nvSpPr>
          <p:cNvPr id="3" name="Content Placeholder 2"/>
          <p:cNvSpPr>
            <a:spLocks noGrp="1"/>
          </p:cNvSpPr>
          <p:nvPr>
            <p:ph idx="1"/>
          </p:nvPr>
        </p:nvSpPr>
        <p:spPr/>
        <p:txBody>
          <a:bodyPr/>
          <a:lstStyle/>
          <a:p/>
          <a:p>
            <a:br/>
            <a:pPr>
              <a:defRPr sz="1400" i="1"/>
            </a:pPr>
            <a:r>
              <a:t>Explanation: a retirement or</a:t>
            </a:r>
            <a:br/>
            <a:r>
              <a:t>employee compensation plan that</a:t>
            </a:r>
            <a:br/>
            <a:r>
              <a:t>meets IRS guidelines and</a:t>
            </a:r>
            <a:br/>
            <a:r>
              <a:t>consequently receives favorable tax</a:t>
            </a:r>
            <a:br/>
            <a:r>
              <a:t>treatment</a:t>
            </a:r>
            <a:br/>
            <a:r>
              <a:t>Proceed =&gt;</a:t>
            </a:r>
            <a:br/>
            <a:r>
              <a:t>I&lt; A &gt;|</a:t>
            </a:r>
            <a:br/>
            <a:r>
              <a:t>% a ...rancelicense.myabsorb.com </a:t>
            </a:r>
            <a:br/>
            <a:r>
              <a:t>&lt; &gt; + (21)...</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110</a:t>
            </a:r>
          </a:p>
        </p:txBody>
      </p:sp>
      <p:sp>
        <p:nvSpPr>
          <p:cNvPr id="3" name="Content Placeholder 2"/>
          <p:cNvSpPr>
            <a:spLocks noGrp="1"/>
          </p:cNvSpPr>
          <p:nvPr>
            <p:ph idx="1"/>
          </p:nvPr>
        </p:nvSpPr>
        <p:spPr/>
        <p:txBody>
          <a:bodyPr/>
          <a:lstStyle/>
          <a:p>
            <a:r>
              <a:t>An employer-sponsored retirement</a:t>
            </a:r>
          </a:p>
          <a:p>
            <a:r>
              <a:t>plan that distributes benefits in the</a:t>
            </a:r>
          </a:p>
          <a:p>
            <a:r>
              <a:t>form of company stock is Known as a</a:t>
            </a:r>
          </a:p>
          <a:p>
            <a:r>
              <a:t>401(k) plan</a:t>
            </a:r>
          </a:p>
          <a:p>
            <a:r>
              <a:t>profit-sharing plan</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110</a:t>
            </a:r>
          </a:p>
        </p:txBody>
      </p:sp>
      <p:sp>
        <p:nvSpPr>
          <p:cNvPr id="3" name="Content Placeholder 2"/>
          <p:cNvSpPr>
            <a:spLocks noGrp="1"/>
          </p:cNvSpPr>
          <p:nvPr>
            <p:ph idx="1"/>
          </p:nvPr>
        </p:nvSpPr>
        <p:spPr/>
        <p:txBody>
          <a:bodyPr/>
          <a:lstStyle/>
          <a:p/>
          <a:p>
            <a:r>
              <a:t>☐ Question 2 Select the appropriate response An employer-sponsored retirement plan that distributes benefits in the form of company stock is Known as a 401(k) plan profit-sharing plan</a:t>
            </a:r>
          </a:p>
          <a:p>
            <a:pPr>
              <a:defRPr b="1"/>
            </a:pPr>
            <a:r>
              <a:t>✅ stock bonus plan money purchase plan</a:t>
            </a:r>
          </a:p>
          <a:p>
            <a:br/>
            <a:pPr>
              <a:defRPr sz="1400" i="1"/>
            </a:pPr>
            <a:r>
              <a:t>Explanation: Known as a</a:t>
            </a:r>
            <a:br/>
            <a:r>
              <a:t>401(k) plan</a:t>
            </a:r>
            <a:br/>
            <a:r>
              <a:t>profit-sharing plan</a:t>
            </a:r>
            <a:br/>
            <a:r>
              <a:t>g stock bonus plan</a:t>
            </a:r>
            <a:br/>
            <a:r>
              <a:t>money purchase plan</a:t>
            </a:r>
            <a:br/>
            <a:r>
              <a:t>Proceed =&gt;</a:t>
            </a:r>
            <a:br/>
            <a:r>
              <a:t>ds An employer-sponsored retirement plan that</a:t>
            </a:r>
            <a:br/>
            <a:r>
              <a:t>distributes benefits in the form of company stock is</a:t>
            </a:r>
            <a:br/>
            <a:r>
              <a:t>known as...</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111</a:t>
            </a:r>
          </a:p>
        </p:txBody>
      </p:sp>
      <p:sp>
        <p:nvSpPr>
          <p:cNvPr id="3" name="Content Placeholder 2"/>
          <p:cNvSpPr>
            <a:spLocks noGrp="1"/>
          </p:cNvSpPr>
          <p:nvPr>
            <p:ph idx="1"/>
          </p:nvPr>
        </p:nvSpPr>
        <p:spPr/>
        <p:txBody>
          <a:bodyPr/>
          <a:lstStyle/>
          <a:p>
            <a:r>
              <a:t>What is a key feature of a defined</a:t>
            </a:r>
          </a:p>
          <a:p>
            <a:r>
              <a:t>benefit plan?</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111</a:t>
            </a:r>
          </a:p>
        </p:txBody>
      </p:sp>
      <p:sp>
        <p:nvSpPr>
          <p:cNvPr id="3" name="Content Placeholder 2"/>
          <p:cNvSpPr>
            <a:spLocks noGrp="1"/>
          </p:cNvSpPr>
          <p:nvPr>
            <p:ph idx="1"/>
          </p:nvPr>
        </p:nvSpPr>
        <p:spPr/>
        <p:txBody>
          <a:bodyPr/>
          <a:lstStyle/>
          <a:p/>
          <a:p>
            <a:r>
              <a:t>☐ Question 3 Select the appropriate response What is a key feature of a defined benefit plan?</a:t>
            </a:r>
          </a:p>
          <a:p>
            <a:pPr>
              <a:defRPr b="1"/>
            </a:pPr>
            <a:r>
              <a:t>✅ Specifies a guaranteed future benefit determined by a formula. Contributions are made at the employee's discretion.</a:t>
            </a:r>
          </a:p>
          <a:p>
            <a:r>
              <a:t>☐ s) Benefits depend on investment performance. Provides stock options to employees.</a:t>
            </a:r>
          </a:p>
          <a:p>
            <a:br/>
            <a:pPr>
              <a:defRPr sz="1400" i="1"/>
            </a:pPr>
            <a:r>
              <a:t>Explanation: a key feature of a defined</a:t>
            </a:r>
            <a:br/>
            <a:r>
              <a:t>benefit plan?</a:t>
            </a:r>
            <a:br/>
            <a:r>
              <a:t>iv) Specifies a guaranteed future benefit</a:t>
            </a:r>
            <a:br/>
            <a:r>
              <a:t>determined by a formula.</a:t>
            </a:r>
            <a:br/>
            <a:r>
              <a:t>Contributions are made at the employee's</a:t>
            </a:r>
            <a:br/>
            <a:r>
              <a:t>discretion.</a:t>
            </a:r>
            <a:br/>
            <a:r>
              <a:t>is) Benefits depend on investment</a:t>
            </a:r>
            <a:br/>
            <a:r>
              <a:t>perfo...</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112</a:t>
            </a:r>
          </a:p>
        </p:txBody>
      </p:sp>
      <p:sp>
        <p:nvSpPr>
          <p:cNvPr id="3" name="Content Placeholder 2"/>
          <p:cNvSpPr>
            <a:spLocks noGrp="1"/>
          </p:cNvSpPr>
          <p:nvPr>
            <p:ph idx="1"/>
          </p:nvPr>
        </p:nvSpPr>
        <p:spPr/>
        <p:txBody>
          <a:bodyPr/>
          <a:lstStyle/>
          <a:p>
            <a:r>
              <a:t>Which act established the fundamental</a:t>
            </a:r>
          </a:p>
          <a:p>
            <a:r>
              <a:t>principles for qualified employer</a:t>
            </a:r>
          </a:p>
          <a:p>
            <a:r>
              <a:t>plans?</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112</a:t>
            </a:r>
          </a:p>
        </p:txBody>
      </p:sp>
      <p:sp>
        <p:nvSpPr>
          <p:cNvPr id="3" name="Content Placeholder 2"/>
          <p:cNvSpPr>
            <a:spLocks noGrp="1"/>
          </p:cNvSpPr>
          <p:nvPr>
            <p:ph idx="1"/>
          </p:nvPr>
        </p:nvSpPr>
        <p:spPr/>
        <p:txBody>
          <a:bodyPr/>
          <a:lstStyle/>
          <a:p/>
          <a:p>
            <a:r>
              <a:t>☐ 3:1 1 ef Question 4 Select the appropriate response Which act established the fundamental principles for qualified employer plans?</a:t>
            </a:r>
          </a:p>
          <a:p>
            <a:r>
              <a:t>☐ Social Security Act</a:t>
            </a:r>
          </a:p>
          <a:p>
            <a:r>
              <a:t>☐ Pension Protection Act</a:t>
            </a:r>
          </a:p>
          <a:p>
            <a:r>
              <a:t>☐ Taxpayer Relief Act Employee Retirement Income Security Act of 1974</a:t>
            </a:r>
          </a:p>
          <a:p>
            <a:br/>
            <a:pPr>
              <a:defRPr sz="1400" i="1"/>
            </a:pPr>
            <a:r>
              <a:t>Explanation: The Employee Retirement Income Security Act</a:t>
            </a:r>
            <a:br/>
            <a:r>
              <a:t>of 1974 (ERISA) established the fundamental</a:t>
            </a:r>
            <a:br/>
            <a:r>
              <a:t>principles for qualified employer plans. This act set</a:t>
            </a:r>
            <a:br/>
            <a:r>
              <a:t>&amp; a ..rancelicense.myabsorb.com (</a:t>
            </a:r>
            <a:br/>
            <a:r>
              <a:t>&lt; &gt; + (21)...</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113</a:t>
            </a:r>
          </a:p>
        </p:txBody>
      </p:sp>
      <p:sp>
        <p:nvSpPr>
          <p:cNvPr id="3" name="Content Placeholder 2"/>
          <p:cNvSpPr>
            <a:spLocks noGrp="1"/>
          </p:cNvSpPr>
          <p:nvPr>
            <p:ph idx="1"/>
          </p:nvPr>
        </p:nvSpPr>
        <p:spPr/>
        <p:txBody>
          <a:bodyPr/>
          <a:lstStyle/>
          <a:p>
            <a:r>
              <a:t>Jane is a teacher at a public school</a:t>
            </a:r>
          </a:p>
          <a:p>
            <a:r>
              <a:t>and wants to invest in a retirement</a:t>
            </a:r>
          </a:p>
          <a:p>
            <a:r>
              <a:t>plan that offers tax advantages. Which</a:t>
            </a:r>
          </a:p>
          <a:p>
            <a:r>
              <a:t>plan is specifically designed for her?</a:t>
            </a:r>
          </a:p>
          <a:p>
            <a:r>
              <a:t>SEP IRA</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113</a:t>
            </a:r>
          </a:p>
        </p:txBody>
      </p:sp>
      <p:sp>
        <p:nvSpPr>
          <p:cNvPr id="3" name="Content Placeholder 2"/>
          <p:cNvSpPr>
            <a:spLocks noGrp="1"/>
          </p:cNvSpPr>
          <p:nvPr>
            <p:ph idx="1"/>
          </p:nvPr>
        </p:nvSpPr>
        <p:spPr/>
        <p:txBody>
          <a:bodyPr/>
          <a:lstStyle/>
          <a:p/>
          <a:p>
            <a:r>
              <a:t>☐ Question 5 Select the appropriate response Jane is a teacher at a public school and wants to invest in a retirement plan that offers tax advantages. Which plan is specifically designed for her? SEP IRA</a:t>
            </a:r>
          </a:p>
          <a:p>
            <a:pPr>
              <a:defRPr b="1"/>
            </a:pPr>
            <a:r>
              <a:t>✅ 403(b) plan SIMPLE IRA 401(k) plan</a:t>
            </a:r>
          </a:p>
          <a:p>
            <a:r>
              <a:t>☐ nvest in a 403(b) plan. This plan is specifically designed for employees of public schools and % 4a ..rancelicense.myabsorb.com (© &lt; + (21)</a:t>
            </a:r>
          </a:p>
          <a:p>
            <a:br/>
            <a:pPr>
              <a:defRPr sz="1400" i="1"/>
            </a:pPr>
            <a:r>
              <a:t>Explanation: a teacher at a public school</a:t>
            </a:r>
            <a:br/>
            <a:r>
              <a:t>and wants to invest in a retirement</a:t>
            </a:r>
            <a:br/>
            <a:r>
              <a:t>plan that offers tax advantages. Which</a:t>
            </a:r>
            <a:br/>
            <a:r>
              <a:t>plan is specifically designed for her?</a:t>
            </a:r>
            <a:br/>
            <a:r>
              <a:t>SEP IRA</a:t>
            </a:r>
            <a:br/>
            <a:r>
              <a:t>g 403(b) plan</a:t>
            </a:r>
            <a:br/>
            <a:r>
              <a:t>SIMPLE IRA</a:t>
            </a:r>
            <a:br/>
            <a:r>
              <a:t>401(k) plan</a:t>
            </a:r>
            <a:br/>
            <a:r>
              <a:t>Proceed =&gt;</a:t>
            </a:r>
            <a:br/>
            <a:r>
              <a:t>d...</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114</a:t>
            </a:r>
          </a:p>
        </p:txBody>
      </p:sp>
      <p:sp>
        <p:nvSpPr>
          <p:cNvPr id="3" name="Content Placeholder 2"/>
          <p:cNvSpPr>
            <a:spLocks noGrp="1"/>
          </p:cNvSpPr>
          <p:nvPr>
            <p:ph idx="1"/>
          </p:nvPr>
        </p:nvSpPr>
        <p:spPr/>
        <p:txBody>
          <a:bodyPr/>
          <a:lstStyle/>
          <a:p>
            <a:r>
              <a:t>Which of the following is a</a:t>
            </a:r>
          </a:p>
          <a:p>
            <a:r>
              <a:t>characteristic of qualified retirement</a:t>
            </a:r>
          </a:p>
          <a:p>
            <a:r>
              <a:t>plans?</a:t>
            </a:r>
          </a:p>
          <a:p>
            <a:r>
              <a:t>Employer contributions are not deductible.</a:t>
            </a:r>
          </a:p>
          <a:p>
            <a:r>
              <a:t>Contributions are taxed when made.</a:t>
            </a:r>
          </a:p>
          <a:p>
            <a:r>
              <a:t>Earnings within the plan are taxed</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114</a:t>
            </a:r>
          </a:p>
        </p:txBody>
      </p:sp>
      <p:sp>
        <p:nvSpPr>
          <p:cNvPr id="3" name="Content Placeholder 2"/>
          <p:cNvSpPr>
            <a:spLocks noGrp="1"/>
          </p:cNvSpPr>
          <p:nvPr>
            <p:ph idx="1"/>
          </p:nvPr>
        </p:nvSpPr>
        <p:spPr/>
        <p:txBody>
          <a:bodyPr/>
          <a:lstStyle/>
          <a:p/>
          <a:p>
            <a:r>
              <a:t>☐ 3:12 ef Question 6 Select the appropriate response Which of the following is a characteristic of qualified retirement plans? Employer contributions are not deductible. Contributions are taxed when made. Earnings within the plan are taxed</a:t>
            </a:r>
          </a:p>
          <a:p>
            <a:pPr>
              <a:defRPr b="1"/>
            </a:pPr>
            <a:r>
              <a:t>✅ mmediately.</a:t>
            </a:r>
          </a:p>
          <a:p>
            <a:r>
              <a:t>☐ Employer contributions are deductible as a business expense.</a:t>
            </a:r>
          </a:p>
          <a:p>
            <a:br/>
            <a:pPr>
              <a:defRPr sz="1400" i="1"/>
            </a:pPr>
            <a:r>
              <a:t>Explanation: a</a:t>
            </a:r>
            <a:br/>
            <a:r>
              <a:t>characteristic of qualified retirement</a:t>
            </a:r>
            <a:br/>
            <a:r>
              <a:t>plans?</a:t>
            </a:r>
            <a:br/>
            <a:r>
              <a:t>Employer contributions are not deductible.</a:t>
            </a:r>
            <a:br/>
            <a:r>
              <a:t>Contributions are taxed when made.</a:t>
            </a:r>
            <a:br/>
            <a:r>
              <a:t>Earnings within the plan are taxed</a:t>
            </a:r>
            <a:br/>
            <a:r>
              <a:t>immediately.</a:t>
            </a:r>
            <a:br/>
            <a:r>
              <a:t>g Employer contributions a...</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115</a:t>
            </a:r>
          </a:p>
        </p:txBody>
      </p:sp>
      <p:sp>
        <p:nvSpPr>
          <p:cNvPr id="3" name="Content Placeholder 2"/>
          <p:cNvSpPr>
            <a:spLocks noGrp="1"/>
          </p:cNvSpPr>
          <p:nvPr>
            <p:ph idx="1"/>
          </p:nvPr>
        </p:nvSpPr>
        <p:spPr/>
        <p:txBody>
          <a:bodyPr/>
          <a:lstStyle/>
          <a:p>
            <a:r>
              <a:t>Emma's employer offers a retirement</a:t>
            </a:r>
          </a:p>
          <a:p>
            <a:r>
              <a:t>plan where contributions are made in</a:t>
            </a:r>
          </a:p>
          <a:p>
            <a:r>
              <a:t>the form of company stock. What type</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115</a:t>
            </a:r>
          </a:p>
        </p:txBody>
      </p:sp>
      <p:sp>
        <p:nvSpPr>
          <p:cNvPr id="3" name="Content Placeholder 2"/>
          <p:cNvSpPr>
            <a:spLocks noGrp="1"/>
          </p:cNvSpPr>
          <p:nvPr>
            <p:ph idx="1"/>
          </p:nvPr>
        </p:nvSpPr>
        <p:spPr/>
        <p:txBody>
          <a:bodyPr/>
          <a:lstStyle/>
          <a:p/>
          <a:p>
            <a:r>
              <a:t>☐ Question 7 Select the appropriate response Emma's employer offers a retirement plan where contributions are made in the form of company stock. What type of plan is this? Profit-sharing plan Money purchase plan</a:t>
            </a:r>
          </a:p>
          <a:p>
            <a:pPr>
              <a:defRPr b="1"/>
            </a:pPr>
            <a:r>
              <a:t>✅ Stock bonus plan ESOP</a:t>
            </a:r>
          </a:p>
          <a:p>
            <a:br/>
            <a:pPr>
              <a:defRPr sz="1400" i="1"/>
            </a:pPr>
            <a:r>
              <a:t>Explanation: this?</a:t>
            </a:r>
            <a:br/>
            <a:r>
              <a:t>Profit-sharing plan</a:t>
            </a:r>
            <a:br/>
            <a:r>
              <a:t>Money purchase plan</a:t>
            </a:r>
            <a:br/>
            <a:r>
              <a:t>g Stock bonus plan</a:t>
            </a:r>
            <a:br/>
            <a:r>
              <a:t>ESOP</a:t>
            </a:r>
            <a:br/>
            <a:r>
              <a:t>Proceed =&gt;</a:t>
            </a:r>
            <a:br/>
            <a:r>
              <a:t>ds 'f Emma's employer offers a retirement plan with</a:t>
            </a:r>
            <a:br/>
            <a:r>
              <a:t>contributions made in the form of company stock, it is</a:t>
            </a:r>
            <a:br/>
            <a:r>
              <a:t>a stock bonu...</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116</a:t>
            </a:r>
          </a:p>
        </p:txBody>
      </p:sp>
      <p:sp>
        <p:nvSpPr>
          <p:cNvPr id="3" name="Content Placeholder 2"/>
          <p:cNvSpPr>
            <a:spLocks noGrp="1"/>
          </p:cNvSpPr>
          <p:nvPr>
            <p:ph idx="1"/>
          </p:nvPr>
        </p:nvSpPr>
        <p:spPr/>
        <p:txBody>
          <a:bodyPr/>
          <a:lstStyle/>
          <a:p>
            <a:r>
              <a:t>A 403(b) plan is primarily available to</a:t>
            </a:r>
          </a:p>
          <a:p>
            <a:r>
              <a:t>which of the following groups of</a:t>
            </a:r>
          </a:p>
          <a:p>
            <a:r>
              <a:t>employees?</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116</a:t>
            </a:r>
          </a:p>
        </p:txBody>
      </p:sp>
      <p:sp>
        <p:nvSpPr>
          <p:cNvPr id="3" name="Content Placeholder 2"/>
          <p:cNvSpPr>
            <a:spLocks noGrp="1"/>
          </p:cNvSpPr>
          <p:nvPr>
            <p:ph idx="1"/>
          </p:nvPr>
        </p:nvSpPr>
        <p:spPr/>
        <p:txBody>
          <a:bodyPr/>
          <a:lstStyle/>
          <a:p/>
          <a:p>
            <a:pPr>
              <a:defRPr b="1"/>
            </a:pPr>
            <a:r>
              <a:t>✅ e Public school employees</a:t>
            </a:r>
          </a:p>
          <a:p>
            <a:br/>
            <a:pPr>
              <a:defRPr sz="1400" i="1"/>
            </a:pPr>
            <a:r>
              <a:t>Explanation: primarily available to</a:t>
            </a:r>
            <a:br/>
            <a:r>
              <a:t>which of the following groups of</a:t>
            </a:r>
            <a:br/>
            <a:r>
              <a:t>employees?</a:t>
            </a:r>
            <a:br/>
            <a:r>
              <a:t>Government employees</a:t>
            </a:r>
            <a:br/>
            <a:r>
              <a:t>Corporate executives</a:t>
            </a:r>
            <a:br/>
            <a:r>
              <a:t>Self-employed individuals</a:t>
            </a:r>
            <a:br/>
            <a:r>
              <a:t>g e Public school employees</a:t>
            </a:r>
            <a:br/>
            <a:r>
              <a:t>l&lt; A &gt;|</a:t>
            </a:r>
            <a:br/>
            <a:r>
              <a:t>&amp; a ..rancelicense.myabsorb.c...</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117</a:t>
            </a:r>
          </a:p>
        </p:txBody>
      </p:sp>
      <p:sp>
        <p:nvSpPr>
          <p:cNvPr id="3" name="Content Placeholder 2"/>
          <p:cNvSpPr>
            <a:spLocks noGrp="1"/>
          </p:cNvSpPr>
          <p:nvPr>
            <p:ph idx="1"/>
          </p:nvPr>
        </p:nvSpPr>
        <p:spPr/>
        <p:txBody>
          <a:bodyPr/>
          <a:lstStyle/>
          <a:p>
            <a:r>
              <a:t>To comply with annual reporting</a:t>
            </a:r>
          </a:p>
          <a:p>
            <a:r>
              <a:t>requirements under ERISA, employers</a:t>
            </a:r>
          </a:p>
          <a:p>
            <a:r>
              <a:t>must file</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117</a:t>
            </a:r>
          </a:p>
        </p:txBody>
      </p:sp>
      <p:sp>
        <p:nvSpPr>
          <p:cNvPr id="3" name="Content Placeholder 2"/>
          <p:cNvSpPr>
            <a:spLocks noGrp="1"/>
          </p:cNvSpPr>
          <p:nvPr>
            <p:ph idx="1"/>
          </p:nvPr>
        </p:nvSpPr>
        <p:spPr/>
        <p:txBody>
          <a:bodyPr/>
          <a:lstStyle/>
          <a:p/>
          <a:p>
            <a:r>
              <a:t>☐ Form 1099 &gt;) Form 1040</a:t>
            </a:r>
          </a:p>
          <a:p>
            <a:pPr>
              <a:defRPr b="1"/>
            </a:pPr>
            <a:r>
              <a:t>✅ Form 5500</a:t>
            </a:r>
          </a:p>
          <a:p>
            <a:r>
              <a:t>☐ Form W-2</a:t>
            </a:r>
          </a:p>
          <a:p>
            <a:br/>
            <a:pPr>
              <a:defRPr sz="1400" i="1"/>
            </a:pPr>
            <a:r>
              <a:t>Explanation: To comply with annual reporting requirements</a:t>
            </a:r>
            <a:br/>
            <a:r>
              <a:t>under ERISA, employers must file Form 5500. This</a:t>
            </a:r>
            <a:br/>
            <a:r>
              <a:t>form provides information on the plan's financial</a:t>
            </a:r>
            <a:br/>
            <a:r>
              <a:t>condition, investments, and operations. This is</a:t>
            </a:r>
            <a:br/>
            <a:r>
              <a:t>&amp; a ..ra...</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118</a:t>
            </a:r>
          </a:p>
        </p:txBody>
      </p:sp>
      <p:sp>
        <p:nvSpPr>
          <p:cNvPr id="3" name="Content Placeholder 2"/>
          <p:cNvSpPr>
            <a:spLocks noGrp="1"/>
          </p:cNvSpPr>
          <p:nvPr>
            <p:ph idx="1"/>
          </p:nvPr>
        </p:nvSpPr>
        <p:spPr/>
        <p:txBody>
          <a:bodyPr/>
          <a:lstStyle/>
          <a:p>
            <a:r>
              <a:t>What is the purpose of Form 5500?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118</a:t>
            </a:r>
          </a:p>
        </p:txBody>
      </p:sp>
      <p:sp>
        <p:nvSpPr>
          <p:cNvPr id="3" name="Content Placeholder 2"/>
          <p:cNvSpPr>
            <a:spLocks noGrp="1"/>
          </p:cNvSpPr>
          <p:nvPr>
            <p:ph idx="1"/>
          </p:nvPr>
        </p:nvSpPr>
        <p:spPr/>
        <p:txBody>
          <a:bodyPr/>
          <a:lstStyle/>
          <a:p/>
          <a:p>
            <a:r>
              <a:t>☐ To report employee wages. To calculate retirement benefits.</a:t>
            </a:r>
          </a:p>
          <a:p>
            <a:pPr>
              <a:defRPr b="1"/>
            </a:pPr>
            <a:r>
              <a:t>✅ To comply with annual reporting requirements under ERISA. To apply for a new retirement plan.</a:t>
            </a:r>
          </a:p>
          <a:p>
            <a:br/>
            <a:pPr>
              <a:defRPr sz="1400" i="1"/>
            </a:pPr>
            <a:r>
              <a:t>Explanation: the purpose of Form 5500?</a:t>
            </a:r>
            <a:br/>
            <a:r>
              <a:t>x) To report employee wages.</a:t>
            </a:r>
            <a:br/>
            <a:r>
              <a:t>To calculate retirement benefits.</a:t>
            </a:r>
            <a:br/>
            <a:r>
              <a:t>g To comply with annual reporting</a:t>
            </a:r>
            <a:br/>
            <a:r>
              <a:t>requirements under ERISA.</a:t>
            </a:r>
            <a:br/>
            <a:r>
              <a:t>To apply for a new retirement plan.</a:t>
            </a:r>
            <a:br/>
            <a:r>
              <a:t>ds The purpose ...</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119</a:t>
            </a:r>
          </a:p>
        </p:txBody>
      </p:sp>
      <p:sp>
        <p:nvSpPr>
          <p:cNvPr id="3" name="Content Placeholder 2"/>
          <p:cNvSpPr>
            <a:spLocks noGrp="1"/>
          </p:cNvSpPr>
          <p:nvPr>
            <p:ph idx="1"/>
          </p:nvPr>
        </p:nvSpPr>
        <p:spPr/>
        <p:txBody>
          <a:bodyPr/>
          <a:lstStyle/>
          <a:p>
            <a:r>
              <a:t>What is the main goal of the Pension</a:t>
            </a:r>
          </a:p>
          <a:p>
            <a:r>
              <a:t>Protection Act of 2006?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119</a:t>
            </a:r>
          </a:p>
        </p:txBody>
      </p:sp>
      <p:sp>
        <p:nvSpPr>
          <p:cNvPr id="3" name="Content Placeholder 2"/>
          <p:cNvSpPr>
            <a:spLocks noGrp="1"/>
          </p:cNvSpPr>
          <p:nvPr>
            <p:ph idx="1"/>
          </p:nvPr>
        </p:nvSpPr>
        <p:spPr/>
        <p:txBody>
          <a:bodyPr/>
          <a:lstStyle/>
          <a:p/>
          <a:p>
            <a:r>
              <a:t>☐ To strengthen the overall pension system and provide workers with greater support</a:t>
            </a:r>
          </a:p>
          <a:p>
            <a:pPr>
              <a:defRPr b="1"/>
            </a:pPr>
            <a:r>
              <a:t>✅ To eliminate pension plans.</a:t>
            </a:r>
          </a:p>
          <a:p>
            <a:r>
              <a:t>☐ To increase government control over pension funds.</a:t>
            </a:r>
          </a:p>
          <a:p>
            <a:r>
              <a:t>☐ To reduce tax benefits for retirement plans.</a:t>
            </a:r>
          </a:p>
          <a:p>
            <a:br/>
            <a:pPr>
              <a:defRPr sz="1400" i="1"/>
            </a:pPr>
            <a:r>
              <a:t>Explanation: the main goal of the Pension</a:t>
            </a:r>
            <a:br/>
            <a:r>
              <a:t>Protection Act of 2006?</a:t>
            </a:r>
            <a:br/>
            <a:r>
              <a:t>iv) To strengthen the overall pension system</a:t>
            </a:r>
            <a:br/>
            <a:r>
              <a:t>and provide workers with greater support</a:t>
            </a:r>
            <a:br/>
            <a:r>
              <a:t>x) To eliminate pension plans.</a:t>
            </a:r>
            <a:br/>
            <a:r>
              <a:t>x) To increase government cont...</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120</a:t>
            </a:r>
          </a:p>
        </p:txBody>
      </p:sp>
      <p:sp>
        <p:nvSpPr>
          <p:cNvPr id="3" name="Content Placeholder 2"/>
          <p:cNvSpPr>
            <a:spLocks noGrp="1"/>
          </p:cNvSpPr>
          <p:nvPr>
            <p:ph idx="1"/>
          </p:nvPr>
        </p:nvSpPr>
        <p:spPr/>
        <p:txBody>
          <a:bodyPr/>
          <a:lstStyle/>
          <a:p>
            <a:r>
              <a:t>What is the primary purpose of a</a:t>
            </a:r>
          </a:p>
          <a:p>
            <a:r>
              <a:t>conduit IRA?</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120</a:t>
            </a:r>
          </a:p>
        </p:txBody>
      </p:sp>
      <p:sp>
        <p:nvSpPr>
          <p:cNvPr id="3" name="Content Placeholder 2"/>
          <p:cNvSpPr>
            <a:spLocks noGrp="1"/>
          </p:cNvSpPr>
          <p:nvPr>
            <p:ph idx="1"/>
          </p:nvPr>
        </p:nvSpPr>
        <p:spPr/>
        <p:txBody>
          <a:bodyPr/>
          <a:lstStyle/>
          <a:p/>
          <a:p>
            <a:r>
              <a:t>☐ To provide immediate tax benefits. To serve as a primary retirement savings account. To act as a temporary holding account for</a:t>
            </a:r>
          </a:p>
          <a:p>
            <a:r>
              <a:t>☐ To offer higher interest rates. funds transferred between qualified plans.</a:t>
            </a:r>
          </a:p>
          <a:p>
            <a:r>
              <a:t>☐ ndividuals maintain the tax-deferred status of their &amp; a ..rancelicense.myabsorb.com (© &lt; &gt; + (21)</a:t>
            </a:r>
          </a:p>
          <a:p>
            <a:br/>
            <a:pPr>
              <a:defRPr sz="1400" i="1"/>
            </a:pPr>
            <a:r>
              <a:t>Explanation: the primary purpose of a</a:t>
            </a:r>
            <a:br/>
            <a:r>
              <a:t>conduit IRA?</a:t>
            </a:r>
            <a:br/>
            <a:r>
              <a:t>x) To provide immediate tax benefits.</a:t>
            </a:r>
            <a:br/>
            <a:r>
              <a:t>To serve as a primary retirement savings</a:t>
            </a:r>
            <a:br/>
            <a:r>
              <a:t>account.</a:t>
            </a:r>
            <a:br/>
            <a:r>
              <a:t>To act as a temporary holding account for</a:t>
            </a:r>
            <a:br/>
            <a:r>
              <a:t>x) To offer higher interest rate...</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121</a:t>
            </a:r>
          </a:p>
        </p:txBody>
      </p:sp>
      <p:sp>
        <p:nvSpPr>
          <p:cNvPr id="3" name="Content Placeholder 2"/>
          <p:cNvSpPr>
            <a:spLocks noGrp="1"/>
          </p:cNvSpPr>
          <p:nvPr>
            <p:ph idx="1"/>
          </p:nvPr>
        </p:nvSpPr>
        <p:spPr/>
        <p:txBody>
          <a:bodyPr/>
          <a:lstStyle/>
          <a:p>
            <a:r>
              <a:t>A trustee-to-trustee transfer of rollover</a:t>
            </a:r>
          </a:p>
          <a:p>
            <a:r>
              <a:t>funds in a qualified plan allows a</a:t>
            </a:r>
          </a:p>
          <a:p>
            <a:r>
              <a:t>participant to avoid:</a:t>
            </a:r>
          </a:p>
          <a:p>
            <a:r>
              <a:t>Paying trustee fees</a:t>
            </a:r>
          </a:p>
          <a:p>
            <a:r>
              <a:t>Ever paying income taxes on the</a:t>
            </a:r>
          </a:p>
          <a:p>
            <a:r>
              <a:t>distributions</a:t>
            </a:r>
          </a:p>
          <a:p>
            <a:r>
              <a:t>Paying transfer fees</a:t>
            </a:r>
          </a:p>
          <a:p>
            <a:r>
              <a:t>Mandatory income tax withholding on the</a:t>
            </a:r>
          </a:p>
          <a:p>
            <a:r>
              <a:t>transfer amount</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121</a:t>
            </a:r>
          </a:p>
        </p:txBody>
      </p:sp>
      <p:sp>
        <p:nvSpPr>
          <p:cNvPr id="3" name="Content Placeholder 2"/>
          <p:cNvSpPr>
            <a:spLocks noGrp="1"/>
          </p:cNvSpPr>
          <p:nvPr>
            <p:ph idx="1"/>
          </p:nvPr>
        </p:nvSpPr>
        <p:spPr/>
        <p:txBody>
          <a:bodyPr/>
          <a:lstStyle/>
          <a:p/>
          <a:p>
            <a:br/>
            <a:pPr>
              <a:defRPr sz="1400" i="1"/>
            </a:pPr>
            <a:r>
              <a:t>Explanation: in a qualified plan allows a</a:t>
            </a:r>
            <a:br/>
            <a:r>
              <a:t>participant to avoid:</a:t>
            </a:r>
            <a:br/>
            <a:r>
              <a:t>Paying trustee fees</a:t>
            </a:r>
            <a:br/>
            <a:r>
              <a:t>Ever paying income taxes on the</a:t>
            </a:r>
            <a:br/>
            <a:r>
              <a:t>distributions</a:t>
            </a:r>
            <a:br/>
            <a:r>
              <a:t>Paying transfer fees</a:t>
            </a:r>
            <a:br/>
            <a:r>
              <a:t>Mandatory income tax withholding on the</a:t>
            </a:r>
            <a:br/>
            <a:r>
              <a:t>transfer amount</a:t>
            </a:r>
            <a:br/>
            <a:r>
              <a:t>Procee...</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122</a:t>
            </a:r>
          </a:p>
        </p:txBody>
      </p:sp>
      <p:sp>
        <p:nvSpPr>
          <p:cNvPr id="3" name="Content Placeholder 2"/>
          <p:cNvSpPr>
            <a:spLocks noGrp="1"/>
          </p:cNvSpPr>
          <p:nvPr>
            <p:ph idx="1"/>
          </p:nvPr>
        </p:nvSpPr>
        <p:spPr/>
        <p:txBody>
          <a:bodyPr/>
          <a:lstStyle/>
          <a:p>
            <a:r>
              <a:t>John is 52 years old and wants to</a:t>
            </a:r>
          </a:p>
          <a:p>
            <a:r>
              <a:t>contribute more to his retirement</a:t>
            </a:r>
          </a:p>
          <a:p>
            <a:r>
              <a:t>savings this year. Which type of IRA</a:t>
            </a:r>
          </a:p>
          <a:p>
            <a:r>
              <a:t>allows him to make additional catch-up</a:t>
            </a:r>
          </a:p>
          <a:p>
            <a:r>
              <a:t>contributions?</a:t>
            </a:r>
          </a:p>
          <a:p>
            <a:r>
              <a:t>SIMPLE IRA</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122</a:t>
            </a:r>
          </a:p>
        </p:txBody>
      </p:sp>
      <p:sp>
        <p:nvSpPr>
          <p:cNvPr id="3" name="Content Placeholder 2"/>
          <p:cNvSpPr>
            <a:spLocks noGrp="1"/>
          </p:cNvSpPr>
          <p:nvPr>
            <p:ph idx="1"/>
          </p:nvPr>
        </p:nvSpPr>
        <p:spPr/>
        <p:txBody>
          <a:bodyPr/>
          <a:lstStyle/>
          <a:p/>
          <a:p>
            <a:pPr>
              <a:defRPr b="1"/>
            </a:pPr>
            <a:r>
              <a:t>✅ © RothiRA Traditional IRA SEP IRA</a:t>
            </a:r>
          </a:p>
          <a:p>
            <a:r>
              <a:t>☐ Atage 52, John can make additional catch-up contributions to a Traditional IRA. This allows</a:t>
            </a:r>
          </a:p>
          <a:p>
            <a:r>
              <a:t>☐ ndividuals aged 50 and older to contribute more than the standard limit to their retirement accounts. This is | differant from 9 Roth IRA SIMPIE IRA or SEP IRA 4 A &gt;| &amp; a ..rancelicense.myabsorb.com (© &lt; &gt; + (21)</a:t>
            </a:r>
          </a:p>
          <a:p>
            <a:br/>
            <a:pPr>
              <a:defRPr sz="1400" i="1"/>
            </a:pPr>
            <a:r>
              <a:t>Explanation: 52 years old and wants to</a:t>
            </a:r>
            <a:br/>
            <a:r>
              <a:t>contribute more to his retirement</a:t>
            </a:r>
            <a:br/>
            <a:r>
              <a:t>savings this year. Which type of IRA</a:t>
            </a:r>
            <a:br/>
            <a:r>
              <a:t>allows him to make additional catch-up</a:t>
            </a:r>
            <a:br/>
            <a:r>
              <a:t>contributions?</a:t>
            </a:r>
            <a:br/>
            <a:r>
              <a:t>SIMPLE IRA</a:t>
            </a:r>
            <a:br/>
            <a:r>
              <a:t>RothiRA</a:t>
            </a:r>
            <a:br/>
            <a:r>
              <a:t>Traditional IRA</a:t>
            </a:r>
            <a:br/>
            <a:r>
              <a:t>SEP IRA</a:t>
            </a:r>
            <a:br/>
            <a:r>
              <a:t>x Atag...</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123</a:t>
            </a:r>
          </a:p>
        </p:txBody>
      </p:sp>
      <p:sp>
        <p:nvSpPr>
          <p:cNvPr id="3" name="Content Placeholder 2"/>
          <p:cNvSpPr>
            <a:spLocks noGrp="1"/>
          </p:cNvSpPr>
          <p:nvPr>
            <p:ph idx="1"/>
          </p:nvPr>
        </p:nvSpPr>
        <p:spPr/>
        <p:txBody>
          <a:bodyPr/>
          <a:lstStyle/>
          <a:p>
            <a:r>
              <a:t>How often must continuing education</a:t>
            </a:r>
          </a:p>
          <a:p>
            <a:r>
              <a:t>credits be completed for insurance</a:t>
            </a:r>
          </a:p>
          <a:p>
            <a:r>
              <a:t>producers in Arizona?</a:t>
            </a:r>
          </a:p>
          <a:p>
            <a:r>
              <a:t>Every three years</a:t>
            </a:r>
          </a:p>
          <a:p>
            <a:r>
              <a:t>Every two years</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123</a:t>
            </a:r>
          </a:p>
        </p:txBody>
      </p:sp>
      <p:sp>
        <p:nvSpPr>
          <p:cNvPr id="3" name="Content Placeholder 2"/>
          <p:cNvSpPr>
            <a:spLocks noGrp="1"/>
          </p:cNvSpPr>
          <p:nvPr>
            <p:ph idx="1"/>
          </p:nvPr>
        </p:nvSpPr>
        <p:spPr/>
        <p:txBody>
          <a:bodyPr/>
          <a:lstStyle/>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124</a:t>
            </a:r>
          </a:p>
        </p:txBody>
      </p:sp>
      <p:sp>
        <p:nvSpPr>
          <p:cNvPr id="3" name="Content Placeholder 2"/>
          <p:cNvSpPr>
            <a:spLocks noGrp="1"/>
          </p:cNvSpPr>
          <p:nvPr>
            <p:ph idx="1"/>
          </p:nvPr>
        </p:nvSpPr>
        <p:spPr/>
        <p:txBody>
          <a:bodyPr/>
          <a:lstStyle/>
          <a:p>
            <a:r>
              <a:t>What must be included in a business</a:t>
            </a:r>
          </a:p>
          <a:p>
            <a:r>
              <a:t>entity’s insurance license application in</a:t>
            </a:r>
          </a:p>
          <a:p>
            <a:r>
              <a:t>Arizona?</a:t>
            </a:r>
          </a:p>
          <a:p>
            <a:r>
              <a:t>A business plan approved by the state</a:t>
            </a:r>
          </a:p>
          <a:p>
            <a:r>
              <a:t>Names of all members, officers, and</a:t>
            </a:r>
          </a:p>
          <a:p>
            <a:r>
              <a:t>directors</a:t>
            </a:r>
          </a:p>
          <a:p>
            <a:r>
              <a:t>A list of all shareholders</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124</a:t>
            </a:r>
          </a:p>
        </p:txBody>
      </p:sp>
      <p:sp>
        <p:nvSpPr>
          <p:cNvPr id="3" name="Content Placeholder 2"/>
          <p:cNvSpPr>
            <a:spLocks noGrp="1"/>
          </p:cNvSpPr>
          <p:nvPr>
            <p:ph idx="1"/>
          </p:nvPr>
        </p:nvSpPr>
        <p:spPr/>
        <p:txBody>
          <a:bodyPr/>
          <a:lstStyle/>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125</a:t>
            </a:r>
          </a:p>
        </p:txBody>
      </p:sp>
      <p:sp>
        <p:nvSpPr>
          <p:cNvPr id="3" name="Content Placeholder 2"/>
          <p:cNvSpPr>
            <a:spLocks noGrp="1"/>
          </p:cNvSpPr>
          <p:nvPr>
            <p:ph idx="1"/>
          </p:nvPr>
        </p:nvSpPr>
        <p:spPr/>
        <p:txBody>
          <a:bodyPr/>
          <a:lstStyle/>
          <a:p>
            <a:r>
              <a:t>What type of business information</a:t>
            </a:r>
          </a:p>
          <a:p>
            <a:r>
              <a:t>must be reported to the Director when</a:t>
            </a:r>
          </a:p>
          <a:p>
            <a:r>
              <a:t>there is a change?</a:t>
            </a:r>
          </a:p>
          <a:p>
            <a:r>
              <a:t>Change in service pricing</a:t>
            </a:r>
          </a:p>
          <a:p>
            <a:r>
              <a:t>Change in business logo</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125</a:t>
            </a:r>
          </a:p>
        </p:txBody>
      </p:sp>
      <p:sp>
        <p:nvSpPr>
          <p:cNvPr id="3" name="Content Placeholder 2"/>
          <p:cNvSpPr>
            <a:spLocks noGrp="1"/>
          </p:cNvSpPr>
          <p:nvPr>
            <p:ph idx="1"/>
          </p:nvPr>
        </p:nvSpPr>
        <p:spPr/>
        <p:txBody>
          <a:bodyPr/>
          <a:lstStyle/>
          <a:p/>
          <a:p>
            <a:br/>
            <a:pPr>
              <a:defRPr sz="1400" i="1"/>
            </a:pPr>
            <a:r>
              <a:t>Explanation: a change?</a:t>
            </a:r>
            <a:br/>
            <a:r>
              <a:t>Change in service pricing</a:t>
            </a:r>
            <a:br/>
            <a:r>
              <a:t>Change in business logo</a:t>
            </a:r>
            <a:br/>
            <a:r>
              <a:t>Proceed =&gt;</a:t>
            </a:r>
            <a:br/>
            <a:r>
              <a:t>4 A &gt;|</a:t>
            </a:r>
            <a:br/>
            <a:r>
              <a:t>&amp; a ..rancelicense.myabsorb.com (</a:t>
            </a:r>
            <a:br/>
            <a:r>
              <a:t>&lt; &gt; + (21)...</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126</a:t>
            </a:r>
          </a:p>
        </p:txBody>
      </p:sp>
      <p:sp>
        <p:nvSpPr>
          <p:cNvPr id="3" name="Content Placeholder 2"/>
          <p:cNvSpPr>
            <a:spLocks noGrp="1"/>
          </p:cNvSpPr>
          <p:nvPr>
            <p:ph idx="1"/>
          </p:nvPr>
        </p:nvSpPr>
        <p:spPr/>
        <p:txBody>
          <a:bodyPr/>
          <a:lstStyle/>
          <a:p>
            <a:r>
              <a:t>What is required from a business</a:t>
            </a:r>
          </a:p>
          <a:p>
            <a:r>
              <a:t>entity to maintain its insurance license</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126</a:t>
            </a:r>
          </a:p>
        </p:txBody>
      </p:sp>
      <p:sp>
        <p:nvSpPr>
          <p:cNvPr id="3" name="Content Placeholder 2"/>
          <p:cNvSpPr>
            <a:spLocks noGrp="1"/>
          </p:cNvSpPr>
          <p:nvPr>
            <p:ph idx="1"/>
          </p:nvPr>
        </p:nvSpPr>
        <p:spPr/>
        <p:txBody>
          <a:bodyPr/>
          <a:lstStyle/>
          <a:p/>
          <a:p>
            <a:pPr>
              <a:defRPr b="1"/>
            </a:pPr>
            <a:r>
              <a:t>✅ n Arizona?</a:t>
            </a:r>
          </a:p>
          <a:p>
            <a:r>
              <a:t>☐ e Have atleast one licensed insurance producer for each line of authority at each location Pass an annual state inspection Provide monthly reports to the Director Maintain a minimum number of employees</a:t>
            </a:r>
          </a:p>
          <a:p>
            <a:br/>
            <a:pPr>
              <a:defRPr sz="1400" i="1"/>
            </a:pPr>
            <a:r>
              <a:t>Explanation: required from a business</a:t>
            </a:r>
            <a:br/>
            <a:r>
              <a:t>entity to maintain its insurance license</a:t>
            </a:r>
            <a:br/>
            <a:r>
              <a:t>in Arizona?</a:t>
            </a:r>
            <a:br/>
            <a:r>
              <a:t>iv) e Have atleast one licensed insurance</a:t>
            </a:r>
            <a:br/>
            <a:r>
              <a:t>producer for each line of authority at each</a:t>
            </a:r>
            <a:br/>
            <a:r>
              <a:t>location</a:t>
            </a:r>
            <a:br/>
            <a:r>
              <a:t>Pass an annual state inspec...</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127</a:t>
            </a:r>
          </a:p>
        </p:txBody>
      </p:sp>
      <p:sp>
        <p:nvSpPr>
          <p:cNvPr id="3" name="Content Placeholder 2"/>
          <p:cNvSpPr>
            <a:spLocks noGrp="1"/>
          </p:cNvSpPr>
          <p:nvPr>
            <p:ph idx="1"/>
          </p:nvPr>
        </p:nvSpPr>
        <p:spPr/>
        <p:txBody>
          <a:bodyPr/>
          <a:lstStyle/>
          <a:p>
            <a:r>
              <a:t>For how long is an insurance producer</a:t>
            </a:r>
          </a:p>
          <a:p>
            <a:r>
              <a:t>license valid in Arizona before it needs</a:t>
            </a:r>
          </a:p>
          <a:p>
            <a:r>
              <a:t>to be renewed?</a:t>
            </a:r>
          </a:p>
          <a:p>
            <a:r>
              <a:t>Three years</a:t>
            </a:r>
          </a:p>
          <a:p>
            <a:r>
              <a:t>Two years</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127</a:t>
            </a:r>
          </a:p>
        </p:txBody>
      </p:sp>
      <p:sp>
        <p:nvSpPr>
          <p:cNvPr id="3" name="Content Placeholder 2"/>
          <p:cNvSpPr>
            <a:spLocks noGrp="1"/>
          </p:cNvSpPr>
          <p:nvPr>
            <p:ph idx="1"/>
          </p:nvPr>
        </p:nvSpPr>
        <p:spPr/>
        <p:txBody>
          <a:bodyPr/>
          <a:lstStyle/>
          <a:p/>
          <a:p>
            <a:br/>
            <a:pPr>
              <a:defRPr sz="1400" i="1"/>
            </a:pPr>
            <a:r>
              <a:t>Explanation: an insurance producer</a:t>
            </a:r>
            <a:br/>
            <a:r>
              <a:t>license valid in Arizona before it needs</a:t>
            </a:r>
            <a:br/>
            <a:r>
              <a:t>to be renewed?</a:t>
            </a:r>
            <a:br/>
            <a:r>
              <a:t>Three years</a:t>
            </a:r>
            <a:br/>
            <a:r>
              <a:t>Two years</a:t>
            </a:r>
            <a:br/>
            <a:r>
              <a:t>Proceed =&gt;</a:t>
            </a:r>
            <a:br/>
            <a:r>
              <a:t>4 A &gt;|</a:t>
            </a:r>
            <a:br/>
            <a:r>
              <a:t>&amp; a ..rancelicense.myabsorb.com (</a:t>
            </a:r>
            <a:br/>
            <a:r>
              <a:t>&lt; &gt; + (21)...</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128</a:t>
            </a:r>
          </a:p>
        </p:txBody>
      </p:sp>
      <p:sp>
        <p:nvSpPr>
          <p:cNvPr id="3" name="Content Placeholder 2"/>
          <p:cNvSpPr>
            <a:spLocks noGrp="1"/>
          </p:cNvSpPr>
          <p:nvPr>
            <p:ph idx="1"/>
          </p:nvPr>
        </p:nvSpPr>
        <p:spPr/>
        <p:txBody>
          <a:bodyPr/>
          <a:lstStyle/>
          <a:p>
            <a:r>
              <a:t>What action must be taken if there is a</a:t>
            </a:r>
          </a:p>
          <a:p>
            <a:r>
              <a:t>change among the members,</a:t>
            </a:r>
          </a:p>
          <a:p>
            <a:r>
              <a:t>directors, or officers of a business</a:t>
            </a:r>
          </a:p>
          <a:p>
            <a:r>
              <a:t>entity licensed as an insurance</a:t>
            </a:r>
          </a:p>
          <a:p>
            <a:r>
              <a:t>producer in Arizona?</a:t>
            </a:r>
          </a:p>
          <a:p>
            <a:r>
              <a:t>Apply for a new license</a:t>
            </a:r>
          </a:p>
          <a:p>
            <a:r>
              <a:t>Report the change to the IRS</a:t>
            </a:r>
          </a:p>
          <a:p>
            <a:r>
              <a:t>Hold a general meeting</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128</a:t>
            </a:r>
          </a:p>
        </p:txBody>
      </p:sp>
      <p:sp>
        <p:nvSpPr>
          <p:cNvPr id="3" name="Content Placeholder 2"/>
          <p:cNvSpPr>
            <a:spLocks noGrp="1"/>
          </p:cNvSpPr>
          <p:nvPr>
            <p:ph idx="1"/>
          </p:nvPr>
        </p:nvSpPr>
        <p:spPr/>
        <p:txBody>
          <a:bodyPr/>
          <a:lstStyle/>
          <a:p/>
          <a:p>
            <a:br/>
            <a:pPr>
              <a:defRPr sz="1400" i="1"/>
            </a:pPr>
            <a:r>
              <a:t>Explanation: a</a:t>
            </a:r>
            <a:br/>
            <a:r>
              <a:t>change among the members,</a:t>
            </a:r>
            <a:br/>
            <a:r>
              <a:t>directors, or officers of a business</a:t>
            </a:r>
            <a:br/>
            <a:r>
              <a:t>entity licensed as an insurance</a:t>
            </a:r>
            <a:br/>
            <a:r>
              <a:t>producer in Arizona?</a:t>
            </a:r>
            <a:br/>
            <a:r>
              <a:t>Apply for a new license</a:t>
            </a:r>
            <a:br/>
            <a:r>
              <a:t>Report the change to the IRS</a:t>
            </a:r>
            <a:br/>
            <a:r>
              <a:t>Hold a general meeting</a:t>
            </a:r>
            <a:br/>
            <a:r>
              <a:t>Procee...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129</a:t>
            </a:r>
          </a:p>
        </p:txBody>
      </p:sp>
      <p:sp>
        <p:nvSpPr>
          <p:cNvPr id="3" name="Content Placeholder 2"/>
          <p:cNvSpPr>
            <a:spLocks noGrp="1"/>
          </p:cNvSpPr>
          <p:nvPr>
            <p:ph idx="1"/>
          </p:nvPr>
        </p:nvSpPr>
        <p:spPr/>
        <p:txBody>
          <a:bodyPr/>
          <a:lstStyle/>
          <a:p>
            <a:r>
              <a:t>What is the consequence for an</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129</a:t>
            </a:r>
          </a:p>
        </p:txBody>
      </p:sp>
      <p:sp>
        <p:nvSpPr>
          <p:cNvPr id="3" name="Content Placeholder 2"/>
          <p:cNvSpPr>
            <a:spLocks noGrp="1"/>
          </p:cNvSpPr>
          <p:nvPr>
            <p:ph idx="1"/>
          </p:nvPr>
        </p:nvSpPr>
        <p:spPr/>
        <p:txBody>
          <a:bodyPr/>
          <a:lstStyle/>
          <a:p/>
          <a:p>
            <a:r>
              <a:t>☐ nsurer or insurance producer who compensates a non-licensed individual for selling insurance in Arizona?</a:t>
            </a:r>
          </a:p>
          <a:p>
            <a:pPr>
              <a:defRPr b="1"/>
            </a:pPr>
            <a:r>
              <a:t>✅ e Revocation of the insurer or producer’s license Mandatory educational courses A notice of warning</a:t>
            </a:r>
          </a:p>
          <a:p>
            <a:br/>
            <a:pPr>
              <a:defRPr sz="1400" i="1"/>
            </a:pPr>
            <a:r>
              <a:t>Explanation: the consequence for an</a:t>
            </a:r>
            <a:br/>
            <a:r>
              <a:t>insurer or insurance producer who</a:t>
            </a:r>
            <a:br/>
            <a:r>
              <a:t>compensates a non-licensed individual</a:t>
            </a:r>
            <a:br/>
            <a:r>
              <a:t>for selling insurance in Arizona?</a:t>
            </a:r>
            <a:br/>
            <a:r>
              <a:t>e Revocation of the insurer or producer’s</a:t>
            </a:r>
            <a:br/>
            <a:r>
              <a:t>license</a:t>
            </a:r>
            <a:br/>
            <a:r>
              <a:t>Mandatory educational...</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130</a:t>
            </a:r>
          </a:p>
        </p:txBody>
      </p:sp>
      <p:sp>
        <p:nvSpPr>
          <p:cNvPr id="3" name="Content Placeholder 2"/>
          <p:cNvSpPr>
            <a:spLocks noGrp="1"/>
          </p:cNvSpPr>
          <p:nvPr>
            <p:ph idx="1"/>
          </p:nvPr>
        </p:nvSpPr>
        <p:spPr/>
        <p:txBody>
          <a:bodyPr/>
          <a:lstStyle/>
          <a:p>
            <a:r>
              <a:t>What must an insurance producer</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130</a:t>
            </a:r>
          </a:p>
        </p:txBody>
      </p:sp>
      <p:sp>
        <p:nvSpPr>
          <p:cNvPr id="3" name="Content Placeholder 2"/>
          <p:cNvSpPr>
            <a:spLocks noGrp="1"/>
          </p:cNvSpPr>
          <p:nvPr>
            <p:ph idx="1"/>
          </p:nvPr>
        </p:nvSpPr>
        <p:spPr/>
        <p:txBody>
          <a:bodyPr/>
          <a:lstStyle/>
          <a:p/>
          <a:p>
            <a:r>
              <a:t>☐ nclude on their identification as per Arizona law? The lines of authority the license covers Their educational qualifications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131</a:t>
            </a:r>
          </a:p>
        </p:txBody>
      </p:sp>
      <p:sp>
        <p:nvSpPr>
          <p:cNvPr id="3" name="Content Placeholder 2"/>
          <p:cNvSpPr>
            <a:spLocks noGrp="1"/>
          </p:cNvSpPr>
          <p:nvPr>
            <p:ph idx="1"/>
          </p:nvPr>
        </p:nvSpPr>
        <p:spPr/>
        <p:txBody>
          <a:bodyPr/>
          <a:lstStyle/>
          <a:p>
            <a:r>
              <a:t>What is the duration of a temporary</a:t>
            </a:r>
          </a:p>
          <a:p>
            <a:r>
              <a:t>license issued in Arizona under special</a:t>
            </a:r>
          </a:p>
          <a:p>
            <a:r>
              <a:t>circumstances such as the licensee's</a:t>
            </a:r>
          </a:p>
          <a:p>
            <a:r>
              <a:t>military service?</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131</a:t>
            </a:r>
          </a:p>
        </p:txBody>
      </p:sp>
      <p:sp>
        <p:nvSpPr>
          <p:cNvPr id="3" name="Content Placeholder 2"/>
          <p:cNvSpPr>
            <a:spLocks noGrp="1"/>
          </p:cNvSpPr>
          <p:nvPr>
            <p:ph idx="1"/>
          </p:nvPr>
        </p:nvSpPr>
        <p:spPr/>
        <p:txBody>
          <a:bodyPr/>
          <a:lstStyle/>
          <a:p/>
          <a:p>
            <a:pPr>
              <a:defRPr b="1"/>
            </a:pPr>
            <a:r>
              <a:t>✅ e 180 days 360 days</a:t>
            </a:r>
          </a:p>
          <a:p>
            <a:br/>
            <a:pPr>
              <a:defRPr sz="1400" i="1"/>
            </a:pPr>
            <a:r>
              <a:t>Explanation: the duration of a temporary</a:t>
            </a:r>
            <a:br/>
            <a:r>
              <a:t>license issued in Arizona under special</a:t>
            </a:r>
            <a:br/>
            <a:r>
              <a:t>circumstances such as the licensee's</a:t>
            </a:r>
            <a:br/>
            <a:r>
              <a:t>military service?</a:t>
            </a:r>
            <a:br/>
            <a:r>
              <a:t>g e 180 days</a:t>
            </a:r>
            <a:br/>
            <a:r>
              <a:t>360 days</a:t>
            </a:r>
            <a:br/>
            <a:r>
              <a:t>l&lt; A &gt;|</a:t>
            </a:r>
            <a:br/>
            <a:r>
              <a:t>&amp; a ..rancelicense.myabsorb.com (</a:t>
            </a:r>
            <a:br/>
            <a:r>
              <a:t>&lt; &gt; + (21)...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132</a:t>
            </a:r>
          </a:p>
        </p:txBody>
      </p:sp>
      <p:sp>
        <p:nvSpPr>
          <p:cNvPr id="3" name="Content Placeholder 2"/>
          <p:cNvSpPr>
            <a:spLocks noGrp="1"/>
          </p:cNvSpPr>
          <p:nvPr>
            <p:ph idx="1"/>
          </p:nvPr>
        </p:nvSpPr>
        <p:spPr/>
        <p:txBody>
          <a:bodyPr/>
          <a:lstStyle/>
          <a:p>
            <a:r>
              <a:t>Which type of license is issued to an</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132</a:t>
            </a:r>
          </a:p>
        </p:txBody>
      </p:sp>
      <p:sp>
        <p:nvSpPr>
          <p:cNvPr id="3" name="Content Placeholder 2"/>
          <p:cNvSpPr>
            <a:spLocks noGrp="1"/>
          </p:cNvSpPr>
          <p:nvPr>
            <p:ph idx="1"/>
          </p:nvPr>
        </p:nvSpPr>
        <p:spPr/>
        <p:txBody>
          <a:bodyPr/>
          <a:lstStyle/>
          <a:p/>
          <a:p>
            <a:pPr>
              <a:defRPr b="1"/>
            </a:pPr>
            <a:r>
              <a:t>✅ ndividual who is taking over an</a:t>
            </a:r>
          </a:p>
          <a:p>
            <a:r>
              <a:t>☐ nsurance business due to the disability or death of the previous licensee?</a:t>
            </a:r>
          </a:p>
          <a:p>
            <a:br/>
            <a:pPr>
              <a:defRPr sz="1400" i="1"/>
            </a:pPr>
            <a:r>
              <a:t>Explanation: issued to an</a:t>
            </a:r>
            <a:br/>
            <a:r>
              <a:t>individual who is taking over an</a:t>
            </a:r>
            <a:br/>
            <a:r>
              <a:t>insurance business due to the</a:t>
            </a:r>
            <a:br/>
            <a:r>
              <a:t>disability or death of the previous</a:t>
            </a:r>
            <a:br/>
            <a:r>
              <a:t>licensee?</a:t>
            </a:r>
            <a:br/>
            <a:r>
              <a:t>Proceed =&gt;</a:t>
            </a:r>
            <a:br/>
            <a:r>
              <a:t>I&lt; A &gt;|</a:t>
            </a:r>
            <a:br/>
            <a:r>
              <a:t>&amp; a ..rancelicense.myabsorb.com (</a:t>
            </a:r>
            <a:br/>
            <a:r>
              <a:t>&lt; &gt; + (21)...</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133</a:t>
            </a:r>
          </a:p>
        </p:txBody>
      </p:sp>
      <p:sp>
        <p:nvSpPr>
          <p:cNvPr id="3" name="Content Placeholder 2"/>
          <p:cNvSpPr>
            <a:spLocks noGrp="1"/>
          </p:cNvSpPr>
          <p:nvPr>
            <p:ph idx="1"/>
          </p:nvPr>
        </p:nvSpPr>
        <p:spPr/>
        <p:txBody>
          <a:bodyPr/>
          <a:lstStyle/>
          <a:p>
            <a:r>
              <a:t>Which action must an insurer take</a:t>
            </a:r>
          </a:p>
          <a:p>
            <a:r>
              <a:t>before issuing a policy in Arizona?</a:t>
            </a:r>
          </a:p>
          <a:p>
            <a:r>
              <a:t>Receive approval from the Department of</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133</a:t>
            </a:r>
          </a:p>
        </p:txBody>
      </p:sp>
      <p:sp>
        <p:nvSpPr>
          <p:cNvPr id="3" name="Content Placeholder 2"/>
          <p:cNvSpPr>
            <a:spLocks noGrp="1"/>
          </p:cNvSpPr>
          <p:nvPr>
            <p:ph idx="1"/>
          </p:nvPr>
        </p:nvSpPr>
        <p:spPr/>
        <p:txBody>
          <a:bodyPr/>
          <a:lstStyle/>
          <a:p/>
          <a:p>
            <a:r>
              <a:t>☐ btain a reinsurance agreement Ensure the policy specifies the licensed producer’s name Verify the client's credit score</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134</a:t>
            </a:r>
          </a:p>
        </p:txBody>
      </p:sp>
      <p:sp>
        <p:nvSpPr>
          <p:cNvPr id="3" name="Content Placeholder 2"/>
          <p:cNvSpPr>
            <a:spLocks noGrp="1"/>
          </p:cNvSpPr>
          <p:nvPr>
            <p:ph idx="1"/>
          </p:nvPr>
        </p:nvSpPr>
        <p:spPr/>
        <p:txBody>
          <a:bodyPr/>
          <a:lstStyle/>
          <a:p>
            <a:r>
              <a:t>Which statement is true regarding a</a:t>
            </a:r>
          </a:p>
          <a:p>
            <a:r>
              <a:t>temporary license issued under</a:t>
            </a:r>
          </a:p>
          <a:p>
            <a:r>
              <a:t>special circumstances such as military</a:t>
            </a:r>
          </a:p>
          <a:p>
            <a:r>
              <a:t>service or business continuity in</a:t>
            </a:r>
          </a:p>
          <a:p>
            <a:r>
              <a:t>Arizona?</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134</a:t>
            </a:r>
          </a:p>
        </p:txBody>
      </p:sp>
      <p:sp>
        <p:nvSpPr>
          <p:cNvPr id="3" name="Content Placeholder 2"/>
          <p:cNvSpPr>
            <a:spLocks noGrp="1"/>
          </p:cNvSpPr>
          <p:nvPr>
            <p:ph idx="1"/>
          </p:nvPr>
        </p:nvSpPr>
        <p:spPr/>
        <p:txBody>
          <a:bodyPr/>
          <a:lstStyle/>
          <a:p/>
          <a:p>
            <a:br/>
            <a:pPr>
              <a:defRPr sz="1400" i="1"/>
            </a:pPr>
            <a:r>
              <a:t>Explanation: true regarding a</a:t>
            </a:r>
            <a:br/>
            <a:r>
              <a:t>temporary license issued under</a:t>
            </a:r>
            <a:br/>
            <a:r>
              <a:t>special circumstances such as military</a:t>
            </a:r>
            <a:br/>
            <a:r>
              <a:t>service or business continuity in</a:t>
            </a:r>
            <a:br/>
            <a:r>
              <a:t>Arizona?</a:t>
            </a:r>
            <a:br/>
            <a:r>
              <a:t>It is renewable indefinitely</a:t>
            </a:r>
            <a:br/>
            <a:r>
              <a:t>It does not allow the holder to engage in...</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135</a:t>
            </a:r>
          </a:p>
        </p:txBody>
      </p:sp>
      <p:sp>
        <p:nvSpPr>
          <p:cNvPr id="3" name="Content Placeholder 2"/>
          <p:cNvSpPr>
            <a:spLocks noGrp="1"/>
          </p:cNvSpPr>
          <p:nvPr>
            <p:ph idx="1"/>
          </p:nvPr>
        </p:nvSpPr>
        <p:spPr/>
        <p:txBody>
          <a:bodyPr/>
          <a:lstStyle/>
          <a:p>
            <a:r>
              <a:t>What must an insurance producer do if</a:t>
            </a:r>
          </a:p>
          <a:p>
            <a:r>
              <a:t>they change their personal contact</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135</a:t>
            </a:r>
          </a:p>
        </p:txBody>
      </p:sp>
      <p:sp>
        <p:nvSpPr>
          <p:cNvPr id="3" name="Content Placeholder 2"/>
          <p:cNvSpPr>
            <a:spLocks noGrp="1"/>
          </p:cNvSpPr>
          <p:nvPr>
            <p:ph idx="1"/>
          </p:nvPr>
        </p:nvSpPr>
        <p:spPr/>
        <p:txBody>
          <a:bodyPr/>
          <a:lstStyle/>
          <a:p/>
          <a:p>
            <a:r>
              <a:t>☐ nformation? No action is required Apply for a new license</a:t>
            </a:r>
          </a:p>
          <a:p>
            <a:br/>
            <a:pPr>
              <a:defRPr sz="1400" i="1"/>
            </a:pPr>
            <a:r>
              <a:t>Explanation: required</a:t>
            </a:r>
            <a:br/>
            <a:r>
              <a:t>Apply for a new license</a:t>
            </a:r>
            <a:br/>
            <a:r>
              <a:t>Proceed =&gt;</a:t>
            </a:r>
            <a:br/>
            <a:r>
              <a:t>4 A &gt;|</a:t>
            </a:r>
            <a:br/>
            <a:r>
              <a:t>&amp; a ..rancelicense.myabsorb.com (</a:t>
            </a:r>
            <a:br/>
            <a:r>
              <a:t>&lt; &gt; + (21)</a:t>
            </a:r>
            <a:br/>
            <a:r>
              <a:t>--- Folder 3 ---...</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136</a:t>
            </a:r>
          </a:p>
        </p:txBody>
      </p:sp>
      <p:sp>
        <p:nvSpPr>
          <p:cNvPr id="3" name="Content Placeholder 2"/>
          <p:cNvSpPr>
            <a:spLocks noGrp="1"/>
          </p:cNvSpPr>
          <p:nvPr>
            <p:ph idx="1"/>
          </p:nvPr>
        </p:nvSpPr>
        <p:spPr/>
        <p:txBody>
          <a:bodyPr/>
          <a:lstStyle/>
          <a:p>
            <a:r>
              <a:t>What is the consequence of failing the</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136</a:t>
            </a:r>
          </a:p>
        </p:txBody>
      </p:sp>
      <p:sp>
        <p:nvSpPr>
          <p:cNvPr id="3" name="Content Placeholder 2"/>
          <p:cNvSpPr>
            <a:spLocks noGrp="1"/>
          </p:cNvSpPr>
          <p:nvPr>
            <p:ph idx="1"/>
          </p:nvPr>
        </p:nvSpPr>
        <p:spPr/>
        <p:txBody>
          <a:bodyPr/>
          <a:lstStyle/>
          <a:p/>
          <a:p>
            <a:r>
              <a:t>☐ 3:24 ef Question 15 Select the appropriate response What is the consequence of failing the</a:t>
            </a:r>
          </a:p>
          <a:p>
            <a:r>
              <a:t>☐ nsurance licensing exam four times in Arizona? Mandatory additional training No further attempts allowed A review hearing with the Department of Insurance</a:t>
            </a:r>
          </a:p>
          <a:p>
            <a:pPr>
              <a:defRPr b="1"/>
            </a:pPr>
            <a:r>
              <a:t>✅ A waiting period of one year before reattempting</a:t>
            </a:r>
          </a:p>
          <a:p>
            <a:br/>
            <a:pPr>
              <a:defRPr sz="1400" i="1"/>
            </a:pPr>
            <a:r>
              <a:t>Explanation: the consequence of failing the</a:t>
            </a:r>
            <a:br/>
            <a:r>
              <a:t>insurance licensing exam four times in</a:t>
            </a:r>
            <a:br/>
            <a:r>
              <a:t>Arizona?</a:t>
            </a:r>
            <a:br/>
            <a:r>
              <a:t>Mandatory additional training</a:t>
            </a:r>
            <a:br/>
            <a:r>
              <a:t>No further attempts allowed</a:t>
            </a:r>
            <a:br/>
            <a:r>
              <a:t>A review hearing with the Department of</a:t>
            </a:r>
            <a:br/>
            <a:r>
              <a:t>Insurance</a:t>
            </a:r>
            <a:br/>
            <a:r>
              <a:t>g A waiting p...</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137</a:t>
            </a:r>
          </a:p>
        </p:txBody>
      </p:sp>
      <p:sp>
        <p:nvSpPr>
          <p:cNvPr id="3" name="Content Placeholder 2"/>
          <p:cNvSpPr>
            <a:spLocks noGrp="1"/>
          </p:cNvSpPr>
          <p:nvPr>
            <p:ph idx="1"/>
          </p:nvPr>
        </p:nvSpPr>
        <p:spPr/>
        <p:txBody>
          <a:bodyPr/>
          <a:lstStyle/>
          <a:p>
            <a:r>
              <a:t>What is the key feature of a</a:t>
            </a:r>
          </a:p>
          <a:p>
            <a:r>
              <a:t>convertible term life insurance</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137</a:t>
            </a:r>
          </a:p>
        </p:txBody>
      </p:sp>
      <p:sp>
        <p:nvSpPr>
          <p:cNvPr id="3" name="Content Placeholder 2"/>
          <p:cNvSpPr>
            <a:spLocks noGrp="1"/>
          </p:cNvSpPr>
          <p:nvPr>
            <p:ph idx="1"/>
          </p:nvPr>
        </p:nvSpPr>
        <p:spPr/>
        <p:txBody>
          <a:bodyPr/>
          <a:lstStyle/>
          <a:p/>
          <a:p>
            <a:pPr>
              <a:defRPr b="1"/>
            </a:pPr>
            <a:r>
              <a:t>✅ Its death benefit decreases over time</a:t>
            </a:r>
          </a:p>
          <a:p>
            <a:r>
              <a:t>☐ Ithas the cheapest premiums</a:t>
            </a:r>
          </a:p>
          <a:p>
            <a:r>
              <a:t>☐ It offers a cash value component</a:t>
            </a:r>
          </a:p>
          <a:p>
            <a:r>
              <a:t>☐ Itcan be converted to a permanent policy without proof of insurability</a:t>
            </a:r>
          </a:p>
          <a:p>
            <a:br/>
            <a:pPr>
              <a:defRPr sz="1400" i="1"/>
            </a:pPr>
            <a:r>
              <a:t>Explanation: the key feature of a</a:t>
            </a:r>
            <a:br/>
            <a:r>
              <a:t>convertible term life insurance</a:t>
            </a:r>
            <a:br/>
            <a:r>
              <a:t>Its death benefit decreases over time</a:t>
            </a:r>
            <a:br/>
            <a:r>
              <a:t>Ithas the cheapest premiums</a:t>
            </a:r>
            <a:br/>
            <a:r>
              <a:t>It offers a cash value component</a:t>
            </a:r>
            <a:br/>
            <a:r>
              <a:t>Itcan be converted to a permanent policy</a:t>
            </a:r>
            <a:br/>
            <a:r>
              <a:t>without...</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138</a:t>
            </a:r>
          </a:p>
        </p:txBody>
      </p:sp>
      <p:sp>
        <p:nvSpPr>
          <p:cNvPr id="3" name="Content Placeholder 2"/>
          <p:cNvSpPr>
            <a:spLocks noGrp="1"/>
          </p:cNvSpPr>
          <p:nvPr>
            <p:ph idx="1"/>
          </p:nvPr>
        </p:nvSpPr>
        <p:spPr/>
        <p:txBody>
          <a:bodyPr/>
          <a:lstStyle/>
          <a:p>
            <a:r>
              <a:t>What does a Deferred Compensation</a:t>
            </a:r>
          </a:p>
          <a:p>
            <a:r>
              <a:t>Plan primarily offer to an employee?</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138</a:t>
            </a:r>
          </a:p>
        </p:txBody>
      </p:sp>
      <p:sp>
        <p:nvSpPr>
          <p:cNvPr id="3" name="Content Placeholder 2"/>
          <p:cNvSpPr>
            <a:spLocks noGrp="1"/>
          </p:cNvSpPr>
          <p:nvPr>
            <p:ph idx="1"/>
          </p:nvPr>
        </p:nvSpPr>
        <p:spPr/>
        <p:txBody>
          <a:bodyPr/>
          <a:lstStyle/>
          <a:p/>
          <a:p>
            <a:r>
              <a:t>☐ e Immediate cash benefit to the family upon the employee’s death. Health insurance coverage extended post- retirement. Immediate lump sum payment upon the employee’s resignation. Away to defer income to retirement or another future date, often funded through life insurance.</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139</a:t>
            </a:r>
          </a:p>
        </p:txBody>
      </p:sp>
      <p:sp>
        <p:nvSpPr>
          <p:cNvPr id="3" name="Content Placeholder 2"/>
          <p:cNvSpPr>
            <a:spLocks noGrp="1"/>
          </p:cNvSpPr>
          <p:nvPr>
            <p:ph idx="1"/>
          </p:nvPr>
        </p:nvSpPr>
        <p:spPr/>
        <p:txBody>
          <a:bodyPr/>
          <a:lstStyle/>
          <a:p>
            <a:r>
              <a:t>What is the age requirement to apply</a:t>
            </a:r>
          </a:p>
          <a:p>
            <a:r>
              <a:t>for an insurance producer license in</a:t>
            </a:r>
          </a:p>
          <a:p>
            <a:r>
              <a:t>Arizona?</a:t>
            </a:r>
          </a:p>
          <a:p>
            <a:r>
              <a:t>25 years</a:t>
            </a:r>
          </a:p>
          <a:p>
            <a:r>
              <a:t>21 years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139</a:t>
            </a:r>
          </a:p>
        </p:txBody>
      </p:sp>
      <p:sp>
        <p:nvSpPr>
          <p:cNvPr id="3" name="Content Placeholder 2"/>
          <p:cNvSpPr>
            <a:spLocks noGrp="1"/>
          </p:cNvSpPr>
          <p:nvPr>
            <p:ph idx="1"/>
          </p:nvPr>
        </p:nvSpPr>
        <p:spPr/>
        <p:txBody>
          <a:bodyPr/>
          <a:lstStyle/>
          <a:p/>
          <a:p>
            <a:br/>
            <a:pPr>
              <a:defRPr sz="1400" i="1"/>
            </a:pPr>
            <a:r>
              <a:t>Explanation: the age requirement to apply</a:t>
            </a:r>
            <a:br/>
            <a:r>
              <a:t>for an insurance producer license in</a:t>
            </a:r>
            <a:br/>
            <a:r>
              <a:t>Arizona?</a:t>
            </a:r>
            <a:br/>
            <a:r>
              <a:t>25 years</a:t>
            </a:r>
            <a:br/>
            <a:r>
              <a:t>21 years</a:t>
            </a:r>
            <a:br/>
            <a:r>
              <a:t>Proceed =&gt;</a:t>
            </a:r>
            <a:br/>
            <a:r>
              <a:t>I&lt; A &gt;|</a:t>
            </a:r>
            <a:br/>
            <a:r>
              <a:t>&amp; a ..rancelicense.myabsorb.com (</a:t>
            </a:r>
            <a:br/>
            <a:r>
              <a:t>&lt; &gt; + (21)...</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140</a:t>
            </a:r>
          </a:p>
        </p:txBody>
      </p:sp>
      <p:sp>
        <p:nvSpPr>
          <p:cNvPr id="3" name="Content Placeholder 2"/>
          <p:cNvSpPr>
            <a:spLocks noGrp="1"/>
          </p:cNvSpPr>
          <p:nvPr>
            <p:ph idx="1"/>
          </p:nvPr>
        </p:nvSpPr>
        <p:spPr/>
        <p:txBody>
          <a:bodyPr/>
          <a:lstStyle/>
          <a:p>
            <a:r>
              <a:t>What does insurable interest in life</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140</a:t>
            </a:r>
          </a:p>
        </p:txBody>
      </p:sp>
      <p:sp>
        <p:nvSpPr>
          <p:cNvPr id="3" name="Content Placeholder 2"/>
          <p:cNvSpPr>
            <a:spLocks noGrp="1"/>
          </p:cNvSpPr>
          <p:nvPr>
            <p:ph idx="1"/>
          </p:nvPr>
        </p:nvSpPr>
        <p:spPr/>
        <p:txBody>
          <a:bodyPr/>
          <a:lstStyle/>
          <a:p/>
          <a:p>
            <a:r>
              <a:t>☐ nsurance signify? It is only necessary at the time the policy benefit is disbursed It ensures that the policyholder would suffer a financial loss upon the death of the</a:t>
            </a:r>
          </a:p>
          <a:p>
            <a:pPr>
              <a:defRPr b="1"/>
            </a:pPr>
            <a:r>
              <a:t>✅ nsured</a:t>
            </a:r>
          </a:p>
          <a:p>
            <a:r>
              <a:t>☐ It is based purely on emotional relationships</a:t>
            </a:r>
          </a:p>
          <a:p>
            <a:br/>
            <a:pPr>
              <a:defRPr sz="1400" i="1"/>
            </a:pPr>
            <a:r>
              <a:t>Explanation: only necessary at the time the policy</a:t>
            </a:r>
            <a:br/>
            <a:r>
              <a:t>benefit is disbursed</a:t>
            </a:r>
            <a:br/>
            <a:r>
              <a:t>It ensures that the policyholder would suffer</a:t>
            </a:r>
            <a:br/>
            <a:r>
              <a:t>a financial loss upon the death of the</a:t>
            </a:r>
            <a:br/>
            <a:r>
              <a:t>insured</a:t>
            </a:r>
            <a:br/>
            <a:r>
              <a:t>x) It is based purely on emotional relationships...</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141</a:t>
            </a:r>
          </a:p>
        </p:txBody>
      </p:sp>
      <p:sp>
        <p:nvSpPr>
          <p:cNvPr id="3" name="Content Placeholder 2"/>
          <p:cNvSpPr>
            <a:spLocks noGrp="1"/>
          </p:cNvSpPr>
          <p:nvPr>
            <p:ph idx="1"/>
          </p:nvPr>
        </p:nvSpPr>
        <p:spPr/>
        <p:txBody>
          <a:bodyPr/>
          <a:lstStyle/>
          <a:p>
            <a:r>
              <a:t>The Fair Credit Reporting Act requires</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141</a:t>
            </a:r>
          </a:p>
        </p:txBody>
      </p:sp>
      <p:sp>
        <p:nvSpPr>
          <p:cNvPr id="3" name="Content Placeholder 2"/>
          <p:cNvSpPr>
            <a:spLocks noGrp="1"/>
          </p:cNvSpPr>
          <p:nvPr>
            <p:ph idx="1"/>
          </p:nvPr>
        </p:nvSpPr>
        <p:spPr/>
        <p:txBody>
          <a:bodyPr/>
          <a:lstStyle/>
          <a:p/>
          <a:p>
            <a:r>
              <a:t>☐ nspection company is investigating them. Insurance calls are exempt from the National Do Not Call Registry.</a:t>
            </a:r>
          </a:p>
          <a:p>
            <a:br/>
            <a:pPr>
              <a:defRPr sz="1400" i="1"/>
            </a:pPr>
            <a:r>
              <a:t>Explanation: investigating them.</a:t>
            </a:r>
            <a:br/>
            <a:r>
              <a:t>Insurance calls are exempt from the</a:t>
            </a:r>
            <a:br/>
            <a:r>
              <a:t>National Do Not Call Registry.</a:t>
            </a:r>
            <a:br/>
            <a:r>
              <a:t>Proceed =&gt;</a:t>
            </a:r>
            <a:br/>
            <a:r>
              <a:t>I&lt; A &gt;|</a:t>
            </a:r>
            <a:br/>
            <a:r>
              <a:t>&amp; a ..rancelicense.myabsorb.com (</a:t>
            </a:r>
            <a:br/>
            <a:r>
              <a:t>&lt; &gt; + (21)...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142</a:t>
            </a:r>
          </a:p>
        </p:txBody>
      </p:sp>
      <p:sp>
        <p:nvSpPr>
          <p:cNvPr id="3" name="Content Placeholder 2"/>
          <p:cNvSpPr>
            <a:spLocks noGrp="1"/>
          </p:cNvSpPr>
          <p:nvPr>
            <p:ph idx="1"/>
          </p:nvPr>
        </p:nvSpPr>
        <p:spPr/>
        <p:txBody>
          <a:bodyPr/>
          <a:lstStyle/>
          <a:p>
            <a:r>
              <a:t>Which entity in Arizona is responsible</a:t>
            </a:r>
          </a:p>
          <a:p>
            <a:r>
              <a:t>for verifying that a license applicant</a:t>
            </a:r>
          </a:p>
          <a:p>
            <a:r>
              <a:t>has not engaged in activities that</a:t>
            </a:r>
          </a:p>
          <a:p>
            <a:r>
              <a:t>would justify license denial,</a:t>
            </a:r>
          </a:p>
          <a:p>
            <a:r>
              <a:t>suspension, or revocation?</a:t>
            </a:r>
          </a:p>
          <a:p>
            <a:r>
              <a:t>@  The Director of the Department of Insurance</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142</a:t>
            </a:r>
          </a:p>
        </p:txBody>
      </p:sp>
      <p:sp>
        <p:nvSpPr>
          <p:cNvPr id="3" name="Content Placeholder 2"/>
          <p:cNvSpPr>
            <a:spLocks noGrp="1"/>
          </p:cNvSpPr>
          <p:nvPr>
            <p:ph idx="1"/>
          </p:nvPr>
        </p:nvSpPr>
        <p:spPr/>
        <p:txBody>
          <a:bodyPr/>
          <a:lstStyle/>
          <a:p/>
          <a:p>
            <a:r>
              <a:t>☐ The Governor's Office The State Police</a:t>
            </a:r>
          </a:p>
          <a:p>
            <a:br/>
            <a:pPr>
              <a:defRPr sz="1400" i="1"/>
            </a:pPr>
            <a:r>
              <a:t>Explanation: responsible</a:t>
            </a:r>
            <a:br/>
            <a:r>
              <a:t>for verifying that a license applicant</a:t>
            </a:r>
            <a:br/>
            <a:r>
              <a:t>has not engaged in activities that</a:t>
            </a:r>
            <a:br/>
            <a:r>
              <a:t>would justify license denial,</a:t>
            </a:r>
            <a:br/>
            <a:r>
              <a:t>suspension, or revocation?</a:t>
            </a:r>
            <a:br/>
            <a:r>
              <a:t>@  The Director of the Department of Insurance</a:t>
            </a:r>
            <a:br/>
            <a:r>
              <a:t>x) The Gov...</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143</a:t>
            </a:r>
          </a:p>
        </p:txBody>
      </p:sp>
      <p:sp>
        <p:nvSpPr>
          <p:cNvPr id="3" name="Content Placeholder 2"/>
          <p:cNvSpPr>
            <a:spLocks noGrp="1"/>
          </p:cNvSpPr>
          <p:nvPr>
            <p:ph idx="1"/>
          </p:nvPr>
        </p:nvSpPr>
        <p:spPr/>
        <p:txBody>
          <a:bodyPr/>
          <a:lstStyle/>
          <a:p>
            <a:r>
              <a:t>Which of the following relationships</a:t>
            </a:r>
          </a:p>
          <a:p>
            <a:r>
              <a:t>typically qualifies for insurable</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143</a:t>
            </a:r>
          </a:p>
        </p:txBody>
      </p:sp>
      <p:sp>
        <p:nvSpPr>
          <p:cNvPr id="3" name="Content Placeholder 2"/>
          <p:cNvSpPr>
            <a:spLocks noGrp="1"/>
          </p:cNvSpPr>
          <p:nvPr>
            <p:ph idx="1"/>
          </p:nvPr>
        </p:nvSpPr>
        <p:spPr/>
        <p:txBody>
          <a:bodyPr/>
          <a:lstStyle/>
          <a:p/>
          <a:p>
            <a:r>
              <a:t>☐ nterest? Neighbors Colleagues</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144</a:t>
            </a:r>
          </a:p>
        </p:txBody>
      </p:sp>
      <p:sp>
        <p:nvSpPr>
          <p:cNvPr id="3" name="Content Placeholder 2"/>
          <p:cNvSpPr>
            <a:spLocks noGrp="1"/>
          </p:cNvSpPr>
          <p:nvPr>
            <p:ph idx="1"/>
          </p:nvPr>
        </p:nvSpPr>
        <p:spPr/>
        <p:txBody>
          <a:bodyPr/>
          <a:lstStyle/>
          <a:p>
            <a:r>
              <a:t>John applies for a life insurance policy</a:t>
            </a:r>
          </a:p>
          <a:p>
            <a:r>
              <a:t>and mentions his skydiving hobby on</a:t>
            </a:r>
          </a:p>
          <a:p>
            <a:r>
              <a:t>the application. What additional step</a:t>
            </a:r>
          </a:p>
          <a:p>
            <a:r>
              <a:t>might the insurance company require</a:t>
            </a:r>
          </a:p>
          <a:p>
            <a:r>
              <a:t>before approving his policy?</a:t>
            </a:r>
          </a:p>
          <a:p>
            <a:r>
              <a:t>No additional steps are required.</a:t>
            </a:r>
          </a:p>
          <a:p>
            <a:r>
              <a:t>A letter of recommendation.</a:t>
            </a:r>
          </a:p>
          <a:p>
            <a:r>
              <a:t>@  Aspecial aviation questionnaire.</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144</a:t>
            </a:r>
          </a:p>
        </p:txBody>
      </p:sp>
      <p:sp>
        <p:nvSpPr>
          <p:cNvPr id="3" name="Content Placeholder 2"/>
          <p:cNvSpPr>
            <a:spLocks noGrp="1"/>
          </p:cNvSpPr>
          <p:nvPr>
            <p:ph idx="1"/>
          </p:nvPr>
        </p:nvSpPr>
        <p:spPr/>
        <p:txBody>
          <a:bodyPr/>
          <a:lstStyle/>
          <a:p/>
          <a:p>
            <a:br/>
            <a:pPr>
              <a:defRPr sz="1400" i="1"/>
            </a:pPr>
            <a:r>
              <a:t>Explanation: skydiving hobby on</a:t>
            </a:r>
            <a:br/>
            <a:r>
              <a:t>the application. What additional step</a:t>
            </a:r>
            <a:br/>
            <a:r>
              <a:t>might the insurance company require</a:t>
            </a:r>
            <a:br/>
            <a:r>
              <a:t>before approving his policy?</a:t>
            </a:r>
            <a:br/>
            <a:r>
              <a:t>No additional steps are required.</a:t>
            </a:r>
            <a:br/>
            <a:r>
              <a:t>A letter of recommendation.</a:t>
            </a:r>
            <a:br/>
            <a:r>
              <a:t>@  Aspecial avia...</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145</a:t>
            </a:r>
          </a:p>
        </p:txBody>
      </p:sp>
      <p:sp>
        <p:nvSpPr>
          <p:cNvPr id="3" name="Content Placeholder 2"/>
          <p:cNvSpPr>
            <a:spLocks noGrp="1"/>
          </p:cNvSpPr>
          <p:nvPr>
            <p:ph idx="1"/>
          </p:nvPr>
        </p:nvSpPr>
        <p:spPr/>
        <p:txBody>
          <a:bodyPr/>
          <a:lstStyle/>
          <a:p>
            <a:r>
              <a:t>What distinguishes the Fixed-Period</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145</a:t>
            </a:r>
          </a:p>
        </p:txBody>
      </p:sp>
      <p:sp>
        <p:nvSpPr>
          <p:cNvPr id="3" name="Content Placeholder 2"/>
          <p:cNvSpPr>
            <a:spLocks noGrp="1"/>
          </p:cNvSpPr>
          <p:nvPr>
            <p:ph idx="1"/>
          </p:nvPr>
        </p:nvSpPr>
        <p:spPr/>
        <p:txBody>
          <a:bodyPr/>
          <a:lstStyle/>
          <a:p/>
          <a:p>
            <a:r>
              <a:t>☐ ption in life insurance settlements? @ © Payments include both principal and interest over a set period</a:t>
            </a:r>
          </a:p>
          <a:p>
            <a:r>
              <a:t>☐ nly interest is paid out Payments are based on the policy's cash</a:t>
            </a:r>
          </a:p>
          <a:p>
            <a:pPr>
              <a:defRPr b="1"/>
            </a:pPr>
            <a:r>
              <a:t>✅ alue Beneficiary receives a lump sum after a fixed period</a:t>
            </a:r>
          </a:p>
          <a:p>
            <a:br/>
            <a:pPr>
              <a:defRPr sz="1400" i="1"/>
            </a:pPr>
            <a:r>
              <a:t>Explanation: paid out</a:t>
            </a:r>
            <a:br/>
            <a:r>
              <a:t>Payments are based on the policy's cash</a:t>
            </a:r>
            <a:br/>
            <a:r>
              <a:t>value</a:t>
            </a:r>
            <a:br/>
            <a:r>
              <a:t>Beneficiary receives a lump sum after a</a:t>
            </a:r>
            <a:br/>
            <a:r>
              <a:t>fixed period</a:t>
            </a:r>
            <a:br/>
            <a:r>
              <a:t>Proceed =&gt;</a:t>
            </a:r>
            <a:br/>
            <a:r>
              <a:t>I&lt; A &gt;|</a:t>
            </a:r>
            <a:br/>
            <a:r>
              <a:t>&amp; a ..rancelicense.myabsorb.com (</a:t>
            </a:r>
            <a:br/>
            <a:r>
              <a:t>&lt; &gt; + (21)...</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146</a:t>
            </a:r>
          </a:p>
        </p:txBody>
      </p:sp>
      <p:sp>
        <p:nvSpPr>
          <p:cNvPr id="3" name="Content Placeholder 2"/>
          <p:cNvSpPr>
            <a:spLocks noGrp="1"/>
          </p:cNvSpPr>
          <p:nvPr>
            <p:ph idx="1"/>
          </p:nvPr>
        </p:nvSpPr>
        <p:spPr/>
        <p:txBody>
          <a:bodyPr/>
          <a:lstStyle/>
          <a:p>
            <a:r>
              <a:t>An individual applying for an insurance</a:t>
            </a:r>
          </a:p>
          <a:p>
            <a:r>
              <a:t>producer license in Arizona must</a:t>
            </a:r>
          </a:p>
          <a:p>
            <a:r>
              <a:t>affirm that the information provided in</a:t>
            </a:r>
          </a:p>
          <a:p>
            <a:r>
              <a:t>the application is:</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146</a:t>
            </a:r>
          </a:p>
        </p:txBody>
      </p:sp>
      <p:sp>
        <p:nvSpPr>
          <p:cNvPr id="3" name="Content Placeholder 2"/>
          <p:cNvSpPr>
            <a:spLocks noGrp="1"/>
          </p:cNvSpPr>
          <p:nvPr>
            <p:ph idx="1"/>
          </p:nvPr>
        </p:nvSpPr>
        <p:spPr/>
        <p:txBody>
          <a:bodyPr/>
          <a:lstStyle/>
          <a:p/>
          <a:p>
            <a:r>
              <a:t>☐ Sufficient</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147</a:t>
            </a:r>
          </a:p>
        </p:txBody>
      </p:sp>
      <p:sp>
        <p:nvSpPr>
          <p:cNvPr id="3" name="Content Placeholder 2"/>
          <p:cNvSpPr>
            <a:spLocks noGrp="1"/>
          </p:cNvSpPr>
          <p:nvPr>
            <p:ph idx="1"/>
          </p:nvPr>
        </p:nvSpPr>
        <p:spPr/>
        <p:txBody>
          <a:bodyPr/>
          <a:lstStyle/>
          <a:p>
            <a:r>
              <a:t>Which option in term life policies</a:t>
            </a:r>
          </a:p>
          <a:p>
            <a:r>
              <a:t>allows converting to a permanent life</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147</a:t>
            </a:r>
          </a:p>
        </p:txBody>
      </p:sp>
      <p:sp>
        <p:nvSpPr>
          <p:cNvPr id="3" name="Content Placeholder 2"/>
          <p:cNvSpPr>
            <a:spLocks noGrp="1"/>
          </p:cNvSpPr>
          <p:nvPr>
            <p:ph idx="1"/>
          </p:nvPr>
        </p:nvSpPr>
        <p:spPr/>
        <p:txBody>
          <a:bodyPr/>
          <a:lstStyle/>
          <a:p/>
          <a:p>
            <a:r>
              <a:t>☐ nsurance policy without proof of</a:t>
            </a:r>
          </a:p>
          <a:p>
            <a:r>
              <a:t>☐ nsurability?</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148</a:t>
            </a:r>
          </a:p>
        </p:txBody>
      </p:sp>
      <p:sp>
        <p:nvSpPr>
          <p:cNvPr id="3" name="Content Placeholder 2"/>
          <p:cNvSpPr>
            <a:spLocks noGrp="1"/>
          </p:cNvSpPr>
          <p:nvPr>
            <p:ph idx="1"/>
          </p:nvPr>
        </p:nvSpPr>
        <p:spPr/>
        <p:txBody>
          <a:bodyPr/>
          <a:lstStyle/>
          <a:p>
            <a:r>
              <a:t>What action must be taken if there is a</a:t>
            </a:r>
          </a:p>
          <a:p>
            <a:r>
              <a:t>change among the members,</a:t>
            </a:r>
          </a:p>
          <a:p>
            <a:r>
              <a:t>directors, or officers of a business</a:t>
            </a:r>
          </a:p>
          <a:p>
            <a:r>
              <a:t>entity licensed as an insurance</a:t>
            </a:r>
          </a:p>
          <a:p>
            <a:r>
              <a:t>producer in Arizona?</a:t>
            </a:r>
          </a:p>
          <a:p>
            <a:r>
              <a:t>Hold a general meeting</a:t>
            </a:r>
          </a:p>
          <a:p>
            <a:r>
              <a:t>Apply for a new license</a:t>
            </a:r>
          </a:p>
          <a:p>
            <a:r>
              <a:t>Report the change to the IRS</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148</a:t>
            </a:r>
          </a:p>
        </p:txBody>
      </p:sp>
      <p:sp>
        <p:nvSpPr>
          <p:cNvPr id="3" name="Content Placeholder 2"/>
          <p:cNvSpPr>
            <a:spLocks noGrp="1"/>
          </p:cNvSpPr>
          <p:nvPr>
            <p:ph idx="1"/>
          </p:nvPr>
        </p:nvSpPr>
        <p:spPr/>
        <p:txBody>
          <a:bodyPr/>
          <a:lstStyle/>
          <a:p/>
          <a:p>
            <a:br/>
            <a:pPr>
              <a:defRPr sz="1400" i="1"/>
            </a:pPr>
            <a:r>
              <a:t>Explanation: a</a:t>
            </a:r>
            <a:br/>
            <a:r>
              <a:t>change among the members,</a:t>
            </a:r>
            <a:br/>
            <a:r>
              <a:t>directors, or officers of a business</a:t>
            </a:r>
            <a:br/>
            <a:r>
              <a:t>entity licensed as an insurance</a:t>
            </a:r>
            <a:br/>
            <a:r>
              <a:t>producer in Arizona?</a:t>
            </a:r>
            <a:br/>
            <a:r>
              <a:t>Hold a general meeting</a:t>
            </a:r>
            <a:br/>
            <a:r>
              <a:t>Apply for a new license</a:t>
            </a:r>
            <a:br/>
            <a:r>
              <a:t>Report the change to the IRS</a:t>
            </a:r>
            <a:br/>
            <a:r>
              <a:t>Procee...</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149</a:t>
            </a:r>
          </a:p>
        </p:txBody>
      </p:sp>
      <p:sp>
        <p:nvSpPr>
          <p:cNvPr id="3" name="Content Placeholder 2"/>
          <p:cNvSpPr>
            <a:spLocks noGrp="1"/>
          </p:cNvSpPr>
          <p:nvPr>
            <p:ph idx="1"/>
          </p:nvPr>
        </p:nvSpPr>
        <p:spPr/>
        <p:txBody>
          <a:bodyPr/>
          <a:lstStyle/>
          <a:p>
            <a:r>
              <a:t>Why might someone choose Variable</a:t>
            </a:r>
          </a:p>
          <a:p>
            <a:r>
              <a:t>Universal Life Insurance?</a:t>
            </a:r>
          </a:p>
          <a:p>
            <a:r>
              <a:t>@  For the potential of higher returns through</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149</a:t>
            </a:r>
          </a:p>
        </p:txBody>
      </p:sp>
      <p:sp>
        <p:nvSpPr>
          <p:cNvPr id="3" name="Content Placeholder 2"/>
          <p:cNvSpPr>
            <a:spLocks noGrp="1"/>
          </p:cNvSpPr>
          <p:nvPr>
            <p:ph idx="1"/>
          </p:nvPr>
        </p:nvSpPr>
        <p:spPr/>
        <p:txBody>
          <a:bodyPr/>
          <a:lstStyle/>
          <a:p/>
          <a:p>
            <a:r>
              <a:t>☐ nvestment options. To receive dividends from the insurer's profits. To have the option of increasing the death benefit without medical exams. For a guaranteed interest rate on cash</a:t>
            </a:r>
          </a:p>
          <a:p>
            <a:pPr>
              <a:defRPr b="1"/>
            </a:pPr>
            <a:r>
              <a:t>✅ alues.</a:t>
            </a:r>
          </a:p>
          <a:p>
            <a:br/>
            <a:pPr>
              <a:defRPr sz="1400" i="1"/>
            </a:pPr>
            <a:r>
              <a:t>Explanation: from the insurer's</a:t>
            </a:r>
            <a:br/>
            <a:r>
              <a:t>profits.</a:t>
            </a:r>
            <a:br/>
            <a:r>
              <a:t>To have the option of increasing the death</a:t>
            </a:r>
            <a:br/>
            <a:r>
              <a:t>benefit without medical exams.</a:t>
            </a:r>
            <a:br/>
            <a:r>
              <a:t>For a guaranteed interest rate on cash</a:t>
            </a:r>
            <a:br/>
            <a:r>
              <a:t>values.</a:t>
            </a:r>
            <a:br/>
            <a:r>
              <a:t>Proceed —_»&gt;</a:t>
            </a:r>
            <a:br/>
            <a:r>
              <a:t>I&lt; A &gt;|</a:t>
            </a:r>
            <a:br/>
            <a:r>
              <a:t>&amp; a ..rancelicense.myabsorb.co...</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150</a:t>
            </a:r>
          </a:p>
        </p:txBody>
      </p:sp>
      <p:sp>
        <p:nvSpPr>
          <p:cNvPr id="3" name="Content Placeholder 2"/>
          <p:cNvSpPr>
            <a:spLocks noGrp="1"/>
          </p:cNvSpPr>
          <p:nvPr>
            <p:ph idx="1"/>
          </p:nvPr>
        </p:nvSpPr>
        <p:spPr/>
        <p:txBody>
          <a:bodyPr/>
          <a:lstStyle/>
          <a:p>
            <a:r>
              <a:t>Under which federal act can insurance</a:t>
            </a:r>
          </a:p>
          <a:p>
            <a:r>
              <a:t>agents face criminal penalties for</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150</a:t>
            </a:r>
          </a:p>
        </p:txBody>
      </p:sp>
      <p:sp>
        <p:nvSpPr>
          <p:cNvPr id="3" name="Content Placeholder 2"/>
          <p:cNvSpPr>
            <a:spLocks noGrp="1"/>
          </p:cNvSpPr>
          <p:nvPr>
            <p:ph idx="1"/>
          </p:nvPr>
        </p:nvSpPr>
        <p:spPr/>
        <p:txBody>
          <a:bodyPr/>
          <a:lstStyle/>
          <a:p/>
          <a:p>
            <a:r>
              <a:t>☐ nvolvement in certain crimes? CAN-SPAM Act Violent Crime Control and Law Enforcement Act</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151</a:t>
            </a:r>
          </a:p>
        </p:txBody>
      </p:sp>
      <p:sp>
        <p:nvSpPr>
          <p:cNvPr id="3" name="Content Placeholder 2"/>
          <p:cNvSpPr>
            <a:spLocks noGrp="1"/>
          </p:cNvSpPr>
          <p:nvPr>
            <p:ph idx="1"/>
          </p:nvPr>
        </p:nvSpPr>
        <p:spPr/>
        <p:txBody>
          <a:bodyPr/>
          <a:lstStyle/>
          <a:p>
            <a:r>
              <a:t>Which rider provides coverage for total</a:t>
            </a:r>
          </a:p>
          <a:p>
            <a:r>
              <a:t>disability by waiving premiums?</a:t>
            </a:r>
          </a:p>
          <a:p>
            <a:r>
              <a:t>Accidental Death Benefit Rider.</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151</a:t>
            </a:r>
          </a:p>
        </p:txBody>
      </p:sp>
      <p:sp>
        <p:nvSpPr>
          <p:cNvPr id="3" name="Content Placeholder 2"/>
          <p:cNvSpPr>
            <a:spLocks noGrp="1"/>
          </p:cNvSpPr>
          <p:nvPr>
            <p:ph idx="1"/>
          </p:nvPr>
        </p:nvSpPr>
        <p:spPr/>
        <p:txBody>
          <a:bodyPr/>
          <a:lstStyle/>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152</a:t>
            </a:r>
          </a:p>
        </p:txBody>
      </p:sp>
      <p:sp>
        <p:nvSpPr>
          <p:cNvPr id="3" name="Content Placeholder 2"/>
          <p:cNvSpPr>
            <a:spLocks noGrp="1"/>
          </p:cNvSpPr>
          <p:nvPr>
            <p:ph idx="1"/>
          </p:nvPr>
        </p:nvSpPr>
        <p:spPr/>
        <p:txBody>
          <a:bodyPr/>
          <a:lstStyle/>
          <a:p>
            <a:r>
              <a:t>Which act governs the sending of</a:t>
            </a:r>
          </a:p>
          <a:p>
            <a:r>
              <a:t>commercial emails and sets rules for</a:t>
            </a:r>
          </a:p>
          <a:p>
            <a:r>
              <a:t>commercial messaging?</a:t>
            </a:r>
          </a:p>
          <a:p>
            <a:r>
              <a:t>Telemarketing Sales Rule</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152</a:t>
            </a:r>
          </a:p>
        </p:txBody>
      </p:sp>
      <p:sp>
        <p:nvSpPr>
          <p:cNvPr id="3" name="Content Placeholder 2"/>
          <p:cNvSpPr>
            <a:spLocks noGrp="1"/>
          </p:cNvSpPr>
          <p:nvPr>
            <p:ph idx="1"/>
          </p:nvPr>
        </p:nvSpPr>
        <p:spPr/>
        <p:txBody>
          <a:bodyPr/>
          <a:lstStyle/>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153</a:t>
            </a:r>
          </a:p>
        </p:txBody>
      </p:sp>
      <p:sp>
        <p:nvSpPr>
          <p:cNvPr id="3" name="Content Placeholder 2"/>
          <p:cNvSpPr>
            <a:spLocks noGrp="1"/>
          </p:cNvSpPr>
          <p:nvPr>
            <p:ph idx="1"/>
          </p:nvPr>
        </p:nvSpPr>
        <p:spPr/>
        <p:txBody>
          <a:bodyPr/>
          <a:lstStyle/>
          <a:p>
            <a:r>
              <a:t>When is coverage effective under an</a:t>
            </a:r>
          </a:p>
          <a:p>
            <a:r>
              <a:t>Approval Receipt in a life insurance</a:t>
            </a:r>
          </a:p>
          <a:p>
            <a:r>
              <a:t>policy?</a:t>
            </a:r>
          </a:p>
          <a:p>
            <a:r>
              <a:t>After the insurer approves the application.</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153</a:t>
            </a:r>
          </a:p>
        </p:txBody>
      </p:sp>
      <p:sp>
        <p:nvSpPr>
          <p:cNvPr id="3" name="Content Placeholder 2"/>
          <p:cNvSpPr>
            <a:spLocks noGrp="1"/>
          </p:cNvSpPr>
          <p:nvPr>
            <p:ph idx="1"/>
          </p:nvPr>
        </p:nvSpPr>
        <p:spPr/>
        <p:txBody>
          <a:bodyPr/>
          <a:lstStyle/>
          <a:p/>
          <a:p>
            <a:pPr>
              <a:defRPr b="1"/>
            </a:pPr>
            <a:r>
              <a:t>✅ n the policy delivery date.</a:t>
            </a:r>
          </a:p>
          <a:p>
            <a:r>
              <a:t>☐ nce the applicant passes a medical examination.</a:t>
            </a:r>
          </a:p>
          <a:p>
            <a:br/>
            <a:pPr>
              <a:defRPr sz="1400" i="1"/>
            </a:pPr>
            <a:r>
              <a:t>Explanation: coverage effective under an</a:t>
            </a:r>
            <a:br/>
            <a:r>
              <a:t>Approval Receipt in a life insurance</a:t>
            </a:r>
            <a:br/>
            <a:r>
              <a:t>policy?</a:t>
            </a:r>
            <a:br/>
            <a:r>
              <a:t>After the insurer approves the application.</a:t>
            </a:r>
            <a:br/>
            <a:r>
              <a:t>Immediately upon application submission.</a:t>
            </a:r>
            <a:br/>
            <a:r>
              <a:t>On the policy delivery date.</a:t>
            </a:r>
            <a:br/>
            <a:r>
              <a:t>Once the appl...</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154</a:t>
            </a:r>
          </a:p>
        </p:txBody>
      </p:sp>
      <p:sp>
        <p:nvSpPr>
          <p:cNvPr id="3" name="Content Placeholder 2"/>
          <p:cNvSpPr>
            <a:spLocks noGrp="1"/>
          </p:cNvSpPr>
          <p:nvPr>
            <p:ph idx="1"/>
          </p:nvPr>
        </p:nvSpPr>
        <p:spPr/>
        <p:txBody>
          <a:bodyPr/>
          <a:lstStyle/>
          <a:p>
            <a:r>
              <a:t>What is an example of a contract not</a:t>
            </a:r>
          </a:p>
          <a:p>
            <a:r>
              <a:t>having a lawful purpose?</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154</a:t>
            </a:r>
          </a:p>
        </p:txBody>
      </p:sp>
      <p:sp>
        <p:nvSpPr>
          <p:cNvPr id="3" name="Content Placeholder 2"/>
          <p:cNvSpPr>
            <a:spLocks noGrp="1"/>
          </p:cNvSpPr>
          <p:nvPr>
            <p:ph idx="1"/>
          </p:nvPr>
        </p:nvSpPr>
        <p:spPr/>
        <p:txBody>
          <a:bodyPr/>
          <a:lstStyle/>
          <a:p/>
          <a:p>
            <a:r>
              <a:t>☐ A contract for employment benefits @ © Acontract involving a payment for committing an illegal act, like murder A contract for the sale of a house Acontract to provide insurance coverage</a:t>
            </a:r>
          </a:p>
          <a:p>
            <a:br/>
            <a:pPr>
              <a:defRPr sz="1400" i="1"/>
            </a:pPr>
            <a:r>
              <a:t>Explanation: an example of a contract not</a:t>
            </a:r>
            <a:br/>
            <a:r>
              <a:t>having a lawful purpose?</a:t>
            </a:r>
            <a:br/>
            <a:r>
              <a:t>x) A contract for employment benefits</a:t>
            </a:r>
            <a:br/>
            <a:r>
              <a:t>@  Acontract involving a payment for</a:t>
            </a:r>
            <a:br/>
            <a:r>
              <a:t>committing an illegal act, like murder</a:t>
            </a:r>
            <a:br/>
            <a:r>
              <a:t>A contract for the sale of a hou...</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155</a:t>
            </a:r>
          </a:p>
        </p:txBody>
      </p:sp>
      <p:sp>
        <p:nvSpPr>
          <p:cNvPr id="3" name="Content Placeholder 2"/>
          <p:cNvSpPr>
            <a:spLocks noGrp="1"/>
          </p:cNvSpPr>
          <p:nvPr>
            <p:ph idx="1"/>
          </p:nvPr>
        </p:nvSpPr>
        <p:spPr/>
        <p:txBody>
          <a:bodyPr/>
          <a:lstStyle/>
          <a:p>
            <a:r>
              <a:t>How do Accelerated Benefits in life</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155</a:t>
            </a:r>
          </a:p>
        </p:txBody>
      </p:sp>
      <p:sp>
        <p:nvSpPr>
          <p:cNvPr id="3" name="Content Placeholder 2"/>
          <p:cNvSpPr>
            <a:spLocks noGrp="1"/>
          </p:cNvSpPr>
          <p:nvPr>
            <p:ph idx="1"/>
          </p:nvPr>
        </p:nvSpPr>
        <p:spPr/>
        <p:txBody>
          <a:bodyPr/>
          <a:lstStyle/>
          <a:p/>
          <a:p>
            <a:r>
              <a:t>☐ nsurance policies support policyholders? By reducing premiums By increasing the death benefit By offering early access to funds for terminal or chronic illness By extending the policy term</a:t>
            </a:r>
          </a:p>
          <a:p>
            <a:br/>
            <a:pPr>
              <a:defRPr sz="1400" i="1"/>
            </a:pPr>
            <a:r>
              <a:t>Explanation: for terminal</a:t>
            </a:r>
            <a:br/>
            <a:r>
              <a:t>or chronic illness</a:t>
            </a:r>
            <a:br/>
            <a:r>
              <a:t>By extending the policy term</a:t>
            </a:r>
            <a:br/>
            <a:r>
              <a:t>Proceed =&gt;</a:t>
            </a:r>
            <a:br/>
            <a:r>
              <a:t>I&lt; A &gt;|</a:t>
            </a:r>
            <a:br/>
            <a:r>
              <a:t>&amp; a ..rancelicense.myabsorb.com (</a:t>
            </a:r>
            <a:br/>
            <a:r>
              <a:t>&lt; &gt; + (21)...</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156</a:t>
            </a:r>
          </a:p>
        </p:txBody>
      </p:sp>
      <p:sp>
        <p:nvSpPr>
          <p:cNvPr id="3" name="Content Placeholder 2"/>
          <p:cNvSpPr>
            <a:spLocks noGrp="1"/>
          </p:cNvSpPr>
          <p:nvPr>
            <p:ph idx="1"/>
          </p:nvPr>
        </p:nvSpPr>
        <p:spPr/>
        <p:txBody>
          <a:bodyPr/>
          <a:lstStyle/>
          <a:p>
            <a:r>
              <a:t>What is a key feature of Whole Life</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156</a:t>
            </a:r>
          </a:p>
        </p:txBody>
      </p:sp>
      <p:sp>
        <p:nvSpPr>
          <p:cNvPr id="3" name="Content Placeholder 2"/>
          <p:cNvSpPr>
            <a:spLocks noGrp="1"/>
          </p:cNvSpPr>
          <p:nvPr>
            <p:ph idx="1"/>
          </p:nvPr>
        </p:nvSpPr>
        <p:spPr/>
        <p:txBody>
          <a:bodyPr/>
          <a:lstStyle/>
          <a:p/>
          <a:p>
            <a:br/>
            <a:pPr>
              <a:defRPr sz="1400" i="1"/>
            </a:pPr>
            <a:r>
              <a:t>Explanation: a key feature of Whole Life</a:t>
            </a:r>
            <a:br/>
            <a:r>
              <a:t>Insurance?</a:t>
            </a:r>
            <a:br/>
            <a:r>
              <a:t>No cash value accumulation</a:t>
            </a:r>
            <a:br/>
            <a:r>
              <a:t>Premiums may vary over time</a:t>
            </a:r>
            <a:br/>
            <a:r>
              <a:t>e Combines a death benefit with a savings</a:t>
            </a:r>
            <a:br/>
            <a:r>
              <a:t>component</a:t>
            </a:r>
            <a:br/>
            <a:r>
              <a:t>Proceed =&gt;</a:t>
            </a:r>
            <a:br/>
            <a:r>
              <a:t>A &gt;|</a:t>
            </a:r>
            <a:br/>
            <a:r>
              <a:t>&amp; a ..rancelicense.myabsorb.com (</a:t>
            </a:r>
            <a:br/>
            <a:r>
              <a:t>&lt; &gt; ...</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157</a:t>
            </a:r>
          </a:p>
        </p:txBody>
      </p:sp>
      <p:sp>
        <p:nvSpPr>
          <p:cNvPr id="3" name="Content Placeholder 2"/>
          <p:cNvSpPr>
            <a:spLocks noGrp="1"/>
          </p:cNvSpPr>
          <p:nvPr>
            <p:ph idx="1"/>
          </p:nvPr>
        </p:nvSpPr>
        <p:spPr/>
        <p:txBody>
          <a:bodyPr/>
          <a:lstStyle/>
          <a:p>
            <a:r>
              <a:t>What is characteristic of a fixed</a:t>
            </a:r>
          </a:p>
          <a:p>
            <a:r>
              <a:t>annuity?</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157</a:t>
            </a:r>
          </a:p>
        </p:txBody>
      </p:sp>
      <p:sp>
        <p:nvSpPr>
          <p:cNvPr id="3" name="Content Placeholder 2"/>
          <p:cNvSpPr>
            <a:spLocks noGrp="1"/>
          </p:cNvSpPr>
          <p:nvPr>
            <p:ph idx="1"/>
          </p:nvPr>
        </p:nvSpPr>
        <p:spPr/>
        <p:txBody>
          <a:bodyPr/>
          <a:lstStyle/>
          <a:p/>
          <a:p>
            <a:pPr>
              <a:defRPr b="1"/>
            </a:pPr>
            <a:r>
              <a:t>✅ e Guaranteed minimum interest rate</a:t>
            </a:r>
          </a:p>
          <a:p>
            <a:br/>
            <a:pPr>
              <a:defRPr sz="1400" i="1"/>
            </a:pPr>
            <a:r>
              <a:t>Explanation: characteristic of a fixed</a:t>
            </a:r>
            <a:br/>
            <a:r>
              <a:t>annuity?</a:t>
            </a:r>
            <a:br/>
            <a:r>
              <a:t>g e Guaranteed minimum interest rate</a:t>
            </a:r>
            <a:br/>
            <a:r>
              <a:t>Proceed —_»&gt;</a:t>
            </a:r>
            <a:br/>
            <a:r>
              <a:t>I&lt; A &gt;|</a:t>
            </a:r>
            <a:br/>
            <a:r>
              <a:t>&amp; a ..rancelicense.myabsorb.com (</a:t>
            </a:r>
            <a:br/>
            <a:r>
              <a:t>&lt; &gt; + (21)...</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158</a:t>
            </a:r>
          </a:p>
        </p:txBody>
      </p:sp>
      <p:sp>
        <p:nvSpPr>
          <p:cNvPr id="3" name="Content Placeholder 2"/>
          <p:cNvSpPr>
            <a:spLocks noGrp="1"/>
          </p:cNvSpPr>
          <p:nvPr>
            <p:ph idx="1"/>
          </p:nvPr>
        </p:nvSpPr>
        <p:spPr/>
        <p:txBody>
          <a:bodyPr/>
          <a:lstStyle/>
          <a:p>
            <a:r>
              <a:t>What is the advantage of a Family</a:t>
            </a:r>
          </a:p>
          <a:p>
            <a:r>
              <a:t>Maintenance Policy?</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158</a:t>
            </a:r>
          </a:p>
        </p:txBody>
      </p:sp>
      <p:sp>
        <p:nvSpPr>
          <p:cNvPr id="3" name="Content Placeholder 2"/>
          <p:cNvSpPr>
            <a:spLocks noGrp="1"/>
          </p:cNvSpPr>
          <p:nvPr>
            <p:ph idx="1"/>
          </p:nvPr>
        </p:nvSpPr>
        <p:spPr/>
        <p:txBody>
          <a:bodyPr/>
          <a:lstStyle/>
          <a:p/>
          <a:p>
            <a:br/>
            <a:pPr>
              <a:defRPr sz="1400" i="1"/>
            </a:pPr>
            <a:r>
              <a:t>Explanation: the advantage of a Family</a:t>
            </a:r>
            <a:br/>
            <a:r>
              <a:t>Maintenance Policy?</a:t>
            </a:r>
            <a:br/>
            <a:r>
              <a:t>It includes health coverage for all family</a:t>
            </a:r>
            <a:br/>
            <a:r>
              <a:t>members.</a:t>
            </a:r>
            <a:br/>
            <a:r>
              <a:t>It offers a lump sum benefit for family</a:t>
            </a:r>
            <a:br/>
            <a:r>
              <a:t>expenses.</a:t>
            </a:r>
            <a:br/>
            <a:r>
              <a:t>Premiums are shared among family</a:t>
            </a:r>
            <a:br/>
            <a:r>
              <a:t>members.</a:t>
            </a:r>
            <a:br/>
            <a:r>
              <a:t>It provide...</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159</a:t>
            </a:r>
          </a:p>
        </p:txBody>
      </p:sp>
      <p:sp>
        <p:nvSpPr>
          <p:cNvPr id="3" name="Content Placeholder 2"/>
          <p:cNvSpPr>
            <a:spLocks noGrp="1"/>
          </p:cNvSpPr>
          <p:nvPr>
            <p:ph idx="1"/>
          </p:nvPr>
        </p:nvSpPr>
        <p:spPr/>
        <p:txBody>
          <a:bodyPr/>
          <a:lstStyle/>
          <a:p>
            <a:r>
              <a:t>The USA Patriot Act requires insurance</a:t>
            </a:r>
          </a:p>
          <a:p>
            <a:r>
              <a:t>companies to establish formal programs for:</a:t>
            </a:r>
          </a:p>
          <a:p>
            <a:r>
              <a:t>Customer service improvement</a:t>
            </a:r>
          </a:p>
          <a:p>
            <a:r>
              <a:t>Policy delivery efficiency</a:t>
            </a:r>
          </a:p>
          <a:p>
            <a:r>
              <a:t>Underwriting speed</a:t>
            </a:r>
          </a:p>
          <a:p>
            <a:r>
              <a:t>@  Anti-money laundering (x)</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159</a:t>
            </a:r>
          </a:p>
        </p:txBody>
      </p:sp>
      <p:sp>
        <p:nvSpPr>
          <p:cNvPr id="3" name="Content Placeholder 2"/>
          <p:cNvSpPr>
            <a:spLocks noGrp="1"/>
          </p:cNvSpPr>
          <p:nvPr>
            <p:ph idx="1"/>
          </p:nvPr>
        </p:nvSpPr>
        <p:spPr/>
        <p:txBody>
          <a:bodyPr/>
          <a:lstStyle/>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160</a:t>
            </a:r>
          </a:p>
        </p:txBody>
      </p:sp>
      <p:sp>
        <p:nvSpPr>
          <p:cNvPr id="3" name="Content Placeholder 2"/>
          <p:cNvSpPr>
            <a:spLocks noGrp="1"/>
          </p:cNvSpPr>
          <p:nvPr>
            <p:ph idx="1"/>
          </p:nvPr>
        </p:nvSpPr>
        <p:spPr/>
        <p:txBody>
          <a:bodyPr/>
          <a:lstStyle/>
          <a:p>
            <a:r>
              <a:t>Which type of annuity begins</a:t>
            </a:r>
          </a:p>
          <a:p>
            <a:r>
              <a:t>payments in the future?</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160</a:t>
            </a:r>
          </a:p>
        </p:txBody>
      </p:sp>
      <p:sp>
        <p:nvSpPr>
          <p:cNvPr id="3" name="Content Placeholder 2"/>
          <p:cNvSpPr>
            <a:spLocks noGrp="1"/>
          </p:cNvSpPr>
          <p:nvPr>
            <p:ph idx="1"/>
          </p:nvPr>
        </p:nvSpPr>
        <p:spPr/>
        <p:txBody>
          <a:bodyPr/>
          <a:lstStyle/>
          <a:p/>
          <a:p>
            <a:pPr>
              <a:defRPr b="1"/>
            </a:pPr>
            <a:r>
              <a:t>✅ e Deferred annuity</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161</a:t>
            </a:r>
          </a:p>
        </p:txBody>
      </p:sp>
      <p:sp>
        <p:nvSpPr>
          <p:cNvPr id="3" name="Content Placeholder 2"/>
          <p:cNvSpPr>
            <a:spLocks noGrp="1"/>
          </p:cNvSpPr>
          <p:nvPr>
            <p:ph idx="1"/>
          </p:nvPr>
        </p:nvSpPr>
        <p:spPr/>
        <p:txBody>
          <a:bodyPr/>
          <a:lstStyle/>
          <a:p>
            <a:r>
              <a:t>What happens when a life insurance</a:t>
            </a:r>
          </a:p>
          <a:p>
            <a:r>
              <a:t>policy owner selects the Paid-Up</a:t>
            </a:r>
          </a:p>
          <a:p>
            <a:r>
              <a:t>Additions Dividend Option?</a:t>
            </a:r>
          </a:p>
          <a:p>
            <a:r>
              <a:t>The policy term is extended</a:t>
            </a:r>
          </a:p>
          <a:p>
            <a:r>
              <a:t>The policy is automatically renewed</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161</a:t>
            </a:r>
          </a:p>
        </p:txBody>
      </p:sp>
      <p:sp>
        <p:nvSpPr>
          <p:cNvPr id="3" name="Content Placeholder 2"/>
          <p:cNvSpPr>
            <a:spLocks noGrp="1"/>
          </p:cNvSpPr>
          <p:nvPr>
            <p:ph idx="1"/>
          </p:nvPr>
        </p:nvSpPr>
        <p:spPr/>
        <p:txBody>
          <a:bodyPr/>
          <a:lstStyle/>
          <a:p/>
          <a:p>
            <a:pPr>
              <a:defRPr b="1"/>
            </a:pPr>
            <a:r>
              <a:t>✅ e Additional whole life insurance is purchased using dividends Premiums are reduced</a:t>
            </a:r>
          </a:p>
          <a:p>
            <a:br/>
            <a:pPr>
              <a:defRPr sz="1400" i="1"/>
            </a:pPr>
            <a:r>
              <a:t>Explanation: extended</a:t>
            </a:r>
            <a:br/>
            <a:r>
              <a:t>The policy is automatically renewed</a:t>
            </a:r>
            <a:br/>
            <a:r>
              <a:t>iv) e Additional whole life insurance is purchased</a:t>
            </a:r>
            <a:br/>
            <a:r>
              <a:t>using dividends</a:t>
            </a:r>
            <a:br/>
            <a:r>
              <a:t>Premiums are reduced</a:t>
            </a:r>
            <a:br/>
            <a:r>
              <a:t>Proceed =&gt;</a:t>
            </a:r>
            <a:br/>
            <a:r>
              <a:t>I&lt; A &gt;|</a:t>
            </a:r>
            <a:br/>
            <a:r>
              <a:t>&amp; a ..rancelicense.myabsorb.com (</a:t>
            </a:r>
            <a:br/>
            <a:r>
              <a:t>&lt; &gt; + (21)...</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162</a:t>
            </a:r>
          </a:p>
        </p:txBody>
      </p:sp>
      <p:sp>
        <p:nvSpPr>
          <p:cNvPr id="3" name="Content Placeholder 2"/>
          <p:cNvSpPr>
            <a:spLocks noGrp="1"/>
          </p:cNvSpPr>
          <p:nvPr>
            <p:ph idx="1"/>
          </p:nvPr>
        </p:nvSpPr>
        <p:spPr/>
        <p:txBody>
          <a:bodyPr/>
          <a:lstStyle/>
          <a:p>
            <a:r>
              <a:t>The type of annuity offering the highest</a:t>
            </a:r>
          </a:p>
          <a:p>
            <a:r>
              <a:t>possible monthly income to a single</a:t>
            </a:r>
          </a:p>
          <a:p>
            <a:r>
              <a:t>annuitant is known as a(n):</a:t>
            </a:r>
          </a:p>
          <a:p>
            <a:r>
              <a:t>@  Straight Life Annuity</a:t>
            </a:r>
          </a:p>
          <a:p>
            <a:r>
              <a:t>Life Annuity with Period Certain</a:t>
            </a:r>
          </a:p>
          <a:p>
            <a:r>
              <a:t>Systematic Withdrawal</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162</a:t>
            </a:r>
          </a:p>
        </p:txBody>
      </p:sp>
      <p:sp>
        <p:nvSpPr>
          <p:cNvPr id="3" name="Content Placeholder 2"/>
          <p:cNvSpPr>
            <a:spLocks noGrp="1"/>
          </p:cNvSpPr>
          <p:nvPr>
            <p:ph idx="1"/>
          </p:nvPr>
        </p:nvSpPr>
        <p:spPr/>
        <p:txBody>
          <a:bodyPr/>
          <a:lstStyle/>
          <a:p/>
          <a:p>
            <a:r>
              <a:t>☐ Joint And Survivor rx)</a:t>
            </a:r>
          </a:p>
          <a:p>
            <a:br/>
            <a:pPr>
              <a:defRPr sz="1400" i="1"/>
            </a:pPr>
            <a:r>
              <a:t>Explanation: known as a(n):</a:t>
            </a:r>
            <a:br/>
            <a:r>
              <a:t>@  Straight Life Annuity</a:t>
            </a:r>
            <a:br/>
            <a:r>
              <a:t>Life Annuity with Period Certain</a:t>
            </a:r>
            <a:br/>
            <a:r>
              <a:t>Systematic Withdrawal</a:t>
            </a:r>
            <a:br/>
            <a:r>
              <a:t>x)</a:t>
            </a:r>
            <a:br/>
            <a:r>
              <a:t>x) Joint And Survivor</a:t>
            </a:r>
            <a:br/>
            <a:r>
              <a:t>rx)</a:t>
            </a:r>
            <a:br/>
            <a:r>
              <a:t>I&lt; A &gt;|</a:t>
            </a:r>
            <a:br/>
            <a:r>
              <a:t>&amp; a ..rancelicense.myabsorb.com (</a:t>
            </a:r>
            <a:br/>
            <a:r>
              <a:t>&lt; &gt; + (21)...</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163</a:t>
            </a:r>
          </a:p>
        </p:txBody>
      </p:sp>
      <p:sp>
        <p:nvSpPr>
          <p:cNvPr id="3" name="Content Placeholder 2"/>
          <p:cNvSpPr>
            <a:spLocks noGrp="1"/>
          </p:cNvSpPr>
          <p:nvPr>
            <p:ph idx="1"/>
          </p:nvPr>
        </p:nvSpPr>
        <p:spPr/>
        <p:txBody>
          <a:bodyPr/>
          <a:lstStyle/>
          <a:p>
            <a:r>
              <a:t>What does a conditional receipt in</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163</a:t>
            </a:r>
          </a:p>
        </p:txBody>
      </p:sp>
      <p:sp>
        <p:nvSpPr>
          <p:cNvPr id="3" name="Content Placeholder 2"/>
          <p:cNvSpPr>
            <a:spLocks noGrp="1"/>
          </p:cNvSpPr>
          <p:nvPr>
            <p:ph idx="1"/>
          </p:nvPr>
        </p:nvSpPr>
        <p:spPr/>
        <p:txBody>
          <a:bodyPr/>
          <a:lstStyle/>
          <a:p/>
          <a:p>
            <a:r>
              <a:t>☐ nsurance signify? Coverage is temporary and does not require the insurer's approval Coverage is effective immediately and unconditionally Coverage begins only if and when the</a:t>
            </a:r>
          </a:p>
          <a:p>
            <a:r>
              <a:t>☐ nsurer approves the application based on specific criteria met by the applicant Coverage is indefinite as long as premiums are paid</a:t>
            </a:r>
          </a:p>
          <a:p>
            <a:br/>
            <a:pPr>
              <a:defRPr sz="1400" i="1"/>
            </a:pPr>
            <a:r>
              <a:t>Explanation: temporary and does not require</a:t>
            </a:r>
            <a:br/>
            <a:r>
              <a:t>the insurer's approval</a:t>
            </a:r>
            <a:br/>
            <a:r>
              <a:t>Coverage is effective immediately and</a:t>
            </a:r>
            <a:br/>
            <a:r>
              <a:t>unconditionally</a:t>
            </a:r>
            <a:br/>
            <a:r>
              <a:t>Coverage begins only if and when the</a:t>
            </a:r>
            <a:br/>
            <a:r>
              <a:t>insurer approves the application based on</a:t>
            </a:r>
            <a:br/>
            <a:r>
              <a:t>specific crit...</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164</a:t>
            </a:r>
          </a:p>
        </p:txBody>
      </p:sp>
      <p:sp>
        <p:nvSpPr>
          <p:cNvPr id="3" name="Content Placeholder 2"/>
          <p:cNvSpPr>
            <a:spLocks noGrp="1"/>
          </p:cNvSpPr>
          <p:nvPr>
            <p:ph idx="1"/>
          </p:nvPr>
        </p:nvSpPr>
        <p:spPr/>
        <p:txBody>
          <a:bodyPr/>
          <a:lstStyle/>
          <a:p>
            <a:r>
              <a:t>Which of the following is not a source of agent</a:t>
            </a:r>
          </a:p>
          <a:p>
            <a:r>
              <a:t>authority?</a:t>
            </a:r>
          </a:p>
          <a:p>
            <a:r>
              <a:t>Apparent</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164</a:t>
            </a:r>
          </a:p>
        </p:txBody>
      </p:sp>
      <p:sp>
        <p:nvSpPr>
          <p:cNvPr id="3" name="Content Placeholder 2"/>
          <p:cNvSpPr>
            <a:spLocks noGrp="1"/>
          </p:cNvSpPr>
          <p:nvPr>
            <p:ph idx="1"/>
          </p:nvPr>
        </p:nvSpPr>
        <p:spPr/>
        <p:txBody>
          <a:bodyPr/>
          <a:lstStyle/>
          <a:p/>
          <a:p>
            <a:br/>
            <a:pPr>
              <a:defRPr sz="1400" i="1"/>
            </a:pPr>
            <a:r>
              <a:t>Explanation: not a source of agent</a:t>
            </a:r>
            <a:br/>
            <a:r>
              <a:t>authority?</a:t>
            </a:r>
            <a:br/>
            <a:r>
              <a:t>Apparent</a:t>
            </a:r>
            <a:br/>
            <a:r>
              <a:t>Implied</a:t>
            </a:r>
            <a:br/>
            <a:r>
              <a:t>Proceed —_</a:t>
            </a:r>
            <a:br/>
            <a:r>
              <a:t>I&lt; A &gt;|</a:t>
            </a:r>
            <a:br/>
            <a:r>
              <a:t>&amp; a ..rancelicense.myabsorb.com (</a:t>
            </a:r>
            <a:br/>
            <a:r>
              <a:t>&lt; &gt; + (21)...</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165</a:t>
            </a:r>
          </a:p>
        </p:txBody>
      </p:sp>
      <p:sp>
        <p:nvSpPr>
          <p:cNvPr id="3" name="Content Placeholder 2"/>
          <p:cNvSpPr>
            <a:spLocks noGrp="1"/>
          </p:cNvSpPr>
          <p:nvPr>
            <p:ph idx="1"/>
          </p:nvPr>
        </p:nvSpPr>
        <p:spPr/>
        <p:txBody>
          <a:bodyPr/>
          <a:lstStyle/>
          <a:p>
            <a:r>
              <a:t>What is the 'Automatic Premium Loan'</a:t>
            </a:r>
          </a:p>
          <a:p>
            <a:r>
              <a:t>feature designed to prevent?</a:t>
            </a:r>
          </a:p>
          <a:p>
            <a:r>
              <a:t>The sale of the policy.</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165</a:t>
            </a:r>
          </a:p>
        </p:txBody>
      </p:sp>
      <p:sp>
        <p:nvSpPr>
          <p:cNvPr id="3" name="Content Placeholder 2"/>
          <p:cNvSpPr>
            <a:spLocks noGrp="1"/>
          </p:cNvSpPr>
          <p:nvPr>
            <p:ph idx="1"/>
          </p:nvPr>
        </p:nvSpPr>
        <p:spPr/>
        <p:txBody>
          <a:bodyPr/>
          <a:lstStyle/>
          <a:p/>
          <a:p>
            <a:br/>
            <a:pPr>
              <a:defRPr sz="1400" i="1"/>
            </a:pPr>
            <a:r>
              <a:t>Explanation: the 'Automatic Premium Loan'</a:t>
            </a:r>
            <a:br/>
            <a:r>
              <a:t>feature designed to prevent?</a:t>
            </a:r>
            <a:br/>
            <a:r>
              <a:t>The sale of the policy.</a:t>
            </a:r>
            <a:br/>
            <a:r>
              <a:t>Proceed —_»&gt;</a:t>
            </a:r>
            <a:br/>
            <a:r>
              <a:t>I&lt; A &gt;|</a:t>
            </a:r>
            <a:br/>
            <a:r>
              <a:t>&amp; a ..rancelicense.myabsorb.com (</a:t>
            </a:r>
            <a:br/>
            <a:r>
              <a:t>&lt; &gt; + (21)...</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166</a:t>
            </a:r>
          </a:p>
        </p:txBody>
      </p:sp>
      <p:sp>
        <p:nvSpPr>
          <p:cNvPr id="3" name="Content Placeholder 2"/>
          <p:cNvSpPr>
            <a:spLocks noGrp="1"/>
          </p:cNvSpPr>
          <p:nvPr>
            <p:ph idx="1"/>
          </p:nvPr>
        </p:nvSpPr>
        <p:spPr/>
        <p:txBody>
          <a:bodyPr/>
          <a:lstStyle/>
          <a:p>
            <a:r>
              <a:t>The purpose of an Education Fund in</a:t>
            </a:r>
          </a:p>
          <a:p>
            <a:r>
              <a:t>life insurance is to:</a:t>
            </a:r>
          </a:p>
          <a:p>
            <a:r>
              <a:t>Educate policyholders about insurance</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166</a:t>
            </a:r>
          </a:p>
        </p:txBody>
      </p:sp>
      <p:sp>
        <p:nvSpPr>
          <p:cNvPr id="3" name="Content Placeholder 2"/>
          <p:cNvSpPr>
            <a:spLocks noGrp="1"/>
          </p:cNvSpPr>
          <p:nvPr>
            <p:ph idx="1"/>
          </p:nvPr>
        </p:nvSpPr>
        <p:spPr/>
        <p:txBody>
          <a:bodyPr/>
          <a:lstStyle/>
          <a:p/>
          <a:p>
            <a:br/>
            <a:pPr>
              <a:defRPr sz="1400" i="1"/>
            </a:pPr>
            <a:r>
              <a:t>Explanation: to:</a:t>
            </a:r>
            <a:br/>
            <a:r>
              <a:t>Educate policyholders about insurance</a:t>
            </a:r>
            <a:br/>
            <a:r>
              <a:t>options</a:t>
            </a:r>
            <a:br/>
            <a:r>
              <a:t>Support continuing education for adults</a:t>
            </a:r>
            <a:br/>
            <a:r>
              <a:t>Finance educational programs in</a:t>
            </a:r>
            <a:br/>
            <a:r>
              <a:t>businesses</a:t>
            </a:r>
            <a:br/>
            <a:r>
              <a:t>Provide for a child's future education</a:t>
            </a:r>
            <a:br/>
            <a:r>
              <a:t>expenses</a:t>
            </a:r>
            <a:br/>
            <a:r>
              <a:t>Proceed =&gt;</a:t>
            </a:r>
            <a:br/>
            <a:r>
              <a:t>I&lt; A &gt;|</a:t>
            </a:r>
            <a:br/>
            <a:r>
              <a:t>...</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167</a:t>
            </a:r>
          </a:p>
        </p:txBody>
      </p:sp>
      <p:sp>
        <p:nvSpPr>
          <p:cNvPr id="3" name="Content Placeholder 2"/>
          <p:cNvSpPr>
            <a:spLocks noGrp="1"/>
          </p:cNvSpPr>
          <p:nvPr>
            <p:ph idx="1"/>
          </p:nvPr>
        </p:nvSpPr>
        <p:spPr/>
        <p:txBody>
          <a:bodyPr/>
          <a:lstStyle/>
          <a:p>
            <a:r>
              <a:t>According to Arizona law, how should</a:t>
            </a:r>
          </a:p>
          <a:p>
            <a:r>
              <a:t>premiums sent by mail be considered</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167</a:t>
            </a:r>
          </a:p>
        </p:txBody>
      </p:sp>
      <p:sp>
        <p:nvSpPr>
          <p:cNvPr id="3" name="Content Placeholder 2"/>
          <p:cNvSpPr>
            <a:spLocks noGrp="1"/>
          </p:cNvSpPr>
          <p:nvPr>
            <p:ph idx="1"/>
          </p:nvPr>
        </p:nvSpPr>
        <p:spPr/>
        <p:txBody>
          <a:bodyPr/>
          <a:lstStyle/>
          <a:p/>
          <a:p>
            <a:r>
              <a:t>☐ f postmarked by the due date? As unpaid @ © Aspaid on time</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168</a:t>
            </a:r>
          </a:p>
        </p:txBody>
      </p:sp>
      <p:sp>
        <p:nvSpPr>
          <p:cNvPr id="3" name="Content Placeholder 2"/>
          <p:cNvSpPr>
            <a:spLocks noGrp="1"/>
          </p:cNvSpPr>
          <p:nvPr>
            <p:ph idx="1"/>
          </p:nvPr>
        </p:nvSpPr>
        <p:spPr/>
        <p:txBody>
          <a:bodyPr/>
          <a:lstStyle/>
          <a:p>
            <a:r>
              <a:t>What does "Cash Value" in a life</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168</a:t>
            </a:r>
          </a:p>
        </p:txBody>
      </p:sp>
      <p:sp>
        <p:nvSpPr>
          <p:cNvPr id="3" name="Content Placeholder 2"/>
          <p:cNvSpPr>
            <a:spLocks noGrp="1"/>
          </p:cNvSpPr>
          <p:nvPr>
            <p:ph idx="1"/>
          </p:nvPr>
        </p:nvSpPr>
        <p:spPr/>
        <p:txBody>
          <a:bodyPr/>
          <a:lstStyle/>
          <a:p/>
          <a:p>
            <a:r>
              <a:t>☐ nsurance policy represent?</a:t>
            </a:r>
          </a:p>
          <a:p>
            <a:r>
              <a:t>☐ The total premiums paid &amp; The annual income of the policyholder</a:t>
            </a:r>
          </a:p>
          <a:p>
            <a:r>
              <a:t>☐ The guaranteed death benefit e Asavings component that accumulates</a:t>
            </a:r>
          </a:p>
          <a:p>
            <a:pPr>
              <a:defRPr b="1"/>
            </a:pPr>
            <a:r>
              <a:t>✅ alue</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169</a:t>
            </a:r>
          </a:p>
        </p:txBody>
      </p:sp>
      <p:sp>
        <p:nvSpPr>
          <p:cNvPr id="3" name="Content Placeholder 2"/>
          <p:cNvSpPr>
            <a:spLocks noGrp="1"/>
          </p:cNvSpPr>
          <p:nvPr>
            <p:ph idx="1"/>
          </p:nvPr>
        </p:nvSpPr>
        <p:spPr/>
        <p:txBody>
          <a:bodyPr/>
          <a:lstStyle/>
          <a:p>
            <a:r>
              <a:t>What is a Class Designation in the</a:t>
            </a:r>
          </a:p>
          <a:p>
            <a:r>
              <a:t>context of life insurance beneficiaries?</a:t>
            </a:r>
          </a:p>
          <a:p>
            <a:r>
              <a:t>Naming a specific individual as a</a:t>
            </a:r>
          </a:p>
          <a:p>
            <a:r>
              <a:t>beneficiary</a:t>
            </a:r>
          </a:p>
          <a:p>
            <a:r>
              <a:t>Classifying the policy based on risk</a:t>
            </a:r>
          </a:p>
          <a:p>
            <a:r>
              <a:t>Naming a category of beneficiaries like "all</a:t>
            </a:r>
          </a:p>
          <a:p>
            <a:r>
              <a:t>my children"</a:t>
            </a:r>
          </a:p>
          <a:p>
            <a:r>
              <a:t>A specific class of insurance products</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169</a:t>
            </a:r>
          </a:p>
        </p:txBody>
      </p:sp>
      <p:sp>
        <p:nvSpPr>
          <p:cNvPr id="3" name="Content Placeholder 2"/>
          <p:cNvSpPr>
            <a:spLocks noGrp="1"/>
          </p:cNvSpPr>
          <p:nvPr>
            <p:ph idx="1"/>
          </p:nvPr>
        </p:nvSpPr>
        <p:spPr/>
        <p:txBody>
          <a:bodyPr/>
          <a:lstStyle/>
          <a:p/>
          <a:p>
            <a:br/>
            <a:pPr>
              <a:defRPr sz="1400" i="1"/>
            </a:pPr>
            <a:r>
              <a:t>Explanation: a Class Designation in the</a:t>
            </a:r>
            <a:br/>
            <a:r>
              <a:t>context of life insurance beneficiaries?</a:t>
            </a:r>
            <a:br/>
            <a:r>
              <a:t>Naming a specific individual as a</a:t>
            </a:r>
            <a:br/>
            <a:r>
              <a:t>beneficiary</a:t>
            </a:r>
            <a:br/>
            <a:r>
              <a:t>Classifying the policy based on risk</a:t>
            </a:r>
            <a:br/>
            <a:r>
              <a:t>Naming a category of beneficiaries like "all</a:t>
            </a:r>
            <a:br/>
            <a:r>
              <a:t>my c...</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170</a:t>
            </a:r>
          </a:p>
        </p:txBody>
      </p:sp>
      <p:sp>
        <p:nvSpPr>
          <p:cNvPr id="3" name="Content Placeholder 2"/>
          <p:cNvSpPr>
            <a:spLocks noGrp="1"/>
          </p:cNvSpPr>
          <p:nvPr>
            <p:ph idx="1"/>
          </p:nvPr>
        </p:nvSpPr>
        <p:spPr/>
        <p:txBody>
          <a:bodyPr/>
          <a:lstStyle/>
          <a:p>
            <a:r>
              <a:t>Upon the death of the insured, life</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170</a:t>
            </a:r>
          </a:p>
        </p:txBody>
      </p:sp>
      <p:sp>
        <p:nvSpPr>
          <p:cNvPr id="3" name="Content Placeholder 2"/>
          <p:cNvSpPr>
            <a:spLocks noGrp="1"/>
          </p:cNvSpPr>
          <p:nvPr>
            <p:ph idx="1"/>
          </p:nvPr>
        </p:nvSpPr>
        <p:spPr/>
        <p:txBody>
          <a:bodyPr/>
          <a:lstStyle/>
          <a:p/>
          <a:p>
            <a:r>
              <a:t>☐ nsurance promptly establishes an estate. Which of the following policies</a:t>
            </a:r>
          </a:p>
          <a:p>
            <a:r>
              <a:t>☐ s distinguished by a guaranteed minimum death benefit? Modified endowment contract</a:t>
            </a:r>
          </a:p>
          <a:p>
            <a:br/>
            <a:pPr>
              <a:defRPr sz="1400" i="1"/>
            </a:pPr>
            <a:r>
              <a:t>Explanation: distinguished by a guaranteed</a:t>
            </a:r>
            <a:br/>
            <a:r>
              <a:t>minimum death benefit?</a:t>
            </a:r>
            <a:br/>
            <a:r>
              <a:t>Modified endowment contract</a:t>
            </a:r>
            <a:br/>
            <a:r>
              <a:t>Proceed =&gt;</a:t>
            </a:r>
            <a:br/>
            <a:r>
              <a:t>I&lt; A &gt;|</a:t>
            </a:r>
            <a:br/>
            <a:r>
              <a:t>&amp; a ..rancelicense.myabsorb.com (</a:t>
            </a:r>
            <a:br/>
            <a:r>
              <a:t>&lt; &gt; + (21)...</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171</a:t>
            </a:r>
          </a:p>
        </p:txBody>
      </p:sp>
      <p:sp>
        <p:nvSpPr>
          <p:cNvPr id="3" name="Content Placeholder 2"/>
          <p:cNvSpPr>
            <a:spLocks noGrp="1"/>
          </p:cNvSpPr>
          <p:nvPr>
            <p:ph idx="1"/>
          </p:nvPr>
        </p:nvSpPr>
        <p:spPr/>
        <p:txBody>
          <a:bodyPr/>
          <a:lstStyle/>
          <a:p>
            <a:r>
              <a:t>Under the Fair Credit Reporting Act,</a:t>
            </a:r>
          </a:p>
          <a:p>
            <a:r>
              <a:t>what must insurers provide to an</a:t>
            </a:r>
          </a:p>
          <a:p>
            <a:r>
              <a:t>applicant when they use a credit report</a:t>
            </a:r>
          </a:p>
          <a:p>
            <a:r>
              <a:t>to make an underwriting decision?</a:t>
            </a:r>
          </a:p>
          <a:p>
            <a:r>
              <a:t>A list of all policy types available</a:t>
            </a:r>
          </a:p>
          <a:p>
            <a:r>
              <a:t>A comprehensive financial plan</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171</a:t>
            </a:r>
          </a:p>
        </p:txBody>
      </p:sp>
      <p:sp>
        <p:nvSpPr>
          <p:cNvPr id="3" name="Content Placeholder 2"/>
          <p:cNvSpPr>
            <a:spLocks noGrp="1"/>
          </p:cNvSpPr>
          <p:nvPr>
            <p:ph idx="1"/>
          </p:nvPr>
        </p:nvSpPr>
        <p:spPr/>
        <p:txBody>
          <a:bodyPr/>
          <a:lstStyle/>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172</a:t>
            </a:r>
          </a:p>
        </p:txBody>
      </p:sp>
      <p:sp>
        <p:nvSpPr>
          <p:cNvPr id="3" name="Content Placeholder 2"/>
          <p:cNvSpPr>
            <a:spLocks noGrp="1"/>
          </p:cNvSpPr>
          <p:nvPr>
            <p:ph idx="1"/>
          </p:nvPr>
        </p:nvSpPr>
        <p:spPr/>
        <p:txBody>
          <a:bodyPr/>
          <a:lstStyle/>
          <a:p>
            <a:r>
              <a:t>What is the primary purpose of Term</a:t>
            </a:r>
          </a:p>
          <a:p>
            <a:r>
              <a:t>Life Insurance?</a:t>
            </a:r>
          </a:p>
          <a:p>
            <a:r>
              <a:t>To offer lifelong coverage</a:t>
            </a:r>
          </a:p>
          <a:p>
            <a:r>
              <a:t>To accumulate cash value over time</a:t>
            </a:r>
          </a:p>
          <a:p>
            <a:r>
              <a:t>To cover multiple individuals under one</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172</a:t>
            </a:r>
          </a:p>
        </p:txBody>
      </p:sp>
      <p:sp>
        <p:nvSpPr>
          <p:cNvPr id="3" name="Content Placeholder 2"/>
          <p:cNvSpPr>
            <a:spLocks noGrp="1"/>
          </p:cNvSpPr>
          <p:nvPr>
            <p:ph idx="1"/>
          </p:nvPr>
        </p:nvSpPr>
        <p:spPr/>
        <p:txBody>
          <a:bodyPr/>
          <a:lstStyle/>
          <a:p/>
          <a:p>
            <a:pPr>
              <a:defRPr b="1"/>
            </a:pPr>
            <a:r>
              <a:t>✅ e To provide temporary coverage for a specified period</a:t>
            </a:r>
          </a:p>
          <a:p>
            <a:br/>
            <a:pPr>
              <a:defRPr sz="1400" i="1"/>
            </a:pPr>
            <a:r>
              <a:t>Explanation: the primary purpose of Term</a:t>
            </a:r>
            <a:br/>
            <a:r>
              <a:t>Life Insurance?</a:t>
            </a:r>
            <a:br/>
            <a:r>
              <a:t>To offer lifelong coverage</a:t>
            </a:r>
            <a:br/>
            <a:r>
              <a:t>To accumulate cash value over time</a:t>
            </a:r>
            <a:br/>
            <a:r>
              <a:t>To cover multiple individuals under one</a:t>
            </a:r>
            <a:br/>
            <a:r>
              <a:t>g e To provide temporary coverage for a</a:t>
            </a:r>
            <a:br/>
            <a:r>
              <a:t>specified peri...</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173</a:t>
            </a:r>
          </a:p>
        </p:txBody>
      </p:sp>
      <p:sp>
        <p:nvSpPr>
          <p:cNvPr id="3" name="Content Placeholder 2"/>
          <p:cNvSpPr>
            <a:spLocks noGrp="1"/>
          </p:cNvSpPr>
          <p:nvPr>
            <p:ph idx="1"/>
          </p:nvPr>
        </p:nvSpPr>
        <p:spPr/>
        <p:txBody>
          <a:bodyPr/>
          <a:lstStyle/>
          <a:p>
            <a:r>
              <a:t>Who are considered competent parties</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173</a:t>
            </a:r>
          </a:p>
        </p:txBody>
      </p:sp>
      <p:sp>
        <p:nvSpPr>
          <p:cNvPr id="3" name="Content Placeholder 2"/>
          <p:cNvSpPr>
            <a:spLocks noGrp="1"/>
          </p:cNvSpPr>
          <p:nvPr>
            <p:ph idx="1"/>
          </p:nvPr>
        </p:nvSpPr>
        <p:spPr/>
        <p:txBody>
          <a:bodyPr/>
          <a:lstStyle/>
          <a:p/>
          <a:p>
            <a:r>
              <a:t>☐ n the context of an insurance contract?</a:t>
            </a:r>
          </a:p>
          <a:p>
            <a:pPr>
              <a:defRPr b="1"/>
            </a:pPr>
            <a:r>
              <a:t>✅ e The insurance provider and the applicant, assuming no disqualifying conditions</a:t>
            </a:r>
          </a:p>
          <a:p>
            <a:r>
              <a:t>☐ nly the insurance provider and the state Anyone who owns property</a:t>
            </a:r>
          </a:p>
          <a:p>
            <a:r>
              <a:t>☐ nly licensed financial advisors</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174</a:t>
            </a:r>
          </a:p>
        </p:txBody>
      </p:sp>
      <p:sp>
        <p:nvSpPr>
          <p:cNvPr id="3" name="Content Placeholder 2"/>
          <p:cNvSpPr>
            <a:spLocks noGrp="1"/>
          </p:cNvSpPr>
          <p:nvPr>
            <p:ph idx="1"/>
          </p:nvPr>
        </p:nvSpPr>
        <p:spPr/>
        <p:txBody>
          <a:bodyPr/>
          <a:lstStyle/>
          <a:p>
            <a:r>
              <a:t>What does the 'Entire Contract' clause</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174</a:t>
            </a:r>
          </a:p>
        </p:txBody>
      </p:sp>
      <p:sp>
        <p:nvSpPr>
          <p:cNvPr id="3" name="Content Placeholder 2"/>
          <p:cNvSpPr>
            <a:spLocks noGrp="1"/>
          </p:cNvSpPr>
          <p:nvPr>
            <p:ph idx="1"/>
          </p:nvPr>
        </p:nvSpPr>
        <p:spPr/>
        <p:txBody>
          <a:bodyPr/>
          <a:lstStyle/>
          <a:p/>
          <a:p>
            <a:r>
              <a:t>☐ n a life insurance policy signify?</a:t>
            </a:r>
          </a:p>
          <a:p>
            <a:r>
              <a:t>☐ nly the policy document matters.</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175</a:t>
            </a:r>
          </a:p>
        </p:txBody>
      </p:sp>
      <p:sp>
        <p:nvSpPr>
          <p:cNvPr id="3" name="Content Placeholder 2"/>
          <p:cNvSpPr>
            <a:spLocks noGrp="1"/>
          </p:cNvSpPr>
          <p:nvPr>
            <p:ph idx="1"/>
          </p:nvPr>
        </p:nvSpPr>
        <p:spPr/>
        <p:txBody>
          <a:bodyPr/>
          <a:lstStyle/>
          <a:p>
            <a:r>
              <a:t>What is required for a life insurance</a:t>
            </a:r>
          </a:p>
          <a:p>
            <a:r>
              <a:t>contract to be legally enforceable?</a:t>
            </a:r>
          </a:p>
          <a:p>
            <a:r>
              <a:t>Legal documentation of the insured's</a:t>
            </a:r>
          </a:p>
          <a:p>
            <a:r>
              <a:t>health.</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175</a:t>
            </a:r>
          </a:p>
        </p:txBody>
      </p:sp>
      <p:sp>
        <p:nvSpPr>
          <p:cNvPr id="3" name="Content Placeholder 2"/>
          <p:cNvSpPr>
            <a:spLocks noGrp="1"/>
          </p:cNvSpPr>
          <p:nvPr>
            <p:ph idx="1"/>
          </p:nvPr>
        </p:nvSpPr>
        <p:spPr/>
        <p:txBody>
          <a:bodyPr/>
          <a:lstStyle/>
          <a:p/>
          <a:p>
            <a:br/>
            <a:pPr>
              <a:defRPr sz="1400" i="1"/>
            </a:pPr>
            <a:r>
              <a:t>Explanation: required for a life insurance</a:t>
            </a:r>
            <a:br/>
            <a:r>
              <a:t>contract to be legally enforceable?</a:t>
            </a:r>
            <a:br/>
            <a:r>
              <a:t>Legal documentation of the insured's</a:t>
            </a:r>
            <a:br/>
            <a:r>
              <a:t>health.</a:t>
            </a:r>
            <a:br/>
            <a:r>
              <a:t>Insurable interest at the time of the</a:t>
            </a:r>
            <a:br/>
            <a:r>
              <a:t>application.</a:t>
            </a:r>
            <a:br/>
            <a:r>
              <a:t>Unlimited insurable interest.</a:t>
            </a:r>
            <a:br/>
            <a:r>
              <a:t>Insurabl...</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176</a:t>
            </a:r>
          </a:p>
        </p:txBody>
      </p:sp>
      <p:sp>
        <p:nvSpPr>
          <p:cNvPr id="3" name="Content Placeholder 2"/>
          <p:cNvSpPr>
            <a:spLocks noGrp="1"/>
          </p:cNvSpPr>
          <p:nvPr>
            <p:ph idx="1"/>
          </p:nvPr>
        </p:nvSpPr>
        <p:spPr/>
        <p:txBody>
          <a:bodyPr/>
          <a:lstStyle/>
          <a:p>
            <a:r>
              <a:t>Jimmy, having obtained a $200,000</a:t>
            </a:r>
          </a:p>
          <a:p>
            <a:r>
              <a:t>lump sum retirement buyout from her</a:t>
            </a:r>
          </a:p>
          <a:p>
            <a:r>
              <a:t>employer, is interested in purchasing</a:t>
            </a:r>
          </a:p>
          <a:p>
            <a:r>
              <a:t>an annuity that provides her with an</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176</a:t>
            </a:r>
          </a:p>
        </p:txBody>
      </p:sp>
      <p:sp>
        <p:nvSpPr>
          <p:cNvPr id="3" name="Content Placeholder 2"/>
          <p:cNvSpPr>
            <a:spLocks noGrp="1"/>
          </p:cNvSpPr>
          <p:nvPr>
            <p:ph idx="1"/>
          </p:nvPr>
        </p:nvSpPr>
        <p:spPr/>
        <p:txBody>
          <a:bodyPr/>
          <a:lstStyle/>
          <a:p/>
          <a:p>
            <a:pPr>
              <a:defRPr b="1"/>
            </a:pPr>
            <a:r>
              <a:t>✅ mmediate, lifelong guaranteed</a:t>
            </a:r>
          </a:p>
          <a:p>
            <a:r>
              <a:t>☐ ncome. Which annuity type is most appropriate for her needs? Deferred Fixed</a:t>
            </a:r>
          </a:p>
          <a:p>
            <a:br/>
            <a:pPr>
              <a:defRPr sz="1400" i="1"/>
            </a:pPr>
            <a:r>
              <a:t>Explanation: interested in purchasing</a:t>
            </a:r>
            <a:br/>
            <a:r>
              <a:t>an annuity that provides her with an</a:t>
            </a:r>
            <a:br/>
            <a:r>
              <a:t>immediate, lifelong guaranteed</a:t>
            </a:r>
            <a:br/>
            <a:r>
              <a:t>income. Which annuity type is most</a:t>
            </a:r>
            <a:br/>
            <a:r>
              <a:t>appropriate for her needs?</a:t>
            </a:r>
            <a:br/>
            <a:r>
              <a:t>Deferred Fixed</a:t>
            </a:r>
            <a:br/>
            <a:r>
              <a:t>Proceed</a:t>
            </a:r>
            <a:br/>
            <a:r>
              <a:t>I&lt; A &gt;|</a:t>
            </a:r>
            <a:br/>
            <a:r>
              <a:t>&amp; a ..rancelic...</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177</a:t>
            </a:r>
          </a:p>
        </p:txBody>
      </p:sp>
      <p:sp>
        <p:nvSpPr>
          <p:cNvPr id="3" name="Content Placeholder 2"/>
          <p:cNvSpPr>
            <a:spLocks noGrp="1"/>
          </p:cNvSpPr>
          <p:nvPr>
            <p:ph idx="1"/>
          </p:nvPr>
        </p:nvSpPr>
        <p:spPr/>
        <p:txBody>
          <a:bodyPr/>
          <a:lstStyle/>
          <a:p>
            <a:r>
              <a:t>How many times can an applicant</a:t>
            </a:r>
          </a:p>
          <a:p>
            <a:r>
              <a:t>attempt the insurance licensing exam</a:t>
            </a:r>
          </a:p>
          <a:p>
            <a:r>
              <a:t>within a twelve-month period in</a:t>
            </a:r>
          </a:p>
          <a:p>
            <a:r>
              <a:t>Arizona?</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177</a:t>
            </a:r>
          </a:p>
        </p:txBody>
      </p:sp>
      <p:sp>
        <p:nvSpPr>
          <p:cNvPr id="3" name="Content Placeholder 2"/>
          <p:cNvSpPr>
            <a:spLocks noGrp="1"/>
          </p:cNvSpPr>
          <p:nvPr>
            <p:ph idx="1"/>
          </p:nvPr>
        </p:nvSpPr>
        <p:spPr/>
        <p:txBody>
          <a:bodyPr/>
          <a:lstStyle/>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178</a:t>
            </a:r>
          </a:p>
        </p:txBody>
      </p:sp>
      <p:sp>
        <p:nvSpPr>
          <p:cNvPr id="3" name="Content Placeholder 2"/>
          <p:cNvSpPr>
            <a:spLocks noGrp="1"/>
          </p:cNvSpPr>
          <p:nvPr>
            <p:ph idx="1"/>
          </p:nvPr>
        </p:nvSpPr>
        <p:spPr/>
        <p:txBody>
          <a:bodyPr/>
          <a:lstStyle/>
          <a:p>
            <a:r>
              <a:t>What is the purpose of having an insurable</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178</a:t>
            </a:r>
          </a:p>
        </p:txBody>
      </p:sp>
      <p:sp>
        <p:nvSpPr>
          <p:cNvPr id="3" name="Content Placeholder 2"/>
          <p:cNvSpPr>
            <a:spLocks noGrp="1"/>
          </p:cNvSpPr>
          <p:nvPr>
            <p:ph idx="1"/>
          </p:nvPr>
        </p:nvSpPr>
        <p:spPr/>
        <p:txBody>
          <a:bodyPr/>
          <a:lstStyle/>
          <a:p/>
          <a:p>
            <a:r>
              <a:t>☐ nterest in life insurance? To increase policy benefits To extend the policy term</a:t>
            </a:r>
          </a:p>
          <a:p>
            <a:br/>
            <a:pPr>
              <a:defRPr sz="1400" i="1"/>
            </a:pPr>
            <a:r>
              <a:t>Explanation: the purpose of having an insurable</a:t>
            </a:r>
            <a:br/>
            <a:r>
              <a:t>interest in life insurance?</a:t>
            </a:r>
            <a:br/>
            <a:r>
              <a:t>To increase policy benefits</a:t>
            </a:r>
            <a:br/>
            <a:r>
              <a:t>To extend the policy term</a:t>
            </a:r>
            <a:br/>
            <a:r>
              <a:t>Proceed —_</a:t>
            </a:r>
            <a:br/>
            <a:r>
              <a:t>I&lt; A &gt;|</a:t>
            </a:r>
            <a:br/>
            <a:r>
              <a:t>&amp; a ..rancelicense.myabsorb.com (</a:t>
            </a:r>
            <a:br/>
            <a:r>
              <a:t>&lt; &gt; + (21)...</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179</a:t>
            </a:r>
          </a:p>
        </p:txBody>
      </p:sp>
      <p:sp>
        <p:nvSpPr>
          <p:cNvPr id="3" name="Content Placeholder 2"/>
          <p:cNvSpPr>
            <a:spLocks noGrp="1"/>
          </p:cNvSpPr>
          <p:nvPr>
            <p:ph idx="1"/>
          </p:nvPr>
        </p:nvSpPr>
        <p:spPr/>
        <p:txBody>
          <a:bodyPr/>
          <a:lstStyle/>
          <a:p>
            <a:r>
              <a:t>What is the purpose of an Accelerated</a:t>
            </a:r>
          </a:p>
          <a:p>
            <a:r>
              <a:t>Benefit Rider in life insurance?</a:t>
            </a:r>
          </a:p>
          <a:p>
            <a:r>
              <a:t>@  Toaccess part of the death benefit early in</a:t>
            </a:r>
          </a:p>
          <a:p>
            <a:r>
              <a:t>case of terminal illness</a:t>
            </a:r>
          </a:p>
          <a:p>
            <a:r>
              <a:t>To extend the policy term</a:t>
            </a:r>
          </a:p>
          <a:p>
            <a:r>
              <a:t>To increase the death benefit amount</a:t>
            </a:r>
          </a:p>
          <a:p>
            <a:r>
              <a:t>To reduce the premium cost</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179</a:t>
            </a:r>
          </a:p>
        </p:txBody>
      </p:sp>
      <p:sp>
        <p:nvSpPr>
          <p:cNvPr id="3" name="Content Placeholder 2"/>
          <p:cNvSpPr>
            <a:spLocks noGrp="1"/>
          </p:cNvSpPr>
          <p:nvPr>
            <p:ph idx="1"/>
          </p:nvPr>
        </p:nvSpPr>
        <p:spPr/>
        <p:txBody>
          <a:bodyPr/>
          <a:lstStyle/>
          <a:p/>
          <a:p>
            <a:br/>
            <a:pPr>
              <a:defRPr sz="1400" i="1"/>
            </a:pPr>
            <a:r>
              <a:t>Explanation: the purpose of an Accelerated</a:t>
            </a:r>
            <a:br/>
            <a:r>
              <a:t>Benefit Rider in life insurance?</a:t>
            </a:r>
            <a:br/>
            <a:r>
              <a:t>@  Toaccess part of the death benefit early in</a:t>
            </a:r>
            <a:br/>
            <a:r>
              <a:t>case of terminal illness</a:t>
            </a:r>
            <a:br/>
            <a:r>
              <a:t>To extend the policy term</a:t>
            </a:r>
            <a:br/>
            <a:r>
              <a:t>To increase the death benefit amount</a:t>
            </a:r>
            <a:br/>
            <a:r>
              <a:t>To...</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180</a:t>
            </a:r>
          </a:p>
        </p:txBody>
      </p:sp>
      <p:sp>
        <p:nvSpPr>
          <p:cNvPr id="3" name="Content Placeholder 2"/>
          <p:cNvSpPr>
            <a:spLocks noGrp="1"/>
          </p:cNvSpPr>
          <p:nvPr>
            <p:ph idx="1"/>
          </p:nvPr>
        </p:nvSpPr>
        <p:spPr/>
        <p:txBody>
          <a:bodyPr/>
          <a:lstStyle/>
          <a:p>
            <a:r>
              <a:t>What does an immediate annuity</a:t>
            </a:r>
          </a:p>
          <a:p>
            <a:r>
              <a:t>provide?</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180</a:t>
            </a:r>
          </a:p>
        </p:txBody>
      </p:sp>
      <p:sp>
        <p:nvSpPr>
          <p:cNvPr id="3" name="Content Placeholder 2"/>
          <p:cNvSpPr>
            <a:spLocks noGrp="1"/>
          </p:cNvSpPr>
          <p:nvPr>
            <p:ph idx="1"/>
          </p:nvPr>
        </p:nvSpPr>
        <p:spPr/>
        <p:txBody>
          <a:bodyPr/>
          <a:lstStyle/>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181</a:t>
            </a:r>
          </a:p>
        </p:txBody>
      </p:sp>
      <p:sp>
        <p:nvSpPr>
          <p:cNvPr id="3" name="Content Placeholder 2"/>
          <p:cNvSpPr>
            <a:spLocks noGrp="1"/>
          </p:cNvSpPr>
          <p:nvPr>
            <p:ph idx="1"/>
          </p:nvPr>
        </p:nvSpPr>
        <p:spPr/>
        <p:txBody>
          <a:bodyPr/>
          <a:lstStyle/>
          <a:p>
            <a:r>
              <a:t>What kind of annuity ties benefits to</a:t>
            </a:r>
          </a:p>
          <a:p>
            <a:r>
              <a:t>market performance?</a:t>
            </a:r>
          </a:p>
          <a:p>
            <a:r>
              <a:t>Deferred annuity</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181</a:t>
            </a:r>
          </a:p>
        </p:txBody>
      </p:sp>
      <p:sp>
        <p:nvSpPr>
          <p:cNvPr id="3" name="Content Placeholder 2"/>
          <p:cNvSpPr>
            <a:spLocks noGrp="1"/>
          </p:cNvSpPr>
          <p:nvPr>
            <p:ph idx="1"/>
          </p:nvPr>
        </p:nvSpPr>
        <p:spPr/>
        <p:txBody>
          <a:bodyPr/>
          <a:lstStyle/>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182</a:t>
            </a:r>
          </a:p>
        </p:txBody>
      </p:sp>
      <p:sp>
        <p:nvSpPr>
          <p:cNvPr id="3" name="Content Placeholder 2"/>
          <p:cNvSpPr>
            <a:spLocks noGrp="1"/>
          </p:cNvSpPr>
          <p:nvPr>
            <p:ph idx="1"/>
          </p:nvPr>
        </p:nvSpPr>
        <p:spPr/>
        <p:txBody>
          <a:bodyPr/>
          <a:lstStyle/>
          <a:p>
            <a:r>
              <a:t>How do Life Settlements differ from</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182</a:t>
            </a:r>
          </a:p>
        </p:txBody>
      </p:sp>
      <p:sp>
        <p:nvSpPr>
          <p:cNvPr id="3" name="Content Placeholder 2"/>
          <p:cNvSpPr>
            <a:spLocks noGrp="1"/>
          </p:cNvSpPr>
          <p:nvPr>
            <p:ph idx="1"/>
          </p:nvPr>
        </p:nvSpPr>
        <p:spPr/>
        <p:txBody>
          <a:bodyPr/>
          <a:lstStyle/>
          <a:p/>
          <a:p>
            <a:r>
              <a:t>☐ nly apply to policies with no cash value @ © Involve selling the policy, not necessarily due to illness Result in a higher payout than the policy's face value</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183</a:t>
            </a:r>
          </a:p>
        </p:txBody>
      </p:sp>
      <p:sp>
        <p:nvSpPr>
          <p:cNvPr id="3" name="Content Placeholder 2"/>
          <p:cNvSpPr>
            <a:spLocks noGrp="1"/>
          </p:cNvSpPr>
          <p:nvPr>
            <p:ph idx="1"/>
          </p:nvPr>
        </p:nvSpPr>
        <p:spPr/>
        <p:txBody>
          <a:bodyPr/>
          <a:lstStyle/>
          <a:p>
            <a:r>
              <a:t>What is an Absolute Assignment in the</a:t>
            </a:r>
          </a:p>
          <a:p>
            <a:r>
              <a:t>context of a life insurance policy?</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183</a:t>
            </a:r>
          </a:p>
        </p:txBody>
      </p:sp>
      <p:sp>
        <p:nvSpPr>
          <p:cNvPr id="3" name="Content Placeholder 2"/>
          <p:cNvSpPr>
            <a:spLocks noGrp="1"/>
          </p:cNvSpPr>
          <p:nvPr>
            <p:ph idx="1"/>
          </p:nvPr>
        </p:nvSpPr>
        <p:spPr/>
        <p:txBody>
          <a:bodyPr/>
          <a:lstStyle/>
          <a:p/>
          <a:p>
            <a:br/>
            <a:pPr>
              <a:defRPr sz="1400" i="1"/>
            </a:pPr>
            <a:r>
              <a:t>Explanation: an Absolute Assignment in the</a:t>
            </a:r>
            <a:br/>
            <a:r>
              <a:t>context of a life insurance policy?</a:t>
            </a:r>
            <a:br/>
            <a:r>
              <a:t>o e Acomplete and irrevocable transfer of policy</a:t>
            </a:r>
            <a:br/>
            <a:r>
              <a:t>ounersnlp:</a:t>
            </a:r>
            <a:br/>
            <a:r>
              <a:t>An assignment of the policy as collateral for</a:t>
            </a:r>
            <a:br/>
            <a:r>
              <a:t>a loan.</a:t>
            </a:r>
            <a:br/>
            <a:r>
              <a:t>Atemporary transfer ...</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184</a:t>
            </a:r>
          </a:p>
        </p:txBody>
      </p:sp>
      <p:sp>
        <p:nvSpPr>
          <p:cNvPr id="3" name="Content Placeholder 2"/>
          <p:cNvSpPr>
            <a:spLocks noGrp="1"/>
          </p:cNvSpPr>
          <p:nvPr>
            <p:ph idx="1"/>
          </p:nvPr>
        </p:nvSpPr>
        <p:spPr/>
        <p:txBody>
          <a:bodyPr/>
          <a:lstStyle/>
          <a:p>
            <a:r>
              <a:t>What is the primary role of an</a:t>
            </a:r>
          </a:p>
          <a:p>
            <a:r>
              <a:t>underwriter in the insurance industry?</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184</a:t>
            </a:r>
          </a:p>
        </p:txBody>
      </p:sp>
      <p:sp>
        <p:nvSpPr>
          <p:cNvPr id="3" name="Content Placeholder 2"/>
          <p:cNvSpPr>
            <a:spLocks noGrp="1"/>
          </p:cNvSpPr>
          <p:nvPr>
            <p:ph idx="1"/>
          </p:nvPr>
        </p:nvSpPr>
        <p:spPr/>
        <p:txBody>
          <a:bodyPr/>
          <a:lstStyle/>
          <a:p/>
          <a:p>
            <a:r>
              <a:t>☐ To sell insurance policies to potential clients To process claims and disburse payments e To assess the risk and determine the</a:t>
            </a:r>
          </a:p>
          <a:p>
            <a:r>
              <a:t>☐ nsurability of applicants To design insurance products</a:t>
            </a:r>
          </a:p>
          <a:p>
            <a:br/>
            <a:pPr>
              <a:defRPr sz="1400" i="1"/>
            </a:pPr>
            <a:r>
              <a:t>Explanation: the primary role of an</a:t>
            </a:r>
            <a:br/>
            <a:r>
              <a:t>underwriter in the insurance industry?</a:t>
            </a:r>
            <a:br/>
            <a:r>
              <a:t>x) To sell insurance policies to potential clients</a:t>
            </a:r>
            <a:br/>
            <a:r>
              <a:t>To process claims and disburse payments</a:t>
            </a:r>
            <a:br/>
            <a:r>
              <a:t>e To assess the risk and determine the</a:t>
            </a:r>
            <a:br/>
            <a:r>
              <a:t>insurabi...</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185</a:t>
            </a:r>
          </a:p>
        </p:txBody>
      </p:sp>
      <p:sp>
        <p:nvSpPr>
          <p:cNvPr id="3" name="Content Placeholder 2"/>
          <p:cNvSpPr>
            <a:spLocks noGrp="1"/>
          </p:cNvSpPr>
          <p:nvPr>
            <p:ph idx="1"/>
          </p:nvPr>
        </p:nvSpPr>
        <p:spPr/>
        <p:txBody>
          <a:bodyPr/>
          <a:lstStyle/>
          <a:p>
            <a:r>
              <a:t>What does the 'Grace Period'</a:t>
            </a:r>
          </a:p>
          <a:p>
            <a:r>
              <a:t>provision in life insurance policies</a:t>
            </a:r>
          </a:p>
          <a:p>
            <a:r>
              <a:t>provide?</a:t>
            </a:r>
          </a:p>
          <a:p>
            <a:r>
              <a:t>Delay for policy activation.</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185</a:t>
            </a:r>
          </a:p>
        </p:txBody>
      </p:sp>
      <p:sp>
        <p:nvSpPr>
          <p:cNvPr id="3" name="Content Placeholder 2"/>
          <p:cNvSpPr>
            <a:spLocks noGrp="1"/>
          </p:cNvSpPr>
          <p:nvPr>
            <p:ph idx="1"/>
          </p:nvPr>
        </p:nvSpPr>
        <p:spPr/>
        <p:txBody>
          <a:bodyPr/>
          <a:lstStyle/>
          <a:p/>
          <a:p>
            <a:r>
              <a:t>☐ e Extension for policy renewal.</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186</a:t>
            </a:r>
          </a:p>
        </p:txBody>
      </p:sp>
      <p:sp>
        <p:nvSpPr>
          <p:cNvPr id="3" name="Content Placeholder 2"/>
          <p:cNvSpPr>
            <a:spLocks noGrp="1"/>
          </p:cNvSpPr>
          <p:nvPr>
            <p:ph idx="1"/>
          </p:nvPr>
        </p:nvSpPr>
        <p:spPr/>
        <p:txBody>
          <a:bodyPr/>
          <a:lstStyle/>
          <a:p>
            <a:r>
              <a:t>What defines the act of "selling"</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186</a:t>
            </a:r>
          </a:p>
        </p:txBody>
      </p:sp>
      <p:sp>
        <p:nvSpPr>
          <p:cNvPr id="3" name="Content Placeholder 2"/>
          <p:cNvSpPr>
            <a:spLocks noGrp="1"/>
          </p:cNvSpPr>
          <p:nvPr>
            <p:ph idx="1"/>
          </p:nvPr>
        </p:nvSpPr>
        <p:spPr/>
        <p:txBody>
          <a:bodyPr/>
          <a:lstStyle/>
          <a:p/>
          <a:p>
            <a:r>
              <a:t>☐ nsurance in Arizona?</a:t>
            </a:r>
          </a:p>
          <a:p>
            <a:r>
              <a:t>☐ ffering discounts on insurance packages Finalizing an insurance contract in exchange for monetary value Marketing various insurance products Discussing policy details with potential clients</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187</a:t>
            </a:r>
          </a:p>
        </p:txBody>
      </p:sp>
      <p:sp>
        <p:nvSpPr>
          <p:cNvPr id="3" name="Content Placeholder 2"/>
          <p:cNvSpPr>
            <a:spLocks noGrp="1"/>
          </p:cNvSpPr>
          <p:nvPr>
            <p:ph idx="1"/>
          </p:nvPr>
        </p:nvSpPr>
        <p:spPr/>
        <p:txBody>
          <a:bodyPr/>
          <a:lstStyle/>
          <a:p>
            <a:r>
              <a:t>What is the purpose of a Juvenile</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187</a:t>
            </a:r>
          </a:p>
        </p:txBody>
      </p:sp>
      <p:sp>
        <p:nvSpPr>
          <p:cNvPr id="3" name="Content Placeholder 2"/>
          <p:cNvSpPr>
            <a:spLocks noGrp="1"/>
          </p:cNvSpPr>
          <p:nvPr>
            <p:ph idx="1"/>
          </p:nvPr>
        </p:nvSpPr>
        <p:spPr/>
        <p:txBody>
          <a:bodyPr/>
          <a:lstStyle/>
          <a:p/>
          <a:p>
            <a:br/>
            <a:pPr>
              <a:defRPr sz="1400" i="1"/>
            </a:pPr>
            <a:r>
              <a:t>Explanation: the purpose of a Juvenile</a:t>
            </a:r>
            <a:br/>
            <a:r>
              <a:t>Insurance Policy?</a:t>
            </a:r>
            <a:br/>
            <a:r>
              <a:t>To cover education expenses in case of the</a:t>
            </a:r>
            <a:br/>
            <a:r>
              <a:t>child's death.</a:t>
            </a:r>
            <a:br/>
            <a:r>
              <a:t>To insure parents against financial loss.</a:t>
            </a:r>
            <a:br/>
            <a:r>
              <a:t>To offer health insurance specifically for</a:t>
            </a:r>
            <a:br/>
            <a:r>
              <a:t>children.</a:t>
            </a:r>
            <a:br/>
            <a:r>
              <a:t>Pro...</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188</a:t>
            </a:r>
          </a:p>
        </p:txBody>
      </p:sp>
      <p:sp>
        <p:nvSpPr>
          <p:cNvPr id="3" name="Content Placeholder 2"/>
          <p:cNvSpPr>
            <a:spLocks noGrp="1"/>
          </p:cNvSpPr>
          <p:nvPr>
            <p:ph idx="1"/>
          </p:nvPr>
        </p:nvSpPr>
        <p:spPr/>
        <p:txBody>
          <a:bodyPr/>
          <a:lstStyle/>
          <a:p>
            <a:r>
              <a:t>What happens if a life insurance</a:t>
            </a:r>
          </a:p>
          <a:p>
            <a:r>
              <a:t>policy's age or sex is misstated and</a:t>
            </a:r>
          </a:p>
          <a:p>
            <a:r>
              <a:t>the error is discovered after the</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188</a:t>
            </a:r>
          </a:p>
        </p:txBody>
      </p:sp>
      <p:sp>
        <p:nvSpPr>
          <p:cNvPr id="3" name="Content Placeholder 2"/>
          <p:cNvSpPr>
            <a:spLocks noGrp="1"/>
          </p:cNvSpPr>
          <p:nvPr>
            <p:ph idx="1"/>
          </p:nvPr>
        </p:nvSpPr>
        <p:spPr/>
        <p:txBody>
          <a:bodyPr/>
          <a:lstStyle/>
          <a:p/>
          <a:p>
            <a:r>
              <a:t>☐ nsured's death? @ © The proceeds are adjusted according to the correct age or sex The beneficiary is fined The policy is voided</a:t>
            </a:r>
          </a:p>
          <a:p>
            <a:br/>
            <a:pPr>
              <a:defRPr sz="1400" i="1"/>
            </a:pPr>
            <a:r>
              <a:t>Explanation: misstated and</a:t>
            </a:r>
            <a:br/>
            <a:r>
              <a:t>the error is discovered after the</a:t>
            </a:r>
            <a:br/>
            <a:r>
              <a:t>insured's death?</a:t>
            </a:r>
            <a:br/>
            <a:r>
              <a:t>@  The proceeds are adjusted according to the</a:t>
            </a:r>
            <a:br/>
            <a:r>
              <a:t>correct age or sex</a:t>
            </a:r>
            <a:br/>
            <a:r>
              <a:t>The beneficiary is fined</a:t>
            </a:r>
            <a:br/>
            <a:r>
              <a:t>The policy is voided</a:t>
            </a:r>
            <a:br/>
            <a:r>
              <a:t>Proceed =&gt;</a:t>
            </a:r>
            <a:br/>
            <a:r>
              <a:t>I&lt; A &gt;|</a:t>
            </a:r>
            <a:br/>
            <a:r>
              <a:t>&amp; a ....</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189</a:t>
            </a:r>
          </a:p>
        </p:txBody>
      </p:sp>
      <p:sp>
        <p:nvSpPr>
          <p:cNvPr id="3" name="Content Placeholder 2"/>
          <p:cNvSpPr>
            <a:spLocks noGrp="1"/>
          </p:cNvSpPr>
          <p:nvPr>
            <p:ph idx="1"/>
          </p:nvPr>
        </p:nvSpPr>
        <p:spPr/>
        <p:txBody>
          <a:bodyPr/>
          <a:lstStyle/>
          <a:p>
            <a:r>
              <a:t>What type of business information</a:t>
            </a:r>
          </a:p>
          <a:p>
            <a:r>
              <a:t>must be reported to the Director when</a:t>
            </a:r>
          </a:p>
          <a:p>
            <a:r>
              <a:t>there is a change?</a:t>
            </a:r>
          </a:p>
          <a:p>
            <a:r>
              <a:t>Change in business hours</a:t>
            </a:r>
          </a:p>
          <a:p>
            <a:r>
              <a:t>Change in service pricing</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189</a:t>
            </a:r>
          </a:p>
        </p:txBody>
      </p:sp>
      <p:sp>
        <p:nvSpPr>
          <p:cNvPr id="3" name="Content Placeholder 2"/>
          <p:cNvSpPr>
            <a:spLocks noGrp="1"/>
          </p:cNvSpPr>
          <p:nvPr>
            <p:ph idx="1"/>
          </p:nvPr>
        </p:nvSpPr>
        <p:spPr/>
        <p:txBody>
          <a:bodyPr/>
          <a:lstStyle/>
          <a:p/>
          <a:p>
            <a:br/>
            <a:pPr>
              <a:defRPr sz="1400" i="1"/>
            </a:pPr>
            <a:r>
              <a:t>Explanation: a change?</a:t>
            </a:r>
            <a:br/>
            <a:r>
              <a:t>Change in business hours</a:t>
            </a:r>
            <a:br/>
            <a:r>
              <a:t>Change in service pricing</a:t>
            </a:r>
            <a:br/>
            <a:r>
              <a:t>Proceed =&gt;</a:t>
            </a:r>
            <a:br/>
            <a:r>
              <a:t>I&lt; A &gt;|</a:t>
            </a:r>
            <a:br/>
            <a:r>
              <a:t>&amp; a ..rancelicense.myabsorb.com (</a:t>
            </a:r>
            <a:br/>
            <a:r>
              <a:t>&lt; &gt; + (21)...</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190</a:t>
            </a:r>
          </a:p>
        </p:txBody>
      </p:sp>
      <p:sp>
        <p:nvSpPr>
          <p:cNvPr id="3" name="Content Placeholder 2"/>
          <p:cNvSpPr>
            <a:spLocks noGrp="1"/>
          </p:cNvSpPr>
          <p:nvPr>
            <p:ph idx="1"/>
          </p:nvPr>
        </p:nvSpPr>
        <p:spPr/>
        <p:txBody>
          <a:bodyPr/>
          <a:lstStyle/>
          <a:p>
            <a:r>
              <a:t>Which of these mandates do insurers</a:t>
            </a:r>
          </a:p>
          <a:p>
            <a:r>
              <a:t>reveal when investigating an</a:t>
            </a:r>
          </a:p>
          <a:p>
            <a:r>
              <a:t>applicant's consumer or credit history?</a:t>
            </a:r>
          </a:p>
          <a:p>
            <a:r>
              <a:t>&gt;) 1868 - Paul v. Virginia.</a:t>
            </a:r>
          </a:p>
          <a:p>
            <a:r>
              <a:t>1945 - The McCarran-Ferguson Act</a:t>
            </a:r>
          </a:p>
          <a:p>
            <a:r>
              <a:t>1970 - Fair Credit Reporting Act</a:t>
            </a:r>
          </a:p>
          <a:p>
            <a:r>
              <a:t>1958 - Federal Trade Commission's</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190</a:t>
            </a:r>
          </a:p>
        </p:txBody>
      </p:sp>
      <p:sp>
        <p:nvSpPr>
          <p:cNvPr id="3" name="Content Placeholder 2"/>
          <p:cNvSpPr>
            <a:spLocks noGrp="1"/>
          </p:cNvSpPr>
          <p:nvPr>
            <p:ph idx="1"/>
          </p:nvPr>
        </p:nvSpPr>
        <p:spPr/>
        <p:txBody>
          <a:bodyPr/>
          <a:lstStyle/>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191</a:t>
            </a:r>
          </a:p>
        </p:txBody>
      </p:sp>
      <p:sp>
        <p:nvSpPr>
          <p:cNvPr id="3" name="Content Placeholder 2"/>
          <p:cNvSpPr>
            <a:spLocks noGrp="1"/>
          </p:cNvSpPr>
          <p:nvPr>
            <p:ph idx="1"/>
          </p:nvPr>
        </p:nvSpPr>
        <p:spPr/>
        <p:txBody>
          <a:bodyPr/>
          <a:lstStyle/>
          <a:p>
            <a:r>
              <a:t>Which type of term insurance policy</a:t>
            </a:r>
          </a:p>
          <a:p>
            <a:r>
              <a:t>has a death benefit that decreases</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191</a:t>
            </a:r>
          </a:p>
        </p:txBody>
      </p:sp>
      <p:sp>
        <p:nvSpPr>
          <p:cNvPr id="3" name="Content Placeholder 2"/>
          <p:cNvSpPr>
            <a:spLocks noGrp="1"/>
          </p:cNvSpPr>
          <p:nvPr>
            <p:ph idx="1"/>
          </p:nvPr>
        </p:nvSpPr>
        <p:spPr/>
        <p:txBody>
          <a:bodyPr/>
          <a:lstStyle/>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192</a:t>
            </a:r>
          </a:p>
        </p:txBody>
      </p:sp>
      <p:sp>
        <p:nvSpPr>
          <p:cNvPr id="3" name="Content Placeholder 2"/>
          <p:cNvSpPr>
            <a:spLocks noGrp="1"/>
          </p:cNvSpPr>
          <p:nvPr>
            <p:ph idx="1"/>
          </p:nvPr>
        </p:nvSpPr>
        <p:spPr/>
        <p:txBody>
          <a:bodyPr/>
          <a:lstStyle/>
          <a:p>
            <a:r>
              <a:t>The total amount of Social Security</a:t>
            </a:r>
          </a:p>
          <a:p>
            <a:r>
              <a:t>retirement benefits an eligible</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192</a:t>
            </a:r>
          </a:p>
        </p:txBody>
      </p:sp>
      <p:sp>
        <p:nvSpPr>
          <p:cNvPr id="3" name="Content Placeholder 2"/>
          <p:cNvSpPr>
            <a:spLocks noGrp="1"/>
          </p:cNvSpPr>
          <p:nvPr>
            <p:ph idx="1"/>
          </p:nvPr>
        </p:nvSpPr>
        <p:spPr/>
        <p:txBody>
          <a:bodyPr/>
          <a:lstStyle/>
          <a:p/>
          <a:p>
            <a:r>
              <a:t>☐ ndividual receives is determined by:</a:t>
            </a:r>
          </a:p>
          <a:p>
            <a:pPr>
              <a:defRPr b="1"/>
            </a:pPr>
            <a:r>
              <a:t>✅ Total Income Tax</a:t>
            </a:r>
          </a:p>
          <a:p>
            <a:r>
              <a:t>☐ Street Address</a:t>
            </a:r>
          </a:p>
          <a:p>
            <a:r>
              <a:t>☐ e Primary Insurance Amount (PIA)</a:t>
            </a:r>
          </a:p>
          <a:p>
            <a:r>
              <a:t>☐ Number of children</a:t>
            </a:r>
          </a:p>
          <a:p>
            <a:br/>
            <a:pPr>
              <a:defRPr sz="1400" i="1"/>
            </a:pPr>
            <a:r>
              <a:t>Explanation: determined by:</a:t>
            </a:r>
            <a:br/>
            <a:r>
              <a:t>x) Total Income Tax</a:t>
            </a:r>
            <a:br/>
            <a:r>
              <a:t>x) Street Address</a:t>
            </a:r>
            <a:br/>
            <a:r>
              <a:t>g e Primary Insurance Amount (PIA)</a:t>
            </a:r>
            <a:br/>
            <a:r>
              <a:t>x Number of children</a:t>
            </a:r>
            <a:br/>
            <a:r>
              <a:t>Proceed —_</a:t>
            </a:r>
            <a:br/>
            <a:r>
              <a:t>I&lt; A &gt;|</a:t>
            </a:r>
            <a:br/>
            <a:r>
              <a:t>&amp; a ..rancelicense.myabsorb.com (</a:t>
            </a:r>
            <a:br/>
            <a:r>
              <a:t>&lt; &gt; + (21)...</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193</a:t>
            </a:r>
          </a:p>
        </p:txBody>
      </p:sp>
      <p:sp>
        <p:nvSpPr>
          <p:cNvPr id="3" name="Content Placeholder 2"/>
          <p:cNvSpPr>
            <a:spLocks noGrp="1"/>
          </p:cNvSpPr>
          <p:nvPr>
            <p:ph idx="1"/>
          </p:nvPr>
        </p:nvSpPr>
        <p:spPr/>
        <p:txBody>
          <a:bodyPr/>
          <a:lstStyle/>
          <a:p>
            <a:r>
              <a:t>What happens if an insured individual</a:t>
            </a:r>
          </a:p>
          <a:p>
            <a:r>
              <a:t>dies during the Grace Period of their</a:t>
            </a:r>
          </a:p>
          <a:p>
            <a:r>
              <a:t>life insurance policy?</a:t>
            </a:r>
          </a:p>
          <a:p>
            <a:r>
              <a:t>Full benefits are paid without any</a:t>
            </a:r>
          </a:p>
          <a:p>
            <a:r>
              <a:t>deductions.</a:t>
            </a:r>
          </a:p>
          <a:p>
            <a:r>
              <a:t>The policy is voided.</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193</a:t>
            </a:r>
          </a:p>
        </p:txBody>
      </p:sp>
      <p:sp>
        <p:nvSpPr>
          <p:cNvPr id="3" name="Content Placeholder 2"/>
          <p:cNvSpPr>
            <a:spLocks noGrp="1"/>
          </p:cNvSpPr>
          <p:nvPr>
            <p:ph idx="1"/>
          </p:nvPr>
        </p:nvSpPr>
        <p:spPr/>
        <p:txBody>
          <a:bodyPr/>
          <a:lstStyle/>
          <a:p/>
          <a:p>
            <a:r>
              <a:t>☐ e The policy's death benefit is reduced by the unpaid premium.</a:t>
            </a:r>
          </a:p>
          <a:p>
            <a:pPr>
              <a:defRPr b="1"/>
            </a:pPr>
            <a:r>
              <a:t>✅ Only a portion of the death benefit is paid.</a:t>
            </a:r>
          </a:p>
          <a:p>
            <a:br/>
            <a:pPr>
              <a:defRPr sz="1400" i="1"/>
            </a:pPr>
            <a:r>
              <a:t>Explanation: voided.</a:t>
            </a:r>
            <a:br/>
            <a:r>
              <a:t>g e The policy's death benefit is reduced by the</a:t>
            </a:r>
            <a:br/>
            <a:r>
              <a:t>unpaid premium.</a:t>
            </a:r>
            <a:br/>
            <a:r>
              <a:t>x) Only a portion of the death benefit is paid.</a:t>
            </a:r>
            <a:br/>
            <a:r>
              <a:t>I&lt; A &gt;|</a:t>
            </a:r>
            <a:br/>
            <a:r>
              <a:t>&amp; a ..rancelicense.myabsorb.com (</a:t>
            </a:r>
            <a:br/>
            <a:r>
              <a:t>&lt; &gt; + (21)...</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194</a:t>
            </a:r>
          </a:p>
        </p:txBody>
      </p:sp>
      <p:sp>
        <p:nvSpPr>
          <p:cNvPr id="3" name="Content Placeholder 2"/>
          <p:cNvSpPr>
            <a:spLocks noGrp="1"/>
          </p:cNvSpPr>
          <p:nvPr>
            <p:ph idx="1"/>
          </p:nvPr>
        </p:nvSpPr>
        <p:spPr/>
        <p:txBody>
          <a:bodyPr/>
          <a:lstStyle/>
          <a:p>
            <a:r>
              <a:t>How does Group Life Insurance</a:t>
            </a:r>
          </a:p>
          <a:p>
            <a:r>
              <a:t>typically determine insurability?</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194</a:t>
            </a:r>
          </a:p>
        </p:txBody>
      </p:sp>
      <p:sp>
        <p:nvSpPr>
          <p:cNvPr id="3" name="Content Placeholder 2"/>
          <p:cNvSpPr>
            <a:spLocks noGrp="1"/>
          </p:cNvSpPr>
          <p:nvPr>
            <p:ph idx="1"/>
          </p:nvPr>
        </p:nvSpPr>
        <p:spPr/>
        <p:txBody>
          <a:bodyPr/>
          <a:lstStyle/>
          <a:p/>
          <a:p>
            <a:pPr>
              <a:defRPr b="1"/>
            </a:pPr>
            <a:r>
              <a:t>✅ e By underwriting the group as a whole, often without individual evidence of insurability. Based on the average age of the group. Through individual medical exams. Through a detailed financial assessment of each member.</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195</a:t>
            </a:r>
          </a:p>
        </p:txBody>
      </p:sp>
      <p:sp>
        <p:nvSpPr>
          <p:cNvPr id="3" name="Content Placeholder 2"/>
          <p:cNvSpPr>
            <a:spLocks noGrp="1"/>
          </p:cNvSpPr>
          <p:nvPr>
            <p:ph idx="1"/>
          </p:nvPr>
        </p:nvSpPr>
        <p:spPr/>
        <p:txBody>
          <a:bodyPr/>
          <a:lstStyle/>
          <a:p>
            <a:r>
              <a:t>Which plan allows employees to share</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195</a:t>
            </a:r>
          </a:p>
        </p:txBody>
      </p:sp>
      <p:sp>
        <p:nvSpPr>
          <p:cNvPr id="3" name="Content Placeholder 2"/>
          <p:cNvSpPr>
            <a:spLocks noGrp="1"/>
          </p:cNvSpPr>
          <p:nvPr>
            <p:ph idx="1"/>
          </p:nvPr>
        </p:nvSpPr>
        <p:spPr/>
        <p:txBody>
          <a:bodyPr/>
          <a:lstStyle/>
          <a:p/>
          <a:p>
            <a:r>
              <a:t>☐ n a company's profits? Defined Benefit Plan (k) Plan Traditional IRA @ © Profit-Sharing Plan</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196</a:t>
            </a:r>
          </a:p>
        </p:txBody>
      </p:sp>
      <p:sp>
        <p:nvSpPr>
          <p:cNvPr id="3" name="Content Placeholder 2"/>
          <p:cNvSpPr>
            <a:spLocks noGrp="1"/>
          </p:cNvSpPr>
          <p:nvPr>
            <p:ph idx="1"/>
          </p:nvPr>
        </p:nvSpPr>
        <p:spPr/>
        <p:txBody>
          <a:bodyPr/>
          <a:lstStyle/>
          <a:p>
            <a:r>
              <a:t>How does a 'Single Premium Whole</a:t>
            </a:r>
          </a:p>
          <a:p>
            <a:r>
              <a:t>Life' policy operate?</a:t>
            </a:r>
          </a:p>
          <a:p>
            <a:r>
              <a:t>@ « Entire premium paid in one lump sum</a:t>
            </a:r>
          </a:p>
          <a:p>
            <a:r>
              <a:t>Premiums vary annually</a:t>
            </a:r>
          </a:p>
          <a:p>
            <a:r>
              <a:t>Premiums increase with age</a:t>
            </a:r>
          </a:p>
          <a:p>
            <a:r>
              <a:t>Dividends pay the premiums</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196</a:t>
            </a:r>
          </a:p>
        </p:txBody>
      </p:sp>
      <p:sp>
        <p:nvSpPr>
          <p:cNvPr id="3" name="Content Placeholder 2"/>
          <p:cNvSpPr>
            <a:spLocks noGrp="1"/>
          </p:cNvSpPr>
          <p:nvPr>
            <p:ph idx="1"/>
          </p:nvPr>
        </p:nvSpPr>
        <p:spPr/>
        <p:txBody>
          <a:bodyPr/>
          <a:lstStyle/>
          <a:p/>
          <a:p>
            <a:br/>
            <a:pPr>
              <a:defRPr sz="1400" i="1"/>
            </a:pPr>
            <a:r>
              <a:t>Explanation: pay the premiums</a:t>
            </a:r>
            <a:br/>
            <a:r>
              <a:t>Proceed =&gt;</a:t>
            </a:r>
            <a:br/>
            <a:r>
              <a:t>I&lt; A &gt;|</a:t>
            </a:r>
            <a:br/>
            <a:r>
              <a:t>&amp; a ..rancelicense.myabsorb.com (</a:t>
            </a:r>
            <a:br/>
            <a:r>
              <a:t>&lt; &gt; + (21)...</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197</a:t>
            </a:r>
          </a:p>
        </p:txBody>
      </p:sp>
      <p:sp>
        <p:nvSpPr>
          <p:cNvPr id="3" name="Content Placeholder 2"/>
          <p:cNvSpPr>
            <a:spLocks noGrp="1"/>
          </p:cNvSpPr>
          <p:nvPr>
            <p:ph idx="1"/>
          </p:nvPr>
        </p:nvSpPr>
        <p:spPr/>
        <p:txBody>
          <a:bodyPr/>
          <a:lstStyle/>
          <a:p>
            <a:r>
              <a:t>Who possesses the option to renew a</a:t>
            </a:r>
          </a:p>
          <a:p>
            <a:r>
              <a:t>Renewable Term Policy?</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197</a:t>
            </a:r>
          </a:p>
        </p:txBody>
      </p:sp>
      <p:sp>
        <p:nvSpPr>
          <p:cNvPr id="3" name="Content Placeholder 2"/>
          <p:cNvSpPr>
            <a:spLocks noGrp="1"/>
          </p:cNvSpPr>
          <p:nvPr>
            <p:ph idx="1"/>
          </p:nvPr>
        </p:nvSpPr>
        <p:spPr/>
        <p:txBody>
          <a:bodyPr/>
          <a:lstStyle/>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198</a:t>
            </a:r>
          </a:p>
        </p:txBody>
      </p:sp>
      <p:sp>
        <p:nvSpPr>
          <p:cNvPr id="3" name="Content Placeholder 2"/>
          <p:cNvSpPr>
            <a:spLocks noGrp="1"/>
          </p:cNvSpPr>
          <p:nvPr>
            <p:ph idx="1"/>
          </p:nvPr>
        </p:nvSpPr>
        <p:spPr/>
        <p:txBody>
          <a:bodyPr/>
          <a:lstStyle/>
          <a:p>
            <a:r>
              <a:t>After reviewing his new life insurance</a:t>
            </a:r>
          </a:p>
          <a:p>
            <a:r>
              <a:t>policy, Robert decides it doesn't meet</a:t>
            </a:r>
          </a:p>
          <a:p>
            <a:r>
              <a:t>his needs within the first week. He</a:t>
            </a:r>
          </a:p>
          <a:p>
            <a:r>
              <a:t>knows he has a specific period during</a:t>
            </a:r>
          </a:p>
          <a:p>
            <a:r>
              <a:t>which he can cancel the policy for a</a:t>
            </a:r>
          </a:p>
          <a:p>
            <a:r>
              <a:t>full refund. This period is known as</a:t>
            </a:r>
          </a:p>
          <a:p>
            <a:r>
              <a:t>Cooling-off period.</a:t>
            </a:r>
          </a:p>
          <a:p>
            <a:r>
              <a:t>Trial period.</a:t>
            </a:r>
          </a:p>
          <a:p>
            <a:r>
              <a:t>@  Free-look period.</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198</a:t>
            </a:r>
          </a:p>
        </p:txBody>
      </p:sp>
      <p:sp>
        <p:nvSpPr>
          <p:cNvPr id="3" name="Content Placeholder 2"/>
          <p:cNvSpPr>
            <a:spLocks noGrp="1"/>
          </p:cNvSpPr>
          <p:nvPr>
            <p:ph idx="1"/>
          </p:nvPr>
        </p:nvSpPr>
        <p:spPr/>
        <p:txBody>
          <a:bodyPr/>
          <a:lstStyle/>
          <a:p/>
          <a:p>
            <a:br/>
            <a:pPr>
              <a:defRPr sz="1400" i="1"/>
            </a:pPr>
            <a:r>
              <a:t>Explanation: new life insurance</a:t>
            </a:r>
            <a:br/>
            <a:r>
              <a:t>policy, Robert decides it doesn't meet</a:t>
            </a:r>
            <a:br/>
            <a:r>
              <a:t>his needs within the first week. He</a:t>
            </a:r>
            <a:br/>
            <a:r>
              <a:t>knows he has a specific period during</a:t>
            </a:r>
            <a:br/>
            <a:r>
              <a:t>which he can cancel the policy for a</a:t>
            </a:r>
            <a:br/>
            <a:r>
              <a:t>full refund. This period is kno...</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199</a:t>
            </a:r>
          </a:p>
        </p:txBody>
      </p:sp>
      <p:sp>
        <p:nvSpPr>
          <p:cNvPr id="3" name="Content Placeholder 2"/>
          <p:cNvSpPr>
            <a:spLocks noGrp="1"/>
          </p:cNvSpPr>
          <p:nvPr>
            <p:ph idx="1"/>
          </p:nvPr>
        </p:nvSpPr>
        <p:spPr/>
        <p:txBody>
          <a:bodyPr/>
          <a:lstStyle/>
          <a:p>
            <a:r>
              <a:t>Which type of insurance is</a:t>
            </a:r>
          </a:p>
          <a:p>
            <a:r>
              <a:t>specifically designed to decrease in</a:t>
            </a:r>
          </a:p>
          <a:p>
            <a:r>
              <a:t>face amount over time?</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199</a:t>
            </a:r>
          </a:p>
        </p:txBody>
      </p:sp>
      <p:sp>
        <p:nvSpPr>
          <p:cNvPr id="3" name="Content Placeholder 2"/>
          <p:cNvSpPr>
            <a:spLocks noGrp="1"/>
          </p:cNvSpPr>
          <p:nvPr>
            <p:ph idx="1"/>
          </p:nvPr>
        </p:nvSpPr>
        <p:spPr/>
        <p:txBody>
          <a:bodyPr/>
          <a:lstStyle/>
          <a:p/>
          <a:p>
            <a:br/>
            <a:pPr>
              <a:defRPr sz="1400" i="1"/>
            </a:pPr>
            <a:r>
              <a:t>Explanation: specifically designed to decrease in</a:t>
            </a:r>
            <a:br/>
            <a:r>
              <a:t>face amount over time?</a:t>
            </a:r>
            <a:br/>
            <a:r>
              <a:t>Increasing Term Insurance</a:t>
            </a:r>
            <a:br/>
            <a:r>
              <a:t>Term Life Insurance</a:t>
            </a:r>
            <a:br/>
            <a:r>
              <a:t>@  Decreasing Term Insurance</a:t>
            </a:r>
            <a:br/>
            <a:r>
              <a:t>Proceed =&gt;</a:t>
            </a:r>
            <a:br/>
            <a:r>
              <a:t>I&lt; A &gt;|</a:t>
            </a:r>
            <a:br/>
            <a:r>
              <a:t>&amp; a ..rancelicense.myabsorb.com (</a:t>
            </a:r>
            <a:br/>
            <a:r>
              <a:t>&lt; &gt; + (21)...</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200</a:t>
            </a:r>
          </a:p>
        </p:txBody>
      </p:sp>
      <p:sp>
        <p:nvSpPr>
          <p:cNvPr id="3" name="Content Placeholder 2"/>
          <p:cNvSpPr>
            <a:spLocks noGrp="1"/>
          </p:cNvSpPr>
          <p:nvPr>
            <p:ph idx="1"/>
          </p:nvPr>
        </p:nvSpPr>
        <p:spPr/>
        <p:txBody>
          <a:bodyPr/>
          <a:lstStyle/>
          <a:p>
            <a:r>
              <a:t>What is the primary purpose of the</a:t>
            </a:r>
          </a:p>
          <a:p>
            <a:r>
              <a:t>Terrorism Insurance Program outlined</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200</a:t>
            </a:r>
          </a:p>
        </p:txBody>
      </p:sp>
      <p:sp>
        <p:nvSpPr>
          <p:cNvPr id="3" name="Content Placeholder 2"/>
          <p:cNvSpPr>
            <a:spLocks noGrp="1"/>
          </p:cNvSpPr>
          <p:nvPr>
            <p:ph idx="1"/>
          </p:nvPr>
        </p:nvSpPr>
        <p:spPr/>
        <p:txBody>
          <a:bodyPr/>
          <a:lstStyle/>
          <a:p/>
          <a:p>
            <a:r>
              <a:t>☐ n federal law? To provide consumer protections against</a:t>
            </a:r>
          </a:p>
          <a:p>
            <a:r>
              <a:t>☐ dentity theft To ensure the availability of insurance coverage for acts of terrorism To regulate commercial email communications To oversee the telemarketing industry</a:t>
            </a:r>
          </a:p>
          <a:p>
            <a:br/>
            <a:pPr>
              <a:defRPr sz="1400" i="1"/>
            </a:pPr>
            <a:r>
              <a:t>Explanation: the primary purpose of the</a:t>
            </a:r>
            <a:br/>
            <a:r>
              <a:t>Terrorism Insurance Program outlined</a:t>
            </a:r>
            <a:br/>
            <a:r>
              <a:t>in federal law?</a:t>
            </a:r>
            <a:br/>
            <a:r>
              <a:t>To provide consumer protections against</a:t>
            </a:r>
            <a:br/>
            <a:r>
              <a:t>identity theft</a:t>
            </a:r>
            <a:br/>
            <a:r>
              <a:t>To ensure the availability of insurance</a:t>
            </a:r>
            <a:br/>
            <a:r>
              <a:t>coverage for acts of terr...</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201</a:t>
            </a:r>
          </a:p>
        </p:txBody>
      </p:sp>
      <p:sp>
        <p:nvSpPr>
          <p:cNvPr id="3" name="Content Placeholder 2"/>
          <p:cNvSpPr>
            <a:spLocks noGrp="1"/>
          </p:cNvSpPr>
          <p:nvPr>
            <p:ph idx="1"/>
          </p:nvPr>
        </p:nvSpPr>
        <p:spPr/>
        <p:txBody>
          <a:bodyPr/>
          <a:lstStyle/>
          <a:p>
            <a:r>
              <a:t>What can a 'Cash Value Loan'</a:t>
            </a:r>
          </a:p>
          <a:p>
            <a:r>
              <a:t>provision be used for?</a:t>
            </a:r>
          </a:p>
          <a:p>
            <a:r>
              <a:t>Paying policy premiums.</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201</a:t>
            </a:r>
          </a:p>
        </p:txBody>
      </p:sp>
      <p:sp>
        <p:nvSpPr>
          <p:cNvPr id="3" name="Content Placeholder 2"/>
          <p:cNvSpPr>
            <a:spLocks noGrp="1"/>
          </p:cNvSpPr>
          <p:nvPr>
            <p:ph idx="1"/>
          </p:nvPr>
        </p:nvSpPr>
        <p:spPr/>
        <p:txBody>
          <a:bodyPr/>
          <a:lstStyle/>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202</a:t>
            </a:r>
          </a:p>
        </p:txBody>
      </p:sp>
      <p:sp>
        <p:nvSpPr>
          <p:cNvPr id="3" name="Content Placeholder 2"/>
          <p:cNvSpPr>
            <a:spLocks noGrp="1"/>
          </p:cNvSpPr>
          <p:nvPr>
            <p:ph idx="1"/>
          </p:nvPr>
        </p:nvSpPr>
        <p:spPr/>
        <p:txBody>
          <a:bodyPr/>
          <a:lstStyle/>
          <a:p>
            <a:r>
              <a:t>What type of life insurance is</a:t>
            </a:r>
          </a:p>
          <a:p>
            <a:r>
              <a:t>characterized by its low issue amounts</a:t>
            </a:r>
          </a:p>
          <a:p>
            <a:r>
              <a:t>and premiums collected directly at the</a:t>
            </a:r>
          </a:p>
          <a:p>
            <a:r>
              <a:t>policy owner's home?</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202</a:t>
            </a:r>
          </a:p>
        </p:txBody>
      </p:sp>
      <p:sp>
        <p:nvSpPr>
          <p:cNvPr id="3" name="Content Placeholder 2"/>
          <p:cNvSpPr>
            <a:spLocks noGrp="1"/>
          </p:cNvSpPr>
          <p:nvPr>
            <p:ph idx="1"/>
          </p:nvPr>
        </p:nvSpPr>
        <p:spPr/>
        <p:txBody>
          <a:bodyPr/>
          <a:lstStyle/>
          <a:p/>
          <a:p>
            <a:pPr>
              <a:defRPr b="1"/>
            </a:pPr>
            <a:r>
              <a:t>✅ rdinary Life Insurance</a:t>
            </a:r>
          </a:p>
          <a:p>
            <a:br/>
            <a:pPr>
              <a:defRPr sz="1400" i="1"/>
            </a:pPr>
            <a:r>
              <a:t>Explanation: characterized by its low issue amounts</a:t>
            </a:r>
            <a:br/>
            <a:r>
              <a:t>and premiums collected directly at the</a:t>
            </a:r>
            <a:br/>
            <a:r>
              <a:t>policy owner's home?</a:t>
            </a:r>
            <a:br/>
            <a:r>
              <a:t>Ordinary Life Insurance</a:t>
            </a:r>
            <a:br/>
            <a:r>
              <a:t>Proceed =&gt;</a:t>
            </a:r>
            <a:br/>
            <a:r>
              <a:t>I&lt; A &gt;|</a:t>
            </a:r>
            <a:br/>
            <a:r>
              <a:t>&amp; a ..rancelicense.myabsorb.com (</a:t>
            </a:r>
            <a:br/>
            <a:r>
              <a:t>&lt; &gt; + (21)...</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203</a:t>
            </a:r>
          </a:p>
        </p:txBody>
      </p:sp>
      <p:sp>
        <p:nvSpPr>
          <p:cNvPr id="3" name="Content Placeholder 2"/>
          <p:cNvSpPr>
            <a:spLocks noGrp="1"/>
          </p:cNvSpPr>
          <p:nvPr>
            <p:ph idx="1"/>
          </p:nvPr>
        </p:nvSpPr>
        <p:spPr/>
        <p:txBody>
          <a:bodyPr/>
          <a:lstStyle/>
          <a:p>
            <a:r>
              <a:t>A(n) annuity disburses</a:t>
            </a:r>
          </a:p>
          <a:p>
            <a:r>
              <a:t>benefits in units instead of fixed dollar</a:t>
            </a:r>
          </a:p>
          <a:p>
            <a:r>
              <a:t>amounts.</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203</a:t>
            </a:r>
          </a:p>
        </p:txBody>
      </p:sp>
      <p:sp>
        <p:nvSpPr>
          <p:cNvPr id="3" name="Content Placeholder 2"/>
          <p:cNvSpPr>
            <a:spLocks noGrp="1"/>
          </p:cNvSpPr>
          <p:nvPr>
            <p:ph idx="1"/>
          </p:nvPr>
        </p:nvSpPr>
        <p:spPr/>
        <p:txBody>
          <a:bodyPr/>
          <a:lstStyle/>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204</a:t>
            </a:r>
          </a:p>
        </p:txBody>
      </p:sp>
      <p:sp>
        <p:nvSpPr>
          <p:cNvPr id="3" name="Content Placeholder 2"/>
          <p:cNvSpPr>
            <a:spLocks noGrp="1"/>
          </p:cNvSpPr>
          <p:nvPr>
            <p:ph idx="1"/>
          </p:nvPr>
        </p:nvSpPr>
        <p:spPr/>
        <p:txBody>
          <a:bodyPr/>
          <a:lstStyle/>
          <a:p>
            <a:r>
              <a:t>What is the typical consequence for a</a:t>
            </a:r>
          </a:p>
          <a:p>
            <a:r>
              <a:t>life insurance policy if the insured dies</a:t>
            </a:r>
          </a:p>
          <a:p>
            <a:r>
              <a:t>from engaging in a hazardous hobby?</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204</a:t>
            </a:r>
          </a:p>
        </p:txBody>
      </p:sp>
      <p:sp>
        <p:nvSpPr>
          <p:cNvPr id="3" name="Content Placeholder 2"/>
          <p:cNvSpPr>
            <a:spLocks noGrp="1"/>
          </p:cNvSpPr>
          <p:nvPr>
            <p:ph idx="1"/>
          </p:nvPr>
        </p:nvSpPr>
        <p:spPr/>
        <p:txBody>
          <a:bodyPr/>
          <a:lstStyle/>
          <a:p/>
          <a:p>
            <a:pPr>
              <a:defRPr b="1"/>
            </a:pPr>
            <a:r>
              <a:t>✅ e The death benefit may be excluded or a higher premium charged The policy is transferred to a relative The death benefit is doubled</a:t>
            </a:r>
          </a:p>
          <a:p>
            <a:br/>
            <a:pPr>
              <a:defRPr sz="1400" i="1"/>
            </a:pPr>
            <a:r>
              <a:t>Explanation: the typical consequence for a</a:t>
            </a:r>
            <a:br/>
            <a:r>
              <a:t>life insurance policy if the insured dies</a:t>
            </a:r>
            <a:br/>
            <a:r>
              <a:t>from engaging in a hazardous hobby?</a:t>
            </a:r>
            <a:br/>
            <a:r>
              <a:t>g e The death benefit may be excluded or a</a:t>
            </a:r>
            <a:br/>
            <a:r>
              <a:t>higher premium charged</a:t>
            </a:r>
            <a:br/>
            <a:r>
              <a:t>The policy is transferred ...</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205</a:t>
            </a:r>
          </a:p>
        </p:txBody>
      </p:sp>
      <p:sp>
        <p:nvSpPr>
          <p:cNvPr id="3" name="Content Placeholder 2"/>
          <p:cNvSpPr>
            <a:spLocks noGrp="1"/>
          </p:cNvSpPr>
          <p:nvPr>
            <p:ph idx="1"/>
          </p:nvPr>
        </p:nvSpPr>
        <p:spPr/>
        <p:txBody>
          <a:bodyPr/>
          <a:lstStyle/>
          <a:p>
            <a:r>
              <a:t>Which plan provides funds for a</a:t>
            </a:r>
          </a:p>
          <a:p>
            <a:r>
              <a:t>partner to buy out a deceased</a:t>
            </a:r>
          </a:p>
          <a:p>
            <a:r>
              <a:t>partner’s share in a business?</a:t>
            </a:r>
          </a:p>
          <a:p>
            <a:r>
              <a:t>Close Corporation Plan</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205</a:t>
            </a:r>
          </a:p>
        </p:txBody>
      </p:sp>
      <p:sp>
        <p:nvSpPr>
          <p:cNvPr id="3" name="Content Placeholder 2"/>
          <p:cNvSpPr>
            <a:spLocks noGrp="1"/>
          </p:cNvSpPr>
          <p:nvPr>
            <p:ph idx="1"/>
          </p:nvPr>
        </p:nvSpPr>
        <p:spPr/>
        <p:txBody>
          <a:bodyPr/>
          <a:lstStyle/>
          <a:p/>
          <a:p>
            <a:br/>
            <a:pPr>
              <a:defRPr sz="1400" i="1"/>
            </a:pPr>
            <a:r>
              <a:t>Explanation: for a</a:t>
            </a:r>
            <a:br/>
            <a:r>
              <a:t>partner to buy out a deceased</a:t>
            </a:r>
            <a:br/>
            <a:r>
              <a:t>partner’s share in a business?</a:t>
            </a:r>
            <a:br/>
            <a:r>
              <a:t>Close Corporation Plan</a:t>
            </a:r>
            <a:br/>
            <a:r>
              <a:t>Proceed =&gt;</a:t>
            </a:r>
            <a:br/>
            <a:r>
              <a:t>I&lt; A &gt;|</a:t>
            </a:r>
            <a:br/>
            <a:r>
              <a:t>&amp; a ..rancelicense.myabsorb.com (</a:t>
            </a:r>
            <a:br/>
            <a:r>
              <a:t>&lt; &gt; + (21)...</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206</a:t>
            </a:r>
          </a:p>
        </p:txBody>
      </p:sp>
      <p:sp>
        <p:nvSpPr>
          <p:cNvPr id="3" name="Content Placeholder 2"/>
          <p:cNvSpPr>
            <a:spLocks noGrp="1"/>
          </p:cNvSpPr>
          <p:nvPr>
            <p:ph idx="1"/>
          </p:nvPr>
        </p:nvSpPr>
        <p:spPr/>
        <p:txBody>
          <a:bodyPr/>
          <a:lstStyle/>
          <a:p>
            <a:r>
              <a:t>What does the Fair Credit Reporting</a:t>
            </a:r>
          </a:p>
          <a:p>
            <a:r>
              <a:t>Act regulate?</a:t>
            </a:r>
          </a:p>
          <a:p>
            <a:r>
              <a:t>The methods by which companies can</a:t>
            </a:r>
          </a:p>
          <a:p>
            <a:r>
              <a:t>market products over the phone</a:t>
            </a:r>
          </a:p>
          <a:p>
            <a:r>
              <a:t>The way insurance companies report credit</a:t>
            </a:r>
          </a:p>
          <a:p>
            <a:r>
              <a:t>transactions</a:t>
            </a:r>
          </a:p>
          <a:p>
            <a:r>
              <a:t>The accuracy and privacy of consumer</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206</a:t>
            </a:r>
          </a:p>
        </p:txBody>
      </p:sp>
      <p:sp>
        <p:nvSpPr>
          <p:cNvPr id="3" name="Content Placeholder 2"/>
          <p:cNvSpPr>
            <a:spLocks noGrp="1"/>
          </p:cNvSpPr>
          <p:nvPr>
            <p:ph idx="1"/>
          </p:nvPr>
        </p:nvSpPr>
        <p:spPr/>
        <p:txBody>
          <a:bodyPr/>
          <a:lstStyle/>
          <a:p/>
          <a:p>
            <a:r>
              <a:t>☐ nformation in credit reports The handling and disclosure of non-public personal information</a:t>
            </a:r>
          </a:p>
          <a:p>
            <a:br/>
            <a:pPr>
              <a:defRPr sz="1400" i="1"/>
            </a:pPr>
            <a:r>
              <a:t>Explanation: by which companies can</a:t>
            </a:r>
            <a:br/>
            <a:r>
              <a:t>market products over the phone</a:t>
            </a:r>
            <a:br/>
            <a:r>
              <a:t>The way insurance companies report credit</a:t>
            </a:r>
            <a:br/>
            <a:r>
              <a:t>transactions</a:t>
            </a:r>
            <a:br/>
            <a:r>
              <a:t>The accuracy and privacy of consumer</a:t>
            </a:r>
            <a:br/>
            <a:r>
              <a:t>information in credit reports</a:t>
            </a:r>
            <a:br/>
            <a:r>
              <a:t>The handling and disclos...</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207</a:t>
            </a:r>
          </a:p>
        </p:txBody>
      </p:sp>
      <p:sp>
        <p:nvSpPr>
          <p:cNvPr id="3" name="Content Placeholder 2"/>
          <p:cNvSpPr>
            <a:spLocks noGrp="1"/>
          </p:cNvSpPr>
          <p:nvPr>
            <p:ph idx="1"/>
          </p:nvPr>
        </p:nvSpPr>
        <p:spPr/>
        <p:txBody>
          <a:bodyPr/>
          <a:lstStyle/>
          <a:p>
            <a:r>
              <a:t>What is the impact of selecting the</a:t>
            </a:r>
          </a:p>
          <a:p>
            <a:r>
              <a:t>Reduce Premium Dividend Option in a</a:t>
            </a:r>
          </a:p>
          <a:p>
            <a:r>
              <a:t>life insurance policy?</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207</a:t>
            </a:r>
          </a:p>
        </p:txBody>
      </p:sp>
      <p:sp>
        <p:nvSpPr>
          <p:cNvPr id="3" name="Content Placeholder 2"/>
          <p:cNvSpPr>
            <a:spLocks noGrp="1"/>
          </p:cNvSpPr>
          <p:nvPr>
            <p:ph idx="1"/>
          </p:nvPr>
        </p:nvSpPr>
        <p:spPr/>
        <p:txBody>
          <a:bodyPr/>
          <a:lstStyle/>
          <a:p/>
          <a:p>
            <a:pPr>
              <a:defRPr b="1"/>
            </a:pPr>
            <a:r>
              <a:t>✅ e ltuses dividends to pay all or part of the following premium due It converts the policy into a paid-up policy It extends the policy's maturity date</a:t>
            </a:r>
          </a:p>
          <a:p>
            <a:br/>
            <a:pPr>
              <a:defRPr sz="1400" i="1"/>
            </a:pPr>
            <a:r>
              <a:t>Explanation: the impact of selecting the</a:t>
            </a:r>
            <a:br/>
            <a:r>
              <a:t>Reduce Premium Dividend Option in a</a:t>
            </a:r>
            <a:br/>
            <a:r>
              <a:t>life insurance policy?</a:t>
            </a:r>
            <a:br/>
            <a:r>
              <a:t>g e ltuses dividends to pay all or part of the</a:t>
            </a:r>
            <a:br/>
            <a:r>
              <a:t>following premium due</a:t>
            </a:r>
            <a:br/>
            <a:r>
              <a:t>It converts the policy into a paid-up policy...</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208</a:t>
            </a:r>
          </a:p>
        </p:txBody>
      </p:sp>
      <p:sp>
        <p:nvSpPr>
          <p:cNvPr id="3" name="Content Placeholder 2"/>
          <p:cNvSpPr>
            <a:spLocks noGrp="1"/>
          </p:cNvSpPr>
          <p:nvPr>
            <p:ph idx="1"/>
          </p:nvPr>
        </p:nvSpPr>
        <p:spPr/>
        <p:txBody>
          <a:bodyPr/>
          <a:lstStyle/>
          <a:p>
            <a:r>
              <a:t>What type of term life insurance is</a:t>
            </a:r>
          </a:p>
          <a:p>
            <a:r>
              <a:t>typically used for mortgage protection?</a:t>
            </a:r>
          </a:p>
          <a:p>
            <a:r>
              <a:t>Level Term</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208</a:t>
            </a:r>
          </a:p>
        </p:txBody>
      </p:sp>
      <p:sp>
        <p:nvSpPr>
          <p:cNvPr id="3" name="Content Placeholder 2"/>
          <p:cNvSpPr>
            <a:spLocks noGrp="1"/>
          </p:cNvSpPr>
          <p:nvPr>
            <p:ph idx="1"/>
          </p:nvPr>
        </p:nvSpPr>
        <p:spPr/>
        <p:txBody>
          <a:bodyPr/>
          <a:lstStyle/>
          <a:p/>
          <a:p>
            <a:br/>
            <a:pPr>
              <a:defRPr sz="1400" i="1"/>
            </a:pPr>
            <a:r>
              <a:t>Explanation: typically used for mortgage protection?</a:t>
            </a:r>
            <a:br/>
            <a:r>
              <a:t>Level Term</a:t>
            </a:r>
            <a:br/>
            <a:r>
              <a:t>Proceed =&gt;</a:t>
            </a:r>
            <a:br/>
            <a:r>
              <a:t>I&lt; A &gt;|</a:t>
            </a:r>
            <a:br/>
            <a:r>
              <a:t>&amp; a ..rancelicense.myabsorb.com (</a:t>
            </a:r>
            <a:br/>
            <a:r>
              <a:t>&lt; &gt; + (21)...</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209</a:t>
            </a:r>
          </a:p>
        </p:txBody>
      </p:sp>
      <p:sp>
        <p:nvSpPr>
          <p:cNvPr id="3" name="Content Placeholder 2"/>
          <p:cNvSpPr>
            <a:spLocks noGrp="1"/>
          </p:cNvSpPr>
          <p:nvPr>
            <p:ph idx="1"/>
          </p:nvPr>
        </p:nvSpPr>
        <p:spPr/>
        <p:txBody>
          <a:bodyPr/>
          <a:lstStyle/>
          <a:p>
            <a:r>
              <a:t>What constitutes an offer in an</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209</a:t>
            </a:r>
          </a:p>
        </p:txBody>
      </p:sp>
      <p:sp>
        <p:nvSpPr>
          <p:cNvPr id="3" name="Content Placeholder 2"/>
          <p:cNvSpPr>
            <a:spLocks noGrp="1"/>
          </p:cNvSpPr>
          <p:nvPr>
            <p:ph idx="1"/>
          </p:nvPr>
        </p:nvSpPr>
        <p:spPr/>
        <p:txBody>
          <a:bodyPr/>
          <a:lstStyle/>
          <a:p/>
          <a:p>
            <a:r>
              <a:t>☐ nsurance contract scenario? The insurance company approving the application The insurance company providing a quote The applicant sending an application with the initial Premium The e applicant agreeing to the terms verbally</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210</a:t>
            </a:r>
          </a:p>
        </p:txBody>
      </p:sp>
      <p:sp>
        <p:nvSpPr>
          <p:cNvPr id="3" name="Content Placeholder 2"/>
          <p:cNvSpPr>
            <a:spLocks noGrp="1"/>
          </p:cNvSpPr>
          <p:nvPr>
            <p:ph idx="1"/>
          </p:nvPr>
        </p:nvSpPr>
        <p:spPr/>
        <p:txBody>
          <a:bodyPr/>
          <a:lstStyle/>
          <a:p>
            <a:r>
              <a:t>Linda, a policyowner, wants to change her life</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210</a:t>
            </a:r>
          </a:p>
        </p:txBody>
      </p:sp>
      <p:sp>
        <p:nvSpPr>
          <p:cNvPr id="3" name="Content Placeholder 2"/>
          <p:cNvSpPr>
            <a:spLocks noGrp="1"/>
          </p:cNvSpPr>
          <p:nvPr>
            <p:ph idx="1"/>
          </p:nvPr>
        </p:nvSpPr>
        <p:spPr/>
        <p:txBody>
          <a:bodyPr/>
          <a:lstStyle/>
          <a:p/>
          <a:p>
            <a:r>
              <a:t>☐ nsurance beneficiary from her ex-spouse to her child. Her ex-spouse is currently the irrevocable beneficiary. What must Linda do? o e Obtain written consent from the ex-spouse to make the echange Change the beneficiary without consent</a:t>
            </a:r>
          </a:p>
          <a:p>
            <a:br/>
            <a:pPr>
              <a:defRPr sz="1400" i="1"/>
            </a:pPr>
            <a:r>
              <a:t>Explanation: currently the irrevocable</a:t>
            </a:r>
            <a:br/>
            <a:r>
              <a:t>beneficiary. What must Linda do?</a:t>
            </a:r>
            <a:br/>
            <a:r>
              <a:t>o e Obtain written consent from the ex-spouse</a:t>
            </a:r>
            <a:br/>
            <a:r>
              <a:t>to make the echange</a:t>
            </a:r>
            <a:br/>
            <a:r>
              <a:t>Change the beneficiary without consent</a:t>
            </a:r>
            <a:br/>
            <a:r>
              <a:t>Proceed =</a:t>
            </a:r>
            <a:br/>
            <a:r>
              <a:t>I&lt; A &gt;|</a:t>
            </a:r>
            <a:br/>
            <a:r>
              <a:t>&amp; a ..rancelicense...</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211</a:t>
            </a:r>
          </a:p>
        </p:txBody>
      </p:sp>
      <p:sp>
        <p:nvSpPr>
          <p:cNvPr id="3" name="Content Placeholder 2"/>
          <p:cNvSpPr>
            <a:spLocks noGrp="1"/>
          </p:cNvSpPr>
          <p:nvPr>
            <p:ph idx="1"/>
          </p:nvPr>
        </p:nvSpPr>
        <p:spPr/>
        <p:txBody>
          <a:bodyPr/>
          <a:lstStyle/>
          <a:p>
            <a:r>
              <a:t>Which action constitutes the</a:t>
            </a:r>
          </a:p>
          <a:p>
            <a:r>
              <a:t>"transaction" of insurance business in</a:t>
            </a:r>
          </a:p>
          <a:p>
            <a:r>
              <a:t>Arizona?</a:t>
            </a:r>
          </a:p>
          <a:p>
            <a:r>
              <a:t>@  Selling, soliciting, and negotiating insurance</a:t>
            </a:r>
          </a:p>
          <a:p>
            <a:r>
              <a:t>Handling administrative tasks for an</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211</a:t>
            </a:r>
          </a:p>
        </p:txBody>
      </p:sp>
      <p:sp>
        <p:nvSpPr>
          <p:cNvPr id="3" name="Content Placeholder 2"/>
          <p:cNvSpPr>
            <a:spLocks noGrp="1"/>
          </p:cNvSpPr>
          <p:nvPr>
            <p:ph idx="1"/>
          </p:nvPr>
        </p:nvSpPr>
        <p:spPr/>
        <p:txBody>
          <a:bodyPr/>
          <a:lstStyle/>
          <a:p/>
          <a:p>
            <a:r>
              <a:t>☐ nsurance company Providing financial advice on insurance</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212</a:t>
            </a:r>
          </a:p>
        </p:txBody>
      </p:sp>
      <p:sp>
        <p:nvSpPr>
          <p:cNvPr id="3" name="Content Placeholder 2"/>
          <p:cNvSpPr>
            <a:spLocks noGrp="1"/>
          </p:cNvSpPr>
          <p:nvPr>
            <p:ph idx="1"/>
          </p:nvPr>
        </p:nvSpPr>
        <p:spPr/>
        <p:txBody>
          <a:bodyPr/>
          <a:lstStyle/>
          <a:p>
            <a:r>
              <a:t>What is required for a person or entity</a:t>
            </a:r>
          </a:p>
          <a:p>
            <a:r>
              <a:t>to transact insurance business in</a:t>
            </a:r>
          </a:p>
          <a:p>
            <a:r>
              <a:t>Arizona?</a:t>
            </a:r>
          </a:p>
          <a:p>
            <a:r>
              <a:t>Membership in a state insurance</a:t>
            </a:r>
          </a:p>
          <a:p>
            <a:r>
              <a:t>association</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212</a:t>
            </a:r>
          </a:p>
        </p:txBody>
      </p:sp>
      <p:sp>
        <p:nvSpPr>
          <p:cNvPr id="3" name="Content Placeholder 2"/>
          <p:cNvSpPr>
            <a:spLocks noGrp="1"/>
          </p:cNvSpPr>
          <p:nvPr>
            <p:ph idx="1"/>
          </p:nvPr>
        </p:nvSpPr>
        <p:spPr/>
        <p:txBody>
          <a:bodyPr/>
          <a:lstStyle/>
          <a:p/>
          <a:p>
            <a:br/>
            <a:pPr>
              <a:defRPr sz="1400" i="1"/>
            </a:pPr>
            <a:r>
              <a:t>Explanation: required for a person or entity</a:t>
            </a:r>
            <a:br/>
            <a:r>
              <a:t>to transact insurance business in</a:t>
            </a:r>
            <a:br/>
            <a:r>
              <a:t>Arizona?</a:t>
            </a:r>
            <a:br/>
            <a:r>
              <a:t>Membership in a state insurance</a:t>
            </a:r>
            <a:br/>
            <a:r>
              <a:t>association</a:t>
            </a:r>
            <a:br/>
            <a:r>
              <a:t>Proceed —_</a:t>
            </a:r>
            <a:br/>
            <a:r>
              <a:t>I&lt; A &gt;|</a:t>
            </a:r>
            <a:br/>
            <a:r>
              <a:t>&amp; a ..rancelicense.myabsorb.com (</a:t>
            </a:r>
            <a:br/>
            <a:r>
              <a:t>&lt; &gt; + (21)...</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213</a:t>
            </a:r>
          </a:p>
        </p:txBody>
      </p:sp>
      <p:sp>
        <p:nvSpPr>
          <p:cNvPr id="3" name="Content Placeholder 2"/>
          <p:cNvSpPr>
            <a:spLocks noGrp="1"/>
          </p:cNvSpPr>
          <p:nvPr>
            <p:ph idx="1"/>
          </p:nvPr>
        </p:nvSpPr>
        <p:spPr/>
        <p:txBody>
          <a:bodyPr/>
          <a:lstStyle/>
          <a:p>
            <a:r>
              <a:t>Which of the following describes</a:t>
            </a:r>
          </a:p>
          <a:p>
            <a:r>
              <a:t>‘consideration' in an insurance</a:t>
            </a:r>
          </a:p>
          <a:p>
            <a:r>
              <a:t>contract?</a:t>
            </a:r>
          </a:p>
          <a:p>
            <a:r>
              <a:t>The final approval of the insurance</a:t>
            </a:r>
          </a:p>
          <a:p>
            <a:r>
              <a:t>application</a:t>
            </a:r>
          </a:p>
          <a:p>
            <a:r>
              <a:t>The legal advice received when entering the</a:t>
            </a:r>
          </a:p>
          <a:p>
            <a:r>
              <a:t>contract</a:t>
            </a:r>
          </a:p>
          <a:p>
            <a:r>
              <a:t>The exchange of value in the form of</a:t>
            </a:r>
          </a:p>
          <a:p>
            <a:r>
              <a:t>premikim bayiuelts'e and NceNetads Promise:</a:t>
            </a:r>
          </a:p>
          <a:p>
            <a:r>
              <a:t>The negotiation process between the</a:t>
            </a:r>
          </a:p>
          <a:p>
            <a:r>
              <a:t>applicant and the insurance company</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213</a:t>
            </a:r>
          </a:p>
        </p:txBody>
      </p:sp>
      <p:sp>
        <p:nvSpPr>
          <p:cNvPr id="3" name="Content Placeholder 2"/>
          <p:cNvSpPr>
            <a:spLocks noGrp="1"/>
          </p:cNvSpPr>
          <p:nvPr>
            <p:ph idx="1"/>
          </p:nvPr>
        </p:nvSpPr>
        <p:spPr/>
        <p:txBody>
          <a:bodyPr/>
          <a:lstStyle/>
          <a:p/>
          <a:p>
            <a:br/>
            <a:pPr>
              <a:defRPr sz="1400" i="1"/>
            </a:pPr>
            <a:r>
              <a:t>Explanation: Promise:</a:t>
            </a:r>
            <a:br/>
            <a:r>
              <a:t>The negotiation process between the</a:t>
            </a:r>
            <a:br/>
            <a:r>
              <a:t>applicant and the insurance company</a:t>
            </a:r>
            <a:br/>
            <a:r>
              <a:t>Proceed =&gt;</a:t>
            </a:r>
            <a:br/>
            <a:r>
              <a:t>I&lt; A &gt;|</a:t>
            </a:r>
            <a:br/>
            <a:r>
              <a:t>&amp; a ..rancelicense.myabsorb.com (</a:t>
            </a:r>
            <a:br/>
            <a:r>
              <a:t>&lt; &gt; + (21)...</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214</a:t>
            </a:r>
          </a:p>
        </p:txBody>
      </p:sp>
      <p:sp>
        <p:nvSpPr>
          <p:cNvPr id="3" name="Content Placeholder 2"/>
          <p:cNvSpPr>
            <a:spLocks noGrp="1"/>
          </p:cNvSpPr>
          <p:nvPr>
            <p:ph idx="1"/>
          </p:nvPr>
        </p:nvSpPr>
        <p:spPr/>
        <p:txBody>
          <a:bodyPr/>
          <a:lstStyle/>
          <a:p>
            <a:r>
              <a:t>What is a noncontributory employee</a:t>
            </a:r>
          </a:p>
          <a:p>
            <a:r>
              <a:t>benefit plan?</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214</a:t>
            </a:r>
          </a:p>
        </p:txBody>
      </p:sp>
      <p:sp>
        <p:nvSpPr>
          <p:cNvPr id="3" name="Content Placeholder 2"/>
          <p:cNvSpPr>
            <a:spLocks noGrp="1"/>
          </p:cNvSpPr>
          <p:nvPr>
            <p:ph idx="1"/>
          </p:nvPr>
        </p:nvSpPr>
        <p:spPr/>
        <p:txBody>
          <a:bodyPr/>
          <a:lstStyle/>
          <a:p/>
          <a:p>
            <a:pPr>
              <a:defRPr b="1"/>
            </a:pPr>
            <a:r>
              <a:t>✅ e The employer bears the full cost of the benefits. Employees contribute to the full cost of their benefits. Both employer and employees share the cost. Employees pay for benefits through salary reduction.</a:t>
            </a:r>
          </a:p>
          <a:p>
            <a:br/>
            <a:pPr>
              <a:defRPr sz="1400" i="1"/>
            </a:pPr>
            <a:r>
              <a:t>Explanation: a noncontributory employee</a:t>
            </a:r>
            <a:br/>
            <a:r>
              <a:t>benefit plan?</a:t>
            </a:r>
            <a:br/>
            <a:r>
              <a:t>g e The employer bears the full cost of the</a:t>
            </a:r>
            <a:br/>
            <a:r>
              <a:t>benefits.</a:t>
            </a:r>
            <a:br/>
            <a:r>
              <a:t>Employees contribute to the full cost of their</a:t>
            </a:r>
            <a:br/>
            <a:r>
              <a:t>benefits.</a:t>
            </a:r>
            <a:br/>
            <a:r>
              <a:t>Both employer and employees share the</a:t>
            </a:r>
            <a:br/>
            <a:r>
              <a:t>cost.</a:t>
            </a:r>
            <a:br/>
            <a:r>
              <a:t>Empl...</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215</a:t>
            </a:r>
          </a:p>
        </p:txBody>
      </p:sp>
      <p:sp>
        <p:nvSpPr>
          <p:cNvPr id="3" name="Content Placeholder 2"/>
          <p:cNvSpPr>
            <a:spLocks noGrp="1"/>
          </p:cNvSpPr>
          <p:nvPr>
            <p:ph idx="1"/>
          </p:nvPr>
        </p:nvSpPr>
        <p:spPr/>
        <p:txBody>
          <a:bodyPr/>
          <a:lstStyle/>
          <a:p>
            <a:r>
              <a:t>What is the purpose of Key Person</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215</a:t>
            </a:r>
          </a:p>
        </p:txBody>
      </p:sp>
      <p:sp>
        <p:nvSpPr>
          <p:cNvPr id="3" name="Content Placeholder 2"/>
          <p:cNvSpPr>
            <a:spLocks noGrp="1"/>
          </p:cNvSpPr>
          <p:nvPr>
            <p:ph idx="1"/>
          </p:nvPr>
        </p:nvSpPr>
        <p:spPr/>
        <p:txBody>
          <a:bodyPr/>
          <a:lstStyle/>
          <a:p/>
          <a:p>
            <a:r>
              <a:t>☐ ndispensable member of the team. &amp; To provide a retirement fund for the key person. r 9¢ To cover the cost of health benefits for all employees. To fund the education of the key person's children.</a:t>
            </a:r>
          </a:p>
          <a:p>
            <a:br/>
            <a:pPr>
              <a:defRPr sz="1400" i="1"/>
            </a:pPr>
            <a:r>
              <a:t>Explanation: the purpose of Key Person</a:t>
            </a:r>
            <a:br/>
            <a:r>
              <a:t>Insurance in a business setting?</a:t>
            </a:r>
            <a:br/>
            <a:r>
              <a:t>@  Tomitigate the impact of losing an</a:t>
            </a:r>
            <a:br/>
            <a:r>
              <a:t>indispensable member of the team.</a:t>
            </a:r>
            <a:br/>
            <a:r>
              <a:t>&amp; To provide a retirement fund for the key</a:t>
            </a:r>
            <a:br/>
            <a:r>
              <a:t>person.</a:t>
            </a:r>
            <a:br/>
            <a:r>
              <a:t>r 9¢ To cover the ...</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216</a:t>
            </a:r>
          </a:p>
        </p:txBody>
      </p:sp>
      <p:sp>
        <p:nvSpPr>
          <p:cNvPr id="3" name="Content Placeholder 2"/>
          <p:cNvSpPr>
            <a:spLocks noGrp="1"/>
          </p:cNvSpPr>
          <p:nvPr>
            <p:ph idx="1"/>
          </p:nvPr>
        </p:nvSpPr>
        <p:spPr/>
        <p:txBody>
          <a:bodyPr/>
          <a:lstStyle/>
          <a:p>
            <a:r>
              <a:t>What does the act of "negotiating"</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216</a:t>
            </a:r>
          </a:p>
        </p:txBody>
      </p:sp>
      <p:sp>
        <p:nvSpPr>
          <p:cNvPr id="3" name="Content Placeholder 2"/>
          <p:cNvSpPr>
            <a:spLocks noGrp="1"/>
          </p:cNvSpPr>
          <p:nvPr>
            <p:ph idx="1"/>
          </p:nvPr>
        </p:nvSpPr>
        <p:spPr/>
        <p:txBody>
          <a:bodyPr/>
          <a:lstStyle/>
          <a:p/>
          <a:p>
            <a:r>
              <a:t>☐ nsurance involve according to Arizona state regulations? Soliciting insurance through advertisements Handling claims and settlements Engaging in direct discussions about the benefits, terms, or conditions of the</a:t>
            </a:r>
          </a:p>
          <a:p>
            <a:r>
              <a:t>☐ nsurance contract Exchanging an insurance contract for money</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217</a:t>
            </a:r>
          </a:p>
        </p:txBody>
      </p:sp>
      <p:sp>
        <p:nvSpPr>
          <p:cNvPr id="3" name="Content Placeholder 2"/>
          <p:cNvSpPr>
            <a:spLocks noGrp="1"/>
          </p:cNvSpPr>
          <p:nvPr>
            <p:ph idx="1"/>
          </p:nvPr>
        </p:nvSpPr>
        <p:spPr/>
        <p:txBody>
          <a:bodyPr/>
          <a:lstStyle/>
          <a:p>
            <a:r>
              <a:t>Which rider offers coverage for a child</a:t>
            </a:r>
          </a:p>
          <a:p>
            <a:r>
              <a:t>under the parent's life insurance</a:t>
            </a:r>
          </a:p>
          <a:p>
            <a:r>
              <a:t>policy?</a:t>
            </a:r>
          </a:p>
          <a:p>
            <a:r>
              <a:t>Spouse term rider</a:t>
            </a:r>
          </a:p>
          <a:p>
            <a:r>
              <a:t>Extended Term Rider</a:t>
            </a:r>
          </a:p>
          <a:p>
            <a:r>
              <a:t>Accelerated Benefit Rider</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217</a:t>
            </a:r>
          </a:p>
        </p:txBody>
      </p:sp>
      <p:sp>
        <p:nvSpPr>
          <p:cNvPr id="3" name="Content Placeholder 2"/>
          <p:cNvSpPr>
            <a:spLocks noGrp="1"/>
          </p:cNvSpPr>
          <p:nvPr>
            <p:ph idx="1"/>
          </p:nvPr>
        </p:nvSpPr>
        <p:spPr/>
        <p:txBody>
          <a:bodyPr/>
          <a:lstStyle/>
          <a:p/>
          <a:p>
            <a:pPr>
              <a:defRPr b="1"/>
            </a:pPr>
            <a:r>
              <a:t>✅ e Child term rider</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218</a:t>
            </a:r>
          </a:p>
        </p:txBody>
      </p:sp>
      <p:sp>
        <p:nvSpPr>
          <p:cNvPr id="3" name="Content Placeholder 2"/>
          <p:cNvSpPr>
            <a:spLocks noGrp="1"/>
          </p:cNvSpPr>
          <p:nvPr>
            <p:ph idx="1"/>
          </p:nvPr>
        </p:nvSpPr>
        <p:spPr/>
        <p:txBody>
          <a:bodyPr/>
          <a:lstStyle/>
          <a:p>
            <a:r>
              <a:t>What role does a Salary Continuation</a:t>
            </a:r>
          </a:p>
          <a:p>
            <a:r>
              <a:t>Plan play in employee benefits?</a:t>
            </a:r>
          </a:p>
          <a:p>
            <a:r>
              <a:t>Provides ongoing financial support under</a:t>
            </a:r>
          </a:p>
          <a:p>
            <a:r>
              <a:t>specific circumstances such as retirement or</a:t>
            </a:r>
          </a:p>
          <a:p>
            <a:r>
              <a:t>disability.</a:t>
            </a:r>
          </a:p>
          <a:p>
            <a:r>
              <a:t>Covers educational expenses for</a:t>
            </a:r>
          </a:p>
          <a:p>
            <a:r>
              <a:t>employees’ children.</a:t>
            </a:r>
          </a:p>
          <a:p>
            <a:r>
              <a:t>Acts as an additional health insurance fund.</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218</a:t>
            </a:r>
          </a:p>
        </p:txBody>
      </p:sp>
      <p:sp>
        <p:nvSpPr>
          <p:cNvPr id="3" name="Content Placeholder 2"/>
          <p:cNvSpPr>
            <a:spLocks noGrp="1"/>
          </p:cNvSpPr>
          <p:nvPr>
            <p:ph idx="1"/>
          </p:nvPr>
        </p:nvSpPr>
        <p:spPr/>
        <p:txBody>
          <a:bodyPr/>
          <a:lstStyle/>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219</a:t>
            </a:r>
          </a:p>
        </p:txBody>
      </p:sp>
      <p:sp>
        <p:nvSpPr>
          <p:cNvPr id="3" name="Content Placeholder 2"/>
          <p:cNvSpPr>
            <a:spLocks noGrp="1"/>
          </p:cNvSpPr>
          <p:nvPr>
            <p:ph idx="1"/>
          </p:nvPr>
        </p:nvSpPr>
        <p:spPr/>
        <p:txBody>
          <a:bodyPr/>
          <a:lstStyle/>
          <a:p>
            <a:r>
              <a:t>Which option describes the Fixed</a:t>
            </a:r>
          </a:p>
          <a:p>
            <a:r>
              <a:t>Amount Installment Option for life</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219</a:t>
            </a:r>
          </a:p>
        </p:txBody>
      </p:sp>
      <p:sp>
        <p:nvSpPr>
          <p:cNvPr id="3" name="Content Placeholder 2"/>
          <p:cNvSpPr>
            <a:spLocks noGrp="1"/>
          </p:cNvSpPr>
          <p:nvPr>
            <p:ph idx="1"/>
          </p:nvPr>
        </p:nvSpPr>
        <p:spPr/>
        <p:txBody>
          <a:bodyPr/>
          <a:lstStyle/>
          <a:p/>
          <a:p>
            <a:r>
              <a:t>☐ nsurance settlement? Beneficiary receives payments based on their age Premiums are fixed throughout the policy term Set amounts are paid until the principal and</a:t>
            </a:r>
          </a:p>
          <a:p>
            <a:r>
              <a:t>☐ nterest are depleted</a:t>
            </a:r>
          </a:p>
          <a:p>
            <a:r>
              <a:t>☐ Death benefit is paid out as a lump sum</a:t>
            </a:r>
          </a:p>
          <a:p>
            <a:br/>
            <a:pPr>
              <a:defRPr sz="1400" i="1"/>
            </a:pPr>
            <a:r>
              <a:t>Explanation: paid out as a lump sum</a:t>
            </a:r>
            <a:br/>
            <a:r>
              <a:t>Proceed =</a:t>
            </a:r>
            <a:br/>
            <a:r>
              <a:t>I&lt; A &gt;|</a:t>
            </a:r>
            <a:br/>
            <a:r>
              <a:t>&amp; a ..rancelicense.myabsorb.com (</a:t>
            </a:r>
            <a:br/>
            <a:r>
              <a:t>&lt; &gt; + (21)...</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220</a:t>
            </a:r>
          </a:p>
        </p:txBody>
      </p:sp>
      <p:sp>
        <p:nvSpPr>
          <p:cNvPr id="3" name="Content Placeholder 2"/>
          <p:cNvSpPr>
            <a:spLocks noGrp="1"/>
          </p:cNvSpPr>
          <p:nvPr>
            <p:ph idx="1"/>
          </p:nvPr>
        </p:nvSpPr>
        <p:spPr/>
        <p:txBody>
          <a:bodyPr/>
          <a:lstStyle/>
          <a:p>
            <a:r>
              <a:t>What is required for a contract to be</a:t>
            </a:r>
          </a:p>
          <a:p>
            <a:r>
              <a:t>considered legally enforceable?</a:t>
            </a:r>
          </a:p>
          <a:p>
            <a:r>
              <a:t>@  Specific essential elements like offer,</a:t>
            </a:r>
          </a:p>
          <a:p>
            <a:r>
              <a:t>acceptance, and consideration</a:t>
            </a:r>
          </a:p>
          <a:p>
            <a:r>
              <a:t>An agreement beneficial to all parties</a:t>
            </a:r>
          </a:p>
          <a:p>
            <a:r>
              <a:t>Payment of a fee to a legal authority</a:t>
            </a:r>
          </a:p>
          <a:p>
            <a:r>
              <a:t>Approval by a government official</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220</a:t>
            </a:r>
          </a:p>
        </p:txBody>
      </p:sp>
      <p:sp>
        <p:nvSpPr>
          <p:cNvPr id="3" name="Content Placeholder 2"/>
          <p:cNvSpPr>
            <a:spLocks noGrp="1"/>
          </p:cNvSpPr>
          <p:nvPr>
            <p:ph idx="1"/>
          </p:nvPr>
        </p:nvSpPr>
        <p:spPr/>
        <p:txBody>
          <a:bodyPr/>
          <a:lstStyle/>
          <a:p/>
          <a:p>
            <a:br/>
            <a:pPr>
              <a:defRPr sz="1400" i="1"/>
            </a:pPr>
            <a:r>
              <a:t>Explanation: required for a contract to be</a:t>
            </a:r>
            <a:br/>
            <a:r>
              <a:t>considered legally enforceable?</a:t>
            </a:r>
            <a:br/>
            <a:r>
              <a:t>@  Specific essential elements like offer,</a:t>
            </a:r>
            <a:br/>
            <a:r>
              <a:t>acceptance, and consideration</a:t>
            </a:r>
            <a:br/>
            <a:r>
              <a:t>An agreement beneficial to all parties</a:t>
            </a:r>
            <a:br/>
            <a:r>
              <a:t>Payment of a fee to a lega...</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221</a:t>
            </a:r>
          </a:p>
        </p:txBody>
      </p:sp>
      <p:sp>
        <p:nvSpPr>
          <p:cNvPr id="3" name="Content Placeholder 2"/>
          <p:cNvSpPr>
            <a:spLocks noGrp="1"/>
          </p:cNvSpPr>
          <p:nvPr>
            <p:ph idx="1"/>
          </p:nvPr>
        </p:nvSpPr>
        <p:spPr/>
        <p:txBody>
          <a:bodyPr/>
          <a:lstStyle/>
          <a:p>
            <a:r>
              <a:t>What is the purpose of the 'Free Look'</a:t>
            </a:r>
          </a:p>
          <a:p>
            <a:r>
              <a:t>period in insurance policies?</a:t>
            </a:r>
          </a:p>
          <a:p>
            <a:r>
              <a:t>Modify the beneficiaries.</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221</a:t>
            </a:r>
          </a:p>
        </p:txBody>
      </p:sp>
      <p:sp>
        <p:nvSpPr>
          <p:cNvPr id="3" name="Content Placeholder 2"/>
          <p:cNvSpPr>
            <a:spLocks noGrp="1"/>
          </p:cNvSpPr>
          <p:nvPr>
            <p:ph idx="1"/>
          </p:nvPr>
        </p:nvSpPr>
        <p:spPr/>
        <p:txBody>
          <a:bodyPr/>
          <a:lstStyle/>
          <a:p/>
          <a:p>
            <a:br/>
            <a:pPr>
              <a:defRPr sz="1400" i="1"/>
            </a:pPr>
            <a:r>
              <a:t>Explanation: the purpose of the 'Free Look'</a:t>
            </a:r>
            <a:br/>
            <a:r>
              <a:t>period in insurance policies?</a:t>
            </a:r>
            <a:br/>
            <a:r>
              <a:t>Modify the beneficiaries.</a:t>
            </a:r>
            <a:br/>
            <a:r>
              <a:t>Proceed —_»&gt;</a:t>
            </a:r>
            <a:br/>
            <a:r>
              <a:t>I&lt; A &gt;|</a:t>
            </a:r>
            <a:br/>
            <a:r>
              <a:t>&amp; a ..rancelicense.myabsorb.com (</a:t>
            </a:r>
            <a:br/>
            <a:r>
              <a:t>&lt; &gt; + (21)...</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222</a:t>
            </a:r>
          </a:p>
        </p:txBody>
      </p:sp>
      <p:sp>
        <p:nvSpPr>
          <p:cNvPr id="3" name="Content Placeholder 2"/>
          <p:cNvSpPr>
            <a:spLocks noGrp="1"/>
          </p:cNvSpPr>
          <p:nvPr>
            <p:ph idx="1"/>
          </p:nvPr>
        </p:nvSpPr>
        <p:spPr/>
        <p:txBody>
          <a:bodyPr/>
          <a:lstStyle/>
          <a:p>
            <a:r>
              <a:t>Which of the following is a</a:t>
            </a:r>
          </a:p>
          <a:p>
            <a:r>
              <a:t>characteristic of whole life insurance?</a:t>
            </a:r>
          </a:p>
          <a:p>
            <a:r>
              <a:t>Flexible Premiums</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222</a:t>
            </a:r>
          </a:p>
        </p:txBody>
      </p:sp>
      <p:sp>
        <p:nvSpPr>
          <p:cNvPr id="3" name="Content Placeholder 2"/>
          <p:cNvSpPr>
            <a:spLocks noGrp="1"/>
          </p:cNvSpPr>
          <p:nvPr>
            <p:ph idx="1"/>
          </p:nvPr>
        </p:nvSpPr>
        <p:spPr/>
        <p:txBody>
          <a:bodyPr/>
          <a:lstStyle/>
          <a:p/>
          <a:p>
            <a:br/>
            <a:pPr>
              <a:defRPr sz="1400" i="1"/>
            </a:pPr>
            <a:r>
              <a:t>Explanation: a</a:t>
            </a:r>
            <a:br/>
            <a:r>
              <a:t>characteristic of whole life insurance?</a:t>
            </a:r>
            <a:br/>
            <a:r>
              <a:t>Flexible Premiums</a:t>
            </a:r>
            <a:br/>
            <a:r>
              <a:t>Proceed —_»&gt;</a:t>
            </a:r>
            <a:br/>
            <a:r>
              <a:t>I&lt; A &gt;|</a:t>
            </a:r>
            <a:br/>
            <a:r>
              <a:t>&amp; a ..rancelicense.myabsorb.com (</a:t>
            </a:r>
            <a:br/>
            <a:r>
              <a:t>&lt; &gt; + (21)...</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223</a:t>
            </a:r>
          </a:p>
        </p:txBody>
      </p:sp>
      <p:sp>
        <p:nvSpPr>
          <p:cNvPr id="3" name="Content Placeholder 2"/>
          <p:cNvSpPr>
            <a:spLocks noGrp="1"/>
          </p:cNvSpPr>
          <p:nvPr>
            <p:ph idx="1"/>
          </p:nvPr>
        </p:nvSpPr>
        <p:spPr/>
        <p:txBody>
          <a:bodyPr/>
          <a:lstStyle/>
          <a:p>
            <a:r>
              <a:t>How does the Needs Approach differ</a:t>
            </a:r>
          </a:p>
          <a:p>
            <a:r>
              <a:t>from the Human Life Value Approach?</a:t>
            </a:r>
          </a:p>
          <a:p>
            <a:r>
              <a:t>@  Itcalculates based on specific financial</a:t>
            </a:r>
          </a:p>
          <a:p>
            <a:r>
              <a:t>needs and goals.</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223</a:t>
            </a:r>
          </a:p>
        </p:txBody>
      </p:sp>
      <p:sp>
        <p:nvSpPr>
          <p:cNvPr id="3" name="Content Placeholder 2"/>
          <p:cNvSpPr>
            <a:spLocks noGrp="1"/>
          </p:cNvSpPr>
          <p:nvPr>
            <p:ph idx="1"/>
          </p:nvPr>
        </p:nvSpPr>
        <p:spPr/>
        <p:txBody>
          <a:bodyPr/>
          <a:lstStyle/>
          <a:p/>
          <a:p>
            <a:br/>
            <a:pPr>
              <a:defRPr sz="1400" i="1"/>
            </a:pPr>
            <a:r>
              <a:t>Explanation: Approach differ</a:t>
            </a:r>
            <a:br/>
            <a:r>
              <a:t>from the Human Life Value Approach?</a:t>
            </a:r>
            <a:br/>
            <a:r>
              <a:t>@  Itcalculates based on specific financial</a:t>
            </a:r>
            <a:br/>
            <a:r>
              <a:t>needs and goals.</a:t>
            </a:r>
            <a:br/>
            <a:r>
              <a:t>It only covers medical expenses.</a:t>
            </a:r>
            <a:br/>
            <a:r>
              <a:t>It bases insurance needs solely on the</a:t>
            </a:r>
            <a:br/>
            <a:r>
              <a:t>policyholder’s ...</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224</a:t>
            </a:r>
          </a:p>
        </p:txBody>
      </p:sp>
      <p:sp>
        <p:nvSpPr>
          <p:cNvPr id="3" name="Content Placeholder 2"/>
          <p:cNvSpPr>
            <a:spLocks noGrp="1"/>
          </p:cNvSpPr>
          <p:nvPr>
            <p:ph idx="1"/>
          </p:nvPr>
        </p:nvSpPr>
        <p:spPr/>
        <p:txBody>
          <a:bodyPr/>
          <a:lstStyle/>
          <a:p>
            <a:r>
              <a:t>After securing a large loan, Sarah</a:t>
            </a:r>
          </a:p>
          <a:p>
            <a:r>
              <a:t>decides to buy a life insurance policy</a:t>
            </a:r>
          </a:p>
          <a:p>
            <a:r>
              <a:t>and names her creditor as the</a:t>
            </a:r>
          </a:p>
          <a:p>
            <a:r>
              <a:t>beneficiary. What does this scenario</a:t>
            </a:r>
          </a:p>
          <a:p>
            <a:r>
              <a:t>exemplify?</a:t>
            </a:r>
          </a:p>
          <a:p>
            <a:r>
              <a:t>@  Aninsurable interest existing between</a:t>
            </a:r>
          </a:p>
          <a:p>
            <a:r>
              <a:t>Sarah and her creditor.</a:t>
            </a:r>
          </a:p>
          <a:p>
            <a:r>
              <a:t>Acase of potential insurance fraud.</a:t>
            </a:r>
          </a:p>
          <a:p>
            <a:r>
              <a:t>A situation requiring a medical exam.</a:t>
            </a:r>
          </a:p>
          <a:p>
            <a:r>
              <a:t>An example of a revocable beneficiary.</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224</a:t>
            </a:r>
          </a:p>
        </p:txBody>
      </p:sp>
      <p:sp>
        <p:nvSpPr>
          <p:cNvPr id="3" name="Content Placeholder 2"/>
          <p:cNvSpPr>
            <a:spLocks noGrp="1"/>
          </p:cNvSpPr>
          <p:nvPr>
            <p:ph idx="1"/>
          </p:nvPr>
        </p:nvSpPr>
        <p:spPr/>
        <p:txBody>
          <a:bodyPr/>
          <a:lstStyle/>
          <a:p/>
          <a:p>
            <a:br/>
            <a:pPr>
              <a:defRPr sz="1400" i="1"/>
            </a:pPr>
            <a:r>
              <a:t>Explanation: scenario</a:t>
            </a:r>
            <a:br/>
            <a:r>
              <a:t>exemplify?</a:t>
            </a:r>
            <a:br/>
            <a:r>
              <a:t>@  Aninsurable interest existing between</a:t>
            </a:r>
            <a:br/>
            <a:r>
              <a:t>Sarah and her creditor.</a:t>
            </a:r>
            <a:br/>
            <a:r>
              <a:t>Acase of potential insurance fraud.</a:t>
            </a:r>
            <a:br/>
            <a:r>
              <a:t>A situation requiring a medical exam.</a:t>
            </a:r>
            <a:br/>
            <a:r>
              <a:t>An example of a revocable beneficiary.</a:t>
            </a:r>
            <a:br/>
            <a:r>
              <a:t>Pr...</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225</a:t>
            </a:r>
          </a:p>
        </p:txBody>
      </p:sp>
      <p:sp>
        <p:nvSpPr>
          <p:cNvPr id="3" name="Content Placeholder 2"/>
          <p:cNvSpPr>
            <a:spLocks noGrp="1"/>
          </p:cNvSpPr>
          <p:nvPr>
            <p:ph idx="1"/>
          </p:nvPr>
        </p:nvSpPr>
        <p:spPr/>
        <p:txBody>
          <a:bodyPr/>
          <a:lstStyle/>
          <a:p>
            <a:r>
              <a:t>For a married couple filing jointly, at</a:t>
            </a:r>
          </a:p>
          <a:p>
            <a:r>
              <a:t>what combined annual income will</a:t>
            </a:r>
          </a:p>
          <a:p>
            <a:r>
              <a:t>they start paying federal income tax on</a:t>
            </a:r>
          </a:p>
          <a:p>
            <a:r>
              <a:t>their Social Security benefits?</a:t>
            </a:r>
          </a:p>
          <a:p>
            <a:r>
              <a:t>@  $32,000</a:t>
            </a:r>
          </a:p>
          <a:p>
            <a:r>
              <a:t>$28,000</a:t>
            </a:r>
          </a:p>
          <a:p>
            <a:r>
              <a:t>$36,000</a:t>
            </a:r>
          </a:p>
          <a:p>
            <a:r>
              <a:t>$40,000</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225</a:t>
            </a:r>
          </a:p>
        </p:txBody>
      </p:sp>
      <p:sp>
        <p:nvSpPr>
          <p:cNvPr id="3" name="Content Placeholder 2"/>
          <p:cNvSpPr>
            <a:spLocks noGrp="1"/>
          </p:cNvSpPr>
          <p:nvPr>
            <p:ph idx="1"/>
          </p:nvPr>
        </p:nvSpPr>
        <p:spPr/>
        <p:txBody>
          <a:bodyPr/>
          <a:lstStyle/>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226</a:t>
            </a:r>
          </a:p>
        </p:txBody>
      </p:sp>
      <p:sp>
        <p:nvSpPr>
          <p:cNvPr id="3" name="Content Placeholder 2"/>
          <p:cNvSpPr>
            <a:spLocks noGrp="1"/>
          </p:cNvSpPr>
          <p:nvPr>
            <p:ph idx="1"/>
          </p:nvPr>
        </p:nvSpPr>
        <p:spPr/>
        <p:txBody>
          <a:bodyPr/>
          <a:lstStyle/>
          <a:p>
            <a:r>
              <a:t>What is the primary purpose of a life</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226</a:t>
            </a:r>
          </a:p>
        </p:txBody>
      </p:sp>
      <p:sp>
        <p:nvSpPr>
          <p:cNvPr id="3" name="Content Placeholder 2"/>
          <p:cNvSpPr>
            <a:spLocks noGrp="1"/>
          </p:cNvSpPr>
          <p:nvPr>
            <p:ph idx="1"/>
          </p:nvPr>
        </p:nvSpPr>
        <p:spPr/>
        <p:txBody>
          <a:bodyPr/>
          <a:lstStyle/>
          <a:p/>
          <a:p>
            <a:r>
              <a:t>☐ nsurance application? To determine the policy's cash value @ © Toprovide underwriting information for policy acceptance or denial To record the beneficiary's details To specify the policy's terms and conditions</a:t>
            </a:r>
          </a:p>
          <a:p>
            <a:br/>
            <a:pPr>
              <a:defRPr sz="1400" i="1"/>
            </a:pPr>
            <a:r>
              <a:t>Explanation: the primary purpose of a life</a:t>
            </a:r>
            <a:br/>
            <a:r>
              <a:t>insurance application?</a:t>
            </a:r>
            <a:br/>
            <a:r>
              <a:t>To determine the policy's cash value</a:t>
            </a:r>
            <a:br/>
            <a:r>
              <a:t>@  Toprovide underwriting information for</a:t>
            </a:r>
            <a:br/>
            <a:r>
              <a:t>policy acceptance or denial</a:t>
            </a:r>
            <a:br/>
            <a:r>
              <a:t>To record the beneficiary's details</a:t>
            </a:r>
            <a:br/>
            <a:r>
              <a:t>To s...</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227</a:t>
            </a:r>
          </a:p>
        </p:txBody>
      </p:sp>
      <p:sp>
        <p:nvSpPr>
          <p:cNvPr id="3" name="Content Placeholder 2"/>
          <p:cNvSpPr>
            <a:spLocks noGrp="1"/>
          </p:cNvSpPr>
          <p:nvPr>
            <p:ph idx="1"/>
          </p:nvPr>
        </p:nvSpPr>
        <p:spPr/>
        <p:txBody>
          <a:bodyPr/>
          <a:lstStyle/>
          <a:p>
            <a:r>
              <a:t>What is the primary consequence of</a:t>
            </a:r>
          </a:p>
          <a:p>
            <a:r>
              <a:t>an Automatic Premium Loan Provision</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227</a:t>
            </a:r>
          </a:p>
        </p:txBody>
      </p:sp>
      <p:sp>
        <p:nvSpPr>
          <p:cNvPr id="3" name="Content Placeholder 2"/>
          <p:cNvSpPr>
            <a:spLocks noGrp="1"/>
          </p:cNvSpPr>
          <p:nvPr>
            <p:ph idx="1"/>
          </p:nvPr>
        </p:nvSpPr>
        <p:spPr/>
        <p:txBody>
          <a:bodyPr/>
          <a:lstStyle/>
          <a:p/>
          <a:p>
            <a:r>
              <a:t>☐ n life insurance? Increases the policy's death benefit Reduces the policy's term Prevents the policy from lapsing by paying premiums from the cash value</a:t>
            </a:r>
          </a:p>
          <a:p>
            <a:r>
              <a:t>☐ ffers a loan to the policyholder for personal use</a:t>
            </a:r>
          </a:p>
          <a:p>
            <a:br/>
            <a:pPr>
              <a:defRPr sz="1400" i="1"/>
            </a:pPr>
            <a:r>
              <a:t>Explanation: the primary consequence of</a:t>
            </a:r>
            <a:br/>
            <a:r>
              <a:t>an Automatic Premium Loan Provision</a:t>
            </a:r>
            <a:br/>
            <a:r>
              <a:t>in life insurance?</a:t>
            </a:r>
            <a:br/>
            <a:r>
              <a:t>Increases the policy's death benefit</a:t>
            </a:r>
            <a:br/>
            <a:r>
              <a:t>Reduces the policy's term</a:t>
            </a:r>
            <a:br/>
            <a:r>
              <a:t>Prevents the policy from lapsing by paying</a:t>
            </a:r>
            <a:br/>
            <a:r>
              <a:t>premiums fro...</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228</a:t>
            </a:r>
          </a:p>
        </p:txBody>
      </p:sp>
      <p:sp>
        <p:nvSpPr>
          <p:cNvPr id="3" name="Content Placeholder 2"/>
          <p:cNvSpPr>
            <a:spLocks noGrp="1"/>
          </p:cNvSpPr>
          <p:nvPr>
            <p:ph idx="1"/>
          </p:nvPr>
        </p:nvSpPr>
        <p:spPr/>
        <p:txBody>
          <a:bodyPr/>
          <a:lstStyle/>
          <a:p>
            <a:r>
              <a:t>What is the principle of indemnity in</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228</a:t>
            </a:r>
          </a:p>
        </p:txBody>
      </p:sp>
      <p:sp>
        <p:nvSpPr>
          <p:cNvPr id="3" name="Content Placeholder 2"/>
          <p:cNvSpPr>
            <a:spLocks noGrp="1"/>
          </p:cNvSpPr>
          <p:nvPr>
            <p:ph idx="1"/>
          </p:nvPr>
        </p:nvSpPr>
        <p:spPr/>
        <p:txBody>
          <a:bodyPr/>
          <a:lstStyle/>
          <a:p/>
          <a:p>
            <a:r>
              <a:t>☐ nsurance? To share the risk among a large number of policyholders. To cover all types of risks, whether speculative or pure. To provide a profit to the insured in case of a loss. To restore the insured to the same financial condition as before a loss.</a:t>
            </a:r>
          </a:p>
          <a:p>
            <a:br/>
            <a:pPr>
              <a:defRPr sz="1400" i="1"/>
            </a:pPr>
            <a:r>
              <a:t>Explanation: the principle of indemnity in</a:t>
            </a:r>
            <a:br/>
            <a:r>
              <a:t>insurance?</a:t>
            </a:r>
            <a:br/>
            <a:r>
              <a:t>To share the risk among a large number of</a:t>
            </a:r>
            <a:br/>
            <a:r>
              <a:t>policyholders.</a:t>
            </a:r>
            <a:br/>
            <a:r>
              <a:t>To cover all types of risks, whether</a:t>
            </a:r>
            <a:br/>
            <a:r>
              <a:t>speculative or pure.</a:t>
            </a:r>
            <a:br/>
            <a:r>
              <a:t>To provide a profit to the insured in case o...</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229</a:t>
            </a:r>
          </a:p>
        </p:txBody>
      </p:sp>
      <p:sp>
        <p:nvSpPr>
          <p:cNvPr id="3" name="Content Placeholder 2"/>
          <p:cNvSpPr>
            <a:spLocks noGrp="1"/>
          </p:cNvSpPr>
          <p:nvPr>
            <p:ph idx="1"/>
          </p:nvPr>
        </p:nvSpPr>
        <p:spPr/>
        <p:txBody>
          <a:bodyPr/>
          <a:lstStyle/>
          <a:p>
            <a:r>
              <a:t>Which of the following best describes</a:t>
            </a:r>
          </a:p>
          <a:p>
            <a:r>
              <a:t>'Reinsurance'?</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229</a:t>
            </a:r>
          </a:p>
        </p:txBody>
      </p:sp>
      <p:sp>
        <p:nvSpPr>
          <p:cNvPr id="3" name="Content Placeholder 2"/>
          <p:cNvSpPr>
            <a:spLocks noGrp="1"/>
          </p:cNvSpPr>
          <p:nvPr>
            <p:ph idx="1"/>
          </p:nvPr>
        </p:nvSpPr>
        <p:spPr/>
        <p:txBody>
          <a:bodyPr/>
          <a:lstStyle/>
          <a:p/>
          <a:p>
            <a:r>
              <a:t>☐ S| 6:16 : Question 101 Select the appropriate response Which of the following best describes 'Reinsurance'?</a:t>
            </a:r>
          </a:p>
          <a:p>
            <a:r>
              <a:t>☐ nsurance for individuals who have high-risk profiles.</a:t>
            </a:r>
          </a:p>
          <a:p>
            <a:pPr>
              <a:defRPr b="1"/>
            </a:pPr>
            <a:r>
              <a:t>✅ Insurance purchased by an insurer from another insurer to limit loss exposure. A reserve fund set aside by insurance companies for unexpected claims. Government-backed insurance for catastrophic events.</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230</a:t>
            </a:r>
          </a:p>
        </p:txBody>
      </p:sp>
      <p:sp>
        <p:nvSpPr>
          <p:cNvPr id="3" name="Content Placeholder 2"/>
          <p:cNvSpPr>
            <a:spLocks noGrp="1"/>
          </p:cNvSpPr>
          <p:nvPr>
            <p:ph idx="1"/>
          </p:nvPr>
        </p:nvSpPr>
        <p:spPr/>
        <p:txBody>
          <a:bodyPr/>
          <a:lstStyle/>
          <a:p>
            <a:r>
              <a:t>All of the following are characteristics</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230</a:t>
            </a:r>
          </a:p>
        </p:txBody>
      </p:sp>
      <p:sp>
        <p:nvSpPr>
          <p:cNvPr id="3" name="Content Placeholder 2"/>
          <p:cNvSpPr>
            <a:spLocks noGrp="1"/>
          </p:cNvSpPr>
          <p:nvPr>
            <p:ph idx="1"/>
          </p:nvPr>
        </p:nvSpPr>
        <p:spPr/>
        <p:txBody>
          <a:bodyPr/>
          <a:lstStyle/>
          <a:p/>
          <a:p>
            <a:pPr>
              <a:defRPr b="1"/>
            </a:pPr>
            <a:r>
              <a:t>✅ a ..rancelicense.myabsorb.com (© &lt; &gt; + [22]</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231</a:t>
            </a:r>
          </a:p>
        </p:txBody>
      </p:sp>
      <p:sp>
        <p:nvSpPr>
          <p:cNvPr id="3" name="Content Placeholder 2"/>
          <p:cNvSpPr>
            <a:spLocks noGrp="1"/>
          </p:cNvSpPr>
          <p:nvPr>
            <p:ph idx="1"/>
          </p:nvPr>
        </p:nvSpPr>
        <p:spPr/>
        <p:txBody>
          <a:bodyPr/>
          <a:lstStyle/>
          <a:p>
            <a:r>
              <a:t>Under the Gramm-Leach-Bliley Act,</a:t>
            </a:r>
          </a:p>
          <a:p>
            <a:r>
              <a:t>what are insurance companies</a:t>
            </a:r>
          </a:p>
          <a:p>
            <a:r>
              <a:t>required to do to protect client data?</a:t>
            </a:r>
          </a:p>
          <a:p>
            <a:r>
              <a:t>Provide opt-out provisions for all data</a:t>
            </a:r>
          </a:p>
          <a:p>
            <a:r>
              <a:t>sharing</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231</a:t>
            </a:r>
          </a:p>
        </p:txBody>
      </p:sp>
      <p:sp>
        <p:nvSpPr>
          <p:cNvPr id="3" name="Content Placeholder 2"/>
          <p:cNvSpPr>
            <a:spLocks noGrp="1"/>
          </p:cNvSpPr>
          <p:nvPr>
            <p:ph idx="1"/>
          </p:nvPr>
        </p:nvSpPr>
        <p:spPr/>
        <p:txBody>
          <a:bodyPr/>
          <a:lstStyle/>
          <a:p/>
          <a:p>
            <a:pPr>
              <a:defRPr b="1"/>
            </a:pPr>
            <a:r>
              <a:t>✅ a ..rancelicense.myabsorb.com (© &lt; &gt; + [22]</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232</a:t>
            </a:r>
          </a:p>
        </p:txBody>
      </p:sp>
      <p:sp>
        <p:nvSpPr>
          <p:cNvPr id="3" name="Content Placeholder 2"/>
          <p:cNvSpPr>
            <a:spLocks noGrp="1"/>
          </p:cNvSpPr>
          <p:nvPr>
            <p:ph idx="1"/>
          </p:nvPr>
        </p:nvSpPr>
        <p:spPr/>
        <p:txBody>
          <a:bodyPr/>
          <a:lstStyle/>
          <a:p>
            <a:r>
              <a:t>Michael is a small business owner and</a:t>
            </a:r>
          </a:p>
          <a:p>
            <a:r>
              <a:t>wants to ensure his company</a:t>
            </a:r>
          </a:p>
          <a:p>
            <a:r>
              <a:t>continues operating if he or his partner</a:t>
            </a:r>
          </a:p>
          <a:p>
            <a:r>
              <a:t>dies. What insurance strategy should</a:t>
            </a:r>
          </a:p>
          <a:p>
            <a:r>
              <a:t>he use?</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232</a:t>
            </a:r>
          </a:p>
        </p:txBody>
      </p:sp>
      <p:sp>
        <p:nvSpPr>
          <p:cNvPr id="3" name="Content Placeholder 2"/>
          <p:cNvSpPr>
            <a:spLocks noGrp="1"/>
          </p:cNvSpPr>
          <p:nvPr>
            <p:ph idx="1"/>
          </p:nvPr>
        </p:nvSpPr>
        <p:spPr/>
        <p:txBody>
          <a:bodyPr/>
          <a:lstStyle/>
          <a:p/>
          <a:p>
            <a:pPr>
              <a:defRPr b="1"/>
            </a:pPr>
            <a:r>
              <a:t>✅ Executive bonus plan</a:t>
            </a:r>
          </a:p>
          <a:p>
            <a:r>
              <a:t>☐ © Key person insurance Deferred compensation plan Buy-sell agreement</a:t>
            </a:r>
          </a:p>
          <a:p>
            <a:r>
              <a:t>☐ a ..rancelicense.myabsorb.com (© &lt; &gt; + [22]</a:t>
            </a:r>
          </a:p>
          <a:p>
            <a:br/>
            <a:pPr>
              <a:defRPr sz="1400" i="1"/>
            </a:pPr>
            <a:r>
              <a:t>Explanation: a small business owner and</a:t>
            </a:r>
            <a:br/>
            <a:r>
              <a:t>wants to ensure his company</a:t>
            </a:r>
            <a:br/>
            <a:r>
              <a:t>continues operating if he or his partner</a:t>
            </a:r>
            <a:br/>
            <a:r>
              <a:t>dies. What insurance strategy should</a:t>
            </a:r>
            <a:br/>
            <a:r>
              <a:t>he use?</a:t>
            </a:r>
            <a:br/>
            <a:r>
              <a:t>x) Executive bonus plan</a:t>
            </a:r>
            <a:br/>
            <a:r>
              <a:t>Key person insurance</a:t>
            </a:r>
            <a:br/>
            <a:r>
              <a:t>Deferred compe...</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233</a:t>
            </a:r>
          </a:p>
        </p:txBody>
      </p:sp>
      <p:sp>
        <p:nvSpPr>
          <p:cNvPr id="3" name="Content Placeholder 2"/>
          <p:cNvSpPr>
            <a:spLocks noGrp="1"/>
          </p:cNvSpPr>
          <p:nvPr>
            <p:ph idx="1"/>
          </p:nvPr>
        </p:nvSpPr>
        <p:spPr/>
        <p:txBody>
          <a:bodyPr/>
          <a:lstStyle/>
          <a:p>
            <a:r>
              <a:t>Which of the following factors has the</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233</a:t>
            </a:r>
          </a:p>
        </p:txBody>
      </p:sp>
      <p:sp>
        <p:nvSpPr>
          <p:cNvPr id="3" name="Content Placeholder 2"/>
          <p:cNvSpPr>
            <a:spLocks noGrp="1"/>
          </p:cNvSpPr>
          <p:nvPr>
            <p:ph idx="1"/>
          </p:nvPr>
        </p:nvSpPr>
        <p:spPr/>
        <p:txBody>
          <a:bodyPr/>
          <a:lstStyle/>
          <a:p/>
          <a:p>
            <a:pPr>
              <a:defRPr b="1"/>
            </a:pPr>
            <a:r>
              <a:t>✅ reatest impact on life insurance premium calculations?</a:t>
            </a:r>
          </a:p>
          <a:p>
            <a:r>
              <a:t>☐ The applicant’s marital status</a:t>
            </a:r>
          </a:p>
          <a:p>
            <a:r>
              <a:t>☐ e The policy’s free-look period The mortality rate of the insured group</a:t>
            </a:r>
          </a:p>
          <a:p>
            <a:r>
              <a:t>☐ The applicant’s education level</a:t>
            </a:r>
          </a:p>
          <a:p>
            <a:r>
              <a:t>☐ a ..rancelicense.myabsorb.com (© &lt; &gt; + [22]</a:t>
            </a:r>
          </a:p>
          <a:p>
            <a:br/>
            <a:pPr>
              <a:defRPr sz="1400" i="1"/>
            </a:pPr>
            <a:r>
              <a:t>Explanation: the most significant factor in</a:t>
            </a:r>
            <a:br/>
            <a:r>
              <a:t>life insurance premium calculations. Insurers use</a:t>
            </a:r>
            <a:br/>
            <a:r>
              <a:t>a ..rancelicense.myabsorb.com (</a:t>
            </a:r>
            <a:br/>
            <a:r>
              <a:t>&lt; &gt; + [22]...</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234</a:t>
            </a:r>
          </a:p>
        </p:txBody>
      </p:sp>
      <p:sp>
        <p:nvSpPr>
          <p:cNvPr id="3" name="Content Placeholder 2"/>
          <p:cNvSpPr>
            <a:spLocks noGrp="1"/>
          </p:cNvSpPr>
          <p:nvPr>
            <p:ph idx="1"/>
          </p:nvPr>
        </p:nvSpPr>
        <p:spPr/>
        <p:txBody>
          <a:bodyPr/>
          <a:lstStyle/>
          <a:p>
            <a:r>
              <a:t>The following are all considered</a:t>
            </a:r>
          </a:p>
          <a:p>
            <a:r>
              <a:t>elements of an insurable risk EXCEPT:</a:t>
            </a:r>
          </a:p>
          <a:p>
            <a:r>
              <a:t>The risk must be measurable</a:t>
            </a:r>
          </a:p>
          <a:p>
            <a:r>
              <a:t>The loss must be accidental</a:t>
            </a:r>
          </a:p>
          <a:p>
            <a:r>
              <a:t>€  The loss must be predictable</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234</a:t>
            </a:r>
          </a:p>
        </p:txBody>
      </p:sp>
      <p:sp>
        <p:nvSpPr>
          <p:cNvPr id="3" name="Content Placeholder 2"/>
          <p:cNvSpPr>
            <a:spLocks noGrp="1"/>
          </p:cNvSpPr>
          <p:nvPr>
            <p:ph idx="1"/>
          </p:nvPr>
        </p:nvSpPr>
        <p:spPr/>
        <p:txBody>
          <a:bodyPr/>
          <a:lstStyle/>
          <a:p/>
          <a:p>
            <a:pPr>
              <a:defRPr b="1"/>
            </a:pPr>
            <a:r>
              <a:t>✅ The risk must guarantee a financial gain for the insured</a:t>
            </a:r>
          </a:p>
          <a:p>
            <a:r>
              <a:t>☐ a ..rancelicense.myabsorb.com (© &lt; &gt; + [22]</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235</a:t>
            </a:r>
          </a:p>
        </p:txBody>
      </p:sp>
      <p:sp>
        <p:nvSpPr>
          <p:cNvPr id="3" name="Content Placeholder 2"/>
          <p:cNvSpPr>
            <a:spLocks noGrp="1"/>
          </p:cNvSpPr>
          <p:nvPr>
            <p:ph idx="1"/>
          </p:nvPr>
        </p:nvSpPr>
        <p:spPr/>
        <p:txBody>
          <a:bodyPr/>
          <a:lstStyle/>
          <a:p>
            <a:r>
              <a:t>Which of the following is a</a:t>
            </a:r>
          </a:p>
          <a:p>
            <a:r>
              <a:t>fundamental requirement for a life</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235</a:t>
            </a:r>
          </a:p>
        </p:txBody>
      </p:sp>
      <p:sp>
        <p:nvSpPr>
          <p:cNvPr id="3" name="Content Placeholder 2"/>
          <p:cNvSpPr>
            <a:spLocks noGrp="1"/>
          </p:cNvSpPr>
          <p:nvPr>
            <p:ph idx="1"/>
          </p:nvPr>
        </p:nvSpPr>
        <p:spPr/>
        <p:txBody>
          <a:bodyPr/>
          <a:lstStyle/>
          <a:p/>
          <a:p>
            <a:r>
              <a:t>☐ nsurance contract to be legally enforceable? ' ¢) It must guarantee a return on investment</a:t>
            </a:r>
          </a:p>
          <a:p>
            <a:pPr>
              <a:defRPr b="1"/>
            </a:pPr>
            <a:r>
              <a:t>✅ It must contain an offer, acceptance, consideration, legal purpose, and competent parties € © It must include a waiver of premium rider ' ¢) It must be signed by a notary public</a:t>
            </a:r>
          </a:p>
          <a:p>
            <a:r>
              <a:t>☐ a ..rancelicense.myabsorb.com (© &lt; &gt; + [22]</a:t>
            </a:r>
          </a:p>
          <a:p>
            <a:br/>
            <a:pPr>
              <a:defRPr sz="1400" i="1"/>
            </a:pPr>
            <a:r>
              <a:t>Explanation: a</a:t>
            </a:r>
            <a:br/>
            <a:r>
              <a:t>fundamental requirement for a life</a:t>
            </a:r>
            <a:br/>
            <a:r>
              <a:t>insurance contract to be legally</a:t>
            </a:r>
            <a:br/>
            <a:r>
              <a:t>enforceable?</a:t>
            </a:r>
            <a:br/>
            <a:r>
              <a:t>' ¢) It must guarantee a return on investment</a:t>
            </a:r>
            <a:br/>
            <a:r>
              <a:t>g It must contain an offer, acceptance,</a:t>
            </a:r>
            <a:br/>
            <a:r>
              <a:t>consideration, legal purpose, a...</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236</a:t>
            </a:r>
          </a:p>
        </p:txBody>
      </p:sp>
      <p:sp>
        <p:nvSpPr>
          <p:cNvPr id="3" name="Content Placeholder 2"/>
          <p:cNvSpPr>
            <a:spLocks noGrp="1"/>
          </p:cNvSpPr>
          <p:nvPr>
            <p:ph idx="1"/>
          </p:nvPr>
        </p:nvSpPr>
        <p:spPr/>
        <p:txBody>
          <a:bodyPr/>
          <a:lstStyle/>
          <a:p>
            <a:r>
              <a:t>What is a key distinction between</a:t>
            </a:r>
          </a:p>
          <a:p>
            <a:r>
              <a:t>annuities and life insurance?</a:t>
            </a:r>
          </a:p>
          <a:p>
            <a:r>
              <a:t>Life insurance does not consider mortality</a:t>
            </a:r>
          </a:p>
          <a:p>
            <a:r>
              <a:t>risks</a:t>
            </a:r>
          </a:p>
          <a:p>
            <a:r>
              <a:t>Life insurance provides lifetime income,</a:t>
            </a:r>
          </a:p>
          <a:p>
            <a:r>
              <a:t>while annuities provide a death benefit</a:t>
            </a:r>
          </a:p>
          <a:p>
            <a:r>
              <a:t>Annuities provide a tax-free death benefit</a:t>
            </a:r>
          </a:p>
          <a:p>
            <a:r>
              <a:t>Life insurance creates an estate, while</a:t>
            </a:r>
          </a:p>
          <a:p>
            <a:r>
              <a:t>annuities liquidate an estate</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236</a:t>
            </a:r>
          </a:p>
        </p:txBody>
      </p:sp>
      <p:sp>
        <p:nvSpPr>
          <p:cNvPr id="3" name="Content Placeholder 2"/>
          <p:cNvSpPr>
            <a:spLocks noGrp="1"/>
          </p:cNvSpPr>
          <p:nvPr>
            <p:ph idx="1"/>
          </p:nvPr>
        </p:nvSpPr>
        <p:spPr/>
        <p:txBody>
          <a:bodyPr/>
          <a:lstStyle/>
          <a:p/>
          <a:p>
            <a:br/>
            <a:pPr>
              <a:defRPr sz="1400" i="1"/>
            </a:pPr>
            <a:r>
              <a:t>Explanation: a key distinction between</a:t>
            </a:r>
            <a:br/>
            <a:r>
              <a:t>annuities and life insurance?</a:t>
            </a:r>
            <a:br/>
            <a:r>
              <a:t>Life insurance does not consider mortality</a:t>
            </a:r>
            <a:br/>
            <a:r>
              <a:t>risks</a:t>
            </a:r>
            <a:br/>
            <a:r>
              <a:t>Life insurance provides lifetime income,</a:t>
            </a:r>
            <a:br/>
            <a:r>
              <a:t>while annuities provide a death benefit</a:t>
            </a:r>
            <a:br/>
            <a:r>
              <a:t>Annuities prov...</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237</a:t>
            </a:r>
          </a:p>
        </p:txBody>
      </p:sp>
      <p:sp>
        <p:nvSpPr>
          <p:cNvPr id="3" name="Content Placeholder 2"/>
          <p:cNvSpPr>
            <a:spLocks noGrp="1"/>
          </p:cNvSpPr>
          <p:nvPr>
            <p:ph idx="1"/>
          </p:nvPr>
        </p:nvSpPr>
        <p:spPr/>
        <p:txBody>
          <a:bodyPr/>
          <a:lstStyle/>
          <a:p>
            <a:r>
              <a:t>Which of the following is the primary</a:t>
            </a:r>
          </a:p>
          <a:p>
            <a:r>
              <a:t>purpose of an annuity?</a:t>
            </a:r>
          </a:p>
          <a:p>
            <a:r>
              <a:t>To accumulate wealth through high-risk</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237</a:t>
            </a:r>
          </a:p>
        </p:txBody>
      </p:sp>
      <p:sp>
        <p:nvSpPr>
          <p:cNvPr id="3" name="Content Placeholder 2"/>
          <p:cNvSpPr>
            <a:spLocks noGrp="1"/>
          </p:cNvSpPr>
          <p:nvPr>
            <p:ph idx="1"/>
          </p:nvPr>
        </p:nvSpPr>
        <p:spPr/>
        <p:txBody>
          <a:bodyPr/>
          <a:lstStyle/>
          <a:p/>
          <a:p>
            <a:r>
              <a:t>☐ S| Question 9 Select the appropriate response Which of the following is the primary purpose of an annuity? To accumulate wealth through high-risk</a:t>
            </a:r>
          </a:p>
          <a:p>
            <a:r>
              <a:t>☐ nvestments To provide a lump sum payment upon the policyholder’s death</a:t>
            </a:r>
          </a:p>
          <a:p>
            <a:pPr>
              <a:defRPr b="1"/>
            </a:pPr>
            <a:r>
              <a:t>✅ To guarantee lifetime income and protect against outliving one’s savings To replace the need for life insurance</a:t>
            </a:r>
          </a:p>
          <a:p>
            <a:br/>
            <a:pPr>
              <a:defRPr sz="1400" i="1"/>
            </a:pPr>
            <a:r>
              <a:t>Explanation: the primary</a:t>
            </a:r>
            <a:br/>
            <a:r>
              <a:t>purpose of an annuity?</a:t>
            </a:r>
            <a:br/>
            <a:r>
              <a:t>To accumulate wealth through high-risk</a:t>
            </a:r>
            <a:br/>
            <a:r>
              <a:t>investments</a:t>
            </a:r>
            <a:br/>
            <a:r>
              <a:t>To provide a lump sum payment upon the</a:t>
            </a:r>
            <a:br/>
            <a:r>
              <a:t>policyholder’s death</a:t>
            </a:r>
            <a:br/>
            <a:r>
              <a:t>g To guarantee lifetime income and protect</a:t>
            </a:r>
            <a:br/>
            <a:r>
              <a:t>against out...</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238</a:t>
            </a:r>
          </a:p>
        </p:txBody>
      </p:sp>
      <p:sp>
        <p:nvSpPr>
          <p:cNvPr id="3" name="Content Placeholder 2"/>
          <p:cNvSpPr>
            <a:spLocks noGrp="1"/>
          </p:cNvSpPr>
          <p:nvPr>
            <p:ph idx="1"/>
          </p:nvPr>
        </p:nvSpPr>
        <p:spPr/>
        <p:txBody>
          <a:bodyPr/>
          <a:lstStyle/>
          <a:p>
            <a:r>
              <a:t>The tax that funds Social Security and</a:t>
            </a:r>
          </a:p>
          <a:p>
            <a:r>
              <a:t>Medicare, deducted from wages:</a:t>
            </a:r>
          </a:p>
          <a:p>
            <a:r>
              <a:t>Earned Income Tax Credit (EITC)</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238</a:t>
            </a:r>
          </a:p>
        </p:txBody>
      </p:sp>
      <p:sp>
        <p:nvSpPr>
          <p:cNvPr id="3" name="Content Placeholder 2"/>
          <p:cNvSpPr>
            <a:spLocks noGrp="1"/>
          </p:cNvSpPr>
          <p:nvPr>
            <p:ph idx="1"/>
          </p:nvPr>
        </p:nvSpPr>
        <p:spPr/>
        <p:txBody>
          <a:bodyPr/>
          <a:lstStyle/>
          <a:p/>
          <a:p>
            <a:pPr>
              <a:defRPr b="1"/>
            </a:pPr>
            <a:r>
              <a:t>✅ e Federal Income Tax</a:t>
            </a:r>
          </a:p>
          <a:p>
            <a:r>
              <a:t>☐ Federal Insurance Contributions Act (FICA) &amp; State Disability Insurance (SDI)</a:t>
            </a:r>
          </a:p>
          <a:p>
            <a:r>
              <a:t>☐ FICA taxes are shared by employees (7.65%) and employers (7.65%), while self-employed</a:t>
            </a:r>
          </a:p>
          <a:p>
            <a:r>
              <a:t>☐ ndividuals pay 15.3% to fund Social Security and = I&lt; A &gt;| &amp; a ..rancelicense.myabsorb.com (© &lt; &gt; + [22]</a:t>
            </a:r>
          </a:p>
          <a:p>
            <a:br/>
            <a:pPr>
              <a:defRPr sz="1400" i="1"/>
            </a:pPr>
            <a:r>
              <a:t>Explanation: Social Security and</a:t>
            </a:r>
            <a:br/>
            <a:r>
              <a:t>Medicare, deducted from wages:</a:t>
            </a:r>
            <a:br/>
            <a:r>
              <a:t>Earned Income Tax Credit (EITC)</a:t>
            </a:r>
            <a:br/>
            <a:r>
              <a:t>x) e Federal Income Tax</a:t>
            </a:r>
            <a:br/>
            <a:r>
              <a:t>g Federal Insurance Contributions Act (FICA)</a:t>
            </a:r>
            <a:br/>
            <a:r>
              <a:t>&amp; State Disability Insurance (SDI)</a:t>
            </a:r>
            <a:br/>
            <a:r>
              <a:t>Proceed =&gt;</a:t>
            </a:r>
            <a:br/>
            <a:r>
              <a:t>x ...</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239</a:t>
            </a:r>
          </a:p>
        </p:txBody>
      </p:sp>
      <p:sp>
        <p:nvSpPr>
          <p:cNvPr id="3" name="Content Placeholder 2"/>
          <p:cNvSpPr>
            <a:spLocks noGrp="1"/>
          </p:cNvSpPr>
          <p:nvPr>
            <p:ph idx="1"/>
          </p:nvPr>
        </p:nvSpPr>
        <p:spPr/>
        <p:txBody>
          <a:bodyPr/>
          <a:lstStyle/>
          <a:p>
            <a:r>
              <a:t>Lisa recently became disabled and is</a:t>
            </a:r>
          </a:p>
          <a:p>
            <a:r>
              <a:t>applying for Social Security Disability</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239</a:t>
            </a:r>
          </a:p>
        </p:txBody>
      </p:sp>
      <p:sp>
        <p:nvSpPr>
          <p:cNvPr id="3" name="Content Placeholder 2"/>
          <p:cNvSpPr>
            <a:spLocks noGrp="1"/>
          </p:cNvSpPr>
          <p:nvPr>
            <p:ph idx="1"/>
          </p:nvPr>
        </p:nvSpPr>
        <p:spPr/>
        <p:txBody>
          <a:bodyPr/>
          <a:lstStyle/>
          <a:p/>
          <a:p>
            <a:r>
              <a:t>☐ nsurance She is unable to work her current job but can do other work She is unable to perform any substantial</a:t>
            </a:r>
          </a:p>
          <a:p>
            <a:pPr>
              <a:defRPr b="1"/>
            </a:pPr>
            <a:r>
              <a:t>✅ ainful activity</a:t>
            </a:r>
          </a:p>
          <a:p>
            <a:br/>
            <a:pPr>
              <a:defRPr sz="1400" i="1"/>
            </a:pPr>
            <a:r>
              <a:t>Explanation: applying for Social Security Disability</a:t>
            </a:r>
            <a:br/>
            <a:r>
              <a:t>Insurance (SSDI). What must she</a:t>
            </a:r>
            <a:br/>
            <a:r>
              <a:t>prove to qualify for benefits?</a:t>
            </a:r>
            <a:br/>
            <a:r>
              <a:t>She has been out of work for at least 12</a:t>
            </a:r>
            <a:br/>
            <a:r>
              <a:t>months</a:t>
            </a:r>
            <a:br/>
            <a:r>
              <a:t>She has exhausted all private disability</a:t>
            </a:r>
            <a:br/>
            <a:r>
              <a:t>insuranc...</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240</a:t>
            </a:r>
          </a:p>
        </p:txBody>
      </p:sp>
      <p:sp>
        <p:nvSpPr>
          <p:cNvPr id="3" name="Content Placeholder 2"/>
          <p:cNvSpPr>
            <a:spLocks noGrp="1"/>
          </p:cNvSpPr>
          <p:nvPr>
            <p:ph idx="1"/>
          </p:nvPr>
        </p:nvSpPr>
        <p:spPr/>
        <p:txBody>
          <a:bodyPr/>
          <a:lstStyle/>
          <a:p>
            <a:r>
              <a:t>Which of the following is a key</a:t>
            </a:r>
          </a:p>
          <a:p>
            <a:r>
              <a:t>characteristic of a qualified retirement</a:t>
            </a:r>
          </a:p>
          <a:p>
            <a:r>
              <a:t>plan?</a:t>
            </a:r>
          </a:p>
          <a:p>
            <a:r>
              <a:t>Contributions are taxed when made</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240</a:t>
            </a:r>
          </a:p>
        </p:txBody>
      </p:sp>
      <p:sp>
        <p:nvSpPr>
          <p:cNvPr id="3" name="Content Placeholder 2"/>
          <p:cNvSpPr>
            <a:spLocks noGrp="1"/>
          </p:cNvSpPr>
          <p:nvPr>
            <p:ph idx="1"/>
          </p:nvPr>
        </p:nvSpPr>
        <p:spPr/>
        <p:txBody>
          <a:bodyPr/>
          <a:lstStyle/>
          <a:p/>
          <a:p>
            <a:r>
              <a:t>☐ S| 6:19 : Question 12 Select the appropriate response Which of the following is a key characteristic of a qualified retirement plan? Contributions are taxed when made</a:t>
            </a:r>
          </a:p>
          <a:p>
            <a:pPr>
              <a:defRPr b="1"/>
            </a:pPr>
            <a:r>
              <a:t>✅ nly the employer contributes to the plan</a:t>
            </a:r>
          </a:p>
          <a:p>
            <a:r>
              <a:t>☐ Contributions are tax-deductible, and earnings grow tax-deferred Earnings grow tax-free indefinitely</a:t>
            </a:r>
          </a:p>
          <a:p>
            <a:br/>
            <a:pPr>
              <a:defRPr sz="1400" i="1"/>
            </a:pPr>
            <a:r>
              <a:t>Explanation: a key</a:t>
            </a:r>
            <a:br/>
            <a:r>
              <a:t>characteristic of a qualified retirement</a:t>
            </a:r>
            <a:br/>
            <a:r>
              <a:t>plan?</a:t>
            </a:r>
            <a:br/>
            <a:r>
              <a:t>Contributions are taxed when made</a:t>
            </a:r>
            <a:br/>
            <a:r>
              <a:t>Only the employer contributes to the plan</a:t>
            </a:r>
            <a:br/>
            <a:r>
              <a:t>g Contributions are tax-deductible, and</a:t>
            </a:r>
            <a:br/>
            <a:r>
              <a:t>earnings grow tax-deferred</a:t>
            </a:r>
            <a:br/>
            <a:r>
              <a:t>Earn...</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241</a:t>
            </a:r>
          </a:p>
        </p:txBody>
      </p:sp>
      <p:sp>
        <p:nvSpPr>
          <p:cNvPr id="3" name="Content Placeholder 2"/>
          <p:cNvSpPr>
            <a:spLocks noGrp="1"/>
          </p:cNvSpPr>
          <p:nvPr>
            <p:ph idx="1"/>
          </p:nvPr>
        </p:nvSpPr>
        <p:spPr/>
        <p:txBody>
          <a:bodyPr/>
          <a:lstStyle/>
          <a:p>
            <a:r>
              <a:t>What is the purpose of an</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241</a:t>
            </a:r>
          </a:p>
        </p:txBody>
      </p:sp>
      <p:sp>
        <p:nvSpPr>
          <p:cNvPr id="3" name="Content Placeholder 2"/>
          <p:cNvSpPr>
            <a:spLocks noGrp="1"/>
          </p:cNvSpPr>
          <p:nvPr>
            <p:ph idx="1"/>
          </p:nvPr>
        </p:nvSpPr>
        <p:spPr/>
        <p:txBody>
          <a:bodyPr/>
          <a:lstStyle/>
          <a:p/>
          <a:p>
            <a:pPr>
              <a:defRPr b="1"/>
            </a:pPr>
            <a:r>
              <a:t>✅ ncontestability clause in a life</a:t>
            </a:r>
          </a:p>
          <a:p>
            <a:r>
              <a:t>☐ nsurance policy? To guarantee premium refunds for misstatements To ensure policy renewability regardless of health</a:t>
            </a:r>
          </a:p>
          <a:p>
            <a:r>
              <a:t>☐ To prevent the insurer from denying claims after a specific period To allow the insured to cancel the policy at any time</a:t>
            </a:r>
          </a:p>
          <a:p>
            <a:br/>
            <a:pPr>
              <a:defRPr sz="1400" i="1"/>
            </a:pPr>
            <a:r>
              <a:t>Explanation: the purpose of an</a:t>
            </a:r>
            <a:br/>
            <a:r>
              <a:t>incontestability clause in a life</a:t>
            </a:r>
            <a:br/>
            <a:r>
              <a:t>insurance policy?</a:t>
            </a:r>
            <a:br/>
            <a:r>
              <a:t>To guarantee premium refunds for</a:t>
            </a:r>
            <a:br/>
            <a:r>
              <a:t>misstatements</a:t>
            </a:r>
            <a:br/>
            <a:r>
              <a:t>To ensure policy renewability regardless of</a:t>
            </a:r>
            <a:br/>
            <a:r>
              <a:t>health</a:t>
            </a:r>
            <a:br/>
            <a:r>
              <a:t>iv) To prevent the insurer from ...</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242</a:t>
            </a:r>
          </a:p>
        </p:txBody>
      </p:sp>
      <p:sp>
        <p:nvSpPr>
          <p:cNvPr id="3" name="Content Placeholder 2"/>
          <p:cNvSpPr>
            <a:spLocks noGrp="1"/>
          </p:cNvSpPr>
          <p:nvPr>
            <p:ph idx="1"/>
          </p:nvPr>
        </p:nvSpPr>
        <p:spPr/>
        <p:txBody>
          <a:bodyPr/>
          <a:lstStyle/>
          <a:p>
            <a:r>
              <a:t>A type of life insurance where the</a:t>
            </a:r>
          </a:p>
          <a:p>
            <a:r>
              <a:t>policyholder’s cash value is invested in</a:t>
            </a:r>
          </a:p>
          <a:p>
            <a:r>
              <a:t>separate accounts similar to mutual</a:t>
            </a:r>
          </a:p>
          <a:p>
            <a:r>
              <a:t>Whole life insurance</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242</a:t>
            </a:r>
          </a:p>
        </p:txBody>
      </p:sp>
      <p:sp>
        <p:nvSpPr>
          <p:cNvPr id="3" name="Content Placeholder 2"/>
          <p:cNvSpPr>
            <a:spLocks noGrp="1"/>
          </p:cNvSpPr>
          <p:nvPr>
            <p:ph idx="1"/>
          </p:nvPr>
        </p:nvSpPr>
        <p:spPr/>
        <p:txBody>
          <a:bodyPr/>
          <a:lstStyle/>
          <a:p/>
          <a:p>
            <a:pPr>
              <a:defRPr b="1"/>
            </a:pPr>
            <a:r>
              <a:t>✅ Variable life insurance</a:t>
            </a:r>
          </a:p>
          <a:p>
            <a:r>
              <a:t>☐ s) e Term life insurance</a:t>
            </a:r>
          </a:p>
          <a:p>
            <a:r>
              <a:t>☐ Universal life insurance</a:t>
            </a:r>
          </a:p>
          <a:p>
            <a:br/>
            <a:pPr>
              <a:defRPr sz="1400" i="1"/>
            </a:pPr>
            <a:r>
              <a:t>Explanation: invested in</a:t>
            </a:r>
            <a:br/>
            <a:r>
              <a:t>separate accounts similar to mutual</a:t>
            </a:r>
            <a:br/>
            <a:r>
              <a:t>Whole life insurance</a:t>
            </a:r>
            <a:br/>
            <a:r>
              <a:t>g Variable life insurance</a:t>
            </a:r>
            <a:br/>
            <a:r>
              <a:t>is) e Term life insurance</a:t>
            </a:r>
            <a:br/>
            <a:r>
              <a:t>x) Universal life insurance</a:t>
            </a:r>
            <a:br/>
            <a:r>
              <a:t>Proceed =&gt;</a:t>
            </a:r>
            <a:br/>
            <a:r>
              <a:t>% Variable life insurance allows policyh...</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243</a:t>
            </a:r>
          </a:p>
        </p:txBody>
      </p:sp>
      <p:sp>
        <p:nvSpPr>
          <p:cNvPr id="3" name="Content Placeholder 2"/>
          <p:cNvSpPr>
            <a:spLocks noGrp="1"/>
          </p:cNvSpPr>
          <p:nvPr>
            <p:ph idx="1"/>
          </p:nvPr>
        </p:nvSpPr>
        <p:spPr/>
        <p:txBody>
          <a:bodyPr/>
          <a:lstStyle/>
          <a:p>
            <a:r>
              <a:t>John is a sole proprietor who wants to</a:t>
            </a:r>
          </a:p>
          <a:p>
            <a:r>
              <a:t>ensure that his business remains</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243</a:t>
            </a:r>
          </a:p>
        </p:txBody>
      </p:sp>
      <p:sp>
        <p:nvSpPr>
          <p:cNvPr id="3" name="Content Placeholder 2"/>
          <p:cNvSpPr>
            <a:spLocks noGrp="1"/>
          </p:cNvSpPr>
          <p:nvPr>
            <p:ph idx="1"/>
          </p:nvPr>
        </p:nvSpPr>
        <p:spPr/>
        <p:txBody>
          <a:bodyPr/>
          <a:lstStyle/>
          <a:p/>
          <a:p>
            <a:br/>
            <a:pPr>
              <a:defRPr sz="1400" i="1"/>
            </a:pPr>
            <a:r>
              <a:t>Explanation: a sole proprietor who wants to</a:t>
            </a:r>
            <a:br/>
            <a:r>
              <a:t>ensure that his business remains</a:t>
            </a:r>
            <a:br/>
            <a:r>
              <a:t>operational after his death and that his</a:t>
            </a:r>
            <a:br/>
            <a:r>
              <a:t>family receives financial</a:t>
            </a:r>
            <a:br/>
            <a:r>
              <a:t>compensation. What is the BEST</a:t>
            </a:r>
            <a:br/>
            <a:r>
              <a:t>strategy for him?</a:t>
            </a:r>
            <a:br/>
            <a:r>
              <a:t>Rely on company prof...</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244</a:t>
            </a:r>
          </a:p>
        </p:txBody>
      </p:sp>
      <p:sp>
        <p:nvSpPr>
          <p:cNvPr id="3" name="Content Placeholder 2"/>
          <p:cNvSpPr>
            <a:spLocks noGrp="1"/>
          </p:cNvSpPr>
          <p:nvPr>
            <p:ph idx="1"/>
          </p:nvPr>
        </p:nvSpPr>
        <p:spPr/>
        <p:txBody>
          <a:bodyPr/>
          <a:lstStyle/>
          <a:p>
            <a:r>
              <a:t>What is the duration of a temporary</a:t>
            </a:r>
          </a:p>
          <a:p>
            <a:r>
              <a:t>license issued in Arizona under special</a:t>
            </a:r>
          </a:p>
          <a:p>
            <a:r>
              <a:t>circumstances such as the licensee's</a:t>
            </a:r>
          </a:p>
          <a:p>
            <a:r>
              <a:t>military service?</a:t>
            </a:r>
          </a:p>
          <a:p>
            <a:r>
              <a:t>90 days</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244</a:t>
            </a:r>
          </a:p>
        </p:txBody>
      </p:sp>
      <p:sp>
        <p:nvSpPr>
          <p:cNvPr id="3" name="Content Placeholder 2"/>
          <p:cNvSpPr>
            <a:spLocks noGrp="1"/>
          </p:cNvSpPr>
          <p:nvPr>
            <p:ph idx="1"/>
          </p:nvPr>
        </p:nvSpPr>
        <p:spPr/>
        <p:txBody>
          <a:bodyPr/>
          <a:lstStyle/>
          <a:p/>
          <a:p>
            <a:br/>
            <a:pPr>
              <a:defRPr sz="1400" i="1"/>
            </a:pPr>
            <a:r>
              <a:t>Explanation: the duration of a temporary</a:t>
            </a:r>
            <a:br/>
            <a:r>
              <a:t>license issued in Arizona under special</a:t>
            </a:r>
            <a:br/>
            <a:r>
              <a:t>circumstances such as the licensee's</a:t>
            </a:r>
            <a:br/>
            <a:r>
              <a:t>military service?</a:t>
            </a:r>
            <a:br/>
            <a:r>
              <a:t>90 days</a:t>
            </a:r>
            <a:br/>
            <a:r>
              <a:t>I&lt; A &gt;|</a:t>
            </a:r>
            <a:br/>
            <a:r>
              <a:t>&amp; a ..rancelicense.myabsorb.com (</a:t>
            </a:r>
            <a:br/>
            <a:r>
              <a:t>&lt; &gt; + [22]...</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245</a:t>
            </a:r>
          </a:p>
        </p:txBody>
      </p:sp>
      <p:sp>
        <p:nvSpPr>
          <p:cNvPr id="3" name="Content Placeholder 2"/>
          <p:cNvSpPr>
            <a:spLocks noGrp="1"/>
          </p:cNvSpPr>
          <p:nvPr>
            <p:ph idx="1"/>
          </p:nvPr>
        </p:nvSpPr>
        <p:spPr/>
        <p:txBody>
          <a:bodyPr/>
          <a:lstStyle/>
          <a:p>
            <a:r>
              <a:t>A provision in a life insurance policy</a:t>
            </a:r>
          </a:p>
          <a:p>
            <a:r>
              <a:t>that allows a policyholder to borrow</a:t>
            </a:r>
          </a:p>
          <a:p>
            <a:r>
              <a:t>against the cash value without</a:t>
            </a:r>
          </a:p>
          <a:p>
            <a:r>
              <a:t>surrendering the policy:</a:t>
            </a:r>
          </a:p>
          <a:p>
            <a:r>
              <a:t>Accelerated death benefit</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245</a:t>
            </a:r>
          </a:p>
        </p:txBody>
      </p:sp>
      <p:sp>
        <p:nvSpPr>
          <p:cNvPr id="3" name="Content Placeholder 2"/>
          <p:cNvSpPr>
            <a:spLocks noGrp="1"/>
          </p:cNvSpPr>
          <p:nvPr>
            <p:ph idx="1"/>
          </p:nvPr>
        </p:nvSpPr>
        <p:spPr/>
        <p:txBody>
          <a:bodyPr/>
          <a:lstStyle/>
          <a:p/>
          <a:p>
            <a:r>
              <a:t>☐ S| Question 18 Select the appropriate response A provision in a life insurance policy that allows a policyholder to borrow against the cash value without surrendering the policy: Accelerated death benefit Incontestability clause</a:t>
            </a:r>
          </a:p>
          <a:p>
            <a:pPr>
              <a:defRPr b="1"/>
            </a:pPr>
            <a:r>
              <a:t>✅ Policy loan provision Conversion privilege</a:t>
            </a:r>
          </a:p>
          <a:p>
            <a:br/>
            <a:pPr>
              <a:defRPr sz="1400" i="1"/>
            </a:pPr>
            <a:r>
              <a:t>Explanation: A policy loan provision enables policyholders to</a:t>
            </a:r>
            <a:br/>
            <a:r>
              <a:t>&gt;|...</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246</a:t>
            </a:r>
          </a:p>
        </p:txBody>
      </p:sp>
      <p:sp>
        <p:nvSpPr>
          <p:cNvPr id="3" name="Content Placeholder 2"/>
          <p:cNvSpPr>
            <a:spLocks noGrp="1"/>
          </p:cNvSpPr>
          <p:nvPr>
            <p:ph idx="1"/>
          </p:nvPr>
        </p:nvSpPr>
        <p:spPr/>
        <p:txBody>
          <a:bodyPr/>
          <a:lstStyle/>
          <a:p>
            <a:r>
              <a:t>What is the age requirement to apply</a:t>
            </a:r>
          </a:p>
          <a:p>
            <a:r>
              <a:t>for an insurance producer license in</a:t>
            </a:r>
          </a:p>
          <a:p>
            <a:r>
              <a:t>Arizona?</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246</a:t>
            </a:r>
          </a:p>
        </p:txBody>
      </p:sp>
      <p:sp>
        <p:nvSpPr>
          <p:cNvPr id="3" name="Content Placeholder 2"/>
          <p:cNvSpPr>
            <a:spLocks noGrp="1"/>
          </p:cNvSpPr>
          <p:nvPr>
            <p:ph idx="1"/>
          </p:nvPr>
        </p:nvSpPr>
        <p:spPr/>
        <p:txBody>
          <a:bodyPr/>
          <a:lstStyle/>
          <a:p/>
          <a:p>
            <a:r>
              <a:t>☐ © 16 years</a:t>
            </a:r>
          </a:p>
          <a:p>
            <a:pPr>
              <a:defRPr b="1"/>
            </a:pPr>
            <a:r>
              <a:t>✅ 25 years</a:t>
            </a:r>
          </a:p>
          <a:p>
            <a:br/>
            <a:pPr>
              <a:defRPr sz="1400" i="1"/>
            </a:pPr>
            <a:r>
              <a:t>Explanation: the age requirement to apply</a:t>
            </a:r>
            <a:br/>
            <a:r>
              <a:t>for an insurance producer license in</a:t>
            </a:r>
            <a:br/>
            <a:r>
              <a:t>Arizona?</a:t>
            </a:r>
            <a:br/>
            <a:r>
              <a:t>16 years</a:t>
            </a:r>
            <a:br/>
            <a:r>
              <a:t>x) 25 years</a:t>
            </a:r>
            <a:br/>
            <a:r>
              <a:t>Proceed =&gt;</a:t>
            </a:r>
            <a:br/>
            <a:r>
              <a:t>I&lt; A &gt;|</a:t>
            </a:r>
            <a:br/>
            <a:r>
              <a:t>&amp; a ..rancelicense.myabsorb.com (</a:t>
            </a:r>
            <a:br/>
            <a:r>
              <a:t>&lt; &gt; + [22]...</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247</a:t>
            </a:r>
          </a:p>
        </p:txBody>
      </p:sp>
      <p:sp>
        <p:nvSpPr>
          <p:cNvPr id="3" name="Content Placeholder 2"/>
          <p:cNvSpPr>
            <a:spLocks noGrp="1"/>
          </p:cNvSpPr>
          <p:nvPr>
            <p:ph idx="1"/>
          </p:nvPr>
        </p:nvSpPr>
        <p:spPr/>
        <p:txBody>
          <a:bodyPr/>
          <a:lstStyle/>
          <a:p>
            <a:r>
              <a:t>John purchases a life insurance policy</a:t>
            </a:r>
          </a:p>
          <a:p>
            <a:r>
              <a:t>and pays the initial premium. His agent</a:t>
            </a:r>
          </a:p>
          <a:p>
            <a:r>
              <a:t>provides him with a conditional receipt.</a:t>
            </a:r>
          </a:p>
          <a:p>
            <a:r>
              <a:t>What does this mean for John’s</a:t>
            </a:r>
          </a:p>
          <a:p>
            <a:r>
              <a:t>coverage?</a:t>
            </a:r>
          </a:p>
          <a:p>
            <a:r>
              <a:t>His coverage is guaranteed regardless of</a:t>
            </a:r>
          </a:p>
          <a:p>
            <a:r>
              <a:t>underwriting results</a:t>
            </a:r>
          </a:p>
          <a:p>
            <a:r>
              <a:t>He must pay an additional premium before</a:t>
            </a:r>
          </a:p>
          <a:p>
            <a:r>
              <a:t>coverage starts</a:t>
            </a:r>
          </a:p>
          <a:p>
            <a:r>
              <a:t>His coverage will only begin if he is found to</a:t>
            </a:r>
          </a:p>
          <a:p>
            <a:r>
              <a:t>be insurable</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247</a:t>
            </a:r>
          </a:p>
        </p:txBody>
      </p:sp>
      <p:sp>
        <p:nvSpPr>
          <p:cNvPr id="3" name="Content Placeholder 2"/>
          <p:cNvSpPr>
            <a:spLocks noGrp="1"/>
          </p:cNvSpPr>
          <p:nvPr>
            <p:ph idx="1"/>
          </p:nvPr>
        </p:nvSpPr>
        <p:spPr/>
        <p:txBody>
          <a:bodyPr/>
          <a:lstStyle/>
          <a:p/>
          <a:p>
            <a:br/>
            <a:pPr>
              <a:defRPr sz="1400" i="1"/>
            </a:pPr>
            <a:r>
              <a:t>Explanation: agent</a:t>
            </a:r>
            <a:br/>
            <a:r>
              <a:t>provides him with a conditional receipt.</a:t>
            </a:r>
            <a:br/>
            <a:r>
              <a:t>What does this mean for John’s</a:t>
            </a:r>
            <a:br/>
            <a:r>
              <a:t>coverage?</a:t>
            </a:r>
            <a:br/>
            <a:r>
              <a:t>His coverage is guaranteed regardless of</a:t>
            </a:r>
            <a:br/>
            <a:r>
              <a:t>underwriting results</a:t>
            </a:r>
            <a:br/>
            <a:r>
              <a:t>He must pay an additional premium before</a:t>
            </a:r>
            <a:br/>
            <a:r>
              <a:t>coverage ...</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248</a:t>
            </a:r>
          </a:p>
        </p:txBody>
      </p:sp>
      <p:sp>
        <p:nvSpPr>
          <p:cNvPr id="3" name="Content Placeholder 2"/>
          <p:cNvSpPr>
            <a:spLocks noGrp="1"/>
          </p:cNvSpPr>
          <p:nvPr>
            <p:ph idx="1"/>
          </p:nvPr>
        </p:nvSpPr>
        <p:spPr/>
        <p:txBody>
          <a:bodyPr/>
          <a:lstStyle/>
          <a:p>
            <a:r>
              <a:t>Which of the following statements</a:t>
            </a:r>
          </a:p>
          <a:p>
            <a:r>
              <a:t>about group life insurance is correct?</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248</a:t>
            </a:r>
          </a:p>
        </p:txBody>
      </p:sp>
      <p:sp>
        <p:nvSpPr>
          <p:cNvPr id="3" name="Content Placeholder 2"/>
          <p:cNvSpPr>
            <a:spLocks noGrp="1"/>
          </p:cNvSpPr>
          <p:nvPr>
            <p:ph idx="1"/>
          </p:nvPr>
        </p:nvSpPr>
        <p:spPr/>
        <p:txBody>
          <a:bodyPr/>
          <a:lstStyle/>
          <a:p/>
          <a:p>
            <a:r>
              <a:t>☐ nsurance Premiums are always paid entirely by the employee The employer is typically the policyholder</a:t>
            </a:r>
          </a:p>
          <a:p>
            <a:r>
              <a:t>☐ e Employees must provide medical evidence to qualify</a:t>
            </a:r>
          </a:p>
          <a:p>
            <a:br/>
            <a:pPr>
              <a:defRPr sz="1400" i="1"/>
            </a:pPr>
            <a:r>
              <a:t>Explanation: correct?</a:t>
            </a:r>
            <a:br/>
            <a:r>
              <a:t>It is always a permanent form of life</a:t>
            </a:r>
            <a:br/>
            <a:r>
              <a:t>insurance</a:t>
            </a:r>
            <a:br/>
            <a:r>
              <a:t>Premiums are always paid entirely by the</a:t>
            </a:r>
            <a:br/>
            <a:r>
              <a:t>employee</a:t>
            </a:r>
            <a:br/>
            <a:r>
              <a:t>The employer is typically the policyholder</a:t>
            </a:r>
            <a:br/>
            <a:r>
              <a:t>x) e Employees must provide medical evidence</a:t>
            </a:r>
            <a:br/>
            <a:r>
              <a:t>to qu...</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249</a:t>
            </a:r>
          </a:p>
        </p:txBody>
      </p:sp>
      <p:sp>
        <p:nvSpPr>
          <p:cNvPr id="3" name="Content Placeholder 2"/>
          <p:cNvSpPr>
            <a:spLocks noGrp="1"/>
          </p:cNvSpPr>
          <p:nvPr>
            <p:ph idx="1"/>
          </p:nvPr>
        </p:nvSpPr>
        <p:spPr/>
        <p:txBody>
          <a:bodyPr/>
          <a:lstStyle/>
          <a:p>
            <a:r>
              <a:t>Which of the following statements is</a:t>
            </a:r>
          </a:p>
          <a:p>
            <a:r>
              <a:t>TRUE about a fixed annuity?</a:t>
            </a:r>
          </a:p>
          <a:p>
            <a:r>
              <a:t>The contract holder can withdraw funds at</a:t>
            </a:r>
          </a:p>
          <a:p>
            <a:r>
              <a:t>any time without penalty</a:t>
            </a:r>
          </a:p>
          <a:p>
            <a:r>
              <a:t>The annuitant assumes the investment risk</a:t>
            </a:r>
          </a:p>
          <a:p>
            <a:r>
              <a:t>The insurer guarantees a fixed rate of return</a:t>
            </a:r>
          </a:p>
          <a:p>
            <a:r>
              <a:t>%) e Payments fluctuate based on market</a:t>
            </a:r>
          </a:p>
          <a:p>
            <a:r>
              <a:t>conditions</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249</a:t>
            </a:r>
          </a:p>
        </p:txBody>
      </p:sp>
      <p:sp>
        <p:nvSpPr>
          <p:cNvPr id="3" name="Content Placeholder 2"/>
          <p:cNvSpPr>
            <a:spLocks noGrp="1"/>
          </p:cNvSpPr>
          <p:nvPr>
            <p:ph idx="1"/>
          </p:nvPr>
        </p:nvSpPr>
        <p:spPr/>
        <p:txBody>
          <a:bodyPr/>
          <a:lstStyle/>
          <a:p/>
          <a:p>
            <a:br/>
            <a:pPr>
              <a:defRPr sz="1400" i="1"/>
            </a:pPr>
            <a:r>
              <a:t>Explanation: TRUE about a fixed annuity?</a:t>
            </a:r>
            <a:br/>
            <a:r>
              <a:t>The contract holder can withdraw funds at</a:t>
            </a:r>
            <a:br/>
            <a:r>
              <a:t>any time without penalty</a:t>
            </a:r>
            <a:br/>
            <a:r>
              <a:t>The annuitant assumes the investment risk</a:t>
            </a:r>
            <a:br/>
            <a:r>
              <a:t>The insurer guarantees a fixed rate of return</a:t>
            </a:r>
            <a:br/>
            <a:r>
              <a:t>%) e Payments flu...</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250</a:t>
            </a:r>
          </a:p>
        </p:txBody>
      </p:sp>
      <p:sp>
        <p:nvSpPr>
          <p:cNvPr id="3" name="Content Placeholder 2"/>
          <p:cNvSpPr>
            <a:spLocks noGrp="1"/>
          </p:cNvSpPr>
          <p:nvPr>
            <p:ph idx="1"/>
          </p:nvPr>
        </p:nvSpPr>
        <p:spPr/>
        <p:txBody>
          <a:bodyPr/>
          <a:lstStyle/>
          <a:p>
            <a:r>
              <a:t>A regulatory agency responsible for</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250</a:t>
            </a:r>
          </a:p>
        </p:txBody>
      </p:sp>
      <p:sp>
        <p:nvSpPr>
          <p:cNvPr id="3" name="Content Placeholder 2"/>
          <p:cNvSpPr>
            <a:spLocks noGrp="1"/>
          </p:cNvSpPr>
          <p:nvPr>
            <p:ph idx="1"/>
          </p:nvPr>
        </p:nvSpPr>
        <p:spPr/>
        <p:txBody>
          <a:bodyPr/>
          <a:lstStyle/>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251</a:t>
            </a:r>
          </a:p>
        </p:txBody>
      </p:sp>
      <p:sp>
        <p:nvSpPr>
          <p:cNvPr id="3" name="Content Placeholder 2"/>
          <p:cNvSpPr>
            <a:spLocks noGrp="1"/>
          </p:cNvSpPr>
          <p:nvPr>
            <p:ph idx="1"/>
          </p:nvPr>
        </p:nvSpPr>
        <p:spPr/>
        <p:txBody>
          <a:bodyPr/>
          <a:lstStyle/>
          <a:p>
            <a:r>
              <a:t>A retirement plan that allows</a:t>
            </a:r>
          </a:p>
          <a:p>
            <a:r>
              <a:t>employees to defer a portion of their</a:t>
            </a:r>
          </a:p>
          <a:p>
            <a:r>
              <a:t>salary into an account, often with</a:t>
            </a:r>
          </a:p>
          <a:p>
            <a:r>
              <a:t>employer matching contributions:</a:t>
            </a:r>
          </a:p>
          <a:p>
            <a:r>
              <a:t>SEP IRA</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251</a:t>
            </a:r>
          </a:p>
        </p:txBody>
      </p:sp>
      <p:sp>
        <p:nvSpPr>
          <p:cNvPr id="3" name="Content Placeholder 2"/>
          <p:cNvSpPr>
            <a:spLocks noGrp="1"/>
          </p:cNvSpPr>
          <p:nvPr>
            <p:ph idx="1"/>
          </p:nvPr>
        </p:nvSpPr>
        <p:spPr/>
        <p:txBody>
          <a:bodyPr/>
          <a:lstStyle/>
          <a:p/>
          <a:p>
            <a:pPr>
              <a:defRPr b="1"/>
            </a:pPr>
            <a:r>
              <a:t>✅ 401(k) plan ar cetoredconpensetoupan</a:t>
            </a:r>
          </a:p>
          <a:p>
            <a:r>
              <a:t>☐ 403(b) plan</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252</a:t>
            </a:r>
          </a:p>
        </p:txBody>
      </p:sp>
      <p:sp>
        <p:nvSpPr>
          <p:cNvPr id="3" name="Content Placeholder 2"/>
          <p:cNvSpPr>
            <a:spLocks noGrp="1"/>
          </p:cNvSpPr>
          <p:nvPr>
            <p:ph idx="1"/>
          </p:nvPr>
        </p:nvSpPr>
        <p:spPr/>
        <p:txBody>
          <a:bodyPr/>
          <a:lstStyle/>
          <a:p>
            <a:r>
              <a:t>A company-owned insurance provider</a:t>
            </a:r>
          </a:p>
          <a:p>
            <a:r>
              <a:t>established to cover the risks of its</a:t>
            </a:r>
          </a:p>
          <a:p>
            <a:r>
              <a:t>parent company:</a:t>
            </a:r>
          </a:p>
          <a:p>
            <a:r>
              <a:t>Stock insurer</a:t>
            </a:r>
          </a:p>
          <a:p>
            <a:r>
              <a:t>Mutual insurer</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252</a:t>
            </a:r>
          </a:p>
        </p:txBody>
      </p:sp>
      <p:sp>
        <p:nvSpPr>
          <p:cNvPr id="3" name="Content Placeholder 2"/>
          <p:cNvSpPr>
            <a:spLocks noGrp="1"/>
          </p:cNvSpPr>
          <p:nvPr>
            <p:ph idx="1"/>
          </p:nvPr>
        </p:nvSpPr>
        <p:spPr/>
        <p:txBody>
          <a:bodyPr/>
          <a:lstStyle/>
          <a:p/>
          <a:p>
            <a:r>
              <a:t>☐ S| Question 25 Select the appropriate response A company-owned insurance provider established to cover the risks of its parent company: Stock insurer Mutual insurer</a:t>
            </a:r>
          </a:p>
          <a:p>
            <a:pPr>
              <a:defRPr b="1"/>
            </a:pPr>
            <a:r>
              <a:t>✅ Captive insurer Fraternal benefit society</a:t>
            </a:r>
          </a:p>
          <a:p>
            <a:br/>
            <a:pPr>
              <a:defRPr sz="1400" i="1"/>
            </a:pPr>
            <a:r>
              <a:t>Explanation: A captive insurer is created by a parent company</a:t>
            </a:r>
            <a:br/>
            <a:r>
              <a:t>to insure its own risks, providing greater control over</a:t>
            </a:r>
            <a:br/>
            <a:r>
              <a:t>&gt;|...</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253</a:t>
            </a:r>
          </a:p>
        </p:txBody>
      </p:sp>
      <p:sp>
        <p:nvSpPr>
          <p:cNvPr id="3" name="Content Placeholder 2"/>
          <p:cNvSpPr>
            <a:spLocks noGrp="1"/>
          </p:cNvSpPr>
          <p:nvPr>
            <p:ph idx="1"/>
          </p:nvPr>
        </p:nvSpPr>
        <p:spPr/>
        <p:txBody>
          <a:bodyPr/>
          <a:lstStyle/>
          <a:p>
            <a:r>
              <a:t>James recently left his job but wants to</a:t>
            </a:r>
          </a:p>
          <a:p>
            <a:r>
              <a:t>continue his life insurance coverage.</a:t>
            </a:r>
          </a:p>
          <a:p>
            <a:r>
              <a:t>What is his best option?</a:t>
            </a:r>
          </a:p>
          <a:p>
            <a:r>
              <a:t>Purchase a new term life policy from a</a:t>
            </a:r>
          </a:p>
          <a:p>
            <a:r>
              <a:t>different insurer</a:t>
            </a:r>
          </a:p>
          <a:p>
            <a:r>
              <a:t>Continue group coverage indefinitely under</a:t>
            </a:r>
          </a:p>
          <a:p>
            <a:r>
              <a:t>his former employer’s plan</a:t>
            </a:r>
          </a:p>
          <a:p>
            <a:r>
              <a:t>Wait until he gets a new job to obtain new</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253</a:t>
            </a:r>
          </a:p>
        </p:txBody>
      </p:sp>
      <p:sp>
        <p:nvSpPr>
          <p:cNvPr id="3" name="Content Placeholder 2"/>
          <p:cNvSpPr>
            <a:spLocks noGrp="1"/>
          </p:cNvSpPr>
          <p:nvPr>
            <p:ph idx="1"/>
          </p:nvPr>
        </p:nvSpPr>
        <p:spPr/>
        <p:txBody>
          <a:bodyPr/>
          <a:lstStyle/>
          <a:p/>
          <a:p>
            <a:pPr>
              <a:defRPr b="1"/>
            </a:pPr>
            <a:r>
              <a:t>✅ roup coverage Convert his group coverage to an individual whole life policy</a:t>
            </a:r>
          </a:p>
          <a:p>
            <a:br/>
            <a:pPr>
              <a:defRPr sz="1400" i="1"/>
            </a:pPr>
            <a:r>
              <a:t>Explanation: job but wants to</a:t>
            </a:r>
            <a:br/>
            <a:r>
              <a:t>continue his life insurance coverage.</a:t>
            </a:r>
            <a:br/>
            <a:r>
              <a:t>What is his best option?</a:t>
            </a:r>
            <a:br/>
            <a:r>
              <a:t>Purchase a new term life policy from a</a:t>
            </a:r>
            <a:br/>
            <a:r>
              <a:t>different insurer</a:t>
            </a:r>
            <a:br/>
            <a:r>
              <a:t>Continue group coverage indefinitely under</a:t>
            </a:r>
            <a:br/>
            <a:r>
              <a:t>his former employer’...</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254</a:t>
            </a:r>
          </a:p>
        </p:txBody>
      </p:sp>
      <p:sp>
        <p:nvSpPr>
          <p:cNvPr id="3" name="Content Placeholder 2"/>
          <p:cNvSpPr>
            <a:spLocks noGrp="1"/>
          </p:cNvSpPr>
          <p:nvPr>
            <p:ph idx="1"/>
          </p:nvPr>
        </p:nvSpPr>
        <p:spPr/>
        <p:txBody>
          <a:bodyPr/>
          <a:lstStyle/>
          <a:p>
            <a:r>
              <a:t>All of the following are factors that</a:t>
            </a:r>
          </a:p>
          <a:p>
            <a:r>
              <a:t>affect life insurance premiums</a:t>
            </a:r>
          </a:p>
          <a:p>
            <a:r>
              <a:t>EXCEPT:</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254</a:t>
            </a:r>
          </a:p>
        </p:txBody>
      </p:sp>
      <p:sp>
        <p:nvSpPr>
          <p:cNvPr id="3" name="Content Placeholder 2"/>
          <p:cNvSpPr>
            <a:spLocks noGrp="1"/>
          </p:cNvSpPr>
          <p:nvPr>
            <p:ph idx="1"/>
          </p:nvPr>
        </p:nvSpPr>
        <p:spPr/>
        <p:txBody>
          <a:bodyPr/>
          <a:lstStyle/>
          <a:p/>
          <a:p>
            <a:r>
              <a:t>☐ Age</a:t>
            </a:r>
          </a:p>
          <a:p>
            <a:pPr>
              <a:defRPr b="1"/>
            </a:pPr>
            <a:r>
              <a:t>✅ Marital status</a:t>
            </a:r>
          </a:p>
          <a:p>
            <a:r>
              <a:t>☐ Health</a:t>
            </a:r>
          </a:p>
          <a:p>
            <a:br/>
            <a:pPr>
              <a:defRPr sz="1400" i="1"/>
            </a:pPr>
            <a:r>
              <a:t>Explanation: not a</a:t>
            </a:r>
            <a:br/>
            <a:r>
              <a:t>———— =</a:t>
            </a:r>
            <a:br/>
            <a:r>
              <a:t>I&lt; A &gt;|</a:t>
            </a:r>
            <a:br/>
            <a:r>
              <a:t>&amp; a ..rancelicense.myabsorb.com (</a:t>
            </a:r>
            <a:br/>
            <a:r>
              <a:t>&lt; &gt; + [22]...</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255</a:t>
            </a:r>
          </a:p>
        </p:txBody>
      </p:sp>
      <p:sp>
        <p:nvSpPr>
          <p:cNvPr id="3" name="Content Placeholder 2"/>
          <p:cNvSpPr>
            <a:spLocks noGrp="1"/>
          </p:cNvSpPr>
          <p:nvPr>
            <p:ph idx="1"/>
          </p:nvPr>
        </p:nvSpPr>
        <p:spPr/>
        <p:txBody>
          <a:bodyPr/>
          <a:lstStyle/>
          <a:p>
            <a:r>
              <a:t>All of the following are methods</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255</a:t>
            </a:r>
          </a:p>
        </p:txBody>
      </p:sp>
      <p:sp>
        <p:nvSpPr>
          <p:cNvPr id="3" name="Content Placeholder 2"/>
          <p:cNvSpPr>
            <a:spLocks noGrp="1"/>
          </p:cNvSpPr>
          <p:nvPr>
            <p:ph idx="1"/>
          </p:nvPr>
        </p:nvSpPr>
        <p:spPr/>
        <p:txBody>
          <a:bodyPr/>
          <a:lstStyle/>
          <a:p/>
          <a:p>
            <a:r>
              <a:t>☐ nsurance companies use to reduce adverse selection EXCEPT:</a:t>
            </a:r>
          </a:p>
          <a:p>
            <a:r>
              <a:t>☐ Medical examinations Underwriting</a:t>
            </a:r>
          </a:p>
          <a:p>
            <a:r>
              <a:t>☐ © Policy exclusions</a:t>
            </a:r>
          </a:p>
          <a:p>
            <a:pPr>
              <a:defRPr b="1"/>
            </a:pPr>
            <a:r>
              <a:t>✅ Offering policies only to high-risk individuals</a:t>
            </a:r>
          </a:p>
          <a:p>
            <a:r>
              <a:t>☐ ndividuals seek insurance, and insurers counteract it as ——s _ ne 1 I&lt; A &gt;| &amp; a ..rancelicense.myabsorb.com (© &lt; &gt; + [22]</a:t>
            </a:r>
          </a:p>
          <a:p>
            <a:br/>
            <a:pPr>
              <a:defRPr sz="1400" i="1"/>
            </a:pPr>
            <a:r>
              <a:t>Explanation: insurance companies use to reduce</a:t>
            </a:r>
            <a:br/>
            <a:r>
              <a:t>adverse selection EXCEPT:</a:t>
            </a:r>
            <a:br/>
            <a:r>
              <a:t>x) Medical examinations</a:t>
            </a:r>
            <a:br/>
            <a:r>
              <a:t>Underwriting</a:t>
            </a:r>
            <a:br/>
            <a:r>
              <a:t>Policy exclusions</a:t>
            </a:r>
            <a:br/>
            <a:r>
              <a:t>g Offering policies only to high-risk individuals</a:t>
            </a:r>
            <a:br/>
            <a:r>
              <a:t>% Adverse selection occurs when hig...</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256</a:t>
            </a:r>
          </a:p>
        </p:txBody>
      </p:sp>
      <p:sp>
        <p:nvSpPr>
          <p:cNvPr id="3" name="Content Placeholder 2"/>
          <p:cNvSpPr>
            <a:spLocks noGrp="1"/>
          </p:cNvSpPr>
          <p:nvPr>
            <p:ph idx="1"/>
          </p:nvPr>
        </p:nvSpPr>
        <p:spPr/>
        <p:txBody>
          <a:bodyPr/>
          <a:lstStyle/>
          <a:p>
            <a:r>
              <a:t>A provision that allows a policyholder</a:t>
            </a:r>
          </a:p>
          <a:p>
            <a:r>
              <a:t>to reinstate a lapsed life insurance</a:t>
            </a:r>
          </a:p>
          <a:p>
            <a:r>
              <a:t>policy under specific conditions:</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256</a:t>
            </a:r>
          </a:p>
        </p:txBody>
      </p:sp>
      <p:sp>
        <p:nvSpPr>
          <p:cNvPr id="3" name="Content Placeholder 2"/>
          <p:cNvSpPr>
            <a:spLocks noGrp="1"/>
          </p:cNvSpPr>
          <p:nvPr>
            <p:ph idx="1"/>
          </p:nvPr>
        </p:nvSpPr>
        <p:spPr/>
        <p:txBody>
          <a:bodyPr/>
          <a:lstStyle/>
          <a:p/>
          <a:p>
            <a:r>
              <a:t>☐ Misstatement of age clause Assignment clause € © Grace period provision</a:t>
            </a:r>
          </a:p>
          <a:p>
            <a:pPr>
              <a:defRPr b="1"/>
            </a:pPr>
            <a:r>
              <a:t>✅ Reinstatement provision</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257</a:t>
            </a:r>
          </a:p>
        </p:txBody>
      </p:sp>
      <p:sp>
        <p:nvSpPr>
          <p:cNvPr id="3" name="Content Placeholder 2"/>
          <p:cNvSpPr>
            <a:spLocks noGrp="1"/>
          </p:cNvSpPr>
          <p:nvPr>
            <p:ph idx="1"/>
          </p:nvPr>
        </p:nvSpPr>
        <p:spPr/>
        <p:txBody>
          <a:bodyPr/>
          <a:lstStyle/>
          <a:p>
            <a:r>
              <a:t>The following are characteristics of a</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257</a:t>
            </a:r>
          </a:p>
        </p:txBody>
      </p:sp>
      <p:sp>
        <p:nvSpPr>
          <p:cNvPr id="3" name="Content Placeholder 2"/>
          <p:cNvSpPr>
            <a:spLocks noGrp="1"/>
          </p:cNvSpPr>
          <p:nvPr>
            <p:ph idx="1"/>
          </p:nvPr>
        </p:nvSpPr>
        <p:spPr/>
        <p:txBody>
          <a:bodyPr/>
          <a:lstStyle/>
          <a:p/>
          <a:p>
            <a:pPr>
              <a:defRPr b="1"/>
            </a:pPr>
            <a:r>
              <a:t>✅ ariable annuity EXCEPT: Funds are invested in a separate account Payments fluctuate based on investment performance The insurer guarantees a minimum return %) e The contract holder assumes the investment risk</a:t>
            </a:r>
          </a:p>
          <a:p>
            <a:br/>
            <a:pPr>
              <a:defRPr sz="1400" i="1"/>
            </a:pPr>
            <a:r>
              <a:t>Explanation: are invested in a separate account</a:t>
            </a:r>
            <a:br/>
            <a:r>
              <a:t>Payments fluctuate based on investment</a:t>
            </a:r>
            <a:br/>
            <a:r>
              <a:t>performance</a:t>
            </a:r>
            <a:br/>
            <a:r>
              <a:t>The insurer guarantees a minimum return</a:t>
            </a:r>
            <a:br/>
            <a:r>
              <a:t>%) e The contract holder assumes the investment</a:t>
            </a:r>
            <a:br/>
            <a:r>
              <a:t>risk</a:t>
            </a:r>
            <a:br/>
            <a:r>
              <a:t>Proceed =&gt;</a:t>
            </a:r>
            <a:br/>
            <a:r>
              <a:t>% Variable...</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258</a:t>
            </a:r>
          </a:p>
        </p:txBody>
      </p:sp>
      <p:sp>
        <p:nvSpPr>
          <p:cNvPr id="3" name="Content Placeholder 2"/>
          <p:cNvSpPr>
            <a:spLocks noGrp="1"/>
          </p:cNvSpPr>
          <p:nvPr>
            <p:ph idx="1"/>
          </p:nvPr>
        </p:nvSpPr>
        <p:spPr/>
        <p:txBody>
          <a:bodyPr/>
          <a:lstStyle/>
          <a:p>
            <a:r>
              <a:t>The premium payment frequency that</a:t>
            </a:r>
          </a:p>
          <a:p>
            <a:r>
              <a:t>typically results in the lowest total cost</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258</a:t>
            </a:r>
          </a:p>
        </p:txBody>
      </p:sp>
      <p:sp>
        <p:nvSpPr>
          <p:cNvPr id="3" name="Content Placeholder 2"/>
          <p:cNvSpPr>
            <a:spLocks noGrp="1"/>
          </p:cNvSpPr>
          <p:nvPr>
            <p:ph idx="1"/>
          </p:nvPr>
        </p:nvSpPr>
        <p:spPr/>
        <p:txBody>
          <a:bodyPr/>
          <a:lstStyle/>
          <a:p/>
          <a:p>
            <a:r>
              <a:t>☐ Quarterly mode</a:t>
            </a:r>
          </a:p>
          <a:p>
            <a:pPr>
              <a:defRPr b="1"/>
            </a:pPr>
            <a:r>
              <a:t>✅ Annual mode € © Monthly mode</a:t>
            </a:r>
          </a:p>
          <a:p>
            <a:r>
              <a:t>☐ Semi-annual mode</a:t>
            </a:r>
          </a:p>
          <a:p>
            <a:br/>
            <a:pPr>
              <a:defRPr sz="1400" i="1"/>
            </a:pPr>
            <a:r>
              <a:t>Explanation: usually the</a:t>
            </a:r>
            <a:br/>
            <a:r>
              <a:t>cheapest option because it reduces administrative</a:t>
            </a:r>
            <a:br/>
            <a:r>
              <a:t>os - cur _—_</a:t>
            </a:r>
            <a:br/>
            <a:r>
              <a:t>I&lt; A &gt;|</a:t>
            </a:r>
            <a:br/>
            <a:r>
              <a:t>&amp; a ..rancelicense.myabsorb.com (</a:t>
            </a:r>
            <a:br/>
            <a:r>
              <a:t>&lt; &gt; + [22]...</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259</a:t>
            </a:r>
          </a:p>
        </p:txBody>
      </p:sp>
      <p:sp>
        <p:nvSpPr>
          <p:cNvPr id="3" name="Content Placeholder 2"/>
          <p:cNvSpPr>
            <a:spLocks noGrp="1"/>
          </p:cNvSpPr>
          <p:nvPr>
            <p:ph idx="1"/>
          </p:nvPr>
        </p:nvSpPr>
        <p:spPr/>
        <p:txBody>
          <a:bodyPr/>
          <a:lstStyle/>
          <a:p>
            <a:r>
              <a:t>A feature of annuities that ensures</a:t>
            </a:r>
          </a:p>
          <a:p>
            <a:r>
              <a:t>payments continue for the annuitant’s</a:t>
            </a:r>
          </a:p>
          <a:p>
            <a:r>
              <a:t>entire life:</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259</a:t>
            </a:r>
          </a:p>
        </p:txBody>
      </p:sp>
      <p:sp>
        <p:nvSpPr>
          <p:cNvPr id="3" name="Content Placeholder 2"/>
          <p:cNvSpPr>
            <a:spLocks noGrp="1"/>
          </p:cNvSpPr>
          <p:nvPr>
            <p:ph idx="1"/>
          </p:nvPr>
        </p:nvSpPr>
        <p:spPr/>
        <p:txBody>
          <a:bodyPr/>
          <a:lstStyle/>
          <a:p/>
          <a:p>
            <a:r>
              <a:t>☐ Market-adjusted annuity Guaranteed minimum income benefit</a:t>
            </a:r>
          </a:p>
          <a:p>
            <a:r>
              <a:t>☐ e Nonforfeiture benefit</a:t>
            </a:r>
          </a:p>
          <a:p>
            <a:pPr>
              <a:defRPr b="1"/>
            </a:pPr>
            <a:r>
              <a:t>✅ Life annuitization option</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260</a:t>
            </a:r>
          </a:p>
        </p:txBody>
      </p:sp>
      <p:sp>
        <p:nvSpPr>
          <p:cNvPr id="3" name="Content Placeholder 2"/>
          <p:cNvSpPr>
            <a:spLocks noGrp="1"/>
          </p:cNvSpPr>
          <p:nvPr>
            <p:ph idx="1"/>
          </p:nvPr>
        </p:nvSpPr>
        <p:spPr/>
        <p:txBody>
          <a:bodyPr/>
          <a:lstStyle/>
          <a:p>
            <a:r>
              <a:t>Which type of annuity provides a</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260</a:t>
            </a:r>
          </a:p>
        </p:txBody>
      </p:sp>
      <p:sp>
        <p:nvSpPr>
          <p:cNvPr id="3" name="Content Placeholder 2"/>
          <p:cNvSpPr>
            <a:spLocks noGrp="1"/>
          </p:cNvSpPr>
          <p:nvPr>
            <p:ph idx="1"/>
          </p:nvPr>
        </p:nvSpPr>
        <p:spPr/>
        <p:txBody>
          <a:bodyPr/>
          <a:lstStyle/>
          <a:p/>
          <a:p>
            <a:pPr>
              <a:defRPr b="1"/>
            </a:pPr>
            <a:r>
              <a:t>✅ uaranteed income for the annuitant’s lifetime but ceases upon their death?</a:t>
            </a:r>
          </a:p>
          <a:p>
            <a:r>
              <a:t>☐ Life-only annuity Period certain annuity € Fixed index annuity</a:t>
            </a:r>
          </a:p>
          <a:p>
            <a:r>
              <a:t>☐ Joint and survivor annuity</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261</a:t>
            </a:r>
          </a:p>
        </p:txBody>
      </p:sp>
      <p:sp>
        <p:nvSpPr>
          <p:cNvPr id="3" name="Content Placeholder 2"/>
          <p:cNvSpPr>
            <a:spLocks noGrp="1"/>
          </p:cNvSpPr>
          <p:nvPr>
            <p:ph idx="1"/>
          </p:nvPr>
        </p:nvSpPr>
        <p:spPr/>
        <p:txBody>
          <a:bodyPr/>
          <a:lstStyle/>
          <a:p>
            <a:r>
              <a:t>All of the following are benefits of</a:t>
            </a:r>
          </a:p>
          <a:p>
            <a:r>
              <a:t>annuities EXCEPT:</a:t>
            </a:r>
          </a:p>
          <a:p>
            <a:r>
              <a:t>They offer immediate liquidity for</a:t>
            </a:r>
          </a:p>
          <a:p>
            <a:r>
              <a:t>emergencies</a:t>
            </a:r>
          </a:p>
          <a:p>
            <a:r>
              <a:t>They reduce the risk of outliving retirement</a:t>
            </a:r>
          </a:p>
          <a:p>
            <a:r>
              <a:t>savings</a:t>
            </a:r>
          </a:p>
          <a:p>
            <a:r>
              <a:t>They provide guaranteed income</a:t>
            </a:r>
          </a:p>
          <a:p>
            <a:r>
              <a:t>They allow tax-deferred growth</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261</a:t>
            </a:r>
          </a:p>
        </p:txBody>
      </p:sp>
      <p:sp>
        <p:nvSpPr>
          <p:cNvPr id="3" name="Content Placeholder 2"/>
          <p:cNvSpPr>
            <a:spLocks noGrp="1"/>
          </p:cNvSpPr>
          <p:nvPr>
            <p:ph idx="1"/>
          </p:nvPr>
        </p:nvSpPr>
        <p:spPr/>
        <p:txBody>
          <a:bodyPr/>
          <a:lstStyle/>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262</a:t>
            </a:r>
          </a:p>
        </p:txBody>
      </p:sp>
      <p:sp>
        <p:nvSpPr>
          <p:cNvPr id="3" name="Content Placeholder 2"/>
          <p:cNvSpPr>
            <a:spLocks noGrp="1"/>
          </p:cNvSpPr>
          <p:nvPr>
            <p:ph idx="1"/>
          </p:nvPr>
        </p:nvSpPr>
        <p:spPr/>
        <p:txBody>
          <a:bodyPr/>
          <a:lstStyle/>
          <a:p>
            <a:r>
              <a:t>Samantha, a 35-year-old non-smoker,</a:t>
            </a:r>
          </a:p>
          <a:p>
            <a:r>
              <a:t>applies for a life insurance policy. Her</a:t>
            </a:r>
          </a:p>
          <a:p>
            <a:r>
              <a:t>premium is significantly lower than her</a:t>
            </a:r>
          </a:p>
          <a:p>
            <a:r>
              <a:t>friend’s, who is a 45-year-old smoker.</a:t>
            </a:r>
          </a:p>
          <a:p>
            <a:r>
              <a:t>What is the primary reason for this</a:t>
            </a:r>
          </a:p>
          <a:p>
            <a:r>
              <a:t>difference?</a:t>
            </a:r>
          </a:p>
          <a:p>
            <a:r>
              <a:t>Mortality and lifestyle risks impact premium</a:t>
            </a:r>
          </a:p>
          <a:p>
            <a:r>
              <a:t>Her policy has a shorter term length</a:t>
            </a:r>
          </a:p>
          <a:p>
            <a:r>
              <a:t>Samantha’s policy includes a waiver of</a:t>
            </a:r>
          </a:p>
          <a:p>
            <a:r>
              <a:t>premium rider</a:t>
            </a:r>
          </a:p>
          <a:p>
            <a:r>
              <a:t>Her policy has a lower death benefit</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262</a:t>
            </a:r>
          </a:p>
        </p:txBody>
      </p:sp>
      <p:sp>
        <p:nvSpPr>
          <p:cNvPr id="3" name="Content Placeholder 2"/>
          <p:cNvSpPr>
            <a:spLocks noGrp="1"/>
          </p:cNvSpPr>
          <p:nvPr>
            <p:ph idx="1"/>
          </p:nvPr>
        </p:nvSpPr>
        <p:spPr/>
        <p:txBody>
          <a:bodyPr/>
          <a:lstStyle/>
          <a:p/>
          <a:p>
            <a:br/>
            <a:pPr>
              <a:defRPr sz="1400" i="1"/>
            </a:pPr>
            <a:r>
              <a:t>Explanation: significantly lower than her</a:t>
            </a:r>
            <a:br/>
            <a:r>
              <a:t>friend’s, who is a 45-year-old smoker.</a:t>
            </a:r>
            <a:br/>
            <a:r>
              <a:t>What is the primary reason for this</a:t>
            </a:r>
            <a:br/>
            <a:r>
              <a:t>difference?</a:t>
            </a:r>
            <a:br/>
            <a:r>
              <a:t>Mortality and lifestyle risks impact premium</a:t>
            </a:r>
            <a:br/>
            <a:r>
              <a:t>Her policy has a shorter term length</a:t>
            </a:r>
            <a:br/>
            <a:r>
              <a:t>Sa...</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263</a:t>
            </a:r>
          </a:p>
        </p:txBody>
      </p:sp>
      <p:sp>
        <p:nvSpPr>
          <p:cNvPr id="3" name="Content Placeholder 2"/>
          <p:cNvSpPr>
            <a:spLocks noGrp="1"/>
          </p:cNvSpPr>
          <p:nvPr>
            <p:ph idx="1"/>
          </p:nvPr>
        </p:nvSpPr>
        <p:spPr/>
        <p:txBody>
          <a:bodyPr/>
          <a:lstStyle/>
          <a:p>
            <a:r>
              <a:t>John is 62 years old and plans to retire</a:t>
            </a:r>
          </a:p>
          <a:p>
            <a:r>
              <a:t>soon. He is considering whether to</a:t>
            </a:r>
          </a:p>
          <a:p>
            <a:r>
              <a:t>start Social Security benefits now or</a:t>
            </a:r>
          </a:p>
          <a:p>
            <a:r>
              <a:t>wait until full retirement age. What will</a:t>
            </a:r>
          </a:p>
          <a:p>
            <a:r>
              <a:t>happen if he claims benefits early?</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263</a:t>
            </a:r>
          </a:p>
        </p:txBody>
      </p:sp>
      <p:sp>
        <p:nvSpPr>
          <p:cNvPr id="3" name="Content Placeholder 2"/>
          <p:cNvSpPr>
            <a:spLocks noGrp="1"/>
          </p:cNvSpPr>
          <p:nvPr>
            <p:ph idx="1"/>
          </p:nvPr>
        </p:nvSpPr>
        <p:spPr/>
        <p:txBody>
          <a:bodyPr/>
          <a:lstStyle/>
          <a:p/>
          <a:p>
            <a:pPr>
              <a:defRPr b="1"/>
            </a:pPr>
            <a:r>
              <a:t>✅ His benefits will be permanently reduced &gt;) His benefits will automatically increase at age 67</a:t>
            </a:r>
          </a:p>
          <a:p>
            <a:r>
              <a:t>☐ © Hewill receive full benefits with no reduction</a:t>
            </a:r>
          </a:p>
          <a:p>
            <a:r>
              <a:t>☐ ] His earnings will have no effect on his benefits</a:t>
            </a:r>
          </a:p>
          <a:p>
            <a:br/>
            <a:pPr>
              <a:defRPr sz="1400" i="1"/>
            </a:pPr>
            <a:r>
              <a:t>Explanation: 62 years old and plans to retire</a:t>
            </a:r>
            <a:br/>
            <a:r>
              <a:t>soon. He is considering whether to</a:t>
            </a:r>
            <a:br/>
            <a:r>
              <a:t>start Social Security benefits now or</a:t>
            </a:r>
            <a:br/>
            <a:r>
              <a:t>wait until full retirement age. What will</a:t>
            </a:r>
            <a:br/>
            <a:r>
              <a:t>happen if he claims benefits early?</a:t>
            </a:r>
            <a:br/>
            <a:r>
              <a:t>g His benefits w...</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264</a:t>
            </a:r>
          </a:p>
        </p:txBody>
      </p:sp>
      <p:sp>
        <p:nvSpPr>
          <p:cNvPr id="3" name="Content Placeholder 2"/>
          <p:cNvSpPr>
            <a:spLocks noGrp="1"/>
          </p:cNvSpPr>
          <p:nvPr>
            <p:ph idx="1"/>
          </p:nvPr>
        </p:nvSpPr>
        <p:spPr/>
        <p:txBody>
          <a:bodyPr/>
          <a:lstStyle/>
          <a:p>
            <a:r>
              <a:t>What is the primary difference</a:t>
            </a:r>
          </a:p>
          <a:p>
            <a:r>
              <a:t>between stock and mutual insurance</a:t>
            </a:r>
          </a:p>
          <a:p>
            <a:r>
              <a:t>companies?</a:t>
            </a:r>
          </a:p>
          <a:p>
            <a:r>
              <a:t>Mutual companies distribute dividends to</a:t>
            </a:r>
          </a:p>
          <a:p>
            <a:r>
              <a:t>shareholders, while stock companies do not</a:t>
            </a:r>
          </a:p>
          <a:p>
            <a:r>
              <a:t>Stock companies are owned by</a:t>
            </a:r>
          </a:p>
          <a:p>
            <a:r>
              <a:t>policyholders, while mutual companies are</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264</a:t>
            </a:r>
          </a:p>
        </p:txBody>
      </p:sp>
      <p:sp>
        <p:nvSpPr>
          <p:cNvPr id="3" name="Content Placeholder 2"/>
          <p:cNvSpPr>
            <a:spLocks noGrp="1"/>
          </p:cNvSpPr>
          <p:nvPr>
            <p:ph idx="1"/>
          </p:nvPr>
        </p:nvSpPr>
        <p:spPr/>
        <p:txBody>
          <a:bodyPr/>
          <a:lstStyle/>
          <a:p/>
          <a:p>
            <a:pPr>
              <a:defRPr b="1"/>
            </a:pPr>
            <a:r>
              <a:t>✅ nly mutual companies can offer life</a:t>
            </a:r>
          </a:p>
          <a:p>
            <a:r>
              <a:t>☐ nsurance policies Stock companies are owned by shareholders and issue nonparticipating policies, while mutual companies are owned by policyholders and issue participating policies</a:t>
            </a:r>
          </a:p>
          <a:p>
            <a:br/>
            <a:pPr>
              <a:defRPr sz="1400" i="1"/>
            </a:pPr>
            <a:r>
              <a:t>Explanation: the primary difference</a:t>
            </a:r>
            <a:br/>
            <a:r>
              <a:t>between stock and mutual insurance</a:t>
            </a:r>
            <a:br/>
            <a:r>
              <a:t>companies?</a:t>
            </a:r>
            <a:br/>
            <a:r>
              <a:t>Mutual companies distribute dividends to</a:t>
            </a:r>
            <a:br/>
            <a:r>
              <a:t>shareholders, while stock companies do not</a:t>
            </a:r>
            <a:br/>
            <a:r>
              <a:t>Stock companies are owned by</a:t>
            </a:r>
            <a:br/>
            <a:r>
              <a:t>policyholders, whi...</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265</a:t>
            </a:r>
          </a:p>
        </p:txBody>
      </p:sp>
      <p:sp>
        <p:nvSpPr>
          <p:cNvPr id="3" name="Content Placeholder 2"/>
          <p:cNvSpPr>
            <a:spLocks noGrp="1"/>
          </p:cNvSpPr>
          <p:nvPr>
            <p:ph idx="1"/>
          </p:nvPr>
        </p:nvSpPr>
        <p:spPr/>
        <p:txBody>
          <a:bodyPr/>
          <a:lstStyle/>
          <a:p>
            <a:r>
              <a:t>Maria, age 45, became disabled and</a:t>
            </a:r>
          </a:p>
          <a:p>
            <a:r>
              <a:t>cannot work. She has worked for 20</a:t>
            </a:r>
          </a:p>
          <a:p>
            <a:r>
              <a:t>years and contributed to Social</a:t>
            </a:r>
          </a:p>
          <a:p>
            <a:r>
              <a:t>Security. What benefits may she</a:t>
            </a:r>
          </a:p>
          <a:p>
            <a:r>
              <a:t>qualify for?</a:t>
            </a:r>
          </a:p>
          <a:p>
            <a:r>
              <a:t>Full Social Security benefits at any age</a:t>
            </a:r>
          </a:p>
          <a:p>
            <a:r>
              <a:t>Social Security disability benefits if she</a:t>
            </a:r>
          </a:p>
          <a:p>
            <a:r>
              <a:t>meets the strict disability criteria</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265</a:t>
            </a:r>
          </a:p>
        </p:txBody>
      </p:sp>
      <p:sp>
        <p:nvSpPr>
          <p:cNvPr id="3" name="Content Placeholder 2"/>
          <p:cNvSpPr>
            <a:spLocks noGrp="1"/>
          </p:cNvSpPr>
          <p:nvPr>
            <p:ph idx="1"/>
          </p:nvPr>
        </p:nvSpPr>
        <p:spPr/>
        <p:txBody>
          <a:bodyPr/>
          <a:lstStyle/>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266</a:t>
            </a:r>
          </a:p>
        </p:txBody>
      </p:sp>
      <p:sp>
        <p:nvSpPr>
          <p:cNvPr id="3" name="Content Placeholder 2"/>
          <p:cNvSpPr>
            <a:spLocks noGrp="1"/>
          </p:cNvSpPr>
          <p:nvPr>
            <p:ph idx="1"/>
          </p:nvPr>
        </p:nvSpPr>
        <p:spPr/>
        <p:txBody>
          <a:bodyPr/>
          <a:lstStyle/>
          <a:p>
            <a:r>
              <a:t>Which of the following best describes</a:t>
            </a:r>
          </a:p>
          <a:p>
            <a:r>
              <a:t>the primary function of life insurance?</a:t>
            </a:r>
          </a:p>
          <a:p>
            <a:r>
              <a:t>To serve as a high-return investment vehicle</a:t>
            </a:r>
          </a:p>
          <a:p>
            <a:r>
              <a:t>for policyholders</a:t>
            </a:r>
          </a:p>
          <a:p>
            <a:r>
              <a:t>To guarantee financial independence for</a:t>
            </a:r>
          </a:p>
          <a:p>
            <a:r>
              <a:t>retirees</a:t>
            </a:r>
          </a:p>
          <a:p>
            <a:r>
              <a:t>To protect an individual's financial assets</a:t>
            </a:r>
          </a:p>
          <a:p>
            <a:r>
              <a:t>from market fluctuations</a:t>
            </a:r>
          </a:p>
          <a:p>
            <a:r>
              <a:t>To provide a safety net for beneficiaries in</a:t>
            </a:r>
          </a:p>
          <a:p>
            <a:r>
              <a:t>the event of the insured’s death</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266</a:t>
            </a:r>
          </a:p>
        </p:txBody>
      </p:sp>
      <p:sp>
        <p:nvSpPr>
          <p:cNvPr id="3" name="Content Placeholder 2"/>
          <p:cNvSpPr>
            <a:spLocks noGrp="1"/>
          </p:cNvSpPr>
          <p:nvPr>
            <p:ph idx="1"/>
          </p:nvPr>
        </p:nvSpPr>
        <p:spPr/>
        <p:txBody>
          <a:bodyPr/>
          <a:lstStyle/>
          <a:p/>
          <a:p>
            <a:br/>
            <a:pPr>
              <a:defRPr sz="1400" i="1"/>
            </a:pPr>
            <a:r>
              <a:t>Explanation: designed to provide financial</a:t>
            </a:r>
            <a:br/>
            <a:r>
              <a:t>I&lt; A &gt;|</a:t>
            </a:r>
            <a:br/>
            <a:r>
              <a:t>&amp; a ..rancelicense.myabsorb.com (</a:t>
            </a:r>
            <a:br/>
            <a:r>
              <a:t>&lt; &gt; + [22]...</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267</a:t>
            </a:r>
          </a:p>
        </p:txBody>
      </p:sp>
      <p:sp>
        <p:nvSpPr>
          <p:cNvPr id="3" name="Content Placeholder 2"/>
          <p:cNvSpPr>
            <a:spLocks noGrp="1"/>
          </p:cNvSpPr>
          <p:nvPr>
            <p:ph idx="1"/>
          </p:nvPr>
        </p:nvSpPr>
        <p:spPr/>
        <p:txBody>
          <a:bodyPr/>
          <a:lstStyle/>
          <a:p>
            <a:r>
              <a:t>All of the following are advantages of</a:t>
            </a:r>
          </a:p>
          <a:p>
            <a:r>
              <a:t>whole life insurance EXCEPT:</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267</a:t>
            </a:r>
          </a:p>
        </p:txBody>
      </p:sp>
      <p:sp>
        <p:nvSpPr>
          <p:cNvPr id="3" name="Content Placeholder 2"/>
          <p:cNvSpPr>
            <a:spLocks noGrp="1"/>
          </p:cNvSpPr>
          <p:nvPr>
            <p:ph idx="1"/>
          </p:nvPr>
        </p:nvSpPr>
        <p:spPr/>
        <p:txBody>
          <a:bodyPr/>
          <a:lstStyle/>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268</a:t>
            </a:r>
          </a:p>
        </p:txBody>
      </p:sp>
      <p:sp>
        <p:nvSpPr>
          <p:cNvPr id="3" name="Content Placeholder 2"/>
          <p:cNvSpPr>
            <a:spLocks noGrp="1"/>
          </p:cNvSpPr>
          <p:nvPr>
            <p:ph idx="1"/>
          </p:nvPr>
        </p:nvSpPr>
        <p:spPr/>
        <p:txBody>
          <a:bodyPr/>
          <a:lstStyle/>
          <a:p>
            <a:r>
              <a:t>The following are benefits of</a:t>
            </a:r>
          </a:p>
          <a:p>
            <a:r>
              <a:t>purchasing an annuity EXCEPT:</a:t>
            </a:r>
          </a:p>
          <a:p>
            <a:r>
              <a:t>Tax-free investment growth</a:t>
            </a:r>
          </a:p>
          <a:p>
            <a:r>
              <a:t>Potential for higher returns in variable</a:t>
            </a:r>
          </a:p>
          <a:p>
            <a:r>
              <a:t>annuities</a:t>
            </a:r>
          </a:p>
          <a:p>
            <a:r>
              <a:t>Protection against outliving retirement</a:t>
            </a:r>
          </a:p>
          <a:p>
            <a:r>
              <a:t>savings</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268</a:t>
            </a:r>
          </a:p>
        </p:txBody>
      </p:sp>
      <p:sp>
        <p:nvSpPr>
          <p:cNvPr id="3" name="Content Placeholder 2"/>
          <p:cNvSpPr>
            <a:spLocks noGrp="1"/>
          </p:cNvSpPr>
          <p:nvPr>
            <p:ph idx="1"/>
          </p:nvPr>
        </p:nvSpPr>
        <p:spPr/>
        <p:txBody>
          <a:bodyPr/>
          <a:lstStyle/>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269</a:t>
            </a:r>
          </a:p>
        </p:txBody>
      </p:sp>
      <p:sp>
        <p:nvSpPr>
          <p:cNvPr id="3" name="Content Placeholder 2"/>
          <p:cNvSpPr>
            <a:spLocks noGrp="1"/>
          </p:cNvSpPr>
          <p:nvPr>
            <p:ph idx="1"/>
          </p:nvPr>
        </p:nvSpPr>
        <p:spPr/>
        <p:txBody>
          <a:bodyPr/>
          <a:lstStyle/>
          <a:p>
            <a:r>
              <a:t>Which law governs employer-</a:t>
            </a:r>
          </a:p>
          <a:p>
            <a:r>
              <a:t>sponsored retirement plans and</a:t>
            </a:r>
          </a:p>
          <a:p>
            <a:r>
              <a:t>ensures employee benefit protections?</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269</a:t>
            </a:r>
          </a:p>
        </p:txBody>
      </p:sp>
      <p:sp>
        <p:nvSpPr>
          <p:cNvPr id="3" name="Content Placeholder 2"/>
          <p:cNvSpPr>
            <a:spLocks noGrp="1"/>
          </p:cNvSpPr>
          <p:nvPr>
            <p:ph idx="1"/>
          </p:nvPr>
        </p:nvSpPr>
        <p:spPr/>
        <p:txBody>
          <a:bodyPr/>
          <a:lstStyle/>
          <a:p/>
          <a:p>
            <a:r>
              <a:t>☐ Securities Exchange Act Employee Retirement Income Security Act (ERISA) € © Social Security Act</a:t>
            </a:r>
          </a:p>
          <a:p>
            <a:br/>
            <a:pPr>
              <a:defRPr sz="1400" i="1"/>
            </a:pPr>
            <a:r>
              <a:t>Explanation: for participation, funding,</a:t>
            </a:r>
            <a:br/>
            <a:r>
              <a:t>_ vesting. and disclosure in emplover-sponsored</a:t>
            </a:r>
            <a:br/>
            <a:r>
              <a:t>I&lt; A &gt;|</a:t>
            </a:r>
            <a:br/>
            <a:r>
              <a:t>&amp; a ..rancelicense.myabsorb.com (</a:t>
            </a:r>
            <a:br/>
            <a:r>
              <a:t>&lt; &gt; + [22]...</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270</a:t>
            </a:r>
          </a:p>
        </p:txBody>
      </p:sp>
      <p:sp>
        <p:nvSpPr>
          <p:cNvPr id="3" name="Content Placeholder 2"/>
          <p:cNvSpPr>
            <a:spLocks noGrp="1"/>
          </p:cNvSpPr>
          <p:nvPr>
            <p:ph idx="1"/>
          </p:nvPr>
        </p:nvSpPr>
        <p:spPr/>
        <p:txBody>
          <a:bodyPr/>
          <a:lstStyle/>
          <a:p>
            <a:r>
              <a:t>John is considering an annuity but is</a:t>
            </a:r>
          </a:p>
          <a:p>
            <a:r>
              <a:t>concerned about inflation reducing his</a:t>
            </a:r>
          </a:p>
          <a:p>
            <a:r>
              <a:t>purchasing power. Which annuity type</a:t>
            </a:r>
          </a:p>
          <a:p>
            <a:r>
              <a:t>would be the best option for him?</a:t>
            </a:r>
          </a:p>
          <a:p>
            <a:r>
              <a:t>Deferred annuity</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270</a:t>
            </a:r>
          </a:p>
        </p:txBody>
      </p:sp>
      <p:sp>
        <p:nvSpPr>
          <p:cNvPr id="3" name="Content Placeholder 2"/>
          <p:cNvSpPr>
            <a:spLocks noGrp="1"/>
          </p:cNvSpPr>
          <p:nvPr>
            <p:ph idx="1"/>
          </p:nvPr>
        </p:nvSpPr>
        <p:spPr/>
        <p:txBody>
          <a:bodyPr/>
          <a:lstStyle/>
          <a:p/>
          <a:p>
            <a:pPr>
              <a:defRPr b="1"/>
            </a:pPr>
            <a:r>
              <a:t>✅ Straight life annuity</a:t>
            </a:r>
          </a:p>
          <a:p>
            <a:r>
              <a:t>☐ e Fixed annuity</a:t>
            </a:r>
          </a:p>
          <a:p>
            <a:r>
              <a:t>☐ Variable annuity</a:t>
            </a:r>
          </a:p>
          <a:p>
            <a:br/>
            <a:pPr>
              <a:defRPr sz="1400" i="1"/>
            </a:pPr>
            <a:r>
              <a:t>Explanation: considering an annuity but is</a:t>
            </a:r>
            <a:br/>
            <a:r>
              <a:t>concerned about inflation reducing his</a:t>
            </a:r>
            <a:br/>
            <a:r>
              <a:t>purchasing power. Which annuity type</a:t>
            </a:r>
            <a:br/>
            <a:r>
              <a:t>would be the best option for him?</a:t>
            </a:r>
            <a:br/>
            <a:r>
              <a:t>Deferred annuity</a:t>
            </a:r>
            <a:br/>
            <a:r>
              <a:t>x) Straight life annuity</a:t>
            </a:r>
            <a:br/>
            <a:r>
              <a:t>e Fixed annuity</a:t>
            </a:r>
            <a:br/>
            <a:r>
              <a:t>g ...</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271</a:t>
            </a:r>
          </a:p>
        </p:txBody>
      </p:sp>
      <p:sp>
        <p:nvSpPr>
          <p:cNvPr id="3" name="Content Placeholder 2"/>
          <p:cNvSpPr>
            <a:spLocks noGrp="1"/>
          </p:cNvSpPr>
          <p:nvPr>
            <p:ph idx="1"/>
          </p:nvPr>
        </p:nvSpPr>
        <p:spPr/>
        <p:txBody>
          <a:bodyPr/>
          <a:lstStyle/>
          <a:p>
            <a:r>
              <a:t>What is adverse selection in life</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271</a:t>
            </a:r>
          </a:p>
        </p:txBody>
      </p:sp>
      <p:sp>
        <p:nvSpPr>
          <p:cNvPr id="3" name="Content Placeholder 2"/>
          <p:cNvSpPr>
            <a:spLocks noGrp="1"/>
          </p:cNvSpPr>
          <p:nvPr>
            <p:ph idx="1"/>
          </p:nvPr>
        </p:nvSpPr>
        <p:spPr/>
        <p:txBody>
          <a:bodyPr/>
          <a:lstStyle/>
          <a:p/>
          <a:p>
            <a:r>
              <a:t>☐ nsurance underwriting? The underwriter’s decision to reject a policy due to an incomplete application The process of selecting applicants who present the lowest risk The tendency for high-risk individuals to seek insurance coverage more often than low-risk individuals A situation where healthier individuals are more likely to apply for insurance</a:t>
            </a:r>
          </a:p>
          <a:p>
            <a:br/>
            <a:pPr>
              <a:defRPr sz="1400" i="1"/>
            </a:pPr>
            <a:r>
              <a:t>Explanation: adverse selection in life</a:t>
            </a:r>
            <a:br/>
            <a:r>
              <a:t>insurance underwriting?</a:t>
            </a:r>
            <a:br/>
            <a:r>
              <a:t>The underwriter’s decision to reject a policy</a:t>
            </a:r>
            <a:br/>
            <a:r>
              <a:t>due to an incomplete application</a:t>
            </a:r>
            <a:br/>
            <a:r>
              <a:t>The process of selecting applicants who</a:t>
            </a:r>
            <a:br/>
            <a:r>
              <a:t>present the lowest risk</a:t>
            </a:r>
            <a:br/>
            <a:r>
              <a:t>The ten...</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272</a:t>
            </a:r>
          </a:p>
        </p:txBody>
      </p:sp>
      <p:sp>
        <p:nvSpPr>
          <p:cNvPr id="3" name="Content Placeholder 2"/>
          <p:cNvSpPr>
            <a:spLocks noGrp="1"/>
          </p:cNvSpPr>
          <p:nvPr>
            <p:ph idx="1"/>
          </p:nvPr>
        </p:nvSpPr>
        <p:spPr/>
        <p:txBody>
          <a:bodyPr/>
          <a:lstStyle/>
          <a:p>
            <a:r>
              <a:t>Which of the following types of life</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272</a:t>
            </a:r>
          </a:p>
        </p:txBody>
      </p:sp>
      <p:sp>
        <p:nvSpPr>
          <p:cNvPr id="3" name="Content Placeholder 2"/>
          <p:cNvSpPr>
            <a:spLocks noGrp="1"/>
          </p:cNvSpPr>
          <p:nvPr>
            <p:ph idx="1"/>
          </p:nvPr>
        </p:nvSpPr>
        <p:spPr/>
        <p:txBody>
          <a:bodyPr/>
          <a:lstStyle/>
          <a:p/>
          <a:p>
            <a:r>
              <a:t>☐ nsurance provides coverage for a specific period and does not accumulate cash value? Term life insurance</a:t>
            </a:r>
          </a:p>
          <a:p>
            <a:r>
              <a:t>☐ Universal life insurance</a:t>
            </a:r>
          </a:p>
          <a:p>
            <a:pPr>
              <a:defRPr b="1"/>
            </a:pPr>
            <a:r>
              <a:t>✅ @ varableiite insurance</a:t>
            </a:r>
          </a:p>
          <a:p>
            <a:r>
              <a:t>☐ Whole life insurance</a:t>
            </a:r>
          </a:p>
          <a:p>
            <a:r>
              <a:t>☐ Term i insurance SueMel pray coverage I&lt; A &gt;| &amp; a ..rancelicense.myabsorb.com (© &lt; &gt; + [22]</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273</a:t>
            </a:r>
          </a:p>
        </p:txBody>
      </p:sp>
      <p:sp>
        <p:nvSpPr>
          <p:cNvPr id="3" name="Content Placeholder 2"/>
          <p:cNvSpPr>
            <a:spLocks noGrp="1"/>
          </p:cNvSpPr>
          <p:nvPr>
            <p:ph idx="1"/>
          </p:nvPr>
        </p:nvSpPr>
        <p:spPr/>
        <p:txBody>
          <a:bodyPr/>
          <a:lstStyle/>
          <a:p>
            <a:r>
              <a:t>All of the following are common types</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273</a:t>
            </a:r>
          </a:p>
        </p:txBody>
      </p:sp>
      <p:sp>
        <p:nvSpPr>
          <p:cNvPr id="3" name="Content Placeholder 2"/>
          <p:cNvSpPr>
            <a:spLocks noGrp="1"/>
          </p:cNvSpPr>
          <p:nvPr>
            <p:ph idx="1"/>
          </p:nvPr>
        </p:nvSpPr>
        <p:spPr/>
        <p:txBody>
          <a:bodyPr/>
          <a:lstStyle/>
          <a:p/>
          <a:p>
            <a:r>
              <a:t>☐ Immediate annuities</a:t>
            </a:r>
          </a:p>
          <a:p>
            <a:pPr>
              <a:defRPr b="1"/>
            </a:pPr>
            <a:r>
              <a:t>✅ Term life annuities</a:t>
            </a:r>
          </a:p>
          <a:p>
            <a:r>
              <a:t>☐ e Variable annuities &amp; Fixed annuities</a:t>
            </a:r>
          </a:p>
          <a:p>
            <a:r>
              <a:t>☐ nsurance provides a death benefit for a specific I&lt; A &gt;| &amp; a ..rancelicense.myabsorb.com (© &lt; &gt; + [22]</a:t>
            </a:r>
          </a:p>
          <a:p>
            <a:br/>
            <a:pPr>
              <a:defRPr sz="1400" i="1"/>
            </a:pPr>
            <a:r>
              <a:t>Explanation: no such thing as a "term life annuity."</a:t>
            </a:r>
            <a:br/>
            <a:r>
              <a:t>Annuities provide income, whereas term life</a:t>
            </a:r>
            <a:br/>
            <a:r>
              <a:t>insurance provides a death benefit for a specific</a:t>
            </a:r>
            <a:br/>
            <a:r>
              <a:t>I&lt; A &gt;|</a:t>
            </a:r>
            <a:br/>
            <a:r>
              <a:t>&amp; a ..rancelicense.myabsorb.com (</a:t>
            </a:r>
            <a:br/>
            <a:r>
              <a:t>&lt; &gt; + [22]...</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274</a:t>
            </a:r>
          </a:p>
        </p:txBody>
      </p:sp>
      <p:sp>
        <p:nvSpPr>
          <p:cNvPr id="3" name="Content Placeholder 2"/>
          <p:cNvSpPr>
            <a:spLocks noGrp="1"/>
          </p:cNvSpPr>
          <p:nvPr>
            <p:ph idx="1"/>
          </p:nvPr>
        </p:nvSpPr>
        <p:spPr/>
        <p:txBody>
          <a:bodyPr/>
          <a:lstStyle/>
          <a:p>
            <a:r>
              <a:t>All of the following factors affect life</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274</a:t>
            </a:r>
          </a:p>
        </p:txBody>
      </p:sp>
      <p:sp>
        <p:nvSpPr>
          <p:cNvPr id="3" name="Content Placeholder 2"/>
          <p:cNvSpPr>
            <a:spLocks noGrp="1"/>
          </p:cNvSpPr>
          <p:nvPr>
            <p:ph idx="1"/>
          </p:nvPr>
        </p:nvSpPr>
        <p:spPr/>
        <p:txBody>
          <a:bodyPr/>
          <a:lstStyle/>
          <a:p/>
          <a:p>
            <a:r>
              <a:t>☐ | Question 53 Select the appropriate response All of the following factors affect life</a:t>
            </a:r>
          </a:p>
          <a:p>
            <a:r>
              <a:t>☐ nsurance premium rates EXCEPT: The applicant’s age and gender The applicant’s occupation</a:t>
            </a:r>
          </a:p>
          <a:p>
            <a:pPr>
              <a:defRPr b="1"/>
            </a:pPr>
            <a:r>
              <a:t>✅ The applicant’s home address The applicant’s smoking habits</a:t>
            </a:r>
          </a:p>
          <a:p>
            <a:br/>
            <a:pPr>
              <a:defRPr sz="1400" i="1"/>
            </a:pPr>
            <a:r>
              <a:t>Explanation: While age, gender, health, and occupation affect</a:t>
            </a:r>
            <a:br/>
            <a:r>
              <a:t>life insurance premiums, home address does not</a:t>
            </a:r>
            <a:br/>
            <a:r>
              <a:t>directly influence rates. However, hazardous work</a:t>
            </a:r>
            <a:br/>
            <a:r>
              <a:t>&gt;|...</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275</a:t>
            </a:r>
          </a:p>
        </p:txBody>
      </p:sp>
      <p:sp>
        <p:nvSpPr>
          <p:cNvPr id="3" name="Content Placeholder 2"/>
          <p:cNvSpPr>
            <a:spLocks noGrp="1"/>
          </p:cNvSpPr>
          <p:nvPr>
            <p:ph idx="1"/>
          </p:nvPr>
        </p:nvSpPr>
        <p:spPr/>
        <p:txBody>
          <a:bodyPr/>
          <a:lstStyle/>
          <a:p>
            <a:r>
              <a:t>A life insurance policy that provides a</a:t>
            </a:r>
          </a:p>
          <a:p>
            <a:r>
              <a:t>level death benefit and level premiums</a:t>
            </a:r>
          </a:p>
          <a:p>
            <a:r>
              <a:t>for the insured's entire lifetime:</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275</a:t>
            </a:r>
          </a:p>
        </p:txBody>
      </p:sp>
      <p:sp>
        <p:nvSpPr>
          <p:cNvPr id="3" name="Content Placeholder 2"/>
          <p:cNvSpPr>
            <a:spLocks noGrp="1"/>
          </p:cNvSpPr>
          <p:nvPr>
            <p:ph idx="1"/>
          </p:nvPr>
        </p:nvSpPr>
        <p:spPr/>
        <p:txBody>
          <a:bodyPr/>
          <a:lstStyle/>
          <a:p/>
          <a:p>
            <a:r>
              <a:t>☐ Universal life insurance Whole life insurance</a:t>
            </a:r>
          </a:p>
          <a:p>
            <a:r>
              <a:t>☐ e Variable life insurance</a:t>
            </a:r>
          </a:p>
          <a:p>
            <a:r>
              <a:t>☐ Term life insurance</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276</a:t>
            </a:r>
          </a:p>
        </p:txBody>
      </p:sp>
      <p:sp>
        <p:nvSpPr>
          <p:cNvPr id="3" name="Content Placeholder 2"/>
          <p:cNvSpPr>
            <a:spLocks noGrp="1"/>
          </p:cNvSpPr>
          <p:nvPr>
            <p:ph idx="1"/>
          </p:nvPr>
        </p:nvSpPr>
        <p:spPr/>
        <p:txBody>
          <a:bodyPr/>
          <a:lstStyle/>
          <a:p>
            <a:r>
              <a:t>A period during which an annuitant</a:t>
            </a:r>
          </a:p>
          <a:p>
            <a:r>
              <a:t>makes contributions to an annuity and</a:t>
            </a:r>
          </a:p>
          <a:p>
            <a:r>
              <a:t>accumulates interest tax-deferred:</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276</a:t>
            </a:r>
          </a:p>
        </p:txBody>
      </p:sp>
      <p:sp>
        <p:nvSpPr>
          <p:cNvPr id="3" name="Content Placeholder 2"/>
          <p:cNvSpPr>
            <a:spLocks noGrp="1"/>
          </p:cNvSpPr>
          <p:nvPr>
            <p:ph idx="1"/>
          </p:nvPr>
        </p:nvSpPr>
        <p:spPr/>
        <p:txBody>
          <a:bodyPr/>
          <a:lstStyle/>
          <a:p/>
          <a:p>
            <a:pPr>
              <a:defRPr b="1"/>
            </a:pPr>
            <a:r>
              <a:t>✅ Accumulation period Surrender period € © Annuity period</a:t>
            </a:r>
          </a:p>
          <a:p>
            <a:r>
              <a:t>☐ Maturity period</a:t>
            </a:r>
          </a:p>
          <a:p>
            <a:br/>
            <a:pPr>
              <a:defRPr sz="1400" i="1"/>
            </a:pPr>
            <a:r>
              <a:t>Explanation: when funds are</a:t>
            </a:r>
            <a:br/>
            <a:r>
              <a:t>deposited into the annuity, and interest accrues on a</a:t>
            </a:r>
            <a:br/>
            <a:r>
              <a:t>a= rt</a:t>
            </a:r>
            <a:br/>
            <a:r>
              <a:t>I&lt; A &gt;|</a:t>
            </a:r>
            <a:br/>
            <a:r>
              <a:t>&amp; a ..rancelicense.myabsorb.com (</a:t>
            </a:r>
            <a:br/>
            <a:r>
              <a:t>&lt; &gt; + [22]...</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277</a:t>
            </a:r>
          </a:p>
        </p:txBody>
      </p:sp>
      <p:sp>
        <p:nvSpPr>
          <p:cNvPr id="3" name="Content Placeholder 2"/>
          <p:cNvSpPr>
            <a:spLocks noGrp="1"/>
          </p:cNvSpPr>
          <p:nvPr>
            <p:ph idx="1"/>
          </p:nvPr>
        </p:nvSpPr>
        <p:spPr/>
        <p:txBody>
          <a:bodyPr/>
          <a:lstStyle/>
          <a:p>
            <a:r>
              <a:t>Sarah is applying for life insurance,</a:t>
            </a:r>
          </a:p>
          <a:p>
            <a:r>
              <a:t>and her agent collects her medical</a:t>
            </a:r>
          </a:p>
          <a:p>
            <a:r>
              <a:t>history, financial details, and lifestyle</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277</a:t>
            </a:r>
          </a:p>
        </p:txBody>
      </p:sp>
      <p:sp>
        <p:nvSpPr>
          <p:cNvPr id="3" name="Content Placeholder 2"/>
          <p:cNvSpPr>
            <a:spLocks noGrp="1"/>
          </p:cNvSpPr>
          <p:nvPr>
            <p:ph idx="1"/>
          </p:nvPr>
        </p:nvSpPr>
        <p:spPr/>
        <p:txBody>
          <a:bodyPr/>
          <a:lstStyle/>
          <a:p/>
          <a:p>
            <a:r>
              <a:t>☐ nformation. What role is the agent performing in this scenario?</a:t>
            </a:r>
          </a:p>
          <a:p>
            <a:r>
              <a:t>☐ Home office underwriting @ © Field underwriting</a:t>
            </a:r>
          </a:p>
          <a:p>
            <a:pPr>
              <a:defRPr b="1"/>
            </a:pPr>
            <a:r>
              <a:t>✅ Adverse selection</a:t>
            </a:r>
          </a:p>
          <a:p>
            <a:r>
              <a:t>☐ ] Policy issuance</a:t>
            </a:r>
          </a:p>
          <a:p>
            <a:br/>
            <a:pPr>
              <a:defRPr sz="1400" i="1"/>
            </a:pPr>
            <a:r>
              <a:t>Explanation: applying for life insurance,</a:t>
            </a:r>
            <a:br/>
            <a:r>
              <a:t>and her agent collects her medical</a:t>
            </a:r>
            <a:br/>
            <a:r>
              <a:t>history, financial details, and lifestyle</a:t>
            </a:r>
            <a:br/>
            <a:r>
              <a:t>information. What role is the agent</a:t>
            </a:r>
            <a:br/>
            <a:r>
              <a:t>performing in this scenario?</a:t>
            </a:r>
            <a:br/>
            <a:r>
              <a:t>x) Home office underwriting</a:t>
            </a:r>
            <a:br/>
            <a:r>
              <a:t>@...</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278</a:t>
            </a:r>
          </a:p>
        </p:txBody>
      </p:sp>
      <p:sp>
        <p:nvSpPr>
          <p:cNvPr id="3" name="Content Placeholder 2"/>
          <p:cNvSpPr>
            <a:spLocks noGrp="1"/>
          </p:cNvSpPr>
          <p:nvPr>
            <p:ph idx="1"/>
          </p:nvPr>
        </p:nvSpPr>
        <p:spPr/>
        <p:txBody>
          <a:bodyPr/>
          <a:lstStyle/>
          <a:p>
            <a:r>
              <a:t>What must be included in a business</a:t>
            </a:r>
          </a:p>
          <a:p>
            <a:r>
              <a:t>entity’s insurance license application in</a:t>
            </a:r>
          </a:p>
          <a:p>
            <a:r>
              <a:t>Arizona?</a:t>
            </a:r>
          </a:p>
          <a:p>
            <a:r>
              <a:t>Names of all members, officers, and</a:t>
            </a:r>
          </a:p>
          <a:p>
            <a:r>
              <a:t>directors</a:t>
            </a:r>
          </a:p>
          <a:p>
            <a:r>
              <a:t>A business plan approved by the state</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278</a:t>
            </a:r>
          </a:p>
        </p:txBody>
      </p:sp>
      <p:sp>
        <p:nvSpPr>
          <p:cNvPr id="3" name="Content Placeholder 2"/>
          <p:cNvSpPr>
            <a:spLocks noGrp="1"/>
          </p:cNvSpPr>
          <p:nvPr>
            <p:ph idx="1"/>
          </p:nvPr>
        </p:nvSpPr>
        <p:spPr/>
        <p:txBody>
          <a:bodyPr/>
          <a:lstStyle/>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279</a:t>
            </a:r>
          </a:p>
        </p:txBody>
      </p:sp>
      <p:sp>
        <p:nvSpPr>
          <p:cNvPr id="3" name="Content Placeholder 2"/>
          <p:cNvSpPr>
            <a:spLocks noGrp="1"/>
          </p:cNvSpPr>
          <p:nvPr>
            <p:ph idx="1"/>
          </p:nvPr>
        </p:nvSpPr>
        <p:spPr/>
        <p:txBody>
          <a:bodyPr/>
          <a:lstStyle/>
          <a:p>
            <a:r>
              <a:t>Maria recently purchased a convertible</a:t>
            </a:r>
          </a:p>
          <a:p>
            <a:r>
              <a:t>term life insurance policy. Five years</a:t>
            </a:r>
          </a:p>
          <a:p>
            <a:r>
              <a:t>later, she decides to switch to</a:t>
            </a:r>
          </a:p>
          <a:p>
            <a:r>
              <a:t>permanent coverage. What is the</a:t>
            </a:r>
          </a:p>
          <a:p>
            <a:r>
              <a:t>primary advantage of the conversion</a:t>
            </a:r>
          </a:p>
          <a:p>
            <a:r>
              <a:t>feature?</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279</a:t>
            </a:r>
          </a:p>
        </p:txBody>
      </p:sp>
      <p:sp>
        <p:nvSpPr>
          <p:cNvPr id="3" name="Content Placeholder 2"/>
          <p:cNvSpPr>
            <a:spLocks noGrp="1"/>
          </p:cNvSpPr>
          <p:nvPr>
            <p:ph idx="1"/>
          </p:nvPr>
        </p:nvSpPr>
        <p:spPr/>
        <p:txBody>
          <a:bodyPr/>
          <a:lstStyle/>
          <a:p/>
          <a:p>
            <a:r>
              <a:t>☐ nsurance without proving insurability It automatically increases her death benefit It guarantees a refund of premiums paid It eliminates the need to pay premiums in the future</a:t>
            </a:r>
          </a:p>
          <a:p>
            <a:br/>
            <a:pPr>
              <a:defRPr sz="1400" i="1"/>
            </a:pPr>
            <a:r>
              <a:t>Explanation: the</a:t>
            </a:r>
            <a:br/>
            <a:r>
              <a:t>primary advantage of the conversion</a:t>
            </a:r>
            <a:br/>
            <a:r>
              <a:t>feature?</a:t>
            </a:r>
            <a:br/>
            <a:r>
              <a:t>It allows her to convert to permanent</a:t>
            </a:r>
            <a:br/>
            <a:r>
              <a:t>insurance without proving insurability</a:t>
            </a:r>
            <a:br/>
            <a:r>
              <a:t>It automatically increases her death benefit</a:t>
            </a:r>
            <a:br/>
            <a:r>
              <a:t>It guarantees a refund of pre...</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280</a:t>
            </a:r>
          </a:p>
        </p:txBody>
      </p:sp>
      <p:sp>
        <p:nvSpPr>
          <p:cNvPr id="3" name="Content Placeholder 2"/>
          <p:cNvSpPr>
            <a:spLocks noGrp="1"/>
          </p:cNvSpPr>
          <p:nvPr>
            <p:ph idx="1"/>
          </p:nvPr>
        </p:nvSpPr>
        <p:spPr/>
        <p:txBody>
          <a:bodyPr/>
          <a:lstStyle/>
          <a:p>
            <a:r>
              <a:t>What is the main advantage of risk</a:t>
            </a:r>
          </a:p>
          <a:p>
            <a:r>
              <a:t>pooling in life insurance?</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280</a:t>
            </a:r>
          </a:p>
        </p:txBody>
      </p:sp>
      <p:sp>
        <p:nvSpPr>
          <p:cNvPr id="3" name="Content Placeholder 2"/>
          <p:cNvSpPr>
            <a:spLocks noGrp="1"/>
          </p:cNvSpPr>
          <p:nvPr>
            <p:ph idx="1"/>
          </p:nvPr>
        </p:nvSpPr>
        <p:spPr/>
        <p:txBody>
          <a:bodyPr/>
          <a:lstStyle/>
          <a:p/>
          <a:p>
            <a:r>
              <a:t>☐ mpact of claims among a large number of policyholders It eliminates the need for underwriting in</a:t>
            </a:r>
          </a:p>
          <a:p>
            <a:r>
              <a:t>☐ nsurance policies It guarantees that every insured individual will file a claim</a:t>
            </a:r>
          </a:p>
          <a:p>
            <a:br/>
            <a:pPr>
              <a:defRPr sz="1400" i="1"/>
            </a:pPr>
            <a:r>
              <a:t>Explanation: the main advantage of risk</a:t>
            </a:r>
            <a:br/>
            <a:r>
              <a:t>pooling in life insurance?</a:t>
            </a:r>
            <a:br/>
            <a:r>
              <a:t>It ensures that all policyholders pay the</a:t>
            </a:r>
            <a:br/>
            <a:r>
              <a:t>same premium</a:t>
            </a:r>
            <a:br/>
            <a:r>
              <a:t>It allows insurers to distribute the financial</a:t>
            </a:r>
            <a:br/>
            <a:r>
              <a:t>impact of claims among a large number of</a:t>
            </a:r>
            <a:br/>
            <a:r>
              <a:t>pol...</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281</a:t>
            </a:r>
          </a:p>
        </p:txBody>
      </p:sp>
      <p:sp>
        <p:nvSpPr>
          <p:cNvPr id="3" name="Content Placeholder 2"/>
          <p:cNvSpPr>
            <a:spLocks noGrp="1"/>
          </p:cNvSpPr>
          <p:nvPr>
            <p:ph idx="1"/>
          </p:nvPr>
        </p:nvSpPr>
        <p:spPr/>
        <p:txBody>
          <a:bodyPr/>
          <a:lstStyle/>
          <a:p>
            <a:r>
              <a:t>A type of insurance provider where</a:t>
            </a:r>
          </a:p>
          <a:p>
            <a:r>
              <a:t>policyholders collectively insure each</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281</a:t>
            </a:r>
          </a:p>
        </p:txBody>
      </p:sp>
      <p:sp>
        <p:nvSpPr>
          <p:cNvPr id="3" name="Content Placeholder 2"/>
          <p:cNvSpPr>
            <a:spLocks noGrp="1"/>
          </p:cNvSpPr>
          <p:nvPr>
            <p:ph idx="1"/>
          </p:nvPr>
        </p:nvSpPr>
        <p:spPr/>
        <p:txBody>
          <a:bodyPr/>
          <a:lstStyle/>
          <a:p/>
          <a:p>
            <a:r>
              <a:t>☐ Lloyd’s of London Reciprocal insurance company</a:t>
            </a:r>
          </a:p>
          <a:p>
            <a:r>
              <a:t>☐ e Stock insurance company</a:t>
            </a:r>
          </a:p>
          <a:p>
            <a:r>
              <a:t>☐ Fraternal benefit society</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282</a:t>
            </a:r>
          </a:p>
        </p:txBody>
      </p:sp>
      <p:sp>
        <p:nvSpPr>
          <p:cNvPr id="3" name="Content Placeholder 2"/>
          <p:cNvSpPr>
            <a:spLocks noGrp="1"/>
          </p:cNvSpPr>
          <p:nvPr>
            <p:ph idx="1"/>
          </p:nvPr>
        </p:nvSpPr>
        <p:spPr/>
        <p:txBody>
          <a:bodyPr/>
          <a:lstStyle/>
          <a:p>
            <a:r>
              <a:t>The following are benefits of a Roth</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282</a:t>
            </a:r>
          </a:p>
        </p:txBody>
      </p:sp>
      <p:sp>
        <p:nvSpPr>
          <p:cNvPr id="3" name="Content Placeholder 2"/>
          <p:cNvSpPr>
            <a:spLocks noGrp="1"/>
          </p:cNvSpPr>
          <p:nvPr>
            <p:ph idx="1"/>
          </p:nvPr>
        </p:nvSpPr>
        <p:spPr/>
        <p:txBody>
          <a:bodyPr/>
          <a:lstStyle/>
          <a:p/>
          <a:p>
            <a:r>
              <a:t>☐ | 6:22 ot Question 61 Select the appropriate response The following are benefits of a Roth IRA EXCEPT: Tax-free qualified withdrawals No required minimum distributions</a:t>
            </a:r>
          </a:p>
          <a:p>
            <a:pPr>
              <a:defRPr b="1"/>
            </a:pPr>
            <a:r>
              <a:t>✅ Contributions are tax-deductible Earnings grow tax-free</a:t>
            </a:r>
          </a:p>
          <a:p>
            <a:br/>
            <a:pPr>
              <a:defRPr sz="1400" i="1"/>
            </a:pPr>
            <a:r>
              <a:t>Explanation: Roth IRA contributions are made with after-tax</a:t>
            </a:r>
            <a:br/>
            <a:r>
              <a:t>dollars, meaning they are not tax-deductible, but</a:t>
            </a:r>
            <a:br/>
            <a:r>
              <a:t>qualified withdrawals are tax-free in retirement.</a:t>
            </a:r>
            <a:br/>
            <a:r>
              <a:t>&gt;|...</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283</a:t>
            </a:r>
          </a:p>
        </p:txBody>
      </p:sp>
      <p:sp>
        <p:nvSpPr>
          <p:cNvPr id="3" name="Content Placeholder 2"/>
          <p:cNvSpPr>
            <a:spLocks noGrp="1"/>
          </p:cNvSpPr>
          <p:nvPr>
            <p:ph idx="1"/>
          </p:nvPr>
        </p:nvSpPr>
        <p:spPr/>
        <p:txBody>
          <a:bodyPr/>
          <a:lstStyle/>
          <a:p>
            <a:r>
              <a:t>Mike purchased a deferred annuity</a:t>
            </a:r>
          </a:p>
          <a:p>
            <a:r>
              <a:t>and later withdrew funds before</a:t>
            </a:r>
          </a:p>
          <a:p>
            <a:r>
              <a:t>turning 59%. What tax consequence</a:t>
            </a:r>
          </a:p>
          <a:p>
            <a:r>
              <a:t>will he likely face?</a:t>
            </a:r>
          </a:p>
          <a:p>
            <a:r>
              <a:t>A 10% federal tax penalty in addition to</a:t>
            </a:r>
          </a:p>
          <a:p>
            <a:r>
              <a:t>regular income tax</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283</a:t>
            </a:r>
          </a:p>
        </p:txBody>
      </p:sp>
      <p:sp>
        <p:nvSpPr>
          <p:cNvPr id="3" name="Content Placeholder 2"/>
          <p:cNvSpPr>
            <a:spLocks noGrp="1"/>
          </p:cNvSpPr>
          <p:nvPr>
            <p:ph idx="1"/>
          </p:nvPr>
        </p:nvSpPr>
        <p:spPr/>
        <p:txBody>
          <a:bodyPr/>
          <a:lstStyle/>
          <a:p/>
          <a:p>
            <a:r>
              <a:t>☐ nly the principal portion is taxable No penalties or taxes The withdrawal is tax-free</a:t>
            </a:r>
          </a:p>
          <a:p>
            <a:br/>
            <a:pPr>
              <a:defRPr sz="1400" i="1"/>
            </a:pPr>
            <a:r>
              <a:t>Explanation: before</a:t>
            </a:r>
            <a:br/>
            <a:r>
              <a:t>turning 59%. What tax consequence</a:t>
            </a:r>
            <a:br/>
            <a:r>
              <a:t>will he likely face?</a:t>
            </a:r>
            <a:br/>
            <a:r>
              <a:t>A 10% federal tax penalty in addition to</a:t>
            </a:r>
            <a:br/>
            <a:r>
              <a:t>regular income tax</a:t>
            </a:r>
            <a:br/>
            <a:r>
              <a:t>Only the principal portion is taxable</a:t>
            </a:r>
            <a:br/>
            <a:r>
              <a:t>No penalties or taxes</a:t>
            </a:r>
            <a:br/>
            <a:r>
              <a:t>The withdrawal is ...</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284</a:t>
            </a:r>
          </a:p>
        </p:txBody>
      </p:sp>
      <p:sp>
        <p:nvSpPr>
          <p:cNvPr id="3" name="Content Placeholder 2"/>
          <p:cNvSpPr>
            <a:spLocks noGrp="1"/>
          </p:cNvSpPr>
          <p:nvPr>
            <p:ph idx="1"/>
          </p:nvPr>
        </p:nvSpPr>
        <p:spPr/>
        <p:txBody>
          <a:bodyPr/>
          <a:lstStyle/>
          <a:p>
            <a:r>
              <a:t>Sarah is the primary breadwinner for</a:t>
            </a:r>
          </a:p>
          <a:p>
            <a:r>
              <a:t>her family and wants to ensure her</a:t>
            </a:r>
          </a:p>
          <a:p>
            <a:r>
              <a:t>children’s education is fully funded if</a:t>
            </a:r>
          </a:p>
          <a:p>
            <a:r>
              <a:t>she passes away. What factor should</a:t>
            </a:r>
          </a:p>
          <a:p>
            <a:r>
              <a:t>she prioritize when determining her</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284</a:t>
            </a:r>
          </a:p>
        </p:txBody>
      </p:sp>
      <p:sp>
        <p:nvSpPr>
          <p:cNvPr id="3" name="Content Placeholder 2"/>
          <p:cNvSpPr>
            <a:spLocks noGrp="1"/>
          </p:cNvSpPr>
          <p:nvPr>
            <p:ph idx="1"/>
          </p:nvPr>
        </p:nvSpPr>
        <p:spPr/>
        <p:txBody>
          <a:bodyPr/>
          <a:lstStyle/>
          <a:p/>
          <a:p>
            <a:r>
              <a:t>☐ nsurance coverage amount? The cost of her children’s future college expenses €© © Her employer's life insurance policy The ability to convert her term life policy</a:t>
            </a:r>
          </a:p>
          <a:p>
            <a:br/>
            <a:pPr>
              <a:defRPr sz="1400" i="1"/>
            </a:pPr>
            <a:r>
              <a:t>Explanation: the primary breadwinner for</a:t>
            </a:r>
            <a:br/>
            <a:r>
              <a:t>her family and wants to ensure her</a:t>
            </a:r>
            <a:br/>
            <a:r>
              <a:t>children’s education is fully funded if</a:t>
            </a:r>
            <a:br/>
            <a:r>
              <a:t>she passes away. What factor should</a:t>
            </a:r>
            <a:br/>
            <a:r>
              <a:t>she prioritize when determining her</a:t>
            </a:r>
            <a:br/>
            <a:r>
              <a:t>insurance coverage amount...</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285</a:t>
            </a:r>
          </a:p>
        </p:txBody>
      </p:sp>
      <p:sp>
        <p:nvSpPr>
          <p:cNvPr id="3" name="Content Placeholder 2"/>
          <p:cNvSpPr>
            <a:spLocks noGrp="1"/>
          </p:cNvSpPr>
          <p:nvPr>
            <p:ph idx="1"/>
          </p:nvPr>
        </p:nvSpPr>
        <p:spPr/>
        <p:txBody>
          <a:bodyPr/>
          <a:lstStyle/>
          <a:p>
            <a:r>
              <a:t>Which of the following best describes</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285</a:t>
            </a:r>
          </a:p>
        </p:txBody>
      </p:sp>
      <p:sp>
        <p:nvSpPr>
          <p:cNvPr id="3" name="Content Placeholder 2"/>
          <p:cNvSpPr>
            <a:spLocks noGrp="1"/>
          </p:cNvSpPr>
          <p:nvPr>
            <p:ph idx="1"/>
          </p:nvPr>
        </p:nvSpPr>
        <p:spPr/>
        <p:txBody>
          <a:bodyPr/>
          <a:lstStyle/>
          <a:p/>
          <a:p>
            <a:pPr>
              <a:defRPr b="1"/>
            </a:pPr>
            <a:r>
              <a:t>✅ roup life insurance?</a:t>
            </a:r>
          </a:p>
          <a:p>
            <a:r>
              <a:t>☐ A single contract covering multiple</a:t>
            </a:r>
          </a:p>
          <a:p>
            <a:r>
              <a:t>☐ ndividuals under a common employer or organization</a:t>
            </a:r>
          </a:p>
          <a:p>
            <a:r>
              <a:t>☐ A permanent insurance plan that accumulates cash value over time A policy that allows employees to own their coverage independently ' ¢) e Atype of individual policy that offers higher premiums for high-risk applicants</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286</a:t>
            </a:r>
          </a:p>
        </p:txBody>
      </p:sp>
      <p:sp>
        <p:nvSpPr>
          <p:cNvPr id="3" name="Content Placeholder 2"/>
          <p:cNvSpPr>
            <a:spLocks noGrp="1"/>
          </p:cNvSpPr>
          <p:nvPr>
            <p:ph idx="1"/>
          </p:nvPr>
        </p:nvSpPr>
        <p:spPr/>
        <p:txBody>
          <a:bodyPr/>
          <a:lstStyle/>
          <a:p>
            <a:r>
              <a:t>How often must continuing education</a:t>
            </a:r>
          </a:p>
          <a:p>
            <a:r>
              <a:t>credits be completed for insurance</a:t>
            </a:r>
          </a:p>
          <a:p>
            <a:r>
              <a:t>producers in Arizona?</a:t>
            </a:r>
          </a:p>
          <a:p>
            <a:r>
              <a:t>Every five years</a:t>
            </a:r>
          </a:p>
          <a:p>
            <a:r>
              <a:t>Every three years</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286</a:t>
            </a:r>
          </a:p>
        </p:txBody>
      </p:sp>
      <p:sp>
        <p:nvSpPr>
          <p:cNvPr id="3" name="Content Placeholder 2"/>
          <p:cNvSpPr>
            <a:spLocks noGrp="1"/>
          </p:cNvSpPr>
          <p:nvPr>
            <p:ph idx="1"/>
          </p:nvPr>
        </p:nvSpPr>
        <p:spPr/>
        <p:txBody>
          <a:bodyPr/>
          <a:lstStyle/>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287</a:t>
            </a:r>
          </a:p>
        </p:txBody>
      </p:sp>
      <p:sp>
        <p:nvSpPr>
          <p:cNvPr id="3" name="Content Placeholder 2"/>
          <p:cNvSpPr>
            <a:spLocks noGrp="1"/>
          </p:cNvSpPr>
          <p:nvPr>
            <p:ph idx="1"/>
          </p:nvPr>
        </p:nvSpPr>
        <p:spPr/>
        <p:txBody>
          <a:bodyPr/>
          <a:lstStyle/>
          <a:p>
            <a:r>
              <a:t>The following are characteristics of</a:t>
            </a:r>
          </a:p>
          <a:p>
            <a:r>
              <a:t>term life insurance EXCEPT:</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287</a:t>
            </a:r>
          </a:p>
        </p:txBody>
      </p:sp>
      <p:sp>
        <p:nvSpPr>
          <p:cNvPr id="3" name="Content Placeholder 2"/>
          <p:cNvSpPr>
            <a:spLocks noGrp="1"/>
          </p:cNvSpPr>
          <p:nvPr>
            <p:ph idx="1"/>
          </p:nvPr>
        </p:nvSpPr>
        <p:spPr/>
        <p:txBody>
          <a:bodyPr/>
          <a:lstStyle/>
          <a:p/>
          <a:p>
            <a:br/>
            <a:pPr>
              <a:defRPr sz="1400" i="1"/>
            </a:pPr>
            <a:r>
              <a:t>Explanation: cash value over time</a:t>
            </a:r>
            <a:br/>
            <a:r>
              <a:t>It provides coverage for a set period</a:t>
            </a:r>
            <a:br/>
            <a:r>
              <a:t>It can be renewed or converted in some</a:t>
            </a:r>
            <a:br/>
            <a:r>
              <a:t>cases</a:t>
            </a:r>
            <a:br/>
            <a:r>
              <a:t>It is generally more affordable than whole</a:t>
            </a:r>
            <a:br/>
            <a:r>
              <a:t>life insurance</a:t>
            </a:r>
            <a:br/>
            <a:r>
              <a:t>Proceed =&gt;</a:t>
            </a:r>
            <a:br/>
            <a:r>
              <a:t>% Unlike whole life insuran...</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288</a:t>
            </a:r>
          </a:p>
        </p:txBody>
      </p:sp>
      <p:sp>
        <p:nvSpPr>
          <p:cNvPr id="3" name="Content Placeholder 2"/>
          <p:cNvSpPr>
            <a:spLocks noGrp="1"/>
          </p:cNvSpPr>
          <p:nvPr>
            <p:ph idx="1"/>
          </p:nvPr>
        </p:nvSpPr>
        <p:spPr/>
        <p:txBody>
          <a:bodyPr/>
          <a:lstStyle/>
          <a:p>
            <a:r>
              <a:t>The following groups are eligible for</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288</a:t>
            </a:r>
          </a:p>
        </p:txBody>
      </p:sp>
      <p:sp>
        <p:nvSpPr>
          <p:cNvPr id="3" name="Content Placeholder 2"/>
          <p:cNvSpPr>
            <a:spLocks noGrp="1"/>
          </p:cNvSpPr>
          <p:nvPr>
            <p:ph idx="1"/>
          </p:nvPr>
        </p:nvSpPr>
        <p:spPr/>
        <p:txBody>
          <a:bodyPr/>
          <a:lstStyle/>
          <a:p/>
          <a:p>
            <a:pPr>
              <a:defRPr b="1"/>
            </a:pPr>
            <a:r>
              <a:t>✅ roup life insurance EXCEPT: Labor union members</a:t>
            </a:r>
          </a:p>
          <a:p>
            <a:r>
              <a:t>☐ Members of a trade association € © Employees of a single company A group formed solely for the purpose of purchasing insurance</a:t>
            </a:r>
          </a:p>
          <a:p>
            <a:r>
              <a:t>☐ roup’s primary purpose. A group cannot be formed | only to obtain insurance —it must exist for another | I&lt; A &gt;| &amp; a ..rancelicense.myabsorb.com (© &lt; &gt; + [22]</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289</a:t>
            </a:r>
          </a:p>
        </p:txBody>
      </p:sp>
      <p:sp>
        <p:nvSpPr>
          <p:cNvPr id="3" name="Content Placeholder 2"/>
          <p:cNvSpPr>
            <a:spLocks noGrp="1"/>
          </p:cNvSpPr>
          <p:nvPr>
            <p:ph idx="1"/>
          </p:nvPr>
        </p:nvSpPr>
        <p:spPr/>
        <p:txBody>
          <a:bodyPr/>
          <a:lstStyle/>
          <a:p>
            <a:r>
              <a:t>John's employer offers a profit-sharing</a:t>
            </a:r>
          </a:p>
          <a:p>
            <a:r>
              <a:t>retirement plan. How are contributions</a:t>
            </a:r>
          </a:p>
          <a:p>
            <a:r>
              <a:t>determined in this type of plan?</a:t>
            </a:r>
          </a:p>
          <a:p>
            <a:r>
              <a:t>The employer must contribute a fixed</a:t>
            </a:r>
          </a:p>
          <a:p>
            <a:r>
              <a:t>percentage annually</a:t>
            </a:r>
          </a:p>
          <a:p>
            <a:r>
              <a:t>The employer contributes only when</a:t>
            </a:r>
          </a:p>
          <a:p>
            <a:r>
              <a:t>employees make voluntary contributions</a:t>
            </a:r>
          </a:p>
          <a:p>
            <a:r>
              <a:t>Contributions are based on company profits</a:t>
            </a:r>
          </a:p>
          <a:p>
            <a:r>
              <a:t>and may vary each year</a:t>
            </a:r>
          </a:p>
          <a:p>
            <a:r>
              <a:t>Employees are required to contribute a set</a:t>
            </a:r>
          </a:p>
          <a:p>
            <a:r>
              <a:t>percentage of their salary</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289</a:t>
            </a:r>
          </a:p>
        </p:txBody>
      </p:sp>
      <p:sp>
        <p:nvSpPr>
          <p:cNvPr id="3" name="Content Placeholder 2"/>
          <p:cNvSpPr>
            <a:spLocks noGrp="1"/>
          </p:cNvSpPr>
          <p:nvPr>
            <p:ph idx="1"/>
          </p:nvPr>
        </p:nvSpPr>
        <p:spPr/>
        <p:txBody>
          <a:bodyPr/>
          <a:lstStyle/>
          <a:p/>
          <a:p>
            <a:br/>
            <a:pPr>
              <a:defRPr sz="1400" i="1"/>
            </a:pPr>
            <a:r>
              <a:t>Explanation: type of plan?</a:t>
            </a:r>
            <a:br/>
            <a:r>
              <a:t>The employer must contribute a fixed</a:t>
            </a:r>
            <a:br/>
            <a:r>
              <a:t>percentage annually</a:t>
            </a:r>
            <a:br/>
            <a:r>
              <a:t>The employer contributes only when</a:t>
            </a:r>
            <a:br/>
            <a:r>
              <a:t>employees make voluntary contributions</a:t>
            </a:r>
            <a:br/>
            <a:r>
              <a:t>Contributions are based on company profits</a:t>
            </a:r>
            <a:br/>
            <a:r>
              <a:t>and may vary...</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290</a:t>
            </a:r>
          </a:p>
        </p:txBody>
      </p:sp>
      <p:sp>
        <p:nvSpPr>
          <p:cNvPr id="3" name="Content Placeholder 2"/>
          <p:cNvSpPr>
            <a:spLocks noGrp="1"/>
          </p:cNvSpPr>
          <p:nvPr>
            <p:ph idx="1"/>
          </p:nvPr>
        </p:nvSpPr>
        <p:spPr/>
        <p:txBody>
          <a:bodyPr/>
          <a:lstStyle/>
          <a:p>
            <a:r>
              <a:t>A system that adjusts a worker’s past</a:t>
            </a:r>
          </a:p>
          <a:p>
            <a:r>
              <a:t>earnings to reflect inflation when</a:t>
            </a:r>
          </a:p>
          <a:p>
            <a:r>
              <a:t>calculating Social Security benefits:</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290</a:t>
            </a:r>
          </a:p>
        </p:txBody>
      </p:sp>
      <p:sp>
        <p:nvSpPr>
          <p:cNvPr id="3" name="Content Placeholder 2"/>
          <p:cNvSpPr>
            <a:spLocks noGrp="1"/>
          </p:cNvSpPr>
          <p:nvPr>
            <p:ph idx="1"/>
          </p:nvPr>
        </p:nvSpPr>
        <p:spPr/>
        <p:txBody>
          <a:bodyPr/>
          <a:lstStyle/>
          <a:p/>
          <a:p>
            <a:r>
              <a:t>☐ Primary Insurance Amount (PIA) Average Indexed Monthly Earnings (AIME) € © Currently Insured Status</a:t>
            </a:r>
          </a:p>
          <a:p>
            <a:r>
              <a:t>☐ Fully Insured Status</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291</a:t>
            </a:r>
          </a:p>
        </p:txBody>
      </p:sp>
      <p:sp>
        <p:nvSpPr>
          <p:cNvPr id="3" name="Content Placeholder 2"/>
          <p:cNvSpPr>
            <a:spLocks noGrp="1"/>
          </p:cNvSpPr>
          <p:nvPr>
            <p:ph idx="1"/>
          </p:nvPr>
        </p:nvSpPr>
        <p:spPr/>
        <p:txBody>
          <a:bodyPr/>
          <a:lstStyle/>
          <a:p>
            <a:r>
              <a:t>What is the primary reason group life</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291</a:t>
            </a:r>
          </a:p>
        </p:txBody>
      </p:sp>
      <p:sp>
        <p:nvSpPr>
          <p:cNvPr id="3" name="Content Placeholder 2"/>
          <p:cNvSpPr>
            <a:spLocks noGrp="1"/>
          </p:cNvSpPr>
          <p:nvPr>
            <p:ph idx="1"/>
          </p:nvPr>
        </p:nvSpPr>
        <p:spPr/>
        <p:txBody>
          <a:bodyPr/>
          <a:lstStyle/>
          <a:p/>
          <a:p>
            <a:pPr>
              <a:defRPr b="1"/>
            </a:pPr>
            <a:r>
              <a:t>✅ nsurance is more affordable than</a:t>
            </a:r>
          </a:p>
          <a:p>
            <a:r>
              <a:t>☐ ndividual life insurance?</a:t>
            </a:r>
          </a:p>
          <a:p>
            <a:r>
              <a:t>☐ It includes whole life insurance options</a:t>
            </a:r>
          </a:p>
          <a:p>
            <a:r>
              <a:t>☐ It spreads risk across a large number of participants, lowering administrative costs € © [Itprovides permanent coverage at a lower It requires individual medical underwriting</a:t>
            </a:r>
          </a:p>
          <a:p>
            <a:br/>
            <a:pPr>
              <a:defRPr sz="1400" i="1"/>
            </a:pPr>
            <a:r>
              <a:t>Explanation: the primary reason group life</a:t>
            </a:r>
            <a:br/>
            <a:r>
              <a:t>insurance is more affordable than</a:t>
            </a:r>
            <a:br/>
            <a:r>
              <a:t>individual life insurance?</a:t>
            </a:r>
            <a:br/>
            <a:r>
              <a:t>x) It includes whole life insurance options</a:t>
            </a:r>
            <a:br/>
            <a:r>
              <a:t>g It spreads risk across a large number of</a:t>
            </a:r>
            <a:br/>
            <a:r>
              <a:t>participants, lowering...</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292</a:t>
            </a:r>
          </a:p>
        </p:txBody>
      </p:sp>
      <p:sp>
        <p:nvSpPr>
          <p:cNvPr id="3" name="Content Placeholder 2"/>
          <p:cNvSpPr>
            <a:spLocks noGrp="1"/>
          </p:cNvSpPr>
          <p:nvPr>
            <p:ph idx="1"/>
          </p:nvPr>
        </p:nvSpPr>
        <p:spPr/>
        <p:txBody>
          <a:bodyPr/>
          <a:lstStyle/>
          <a:p>
            <a:r>
              <a:t>All of the following are factors</a:t>
            </a:r>
          </a:p>
          <a:p>
            <a:r>
              <a:t>considered by underwriters when</a:t>
            </a:r>
          </a:p>
          <a:p>
            <a:r>
              <a:t>assessing an applicant’s risk EXCEPT:</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292</a:t>
            </a:r>
          </a:p>
        </p:txBody>
      </p:sp>
      <p:sp>
        <p:nvSpPr>
          <p:cNvPr id="3" name="Content Placeholder 2"/>
          <p:cNvSpPr>
            <a:spLocks noGrp="1"/>
          </p:cNvSpPr>
          <p:nvPr>
            <p:ph idx="1"/>
          </p:nvPr>
        </p:nvSpPr>
        <p:spPr/>
        <p:txBody>
          <a:bodyPr/>
          <a:lstStyle/>
          <a:p/>
          <a:p>
            <a:pPr>
              <a:defRPr b="1"/>
            </a:pPr>
            <a:r>
              <a:t>✅ Political affiliation</a:t>
            </a:r>
          </a:p>
          <a:p>
            <a:r>
              <a:t>☐ Occupation</a:t>
            </a:r>
          </a:p>
          <a:p>
            <a:r>
              <a:t>☐ © Medical history</a:t>
            </a:r>
          </a:p>
          <a:p>
            <a:r>
              <a:t>☐ Hobbies</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293</a:t>
            </a:r>
          </a:p>
        </p:txBody>
      </p:sp>
      <p:sp>
        <p:nvSpPr>
          <p:cNvPr id="3" name="Content Placeholder 2"/>
          <p:cNvSpPr>
            <a:spLocks noGrp="1"/>
          </p:cNvSpPr>
          <p:nvPr>
            <p:ph idx="1"/>
          </p:nvPr>
        </p:nvSpPr>
        <p:spPr/>
        <p:txBody>
          <a:bodyPr/>
          <a:lstStyle/>
          <a:p>
            <a:r>
              <a:t>John worked for 10 years and</a:t>
            </a:r>
          </a:p>
          <a:p>
            <a:r>
              <a:t>contributed to Social Security. Now, at</a:t>
            </a:r>
          </a:p>
          <a:p>
            <a:r>
              <a:t>age 62, he wants to retire early. How</a:t>
            </a:r>
          </a:p>
          <a:p>
            <a:r>
              <a:t>will this affect his benefits?</a:t>
            </a:r>
          </a:p>
          <a:p>
            <a:r>
              <a:t>He will receive 100% of his Primary</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293</a:t>
            </a:r>
          </a:p>
        </p:txBody>
      </p:sp>
      <p:sp>
        <p:nvSpPr>
          <p:cNvPr id="3" name="Content Placeholder 2"/>
          <p:cNvSpPr>
            <a:spLocks noGrp="1"/>
          </p:cNvSpPr>
          <p:nvPr>
            <p:ph idx="1"/>
          </p:nvPr>
        </p:nvSpPr>
        <p:spPr/>
        <p:txBody>
          <a:bodyPr/>
          <a:lstStyle/>
          <a:p/>
          <a:p>
            <a:br/>
            <a:pPr>
              <a:defRPr sz="1400" i="1"/>
            </a:pPr>
            <a:r>
              <a:t>Explanation: affect his benefits?</a:t>
            </a:r>
            <a:br/>
            <a:r>
              <a:t>He will receive 100% of his Primary</a:t>
            </a:r>
            <a:br/>
            <a:r>
              <a:t>Insurance Amount (PIA)</a:t>
            </a:r>
            <a:br/>
            <a:r>
              <a:t>He will not qualify for any benefits</a:t>
            </a:r>
            <a:br/>
            <a:r>
              <a:t>He will have to wait until age 67 to receive</a:t>
            </a:r>
            <a:br/>
            <a:r>
              <a:t>any benefits</a:t>
            </a:r>
            <a:br/>
            <a:r>
              <a:t>He will receive 80% of hi...</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294</a:t>
            </a:r>
          </a:p>
        </p:txBody>
      </p:sp>
      <p:sp>
        <p:nvSpPr>
          <p:cNvPr id="3" name="Content Placeholder 2"/>
          <p:cNvSpPr>
            <a:spLocks noGrp="1"/>
          </p:cNvSpPr>
          <p:nvPr>
            <p:ph idx="1"/>
          </p:nvPr>
        </p:nvSpPr>
        <p:spPr/>
        <p:txBody>
          <a:bodyPr/>
          <a:lstStyle/>
          <a:p>
            <a:r>
              <a:t>What is the purpose of the Social</a:t>
            </a:r>
          </a:p>
          <a:p>
            <a:r>
              <a:t>Security program?</a:t>
            </a:r>
          </a:p>
          <a:p>
            <a:r>
              <a:t>To offer financial protection against</a:t>
            </a:r>
          </a:p>
          <a:p>
            <a:r>
              <a:t>retirement, disability, and death</a:t>
            </a:r>
          </a:p>
          <a:p>
            <a:r>
              <a:t>To replace private retirement and insurance</a:t>
            </a:r>
          </a:p>
          <a:p>
            <a:r>
              <a:t>plans</a:t>
            </a:r>
          </a:p>
          <a:p>
            <a:r>
              <a:t>To provide full retirement income to all</a:t>
            </a:r>
          </a:p>
          <a:p>
            <a:r>
              <a:t>workers</a:t>
            </a:r>
          </a:p>
          <a:p>
            <a:r>
              <a:t>To provide tax-free benefits to all retired</a:t>
            </a:r>
          </a:p>
          <a:p>
            <a:r>
              <a:t>workers</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294</a:t>
            </a:r>
          </a:p>
        </p:txBody>
      </p:sp>
      <p:sp>
        <p:nvSpPr>
          <p:cNvPr id="3" name="Content Placeholder 2"/>
          <p:cNvSpPr>
            <a:spLocks noGrp="1"/>
          </p:cNvSpPr>
          <p:nvPr>
            <p:ph idx="1"/>
          </p:nvPr>
        </p:nvSpPr>
        <p:spPr/>
        <p:txBody>
          <a:bodyPr/>
          <a:lstStyle/>
          <a:p/>
          <a:p>
            <a:br/>
            <a:pPr>
              <a:defRPr sz="1400" i="1"/>
            </a:pPr>
            <a:r>
              <a:t>Explanation: the purpose of the Social</a:t>
            </a:r>
            <a:br/>
            <a:r>
              <a:t>Security program?</a:t>
            </a:r>
            <a:br/>
            <a:r>
              <a:t>To offer financial protection against</a:t>
            </a:r>
            <a:br/>
            <a:r>
              <a:t>retirement, disability, and death</a:t>
            </a:r>
            <a:br/>
            <a:r>
              <a:t>To replace private retirement and insurance</a:t>
            </a:r>
            <a:br/>
            <a:r>
              <a:t>plans</a:t>
            </a:r>
            <a:br/>
            <a:r>
              <a:t>To provide full retirement income ...</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295</a:t>
            </a:r>
          </a:p>
        </p:txBody>
      </p:sp>
      <p:sp>
        <p:nvSpPr>
          <p:cNvPr id="3" name="Content Placeholder 2"/>
          <p:cNvSpPr>
            <a:spLocks noGrp="1"/>
          </p:cNvSpPr>
          <p:nvPr>
            <p:ph idx="1"/>
          </p:nvPr>
        </p:nvSpPr>
        <p:spPr/>
        <p:txBody>
          <a:bodyPr/>
          <a:lstStyle/>
          <a:p>
            <a:r>
              <a:t>All of the following are advantages of</a:t>
            </a:r>
          </a:p>
          <a:p>
            <a:r>
              <a:t>using life insurance in estate planning</a:t>
            </a:r>
          </a:p>
          <a:p>
            <a:r>
              <a:t>EXCEPT:</a:t>
            </a:r>
          </a:p>
          <a:p>
            <a:r>
              <a:t>Preventing the forced sale of estate assets</a:t>
            </a:r>
          </a:p>
          <a:p>
            <a:r>
              <a:t>Providing liquidity to pay estate taxes</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295</a:t>
            </a:r>
          </a:p>
        </p:txBody>
      </p:sp>
      <p:sp>
        <p:nvSpPr>
          <p:cNvPr id="3" name="Content Placeholder 2"/>
          <p:cNvSpPr>
            <a:spLocks noGrp="1"/>
          </p:cNvSpPr>
          <p:nvPr>
            <p:ph idx="1"/>
          </p:nvPr>
        </p:nvSpPr>
        <p:spPr/>
        <p:txBody>
          <a:bodyPr/>
          <a:lstStyle/>
          <a:p/>
          <a:p>
            <a:r>
              <a:t>☐ S| 6:23 : Question 74 Select the appropriate response All of the following are advantages of using life insurance in estate planning EXCEPT: Preventing the forced sale of estate assets Providing liquidity to pay estate taxes</a:t>
            </a:r>
          </a:p>
          <a:p>
            <a:pPr>
              <a:defRPr b="1"/>
            </a:pPr>
            <a:r>
              <a:t>✅ Avoiding the need for a will Ensuring equal asset distribution among heirs</a:t>
            </a:r>
          </a:p>
          <a:p>
            <a:br/>
            <a:pPr>
              <a:defRPr sz="1400" i="1"/>
            </a:pPr>
            <a:r>
              <a:t>Explanation: While life insurance provides Heroes) and helps</a:t>
            </a:r>
            <a:br/>
            <a:r>
              <a:t>&gt;|...</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296</a:t>
            </a:r>
          </a:p>
        </p:txBody>
      </p:sp>
      <p:sp>
        <p:nvSpPr>
          <p:cNvPr id="3" name="Content Placeholder 2"/>
          <p:cNvSpPr>
            <a:spLocks noGrp="1"/>
          </p:cNvSpPr>
          <p:nvPr>
            <p:ph idx="1"/>
          </p:nvPr>
        </p:nvSpPr>
        <p:spPr/>
        <p:txBody>
          <a:bodyPr/>
          <a:lstStyle/>
          <a:p>
            <a:r>
              <a:t>A traditional whole life insurance policy</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296</a:t>
            </a:r>
          </a:p>
        </p:txBody>
      </p:sp>
      <p:sp>
        <p:nvSpPr>
          <p:cNvPr id="3" name="Content Placeholder 2"/>
          <p:cNvSpPr>
            <a:spLocks noGrp="1"/>
          </p:cNvSpPr>
          <p:nvPr>
            <p:ph idx="1"/>
          </p:nvPr>
        </p:nvSpPr>
        <p:spPr/>
        <p:txBody>
          <a:bodyPr/>
          <a:lstStyle/>
          <a:p/>
          <a:p>
            <a:r>
              <a:t>☐ ncludes all of the following features EXCEPT:</a:t>
            </a:r>
          </a:p>
          <a:p>
            <a:r>
              <a:t>☐ Guaranteed cash value accumulation Adjustable death benefits</a:t>
            </a:r>
          </a:p>
          <a:p>
            <a:pPr>
              <a:defRPr b="1"/>
            </a:pPr>
            <a:r>
              <a:t>✅ © Lifetime coverage</a:t>
            </a:r>
          </a:p>
          <a:p>
            <a:r>
              <a:t>☐ Fixed premium payments</a:t>
            </a:r>
          </a:p>
          <a:p>
            <a:r>
              <a:t>☐ alue and fixed premiums but does not allow for ar SS rare I&lt; A &gt;| &amp; a ..rancelicense.myabsorb.com (© &lt; &gt; + [22]</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297</a:t>
            </a:r>
          </a:p>
        </p:txBody>
      </p:sp>
      <p:sp>
        <p:nvSpPr>
          <p:cNvPr id="3" name="Content Placeholder 2"/>
          <p:cNvSpPr>
            <a:spLocks noGrp="1"/>
          </p:cNvSpPr>
          <p:nvPr>
            <p:ph idx="1"/>
          </p:nvPr>
        </p:nvSpPr>
        <p:spPr/>
        <p:txBody>
          <a:bodyPr/>
          <a:lstStyle/>
          <a:p>
            <a:r>
              <a:t>Under which condition can a</a:t>
            </a:r>
          </a:p>
          <a:p>
            <a:r>
              <a:t>temporary insurance producer license</a:t>
            </a:r>
          </a:p>
          <a:p>
            <a:r>
              <a:t>be granted in Arizona?</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297</a:t>
            </a:r>
          </a:p>
        </p:txBody>
      </p:sp>
      <p:sp>
        <p:nvSpPr>
          <p:cNvPr id="3" name="Content Placeholder 2"/>
          <p:cNvSpPr>
            <a:spLocks noGrp="1"/>
          </p:cNvSpPr>
          <p:nvPr>
            <p:ph idx="1"/>
          </p:nvPr>
        </p:nvSpPr>
        <p:spPr/>
        <p:txBody>
          <a:bodyPr/>
          <a:lstStyle/>
          <a:p/>
          <a:p>
            <a:pPr>
              <a:defRPr b="1"/>
            </a:pPr>
            <a:r>
              <a:t>✅ To a designated individual managing a disabled or deceased producer’s business affairs To any applicant who requests it If the producer plans to leave the state If the producer needs additional training</a:t>
            </a:r>
          </a:p>
          <a:p>
            <a:br/>
            <a:pPr>
              <a:defRPr sz="1400" i="1"/>
            </a:pPr>
            <a:r>
              <a:t>Explanation: additional training</a:t>
            </a:r>
            <a:br/>
            <a:r>
              <a:t>Proceed =&gt;</a:t>
            </a:r>
            <a:br/>
            <a:r>
              <a:t>I&lt; A &gt;I</a:t>
            </a:r>
            <a:br/>
            <a:r>
              <a:t>&amp; a ..rancelicense.myabsorb.com (</a:t>
            </a:r>
            <a:br/>
            <a:r>
              <a:t>&lt; &gt; + [22]...</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298</a:t>
            </a:r>
          </a:p>
        </p:txBody>
      </p:sp>
      <p:sp>
        <p:nvSpPr>
          <p:cNvPr id="3" name="Content Placeholder 2"/>
          <p:cNvSpPr>
            <a:spLocks noGrp="1"/>
          </p:cNvSpPr>
          <p:nvPr>
            <p:ph idx="1"/>
          </p:nvPr>
        </p:nvSpPr>
        <p:spPr/>
        <p:txBody>
          <a:bodyPr/>
          <a:lstStyle/>
          <a:p>
            <a:r>
              <a:t>A tax-advantaged financial product</a:t>
            </a:r>
          </a:p>
          <a:p>
            <a:r>
              <a:t>designed to provide a stream of</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298</a:t>
            </a:r>
          </a:p>
        </p:txBody>
      </p:sp>
      <p:sp>
        <p:nvSpPr>
          <p:cNvPr id="3" name="Content Placeholder 2"/>
          <p:cNvSpPr>
            <a:spLocks noGrp="1"/>
          </p:cNvSpPr>
          <p:nvPr>
            <p:ph idx="1"/>
          </p:nvPr>
        </p:nvSpPr>
        <p:spPr/>
        <p:txBody>
          <a:bodyPr/>
          <a:lstStyle/>
          <a:p/>
          <a:p>
            <a:r>
              <a:t>☐ ncome over a specific period or for Term life insurance</a:t>
            </a:r>
          </a:p>
          <a:p>
            <a:pPr>
              <a:defRPr b="1"/>
            </a:pPr>
            <a:r>
              <a:t>✅ Annuity € © Disability insurance</a:t>
            </a:r>
          </a:p>
          <a:p>
            <a:r>
              <a:t>☐ Variable universal life insurance</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299</a:t>
            </a:r>
          </a:p>
        </p:txBody>
      </p:sp>
      <p:sp>
        <p:nvSpPr>
          <p:cNvPr id="3" name="Content Placeholder 2"/>
          <p:cNvSpPr>
            <a:spLocks noGrp="1"/>
          </p:cNvSpPr>
          <p:nvPr>
            <p:ph idx="1"/>
          </p:nvPr>
        </p:nvSpPr>
        <p:spPr/>
        <p:txBody>
          <a:bodyPr/>
          <a:lstStyle/>
          <a:p>
            <a:r>
              <a:t>Which of the following is the primary</a:t>
            </a:r>
          </a:p>
          <a:p>
            <a:r>
              <a:t>purpose of underwriting in life</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299</a:t>
            </a:r>
          </a:p>
        </p:txBody>
      </p:sp>
      <p:sp>
        <p:nvSpPr>
          <p:cNvPr id="3" name="Content Placeholder 2"/>
          <p:cNvSpPr>
            <a:spLocks noGrp="1"/>
          </p:cNvSpPr>
          <p:nvPr>
            <p:ph idx="1"/>
          </p:nvPr>
        </p:nvSpPr>
        <p:spPr/>
        <p:txBody>
          <a:bodyPr/>
          <a:lstStyle/>
          <a:p/>
          <a:p>
            <a:r>
              <a:t>☐ nsurance? To ensure all applicants are granted coverage To set standard premium rates for all applicants</a:t>
            </a:r>
          </a:p>
          <a:p>
            <a:pPr>
              <a:defRPr b="1"/>
            </a:pPr>
            <a:r>
              <a:t>✅ To evaluate risk and determine an applicant’s insurability To increase insurance company profits</a:t>
            </a:r>
          </a:p>
          <a:p>
            <a:br/>
            <a:pPr>
              <a:defRPr sz="1400" i="1"/>
            </a:pPr>
            <a:r>
              <a:t>Explanation: the primary</a:t>
            </a:r>
            <a:br/>
            <a:r>
              <a:t>purpose of underwriting in life</a:t>
            </a:r>
            <a:br/>
            <a:r>
              <a:t>insurance?</a:t>
            </a:r>
            <a:br/>
            <a:r>
              <a:t>To ensure all applicants are granted</a:t>
            </a:r>
            <a:br/>
            <a:r>
              <a:t>coverage</a:t>
            </a:r>
            <a:br/>
            <a:r>
              <a:t>To set standard premium rates for all</a:t>
            </a:r>
            <a:br/>
            <a:r>
              <a:t>applicants</a:t>
            </a:r>
            <a:br/>
            <a:r>
              <a:t>iv) To evaluate risk and determine an</a:t>
            </a:r>
            <a:br/>
            <a:r>
              <a:t>applicant’s ...</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300</a:t>
            </a:r>
          </a:p>
        </p:txBody>
      </p:sp>
      <p:sp>
        <p:nvSpPr>
          <p:cNvPr id="3" name="Content Placeholder 2"/>
          <p:cNvSpPr>
            <a:spLocks noGrp="1"/>
          </p:cNvSpPr>
          <p:nvPr>
            <p:ph idx="1"/>
          </p:nvPr>
        </p:nvSpPr>
        <p:spPr/>
        <p:txBody>
          <a:bodyPr/>
          <a:lstStyle/>
          <a:p>
            <a:r>
              <a:t>Which of the following best describes</a:t>
            </a:r>
          </a:p>
          <a:p>
            <a:r>
              <a:t>the purpose of the principle of</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300</a:t>
            </a:r>
          </a:p>
        </p:txBody>
      </p:sp>
      <p:sp>
        <p:nvSpPr>
          <p:cNvPr id="3" name="Content Placeholder 2"/>
          <p:cNvSpPr>
            <a:spLocks noGrp="1"/>
          </p:cNvSpPr>
          <p:nvPr>
            <p:ph idx="1"/>
          </p:nvPr>
        </p:nvSpPr>
        <p:spPr/>
        <p:txBody>
          <a:bodyPr/>
          <a:lstStyle/>
          <a:p/>
          <a:p>
            <a:r>
              <a:t>☐ ndemnity in life insurance? To eliminate financial risk for beneficiaries To provide the highest possible payout to all policyholders To ensure an insured profits from their loss financial position without allowing financial</a:t>
            </a:r>
          </a:p>
          <a:p>
            <a:pPr>
              <a:defRPr b="1"/>
            </a:pPr>
            <a:r>
              <a:t>✅ ain</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301</a:t>
            </a:r>
          </a:p>
        </p:txBody>
      </p:sp>
      <p:sp>
        <p:nvSpPr>
          <p:cNvPr id="3" name="Content Placeholder 2"/>
          <p:cNvSpPr>
            <a:spLocks noGrp="1"/>
          </p:cNvSpPr>
          <p:nvPr>
            <p:ph idx="1"/>
          </p:nvPr>
        </p:nvSpPr>
        <p:spPr/>
        <p:txBody>
          <a:bodyPr/>
          <a:lstStyle/>
          <a:p>
            <a:r>
              <a:t>David wants to purchase a life</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301</a:t>
            </a:r>
          </a:p>
        </p:txBody>
      </p:sp>
      <p:sp>
        <p:nvSpPr>
          <p:cNvPr id="3" name="Content Placeholder 2"/>
          <p:cNvSpPr>
            <a:spLocks noGrp="1"/>
          </p:cNvSpPr>
          <p:nvPr>
            <p:ph idx="1"/>
          </p:nvPr>
        </p:nvSpPr>
        <p:spPr/>
        <p:txBody>
          <a:bodyPr/>
          <a:lstStyle/>
          <a:p/>
          <a:p>
            <a:r>
              <a:t>☐ nsurance policy that allows him to start with a lower premium that</a:t>
            </a:r>
          </a:p>
          <a:p>
            <a:r>
              <a:t>☐ ncreases over time before becoming level. Which policy best fits his needs? Variable life insurance Whole life insurance</a:t>
            </a:r>
          </a:p>
          <a:p>
            <a:pPr>
              <a:defRPr b="1"/>
            </a:pPr>
            <a:r>
              <a:t>✅ Graded premium whole life insurance Universal life insurance</a:t>
            </a:r>
          </a:p>
          <a:p>
            <a:br/>
            <a:pPr>
              <a:defRPr sz="1400" i="1"/>
            </a:pPr>
            <a:r>
              <a:t>Explanation: needs?</a:t>
            </a:r>
            <a:br/>
            <a:r>
              <a:t>Variable life insurance</a:t>
            </a:r>
            <a:br/>
            <a:r>
              <a:t>Whole life insurance</a:t>
            </a:r>
            <a:br/>
            <a:r>
              <a:t>iv) Graded premium whole life insurance</a:t>
            </a:r>
            <a:br/>
            <a:r>
              <a:t>Universal life insurance</a:t>
            </a:r>
            <a:br/>
            <a:r>
              <a:t>Proceed =&gt;</a:t>
            </a:r>
            <a:br/>
            <a:r>
              <a:t>&gt;|</a:t>
            </a:r>
            <a:br/>
            <a:r>
              <a:t>&lt; &gt; + [22]...</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302</a:t>
            </a:r>
          </a:p>
        </p:txBody>
      </p:sp>
      <p:sp>
        <p:nvSpPr>
          <p:cNvPr id="3" name="Content Placeholder 2"/>
          <p:cNvSpPr>
            <a:spLocks noGrp="1"/>
          </p:cNvSpPr>
          <p:nvPr>
            <p:ph idx="1"/>
          </p:nvPr>
        </p:nvSpPr>
        <p:spPr/>
        <p:txBody>
          <a:bodyPr/>
          <a:lstStyle/>
          <a:p>
            <a:r>
              <a:t>Which method is used to estimate the</a:t>
            </a:r>
          </a:p>
          <a:p>
            <a:r>
              <a:t>total earnings an individual is expected</a:t>
            </a:r>
          </a:p>
          <a:p>
            <a:r>
              <a:t>to generate over their lifetime to</a:t>
            </a:r>
          </a:p>
          <a:p>
            <a:r>
              <a:t>determine their life insurance needs?</a:t>
            </a:r>
          </a:p>
          <a:p>
            <a:r>
              <a:t>Needs Approach</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302</a:t>
            </a:r>
          </a:p>
        </p:txBody>
      </p:sp>
      <p:sp>
        <p:nvSpPr>
          <p:cNvPr id="3" name="Content Placeholder 2"/>
          <p:cNvSpPr>
            <a:spLocks noGrp="1"/>
          </p:cNvSpPr>
          <p:nvPr>
            <p:ph idx="1"/>
          </p:nvPr>
        </p:nvSpPr>
        <p:spPr/>
        <p:txBody>
          <a:bodyPr/>
          <a:lstStyle/>
          <a:p/>
          <a:p>
            <a:r>
              <a:t>☐ Multiple Earnings Method € © Capital Needs Analysis</a:t>
            </a:r>
          </a:p>
          <a:p>
            <a:pPr>
              <a:defRPr b="1"/>
            </a:pPr>
            <a:r>
              <a:t>✅ Human Life Value Approach</a:t>
            </a:r>
          </a:p>
          <a:p>
            <a:br/>
            <a:pPr>
              <a:defRPr sz="1400" i="1"/>
            </a:pPr>
            <a:r>
              <a:t>Explanation: used to estimate the</a:t>
            </a:r>
            <a:br/>
            <a:r>
              <a:t>total earnings an individual is expected</a:t>
            </a:r>
            <a:br/>
            <a:r>
              <a:t>to generate over their lifetime to</a:t>
            </a:r>
            <a:br/>
            <a:r>
              <a:t>determine their life insurance needs?</a:t>
            </a:r>
            <a:br/>
            <a:r>
              <a:t>Needs Approach</a:t>
            </a:r>
            <a:br/>
            <a:r>
              <a:t>x) Multiple Earnings Method</a:t>
            </a:r>
            <a:br/>
            <a:r>
              <a:t>€  Capital Needs Analy...</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303</a:t>
            </a:r>
          </a:p>
        </p:txBody>
      </p:sp>
      <p:sp>
        <p:nvSpPr>
          <p:cNvPr id="3" name="Content Placeholder 2"/>
          <p:cNvSpPr>
            <a:spLocks noGrp="1"/>
          </p:cNvSpPr>
          <p:nvPr>
            <p:ph idx="1"/>
          </p:nvPr>
        </p:nvSpPr>
        <p:spPr/>
        <p:txBody>
          <a:bodyPr/>
          <a:lstStyle/>
          <a:p>
            <a:r>
              <a:t>Which action must an insurer take</a:t>
            </a:r>
          </a:p>
          <a:p>
            <a:r>
              <a:t>before issuing a policy in Arizona?</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303</a:t>
            </a:r>
          </a:p>
        </p:txBody>
      </p:sp>
      <p:sp>
        <p:nvSpPr>
          <p:cNvPr id="3" name="Content Placeholder 2"/>
          <p:cNvSpPr>
            <a:spLocks noGrp="1"/>
          </p:cNvSpPr>
          <p:nvPr>
            <p:ph idx="1"/>
          </p:nvPr>
        </p:nvSpPr>
        <p:spPr/>
        <p:txBody>
          <a:bodyPr/>
          <a:lstStyle/>
          <a:p/>
          <a:p>
            <a:r>
              <a:t>☐ btain a reinsurance agreement</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304</a:t>
            </a:r>
          </a:p>
        </p:txBody>
      </p:sp>
      <p:sp>
        <p:nvSpPr>
          <p:cNvPr id="3" name="Content Placeholder 2"/>
          <p:cNvSpPr>
            <a:spLocks noGrp="1"/>
          </p:cNvSpPr>
          <p:nvPr>
            <p:ph idx="1"/>
          </p:nvPr>
        </p:nvSpPr>
        <p:spPr/>
        <p:txBody>
          <a:bodyPr/>
          <a:lstStyle/>
          <a:p>
            <a:r>
              <a:t>A policy feature that allows a</a:t>
            </a:r>
          </a:p>
          <a:p>
            <a:r>
              <a:t>terminated employee to convert their</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304</a:t>
            </a:r>
          </a:p>
        </p:txBody>
      </p:sp>
      <p:sp>
        <p:nvSpPr>
          <p:cNvPr id="3" name="Content Placeholder 2"/>
          <p:cNvSpPr>
            <a:spLocks noGrp="1"/>
          </p:cNvSpPr>
          <p:nvPr>
            <p:ph idx="1"/>
          </p:nvPr>
        </p:nvSpPr>
        <p:spPr/>
        <p:txBody>
          <a:bodyPr/>
          <a:lstStyle/>
          <a:p/>
          <a:p>
            <a:pPr>
              <a:defRPr b="1"/>
            </a:pPr>
            <a:r>
              <a:t>✅ roup life insurance into an individual policy without proving insurability: Free-look period Assignment clause Conversion privilege € © Spendthrift clause</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305</a:t>
            </a:r>
          </a:p>
        </p:txBody>
      </p:sp>
      <p:sp>
        <p:nvSpPr>
          <p:cNvPr id="3" name="Content Placeholder 2"/>
          <p:cNvSpPr>
            <a:spLocks noGrp="1"/>
          </p:cNvSpPr>
          <p:nvPr>
            <p:ph idx="1"/>
          </p:nvPr>
        </p:nvSpPr>
        <p:spPr/>
        <p:txBody>
          <a:bodyPr/>
          <a:lstStyle/>
          <a:p>
            <a:r>
              <a:t>Lisa recently inherited a large sum of</a:t>
            </a:r>
          </a:p>
          <a:p>
            <a:r>
              <a:t>money and wants to invest it ina</a:t>
            </a:r>
          </a:p>
          <a:p>
            <a:r>
              <a:t>policy that guarantees her a steady</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305</a:t>
            </a:r>
          </a:p>
        </p:txBody>
      </p:sp>
      <p:sp>
        <p:nvSpPr>
          <p:cNvPr id="3" name="Content Placeholder 2"/>
          <p:cNvSpPr>
            <a:spLocks noGrp="1"/>
          </p:cNvSpPr>
          <p:nvPr>
            <p:ph idx="1"/>
          </p:nvPr>
        </p:nvSpPr>
        <p:spPr/>
        <p:txBody>
          <a:bodyPr/>
          <a:lstStyle/>
          <a:p/>
          <a:p>
            <a:r>
              <a:t>☐ ncome for life. Which type of</a:t>
            </a:r>
          </a:p>
          <a:p>
            <a:r>
              <a:t>☐ nsurance product would best suit her Group life insurance</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306</a:t>
            </a:r>
          </a:p>
        </p:txBody>
      </p:sp>
      <p:sp>
        <p:nvSpPr>
          <p:cNvPr id="3" name="Content Placeholder 2"/>
          <p:cNvSpPr>
            <a:spLocks noGrp="1"/>
          </p:cNvSpPr>
          <p:nvPr>
            <p:ph idx="1"/>
          </p:nvPr>
        </p:nvSpPr>
        <p:spPr/>
        <p:txBody>
          <a:bodyPr/>
          <a:lstStyle/>
          <a:p>
            <a:r>
              <a:t>The process by which underwriters</a:t>
            </a:r>
          </a:p>
          <a:p>
            <a:r>
              <a:t>evaluate an applicant’s health,</a:t>
            </a:r>
          </a:p>
          <a:p>
            <a:r>
              <a:t>financial background, and lifestyle to</a:t>
            </a:r>
          </a:p>
          <a:p>
            <a:r>
              <a:t>determine insurability:</a:t>
            </a:r>
          </a:p>
          <a:p>
            <a:r>
              <a:t>Adverse selection</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306</a:t>
            </a:r>
          </a:p>
        </p:txBody>
      </p:sp>
      <p:sp>
        <p:nvSpPr>
          <p:cNvPr id="3" name="Content Placeholder 2"/>
          <p:cNvSpPr>
            <a:spLocks noGrp="1"/>
          </p:cNvSpPr>
          <p:nvPr>
            <p:ph idx="1"/>
          </p:nvPr>
        </p:nvSpPr>
        <p:spPr/>
        <p:txBody>
          <a:bodyPr/>
          <a:lstStyle/>
          <a:p/>
          <a:p>
            <a:r>
              <a:t>☐ Risk classification</a:t>
            </a:r>
          </a:p>
          <a:p>
            <a:pPr>
              <a:defRPr b="1"/>
            </a:pPr>
            <a:r>
              <a:t>✅ © Field underwriting</a:t>
            </a:r>
          </a:p>
          <a:p>
            <a:r>
              <a:t>☐ Underwriting</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307</a:t>
            </a:r>
          </a:p>
        </p:txBody>
      </p:sp>
      <p:sp>
        <p:nvSpPr>
          <p:cNvPr id="3" name="Content Placeholder 2"/>
          <p:cNvSpPr>
            <a:spLocks noGrp="1"/>
          </p:cNvSpPr>
          <p:nvPr>
            <p:ph idx="1"/>
          </p:nvPr>
        </p:nvSpPr>
        <p:spPr/>
        <p:txBody>
          <a:bodyPr/>
          <a:lstStyle/>
          <a:p>
            <a:r>
              <a:t>All of the following individuals would</a:t>
            </a:r>
          </a:p>
          <a:p>
            <a:r>
              <a:t>typically qualify for group life insurance</a:t>
            </a:r>
          </a:p>
          <a:p>
            <a:r>
              <a:t>EXCEPT:</a:t>
            </a:r>
          </a:p>
          <a:p>
            <a:r>
              <a:t>A retiree continuing coverage under a group</a:t>
            </a:r>
          </a:p>
          <a:p>
            <a:r>
              <a:t>plan</a:t>
            </a:r>
          </a:p>
          <a:p>
            <a:r>
              <a:t>A full-time employee of a participating</a:t>
            </a:r>
          </a:p>
          <a:p>
            <a:r>
              <a:t>employer</a:t>
            </a:r>
          </a:p>
          <a:p>
            <a:r>
              <a:t>A member of a trade association offering</a:t>
            </a:r>
          </a:p>
          <a:p>
            <a:r>
              <a:t>coverage</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307</a:t>
            </a:r>
          </a:p>
        </p:txBody>
      </p:sp>
      <p:sp>
        <p:nvSpPr>
          <p:cNvPr id="3" name="Content Placeholder 2"/>
          <p:cNvSpPr>
            <a:spLocks noGrp="1"/>
          </p:cNvSpPr>
          <p:nvPr>
            <p:ph idx="1"/>
          </p:nvPr>
        </p:nvSpPr>
        <p:spPr/>
        <p:txBody>
          <a:bodyPr/>
          <a:lstStyle/>
          <a:p/>
          <a:p>
            <a:r>
              <a:t>☐ S| 6:23 : Question 88 Select the appropriate response All of the following individuals would typically qualify for group life insurance EXCEPT: A retiree continuing coverage under a group plan A full-time employee of a participating employer A member of a trade association offering coverage</a:t>
            </a:r>
          </a:p>
          <a:p>
            <a:pPr>
              <a:defRPr b="1"/>
            </a:pPr>
            <a:r>
              <a:t>✅ Asole proprietor with no employees</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308</a:t>
            </a:r>
          </a:p>
        </p:txBody>
      </p:sp>
      <p:sp>
        <p:nvSpPr>
          <p:cNvPr id="3" name="Content Placeholder 2"/>
          <p:cNvSpPr>
            <a:spLocks noGrp="1"/>
          </p:cNvSpPr>
          <p:nvPr>
            <p:ph idx="1"/>
          </p:nvPr>
        </p:nvSpPr>
        <p:spPr/>
        <p:txBody>
          <a:bodyPr/>
          <a:lstStyle/>
          <a:p>
            <a:r>
              <a:t>What does the term "solicit" mean in</a:t>
            </a:r>
          </a:p>
          <a:p>
            <a:r>
              <a:t>the context of insurance in Arizona?</a:t>
            </a:r>
          </a:p>
          <a:p>
            <a:r>
              <a:t>To attempt to sell insurance from a specific</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308</a:t>
            </a:r>
          </a:p>
        </p:txBody>
      </p:sp>
      <p:sp>
        <p:nvSpPr>
          <p:cNvPr id="3" name="Content Placeholder 2"/>
          <p:cNvSpPr>
            <a:spLocks noGrp="1"/>
          </p:cNvSpPr>
          <p:nvPr>
            <p:ph idx="1"/>
          </p:nvPr>
        </p:nvSpPr>
        <p:spPr/>
        <p:txBody>
          <a:bodyPr/>
          <a:lstStyle/>
          <a:p/>
          <a:p>
            <a:r>
              <a:t>☐ nsurer To renew existing insurance policies To negotiate terms and conditions of</a:t>
            </a:r>
          </a:p>
          <a:p>
            <a:r>
              <a:t>☐ nsurance contracts To provide general information about</a:t>
            </a:r>
          </a:p>
          <a:p>
            <a:r>
              <a:t>☐ nsurance products</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309</a:t>
            </a:r>
          </a:p>
        </p:txBody>
      </p:sp>
      <p:sp>
        <p:nvSpPr>
          <p:cNvPr id="3" name="Content Placeholder 2"/>
          <p:cNvSpPr>
            <a:spLocks noGrp="1"/>
          </p:cNvSpPr>
          <p:nvPr>
            <p:ph idx="1"/>
          </p:nvPr>
        </p:nvSpPr>
        <p:spPr/>
        <p:txBody>
          <a:bodyPr/>
          <a:lstStyle/>
          <a:p>
            <a:r>
              <a:t>A contract in which only one party (the</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309</a:t>
            </a:r>
          </a:p>
        </p:txBody>
      </p:sp>
      <p:sp>
        <p:nvSpPr>
          <p:cNvPr id="3" name="Content Placeholder 2"/>
          <p:cNvSpPr>
            <a:spLocks noGrp="1"/>
          </p:cNvSpPr>
          <p:nvPr>
            <p:ph idx="1"/>
          </p:nvPr>
        </p:nvSpPr>
        <p:spPr/>
        <p:txBody>
          <a:bodyPr/>
          <a:lstStyle/>
          <a:p/>
          <a:p>
            <a:r>
              <a:t>☐ nsurer) makes a legally enforceable promise:</a:t>
            </a:r>
          </a:p>
          <a:p>
            <a:r>
              <a:t>☐ Valued contract</a:t>
            </a:r>
          </a:p>
          <a:p>
            <a:r>
              <a:t>☐ e Personal contract Unilateral contract</a:t>
            </a:r>
          </a:p>
          <a:p>
            <a:r>
              <a:t>☐ Aleatory contract</a:t>
            </a:r>
          </a:p>
          <a:p>
            <a:br/>
            <a:pPr>
              <a:defRPr sz="1400" i="1"/>
            </a:pPr>
            <a:r>
              <a:t>Explanation: legally obligated to fulfill the</a:t>
            </a:r>
            <a:br/>
            <a:r>
              <a:t>I&lt; A &gt;|</a:t>
            </a:r>
            <a:br/>
            <a:r>
              <a:t>&amp; a ..rancelicense.myabsorb.com (</a:t>
            </a:r>
            <a:br/>
            <a:r>
              <a:t>&lt; &gt; + [22]...</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310</a:t>
            </a:r>
          </a:p>
        </p:txBody>
      </p:sp>
      <p:sp>
        <p:nvSpPr>
          <p:cNvPr id="3" name="Content Placeholder 2"/>
          <p:cNvSpPr>
            <a:spLocks noGrp="1"/>
          </p:cNvSpPr>
          <p:nvPr>
            <p:ph idx="1"/>
          </p:nvPr>
        </p:nvSpPr>
        <p:spPr/>
        <p:txBody>
          <a:bodyPr/>
          <a:lstStyle/>
          <a:p>
            <a:r>
              <a:t>The following are responsibilities of an</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310</a:t>
            </a:r>
          </a:p>
        </p:txBody>
      </p:sp>
      <p:sp>
        <p:nvSpPr>
          <p:cNvPr id="3" name="Content Placeholder 2"/>
          <p:cNvSpPr>
            <a:spLocks noGrp="1"/>
          </p:cNvSpPr>
          <p:nvPr>
            <p:ph idx="1"/>
          </p:nvPr>
        </p:nvSpPr>
        <p:spPr/>
        <p:txBody>
          <a:bodyPr/>
          <a:lstStyle/>
          <a:p/>
          <a:p>
            <a:r>
              <a:t>☐ S| Question 91 Select the appropriate response The following are responsibilities of an</a:t>
            </a:r>
          </a:p>
          <a:p>
            <a:r>
              <a:t>☐ nsurance agent in the underwriting process EXCEPT:</a:t>
            </a:r>
          </a:p>
          <a:p>
            <a:r>
              <a:t>☐ btaining the applicant’s signatures Collecting medical and personal information</a:t>
            </a:r>
          </a:p>
          <a:p>
            <a:pPr>
              <a:defRPr b="1"/>
            </a:pPr>
            <a:r>
              <a:t>✅ Determining the final premium rate Ensuring the application is complete</a:t>
            </a:r>
          </a:p>
          <a:p>
            <a:br/>
            <a:pPr>
              <a:defRPr sz="1400" i="1"/>
            </a:pPr>
            <a:r>
              <a:t>Explanation: complete</a:t>
            </a:r>
            <a:br/>
            <a:r>
              <a:t>Proceed =</a:t>
            </a:r>
            <a:br/>
            <a:r>
              <a:t>ds Agents collect information and assist with</a:t>
            </a:r>
            <a:br/>
            <a:r>
              <a:t>applications, but final premium rates are determined</a:t>
            </a:r>
            <a:br/>
            <a:r>
              <a:t>&gt;|...</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311</a:t>
            </a:r>
          </a:p>
        </p:txBody>
      </p:sp>
      <p:sp>
        <p:nvSpPr>
          <p:cNvPr id="3" name="Content Placeholder 2"/>
          <p:cNvSpPr>
            <a:spLocks noGrp="1"/>
          </p:cNvSpPr>
          <p:nvPr>
            <p:ph idx="1"/>
          </p:nvPr>
        </p:nvSpPr>
        <p:spPr/>
        <p:txBody>
          <a:bodyPr/>
          <a:lstStyle/>
          <a:p>
            <a:r>
              <a:t>Emma purchases a life insurance</a:t>
            </a:r>
          </a:p>
          <a:p>
            <a:r>
              <a:t>policy on her husband’s life. Which of</a:t>
            </a:r>
          </a:p>
          <a:p>
            <a:r>
              <a:t>the following must be present at the</a:t>
            </a:r>
          </a:p>
          <a:p>
            <a:r>
              <a:t>time of application for the contract to</a:t>
            </a:r>
          </a:p>
          <a:p>
            <a:r>
              <a:t>be valid?</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311</a:t>
            </a:r>
          </a:p>
        </p:txBody>
      </p:sp>
      <p:sp>
        <p:nvSpPr>
          <p:cNvPr id="3" name="Content Placeholder 2"/>
          <p:cNvSpPr>
            <a:spLocks noGrp="1"/>
          </p:cNvSpPr>
          <p:nvPr>
            <p:ph idx="1"/>
          </p:nvPr>
        </p:nvSpPr>
        <p:spPr/>
        <p:txBody>
          <a:bodyPr/>
          <a:lstStyle/>
          <a:p/>
          <a:p>
            <a:r>
              <a:t>☐ Anamed contingent beneficiary eo An automatic policy loan provision</a:t>
            </a:r>
          </a:p>
          <a:p>
            <a:r>
              <a:t>☐ An irrevocable trust</a:t>
            </a:r>
          </a:p>
          <a:p>
            <a:pPr>
              <a:defRPr b="1"/>
            </a:pPr>
            <a:r>
              <a:t>✅ e Insurable interest</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312</a:t>
            </a:r>
          </a:p>
        </p:txBody>
      </p:sp>
      <p:sp>
        <p:nvSpPr>
          <p:cNvPr id="3" name="Content Placeholder 2"/>
          <p:cNvSpPr>
            <a:spLocks noGrp="1"/>
          </p:cNvSpPr>
          <p:nvPr>
            <p:ph idx="1"/>
          </p:nvPr>
        </p:nvSpPr>
        <p:spPr/>
        <p:txBody>
          <a:bodyPr/>
          <a:lstStyle/>
          <a:p>
            <a:r>
              <a:t>A financial planning strategy that helps</a:t>
            </a:r>
          </a:p>
          <a:p>
            <a:r>
              <a:t>businesses retain key employees by</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312</a:t>
            </a:r>
          </a:p>
        </p:txBody>
      </p:sp>
      <p:sp>
        <p:nvSpPr>
          <p:cNvPr id="3" name="Content Placeholder 2"/>
          <p:cNvSpPr>
            <a:spLocks noGrp="1"/>
          </p:cNvSpPr>
          <p:nvPr>
            <p:ph idx="1"/>
          </p:nvPr>
        </p:nvSpPr>
        <p:spPr/>
        <p:txBody>
          <a:bodyPr/>
          <a:lstStyle/>
          <a:p/>
          <a:p>
            <a:r>
              <a:t>☐ Key person insurance Go) Reteresicennereaeom oon</a:t>
            </a:r>
          </a:p>
          <a:p>
            <a:r>
              <a:t>☐ Buy-sell agreement</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313</a:t>
            </a:r>
          </a:p>
        </p:txBody>
      </p:sp>
      <p:sp>
        <p:nvSpPr>
          <p:cNvPr id="3" name="Content Placeholder 2"/>
          <p:cNvSpPr>
            <a:spLocks noGrp="1"/>
          </p:cNvSpPr>
          <p:nvPr>
            <p:ph idx="1"/>
          </p:nvPr>
        </p:nvSpPr>
        <p:spPr/>
        <p:txBody>
          <a:bodyPr/>
          <a:lstStyle/>
          <a:p>
            <a:r>
              <a:t>A method of calculating the necessary</a:t>
            </a:r>
          </a:p>
          <a:p>
            <a:r>
              <a:t>life insurance coverage by evaluating</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313</a:t>
            </a:r>
          </a:p>
        </p:txBody>
      </p:sp>
      <p:sp>
        <p:nvSpPr>
          <p:cNvPr id="3" name="Content Placeholder 2"/>
          <p:cNvSpPr>
            <a:spLocks noGrp="1"/>
          </p:cNvSpPr>
          <p:nvPr>
            <p:ph idx="1"/>
          </p:nvPr>
        </p:nvSpPr>
        <p:spPr/>
        <p:txBody>
          <a:bodyPr/>
          <a:lstStyle/>
          <a:p/>
          <a:p>
            <a:r>
              <a:t>☐ mmediate and future financial needs of the insured’s dependents: Needs Approach</a:t>
            </a:r>
          </a:p>
          <a:p>
            <a:r>
              <a:t>☐ Single Needs Method € © Interest-Only Method</a:t>
            </a:r>
          </a:p>
          <a:p>
            <a:pPr>
              <a:defRPr b="1"/>
            </a:pPr>
            <a:r>
              <a:t>✅ Human Life Value Approach</a:t>
            </a:r>
          </a:p>
          <a:p>
            <a:r>
              <a:t>☐ The eee EISEN VEMTENCS oun LUTHISTRIEN) I&lt; A &gt;| &amp; a ..rancelicense.myabsorb.com (© &lt; &gt; + [22]</a:t>
            </a:r>
          </a:p>
          <a:p>
            <a:br/>
            <a:pPr>
              <a:defRPr sz="1400" i="1"/>
            </a:pPr>
            <a:r>
              <a:t>Explanation: of the insured’s dependents:</a:t>
            </a:r>
            <a:br/>
            <a:r>
              <a:t>Needs Approach</a:t>
            </a:r>
            <a:br/>
            <a:r>
              <a:t>x) Single Needs Method</a:t>
            </a:r>
            <a:br/>
            <a:r>
              <a:t>€  Interest-Only Method</a:t>
            </a:r>
            <a:br/>
            <a:r>
              <a:t>x) Human Life Value Approach</a:t>
            </a:r>
            <a:br/>
            <a:r>
              <a:t>Proceed =&gt;</a:t>
            </a:r>
            <a:br/>
            <a:r>
              <a:t>x The eee EISEN VEMTENCS oun LUTHISTRIEN)</a:t>
            </a:r>
            <a:br/>
            <a:r>
              <a:t>I&lt; A &gt;|</a:t>
            </a:r>
            <a:br/>
            <a:r>
              <a:t>&amp; a ..rancelicense....</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314</a:t>
            </a:r>
          </a:p>
        </p:txBody>
      </p:sp>
      <p:sp>
        <p:nvSpPr>
          <p:cNvPr id="3" name="Content Placeholder 2"/>
          <p:cNvSpPr>
            <a:spLocks noGrp="1"/>
          </p:cNvSpPr>
          <p:nvPr>
            <p:ph idx="1"/>
          </p:nvPr>
        </p:nvSpPr>
        <p:spPr/>
        <p:txBody>
          <a:bodyPr/>
          <a:lstStyle/>
          <a:p>
            <a:r>
              <a:t>A retirement plan that specifies the</a:t>
            </a:r>
          </a:p>
          <a:p>
            <a:r>
              <a:t>exact benefit an employee will receive</a:t>
            </a:r>
          </a:p>
          <a:p>
            <a:r>
              <a:t>upon retirement:</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314</a:t>
            </a:r>
          </a:p>
        </p:txBody>
      </p:sp>
      <p:sp>
        <p:nvSpPr>
          <p:cNvPr id="3" name="Content Placeholder 2"/>
          <p:cNvSpPr>
            <a:spLocks noGrp="1"/>
          </p:cNvSpPr>
          <p:nvPr>
            <p:ph idx="1"/>
          </p:nvPr>
        </p:nvSpPr>
        <p:spPr/>
        <p:txBody>
          <a:bodyPr/>
          <a:lstStyle/>
          <a:p/>
          <a:p>
            <a:r>
              <a:t>☐ Defined contribution plan Employee stock ownership plan €© © Profit-sharing plan</a:t>
            </a:r>
          </a:p>
          <a:p>
            <a:pPr>
              <a:defRPr b="1"/>
            </a:pPr>
            <a:r>
              <a:t>✅ Defined benefit plan</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315</a:t>
            </a:r>
          </a:p>
        </p:txBody>
      </p:sp>
      <p:sp>
        <p:nvSpPr>
          <p:cNvPr id="3" name="Content Placeholder 2"/>
          <p:cNvSpPr>
            <a:spLocks noGrp="1"/>
          </p:cNvSpPr>
          <p:nvPr>
            <p:ph idx="1"/>
          </p:nvPr>
        </p:nvSpPr>
        <p:spPr/>
        <p:txBody>
          <a:bodyPr/>
          <a:lstStyle/>
          <a:p>
            <a:r>
              <a:t>What is required for a person or entity</a:t>
            </a:r>
          </a:p>
          <a:p>
            <a:r>
              <a:t>to transact insurance business in</a:t>
            </a:r>
          </a:p>
          <a:p>
            <a:r>
              <a:t>Arizona?</a:t>
            </a:r>
          </a:p>
          <a:p>
            <a:r>
              <a:t>A certificate of authority</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315</a:t>
            </a:r>
          </a:p>
        </p:txBody>
      </p:sp>
      <p:sp>
        <p:nvSpPr>
          <p:cNvPr id="3" name="Content Placeholder 2"/>
          <p:cNvSpPr>
            <a:spLocks noGrp="1"/>
          </p:cNvSpPr>
          <p:nvPr>
            <p:ph idx="1"/>
          </p:nvPr>
        </p:nvSpPr>
        <p:spPr/>
        <p:txBody>
          <a:bodyPr/>
          <a:lstStyle/>
          <a:p/>
          <a:p>
            <a:r>
              <a:t>☐ e Membership in a state insurance association A bond of indemnity</a:t>
            </a:r>
          </a:p>
          <a:p>
            <a:br/>
            <a:pPr>
              <a:defRPr sz="1400" i="1"/>
            </a:pPr>
            <a:r>
              <a:t>Explanation: required for a person or entity</a:t>
            </a:r>
            <a:br/>
            <a:r>
              <a:t>to transact insurance business in</a:t>
            </a:r>
            <a:br/>
            <a:r>
              <a:t>Arizona?</a:t>
            </a:r>
            <a:br/>
            <a:r>
              <a:t>A certificate of authority</a:t>
            </a:r>
            <a:br/>
            <a:r>
              <a:t>x) e Membership in a state insurance</a:t>
            </a:r>
            <a:br/>
            <a:r>
              <a:t>association</a:t>
            </a:r>
            <a:br/>
            <a:r>
              <a:t>A bond of indemnity</a:t>
            </a:r>
            <a:br/>
            <a:r>
              <a:t>Proceed —_</a:t>
            </a:r>
            <a:br/>
            <a:r>
              <a:t>A &gt;|</a:t>
            </a:r>
            <a:br/>
            <a:r>
              <a:t>&amp; a ..ranceli...</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316</a:t>
            </a:r>
          </a:p>
        </p:txBody>
      </p:sp>
      <p:sp>
        <p:nvSpPr>
          <p:cNvPr id="3" name="Content Placeholder 2"/>
          <p:cNvSpPr>
            <a:spLocks noGrp="1"/>
          </p:cNvSpPr>
          <p:nvPr>
            <p:ph idx="1"/>
          </p:nvPr>
        </p:nvSpPr>
        <p:spPr/>
        <p:txBody>
          <a:bodyPr/>
          <a:lstStyle/>
          <a:p>
            <a:r>
              <a:t>The following are valid beneficiary</a:t>
            </a:r>
          </a:p>
          <a:p>
            <a:r>
              <a:t>designations EXCEPT:</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316</a:t>
            </a:r>
          </a:p>
        </p:txBody>
      </p:sp>
      <p:sp>
        <p:nvSpPr>
          <p:cNvPr id="3" name="Content Placeholder 2"/>
          <p:cNvSpPr>
            <a:spLocks noGrp="1"/>
          </p:cNvSpPr>
          <p:nvPr>
            <p:ph idx="1"/>
          </p:nvPr>
        </p:nvSpPr>
        <p:spPr/>
        <p:txBody>
          <a:bodyPr/>
          <a:lstStyle/>
          <a:p/>
          <a:p>
            <a:pPr>
              <a:defRPr b="1"/>
            </a:pPr>
            <a:r>
              <a:t>✅ A minor child</a:t>
            </a:r>
          </a:p>
          <a:p>
            <a:r>
              <a:t>☐ A charity</a:t>
            </a:r>
          </a:p>
          <a:p>
            <a:r>
              <a:t>☐ A revocable trust € © Abusiness partner</a:t>
            </a:r>
          </a:p>
          <a:p>
            <a:r>
              <a:t>☐ nsurance companies typically do not pay directly to minors due to legal restrictions. Instead, a guardian oe at rn - Files I&lt; A &gt;| &amp; a ..rancelicense.myabsorb.com (© &lt; &gt; + [22]</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317</a:t>
            </a:r>
          </a:p>
        </p:txBody>
      </p:sp>
      <p:sp>
        <p:nvSpPr>
          <p:cNvPr id="3" name="Content Placeholder 2"/>
          <p:cNvSpPr>
            <a:spLocks noGrp="1"/>
          </p:cNvSpPr>
          <p:nvPr>
            <p:ph idx="1"/>
          </p:nvPr>
        </p:nvSpPr>
        <p:spPr/>
        <p:txBody>
          <a:bodyPr/>
          <a:lstStyle/>
          <a:p>
            <a:r>
              <a:t>Michael is a 35-year-old professional</a:t>
            </a:r>
          </a:p>
          <a:p>
            <a:r>
              <a:t>who wants to purchase a policy that</a:t>
            </a:r>
          </a:p>
          <a:p>
            <a:r>
              <a:t>will provide the maximum death</a:t>
            </a:r>
          </a:p>
          <a:p>
            <a:r>
              <a:t>benefit at the lowest cost for the next</a:t>
            </a:r>
          </a:p>
          <a:p>
            <a:r>
              <a:t>20 years. Which of the following</a:t>
            </a:r>
          </a:p>
          <a:p>
            <a:r>
              <a:t>policies would be the best option for</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317</a:t>
            </a:r>
          </a:p>
        </p:txBody>
      </p:sp>
      <p:sp>
        <p:nvSpPr>
          <p:cNvPr id="3" name="Content Placeholder 2"/>
          <p:cNvSpPr>
            <a:spLocks noGrp="1"/>
          </p:cNvSpPr>
          <p:nvPr>
            <p:ph idx="1"/>
          </p:nvPr>
        </p:nvSpPr>
        <p:spPr/>
        <p:txBody>
          <a:bodyPr/>
          <a:lstStyle/>
          <a:p/>
          <a:p>
            <a:pPr>
              <a:defRPr b="1"/>
            </a:pPr>
            <a:r>
              <a:t>✅ e Whole life insurance</a:t>
            </a:r>
          </a:p>
          <a:p>
            <a:br/>
            <a:pPr>
              <a:defRPr sz="1400" i="1"/>
            </a:pPr>
            <a:r>
              <a:t>Explanation: a 35-year-old professional</a:t>
            </a:r>
            <a:br/>
            <a:r>
              <a:t>who wants to purchase a policy that</a:t>
            </a:r>
            <a:br/>
            <a:r>
              <a:t>will provide the maximum death</a:t>
            </a:r>
            <a:br/>
            <a:r>
              <a:t>benefit at the lowest cost for the next</a:t>
            </a:r>
            <a:br/>
            <a:r>
              <a:t>20 years. Which of the following</a:t>
            </a:r>
            <a:br/>
            <a:r>
              <a:t>policies would be the best option...</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318</a:t>
            </a:r>
          </a:p>
        </p:txBody>
      </p:sp>
      <p:sp>
        <p:nvSpPr>
          <p:cNvPr id="3" name="Content Placeholder 2"/>
          <p:cNvSpPr>
            <a:spLocks noGrp="1"/>
          </p:cNvSpPr>
          <p:nvPr>
            <p:ph idx="1"/>
          </p:nvPr>
        </p:nvSpPr>
        <p:spPr/>
        <p:txBody>
          <a:bodyPr/>
          <a:lstStyle/>
          <a:p>
            <a:r>
              <a:t>What is the primary reason that</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318</a:t>
            </a:r>
          </a:p>
        </p:txBody>
      </p:sp>
      <p:sp>
        <p:nvSpPr>
          <p:cNvPr id="3" name="Content Placeholder 2"/>
          <p:cNvSpPr>
            <a:spLocks noGrp="1"/>
          </p:cNvSpPr>
          <p:nvPr>
            <p:ph idx="1"/>
          </p:nvPr>
        </p:nvSpPr>
        <p:spPr/>
        <p:txBody>
          <a:bodyPr/>
          <a:lstStyle/>
          <a:p/>
          <a:p>
            <a:r>
              <a:t>☐ S| 6:24 : Question 100 Select the appropriate response What is the primary reason that</a:t>
            </a:r>
          </a:p>
          <a:p>
            <a:r>
              <a:t>☐ nsurance companies invest premiums collected from policyholders? To reduce the need for policy reserves To pay agent commissions To increase company profits</a:t>
            </a:r>
          </a:p>
          <a:p>
            <a:pPr>
              <a:defRPr b="1"/>
            </a:pPr>
            <a:r>
              <a:t>✅ To lower policyholder premiums by earning</a:t>
            </a:r>
          </a:p>
          <a:p>
            <a:r>
              <a:t>☐ nterest</a:t>
            </a:r>
          </a:p>
          <a:p>
            <a:br/>
            <a:pPr>
              <a:defRPr sz="1400" i="1"/>
            </a:pPr>
            <a:r>
              <a:t>Explanation: the primary reason that</a:t>
            </a:r>
            <a:br/>
            <a:r>
              <a:t>insurance companies invest premiums</a:t>
            </a:r>
            <a:br/>
            <a:r>
              <a:t>collected from policyholders?</a:t>
            </a:r>
            <a:br/>
            <a:r>
              <a:t>To reduce the need for policy reserves</a:t>
            </a:r>
            <a:br/>
            <a:r>
              <a:t>To pay agent commissions</a:t>
            </a:r>
            <a:br/>
            <a:r>
              <a:t>To increase company profits</a:t>
            </a:r>
            <a:br/>
            <a:r>
              <a:t>g To lower policyh...</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319</a:t>
            </a:r>
          </a:p>
        </p:txBody>
      </p:sp>
      <p:sp>
        <p:nvSpPr>
          <p:cNvPr id="3" name="Content Placeholder 2"/>
          <p:cNvSpPr>
            <a:spLocks noGrp="1"/>
          </p:cNvSpPr>
          <p:nvPr>
            <p:ph idx="1"/>
          </p:nvPr>
        </p:nvSpPr>
        <p:spPr/>
        <p:txBody>
          <a:bodyPr/>
          <a:lstStyle/>
          <a:p>
            <a:r>
              <a:t>What action must be taken if there is a</a:t>
            </a:r>
          </a:p>
          <a:p>
            <a:r>
              <a:t>change among the members,</a:t>
            </a:r>
          </a:p>
          <a:p>
            <a:r>
              <a:t>directors, or officers of a business</a:t>
            </a:r>
          </a:p>
          <a:p>
            <a:r>
              <a:t>entity licensed as an insurance</a:t>
            </a:r>
          </a:p>
          <a:p>
            <a:r>
              <a:t>producer in Arizona?</a:t>
            </a:r>
          </a:p>
          <a:p>
            <a:r>
              <a:t>Apply for a new license</a:t>
            </a:r>
          </a:p>
          <a:p>
            <a:r>
              <a:t>Hold a general meeting</a:t>
            </a:r>
          </a:p>
          <a:p>
            <a:r>
              <a:t>Report the change to the IRS</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319</a:t>
            </a:r>
          </a:p>
        </p:txBody>
      </p:sp>
      <p:sp>
        <p:nvSpPr>
          <p:cNvPr id="3" name="Content Placeholder 2"/>
          <p:cNvSpPr>
            <a:spLocks noGrp="1"/>
          </p:cNvSpPr>
          <p:nvPr>
            <p:ph idx="1"/>
          </p:nvPr>
        </p:nvSpPr>
        <p:spPr/>
        <p:txBody>
          <a:bodyPr/>
          <a:lstStyle/>
          <a:p/>
          <a:p>
            <a:br/>
            <a:pPr>
              <a:defRPr sz="1400" i="1"/>
            </a:pPr>
            <a:r>
              <a:t>Explanation: a</a:t>
            </a:r>
            <a:br/>
            <a:r>
              <a:t>change among the members,</a:t>
            </a:r>
            <a:br/>
            <a:r>
              <a:t>directors, or officers of a business</a:t>
            </a:r>
            <a:br/>
            <a:r>
              <a:t>entity licensed as an insurance</a:t>
            </a:r>
            <a:br/>
            <a:r>
              <a:t>producer in Arizona?</a:t>
            </a:r>
            <a:br/>
            <a:r>
              <a:t>Apply for a new license</a:t>
            </a:r>
            <a:br/>
            <a:r>
              <a:t>Hold a general meeting</a:t>
            </a:r>
            <a:br/>
            <a:r>
              <a:t>Report the change to the IRS</a:t>
            </a:r>
            <a:br/>
            <a:r>
              <a:t>Procee...</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320</a:t>
            </a:r>
          </a:p>
        </p:txBody>
      </p:sp>
      <p:sp>
        <p:nvSpPr>
          <p:cNvPr id="3" name="Content Placeholder 2"/>
          <p:cNvSpPr>
            <a:spLocks noGrp="1"/>
          </p:cNvSpPr>
          <p:nvPr>
            <p:ph idx="1"/>
          </p:nvPr>
        </p:nvSpPr>
        <p:spPr/>
        <p:txBody>
          <a:bodyPr/>
          <a:lstStyle/>
          <a:p>
            <a:r>
              <a:t>Lisa’s employer provides group life</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320</a:t>
            </a:r>
          </a:p>
        </p:txBody>
      </p:sp>
      <p:sp>
        <p:nvSpPr>
          <p:cNvPr id="3" name="Content Placeholder 2"/>
          <p:cNvSpPr>
            <a:spLocks noGrp="1"/>
          </p:cNvSpPr>
          <p:nvPr>
            <p:ph idx="1"/>
          </p:nvPr>
        </p:nvSpPr>
        <p:spPr/>
        <p:txBody>
          <a:bodyPr/>
          <a:lstStyle/>
          <a:p/>
          <a:p>
            <a:r>
              <a:t>☐ nsurance as a benefit. She does not contribute to the premium costs. What type of plan is Lisa covered under? Noncontributory plan</a:t>
            </a:r>
          </a:p>
          <a:p>
            <a:r>
              <a:t>☐ Whole life group plan € © Voluntary employee benefit plan</a:t>
            </a:r>
          </a:p>
          <a:p>
            <a:pPr>
              <a:defRPr b="1"/>
            </a:pPr>
            <a:r>
              <a:t>✅ Contributory plan</a:t>
            </a:r>
          </a:p>
          <a:p>
            <a:br/>
            <a:pPr>
              <a:defRPr sz="1400" i="1"/>
            </a:pPr>
            <a:r>
              <a:t>Explanation: Lisa covered under?</a:t>
            </a:r>
            <a:br/>
            <a:r>
              <a:t>Noncontributory plan</a:t>
            </a:r>
            <a:br/>
            <a:r>
              <a:t>x) Whole life group plan</a:t>
            </a:r>
            <a:br/>
            <a:r>
              <a:t>€  Voluntary employee benefit plan</a:t>
            </a:r>
            <a:br/>
            <a:r>
              <a:t>x) Contributory plan</a:t>
            </a:r>
            <a:br/>
            <a:r>
              <a:t>Proceed =&gt;</a:t>
            </a:r>
            <a:br/>
            <a:r>
              <a:t>% In anonconiributory plan, the employer pays</a:t>
            </a:r>
            <a:br/>
            <a:r>
              <a:t>I&lt; A &gt;|</a:t>
            </a:r>
            <a:br/>
            <a:r>
              <a:t>&amp; a ..ranceli...</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321</a:t>
            </a:r>
          </a:p>
        </p:txBody>
      </p:sp>
      <p:sp>
        <p:nvSpPr>
          <p:cNvPr id="3" name="Content Placeholder 2"/>
          <p:cNvSpPr>
            <a:spLocks noGrp="1"/>
          </p:cNvSpPr>
          <p:nvPr>
            <p:ph idx="1"/>
          </p:nvPr>
        </p:nvSpPr>
        <p:spPr/>
        <p:txBody>
          <a:bodyPr/>
          <a:lstStyle/>
          <a:p>
            <a:r>
              <a:t>An individual applying for an insurance</a:t>
            </a:r>
          </a:p>
          <a:p>
            <a:r>
              <a:t>producer license in Arizona must</a:t>
            </a:r>
          </a:p>
          <a:p>
            <a:r>
              <a:t>affirm that the information provided in</a:t>
            </a:r>
          </a:p>
          <a:p>
            <a:r>
              <a:t>the application is:</a:t>
            </a:r>
          </a:p>
          <a:p>
            <a:r>
              <a:t>Endorsed by a current licensee</a:t>
            </a:r>
          </a:p>
          <a:p>
            <a:r>
              <a:t>Notarized</a:t>
            </a:r>
          </a:p>
          <a:p>
            <a:r>
              <a:t>Accurate, complete, and true</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321</a:t>
            </a:r>
          </a:p>
        </p:txBody>
      </p:sp>
      <p:sp>
        <p:nvSpPr>
          <p:cNvPr id="3" name="Content Placeholder 2"/>
          <p:cNvSpPr>
            <a:spLocks noGrp="1"/>
          </p:cNvSpPr>
          <p:nvPr>
            <p:ph idx="1"/>
          </p:nvPr>
        </p:nvSpPr>
        <p:spPr/>
        <p:txBody>
          <a:bodyPr/>
          <a:lstStyle/>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322</a:t>
            </a:r>
          </a:p>
        </p:txBody>
      </p:sp>
      <p:sp>
        <p:nvSpPr>
          <p:cNvPr id="3" name="Content Placeholder 2"/>
          <p:cNvSpPr>
            <a:spLocks noGrp="1"/>
          </p:cNvSpPr>
          <p:nvPr>
            <p:ph idx="1"/>
          </p:nvPr>
        </p:nvSpPr>
        <p:spPr/>
        <p:txBody>
          <a:bodyPr/>
          <a:lstStyle/>
          <a:p>
            <a:r>
              <a:t>Which of the following is the primary</a:t>
            </a:r>
          </a:p>
          <a:p>
            <a:r>
              <a:t>source of funding for Social Security</a:t>
            </a:r>
          </a:p>
          <a:p>
            <a:r>
              <a:t>benefits?</a:t>
            </a:r>
          </a:p>
          <a:p>
            <a:r>
              <a:t>Employer and employee payroll taxes</a:t>
            </a:r>
          </a:p>
          <a:p>
            <a:r>
              <a:t>Federal income tax</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322</a:t>
            </a:r>
          </a:p>
        </p:txBody>
      </p:sp>
      <p:sp>
        <p:nvSpPr>
          <p:cNvPr id="3" name="Content Placeholder 2"/>
          <p:cNvSpPr>
            <a:spLocks noGrp="1"/>
          </p:cNvSpPr>
          <p:nvPr>
            <p:ph idx="1"/>
          </p:nvPr>
        </p:nvSpPr>
        <p:spPr/>
        <p:txBody>
          <a:bodyPr/>
          <a:lstStyle/>
          <a:p/>
          <a:p>
            <a:pPr>
              <a:defRPr b="1"/>
            </a:pPr>
            <a:r>
              <a:t>✅ e State sales tax</a:t>
            </a:r>
          </a:p>
          <a:p>
            <a:br/>
            <a:pPr>
              <a:defRPr sz="1400" i="1"/>
            </a:pPr>
            <a:r>
              <a:t>Explanation: the primary</a:t>
            </a:r>
            <a:br/>
            <a:r>
              <a:t>source of funding for Social Security</a:t>
            </a:r>
            <a:br/>
            <a:r>
              <a:t>benefits?</a:t>
            </a:r>
            <a:br/>
            <a:r>
              <a:t>Employer and employee payroll taxes</a:t>
            </a:r>
            <a:br/>
            <a:r>
              <a:t>Federal income tax</a:t>
            </a:r>
            <a:br/>
            <a:r>
              <a:t>Investment earnings from Social Security</a:t>
            </a:r>
            <a:br/>
            <a:r>
              <a:t>reserves</a:t>
            </a:r>
            <a:br/>
            <a:r>
              <a:t>x) e State sales tax</a:t>
            </a:r>
            <a:br/>
            <a:r>
              <a:t>Proceed =&gt;</a:t>
            </a:r>
            <a:br/>
            <a:r>
              <a:t>% S...</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323</a:t>
            </a:r>
          </a:p>
        </p:txBody>
      </p:sp>
      <p:sp>
        <p:nvSpPr>
          <p:cNvPr id="3" name="Content Placeholder 2"/>
          <p:cNvSpPr>
            <a:spLocks noGrp="1"/>
          </p:cNvSpPr>
          <p:nvPr>
            <p:ph idx="1"/>
          </p:nvPr>
        </p:nvSpPr>
        <p:spPr/>
        <p:txBody>
          <a:bodyPr/>
          <a:lstStyle/>
          <a:p>
            <a:r>
              <a:t>All of the following individuals are</a:t>
            </a:r>
          </a:p>
          <a:p>
            <a:r>
              <a:t>required to contribute to Social</a:t>
            </a:r>
          </a:p>
          <a:p>
            <a:r>
              <a:t>Security EXCEPT:</a:t>
            </a:r>
          </a:p>
          <a:p>
            <a:r>
              <a:t>Self-employed workers</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323</a:t>
            </a:r>
          </a:p>
        </p:txBody>
      </p:sp>
      <p:sp>
        <p:nvSpPr>
          <p:cNvPr id="3" name="Content Placeholder 2"/>
          <p:cNvSpPr>
            <a:spLocks noGrp="1"/>
          </p:cNvSpPr>
          <p:nvPr>
            <p:ph idx="1"/>
          </p:nvPr>
        </p:nvSpPr>
        <p:spPr/>
        <p:txBody>
          <a:bodyPr/>
          <a:lstStyle/>
          <a:p/>
          <a:p>
            <a:pPr>
              <a:defRPr b="1"/>
            </a:pPr>
            <a:r>
              <a:t>✅ Railroad workers covered under the Railroad Retirement System</a:t>
            </a:r>
          </a:p>
          <a:p>
            <a:br/>
            <a:pPr>
              <a:defRPr sz="1400" i="1"/>
            </a:pPr>
            <a:r>
              <a:t>Explanation: Railroad workers are covered by the Railroad</a:t>
            </a:r>
            <a:br/>
            <a:r>
              <a:t>&gt;|</a:t>
            </a:r>
            <a:br/>
            <a:r>
              <a:t>&lt; } + [22]...</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324</a:t>
            </a:r>
          </a:p>
        </p:txBody>
      </p:sp>
      <p:sp>
        <p:nvSpPr>
          <p:cNvPr id="3" name="Content Placeholder 2"/>
          <p:cNvSpPr>
            <a:spLocks noGrp="1"/>
          </p:cNvSpPr>
          <p:nvPr>
            <p:ph idx="1"/>
          </p:nvPr>
        </p:nvSpPr>
        <p:spPr/>
        <p:txBody>
          <a:bodyPr/>
          <a:lstStyle/>
          <a:p>
            <a:r>
              <a:t>A classification of risk assigned to</a:t>
            </a:r>
          </a:p>
          <a:p>
            <a:r>
              <a:t>applicants who meet an insurer’s</a:t>
            </a:r>
          </a:p>
          <a:p>
            <a:r>
              <a:t>underwriting standards without</a:t>
            </a:r>
          </a:p>
          <a:p>
            <a:r>
              <a:t>requiring special rating adjustments:</a:t>
            </a:r>
          </a:p>
          <a:p>
            <a:r>
              <a:t>Declined risk</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324</a:t>
            </a:r>
          </a:p>
        </p:txBody>
      </p:sp>
      <p:sp>
        <p:nvSpPr>
          <p:cNvPr id="3" name="Content Placeholder 2"/>
          <p:cNvSpPr>
            <a:spLocks noGrp="1"/>
          </p:cNvSpPr>
          <p:nvPr>
            <p:ph idx="1"/>
          </p:nvPr>
        </p:nvSpPr>
        <p:spPr/>
        <p:txBody>
          <a:bodyPr/>
          <a:lstStyle/>
          <a:p/>
          <a:p>
            <a:pPr>
              <a:defRPr b="1"/>
            </a:pPr>
            <a:r>
              <a:t>✅ Substandard risk</a:t>
            </a:r>
          </a:p>
          <a:p>
            <a:r>
              <a:t>☐ s) e Preferred risk</a:t>
            </a:r>
          </a:p>
          <a:p>
            <a:r>
              <a:t>☐ Standard risk</a:t>
            </a:r>
          </a:p>
          <a:p>
            <a:br/>
            <a:pPr>
              <a:defRPr sz="1400" i="1"/>
            </a:pPr>
            <a:r>
              <a:t>Explanation: without</a:t>
            </a:r>
            <a:br/>
            <a:r>
              <a:t>requiring special rating adjustments:</a:t>
            </a:r>
            <a:br/>
            <a:r>
              <a:t>Declined risk</a:t>
            </a:r>
            <a:br/>
            <a:r>
              <a:t>x) Substandard risk</a:t>
            </a:r>
            <a:br/>
            <a:r>
              <a:t>is) e Preferred risk</a:t>
            </a:r>
            <a:br/>
            <a:r>
              <a:t>g Standard risk</a:t>
            </a:r>
            <a:br/>
            <a:r>
              <a:t>Proceed =&gt;</a:t>
            </a:r>
            <a:br/>
            <a:r>
              <a:t>% Standard risk applies to applicants who meet</a:t>
            </a:r>
            <a:br/>
            <a:r>
              <a:t>I&lt; A &gt;|</a:t>
            </a:r>
            <a:br/>
            <a:r>
              <a:t>&amp; a ..rancelicens...</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325</a:t>
            </a:r>
          </a:p>
        </p:txBody>
      </p:sp>
      <p:sp>
        <p:nvSpPr>
          <p:cNvPr id="3" name="Content Placeholder 2"/>
          <p:cNvSpPr>
            <a:spLocks noGrp="1"/>
          </p:cNvSpPr>
          <p:nvPr>
            <p:ph idx="1"/>
          </p:nvPr>
        </p:nvSpPr>
        <p:spPr/>
        <p:txBody>
          <a:bodyPr/>
          <a:lstStyle/>
          <a:p>
            <a:r>
              <a:t>Which of the following is a primary</a:t>
            </a:r>
          </a:p>
          <a:p>
            <a:r>
              <a:t>advantage of a Roth IRA overa</a:t>
            </a:r>
          </a:p>
          <a:p>
            <a:r>
              <a:t>traditional IRA?</a:t>
            </a:r>
          </a:p>
          <a:p>
            <a:r>
              <a:t>Withdrawals in retirement are tax-free if</a:t>
            </a:r>
          </a:p>
          <a:p>
            <a:r>
              <a:t>conditions are met</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325</a:t>
            </a:r>
          </a:p>
        </p:txBody>
      </p:sp>
      <p:sp>
        <p:nvSpPr>
          <p:cNvPr id="3" name="Content Placeholder 2"/>
          <p:cNvSpPr>
            <a:spLocks noGrp="1"/>
          </p:cNvSpPr>
          <p:nvPr>
            <p:ph idx="1"/>
          </p:nvPr>
        </p:nvSpPr>
        <p:spPr/>
        <p:txBody>
          <a:bodyPr/>
          <a:lstStyle/>
          <a:p/>
          <a:p>
            <a:pPr>
              <a:defRPr b="1"/>
            </a:pPr>
            <a:r>
              <a:t>✅ e Contributions are tax-deductible</a:t>
            </a:r>
          </a:p>
          <a:p>
            <a:br/>
            <a:pPr>
              <a:defRPr sz="1400" i="1"/>
            </a:pPr>
            <a:r>
              <a:t>Explanation: a primary</a:t>
            </a:r>
            <a:br/>
            <a:r>
              <a:t>advantage of a Roth IRA overa</a:t>
            </a:r>
            <a:br/>
            <a:r>
              <a:t>traditional IRA?</a:t>
            </a:r>
            <a:br/>
            <a:r>
              <a:t>Withdrawals in retirement are tax-free if</a:t>
            </a:r>
            <a:br/>
            <a:r>
              <a:t>conditions are met</a:t>
            </a:r>
            <a:br/>
            <a:r>
              <a:t>Investment growth is taxed annually</a:t>
            </a:r>
            <a:br/>
            <a:r>
              <a:t>Required minimum distributions begin at</a:t>
            </a:r>
            <a:br/>
            <a:r>
              <a:t>x) e C...</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326</a:t>
            </a:r>
          </a:p>
        </p:txBody>
      </p:sp>
      <p:sp>
        <p:nvSpPr>
          <p:cNvPr id="3" name="Content Placeholder 2"/>
          <p:cNvSpPr>
            <a:spLocks noGrp="1"/>
          </p:cNvSpPr>
          <p:nvPr>
            <p:ph idx="1"/>
          </p:nvPr>
        </p:nvSpPr>
        <p:spPr/>
        <p:txBody>
          <a:bodyPr/>
          <a:lstStyle/>
          <a:p>
            <a:r>
              <a:t>All of the following are valid uses of</a:t>
            </a:r>
          </a:p>
          <a:p>
            <a:r>
              <a:t>corporate-owned life insurance (COLI)</a:t>
            </a:r>
          </a:p>
          <a:p>
            <a:r>
              <a:t>EXCEPT:</a:t>
            </a:r>
          </a:p>
          <a:p>
            <a:r>
              <a:t>Providing immediate liquidity for a</a:t>
            </a:r>
          </a:p>
          <a:p>
            <a:r>
              <a:t>business’s cash flow</a:t>
            </a:r>
          </a:p>
          <a:p>
            <a:r>
              <a:t>Funding deferred compensation</a:t>
            </a:r>
          </a:p>
          <a:p>
            <a:r>
              <a:t>arrangements</a:t>
            </a:r>
          </a:p>
          <a:p>
            <a:r>
              <a:t>Funding executive benefit plans</a:t>
            </a:r>
          </a:p>
          <a:p>
            <a:r>
              <a:t>Covering the financial loss of a key</a:t>
            </a:r>
          </a:p>
          <a:p>
            <a:r>
              <a:t>employee’s death</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326</a:t>
            </a:r>
          </a:p>
        </p:txBody>
      </p:sp>
      <p:sp>
        <p:nvSpPr>
          <p:cNvPr id="3" name="Content Placeholder 2"/>
          <p:cNvSpPr>
            <a:spLocks noGrp="1"/>
          </p:cNvSpPr>
          <p:nvPr>
            <p:ph idx="1"/>
          </p:nvPr>
        </p:nvSpPr>
        <p:spPr/>
        <p:txBody>
          <a:bodyPr/>
          <a:lstStyle/>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327</a:t>
            </a:r>
          </a:p>
        </p:txBody>
      </p:sp>
      <p:sp>
        <p:nvSpPr>
          <p:cNvPr id="3" name="Content Placeholder 2"/>
          <p:cNvSpPr>
            <a:spLocks noGrp="1"/>
          </p:cNvSpPr>
          <p:nvPr>
            <p:ph idx="1"/>
          </p:nvPr>
        </p:nvSpPr>
        <p:spPr/>
        <p:txBody>
          <a:bodyPr/>
          <a:lstStyle/>
          <a:p>
            <a:r>
              <a:t>Which of the following is a primary</a:t>
            </a:r>
          </a:p>
          <a:p>
            <a:r>
              <a:t>consideration when determining the</a:t>
            </a:r>
          </a:p>
          <a:p>
            <a:r>
              <a:t>amount of life insurance coverage</a:t>
            </a:r>
          </a:p>
          <a:p>
            <a:r>
              <a:t>needed?</a:t>
            </a:r>
          </a:p>
          <a:p>
            <a:r>
              <a:t>The insurance company's available policy</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327</a:t>
            </a:r>
          </a:p>
        </p:txBody>
      </p:sp>
      <p:sp>
        <p:nvSpPr>
          <p:cNvPr id="3" name="Content Placeholder 2"/>
          <p:cNvSpPr>
            <a:spLocks noGrp="1"/>
          </p:cNvSpPr>
          <p:nvPr>
            <p:ph idx="1"/>
          </p:nvPr>
        </p:nvSpPr>
        <p:spPr/>
        <p:txBody>
          <a:bodyPr/>
          <a:lstStyle/>
          <a:p/>
          <a:p>
            <a:br/>
            <a:pPr>
              <a:defRPr sz="1400" i="1"/>
            </a:pPr>
            <a:r>
              <a:t>Explanation: a primary</a:t>
            </a:r>
            <a:br/>
            <a:r>
              <a:t>consideration when determining the</a:t>
            </a:r>
            <a:br/>
            <a:r>
              <a:t>amount of life insurance coverage</a:t>
            </a:r>
            <a:br/>
            <a:r>
              <a:t>needed?</a:t>
            </a:r>
            <a:br/>
            <a:r>
              <a:t>The insurance company's available policy</a:t>
            </a:r>
            <a:br/>
            <a:r>
              <a:t>options</a:t>
            </a:r>
            <a:br/>
            <a:r>
              <a:t>The insured’s personal preference</a:t>
            </a:r>
            <a:br/>
            <a:r>
              <a:t>The insured’s future earnings ...</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328</a:t>
            </a:r>
          </a:p>
        </p:txBody>
      </p:sp>
      <p:sp>
        <p:nvSpPr>
          <p:cNvPr id="3" name="Content Placeholder 2"/>
          <p:cNvSpPr>
            <a:spLocks noGrp="1"/>
          </p:cNvSpPr>
          <p:nvPr>
            <p:ph idx="1"/>
          </p:nvPr>
        </p:nvSpPr>
        <p:spPr/>
        <p:txBody>
          <a:bodyPr/>
          <a:lstStyle/>
          <a:p>
            <a:r>
              <a:t>Lisa, a 40-year-old professional, wants</a:t>
            </a:r>
          </a:p>
          <a:p>
            <a:r>
              <a:t>to ensure that her children can afford</a:t>
            </a:r>
          </a:p>
          <a:p>
            <a:r>
              <a:t>college even if she passes away</a:t>
            </a:r>
          </a:p>
          <a:p>
            <a:r>
              <a:t>unexpectedly. What is the most</a:t>
            </a:r>
          </a:p>
          <a:p>
            <a:r>
              <a:t>appropriate life insurance strategy?</a:t>
            </a:r>
          </a:p>
          <a:p>
            <a:r>
              <a:t>A 303 stock redemption plan</a:t>
            </a:r>
          </a:p>
          <a:p>
            <a:r>
              <a:t>Term life insurance with a death benefit</a:t>
            </a:r>
          </a:p>
          <a:p>
            <a:r>
              <a:t>sufficient to cover future education</a:t>
            </a:r>
          </a:p>
          <a:p>
            <a:r>
              <a:t>expenses</a:t>
            </a:r>
          </a:p>
          <a:p>
            <a:r>
              <a:t>A business-owned key person insurance</a:t>
            </a:r>
          </a:p>
          <a:p>
            <a:r>
              <a:t>Whole life insurance policy with cash</a:t>
            </a:r>
          </a:p>
          <a:p>
            <a:r>
              <a:t>accumulation</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328</a:t>
            </a:r>
          </a:p>
        </p:txBody>
      </p:sp>
      <p:sp>
        <p:nvSpPr>
          <p:cNvPr id="3" name="Content Placeholder 2"/>
          <p:cNvSpPr>
            <a:spLocks noGrp="1"/>
          </p:cNvSpPr>
          <p:nvPr>
            <p:ph idx="1"/>
          </p:nvPr>
        </p:nvSpPr>
        <p:spPr/>
        <p:txBody>
          <a:bodyPr/>
          <a:lstStyle/>
          <a:p/>
          <a:p>
            <a:br/>
            <a:pPr>
              <a:defRPr sz="1400" i="1"/>
            </a:pPr>
            <a:r>
              <a:t>Explanation: the most</a:t>
            </a:r>
            <a:br/>
            <a:r>
              <a:t>appropriate life insurance strategy?</a:t>
            </a:r>
            <a:br/>
            <a:r>
              <a:t>A 303 stock redemption plan</a:t>
            </a:r>
            <a:br/>
            <a:r>
              <a:t>Term life insurance with a death benefit</a:t>
            </a:r>
            <a:br/>
            <a:r>
              <a:t>sufficient to cover future education</a:t>
            </a:r>
            <a:br/>
            <a:r>
              <a:t>expenses</a:t>
            </a:r>
            <a:br/>
            <a:r>
              <a:t>A business-owned key person insurance</a:t>
            </a:r>
            <a:br/>
            <a:r>
              <a:t>W...</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329</a:t>
            </a:r>
          </a:p>
        </p:txBody>
      </p:sp>
      <p:sp>
        <p:nvSpPr>
          <p:cNvPr id="3" name="Content Placeholder 2"/>
          <p:cNvSpPr>
            <a:spLocks noGrp="1"/>
          </p:cNvSpPr>
          <p:nvPr>
            <p:ph idx="1"/>
          </p:nvPr>
        </p:nvSpPr>
        <p:spPr/>
        <p:txBody>
          <a:bodyPr/>
          <a:lstStyle/>
          <a:p>
            <a:r>
              <a:t>Which document must nonresident</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329</a:t>
            </a:r>
          </a:p>
        </p:txBody>
      </p:sp>
      <p:sp>
        <p:nvSpPr>
          <p:cNvPr id="3" name="Content Placeholder 2"/>
          <p:cNvSpPr>
            <a:spLocks noGrp="1"/>
          </p:cNvSpPr>
          <p:nvPr>
            <p:ph idx="1"/>
          </p:nvPr>
        </p:nvSpPr>
        <p:spPr/>
        <p:txBody>
          <a:bodyPr/>
          <a:lstStyle/>
          <a:p/>
          <a:p>
            <a:r>
              <a:t>☐ nsurance producers provide to obtain a license in Arizona? A letter of recommendation A certificate of good standing from their local chamber of commerce A credit report A licensure application from their home state or an Arizona uniform application</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330</a:t>
            </a:r>
          </a:p>
        </p:txBody>
      </p:sp>
      <p:sp>
        <p:nvSpPr>
          <p:cNvPr id="3" name="Content Placeholder 2"/>
          <p:cNvSpPr>
            <a:spLocks noGrp="1"/>
          </p:cNvSpPr>
          <p:nvPr>
            <p:ph idx="1"/>
          </p:nvPr>
        </p:nvSpPr>
        <p:spPr/>
        <p:txBody>
          <a:bodyPr/>
          <a:lstStyle/>
          <a:p>
            <a:r>
              <a:t>A life insurance contract where the</a:t>
            </a:r>
          </a:p>
          <a:p>
            <a:r>
              <a:t>employer or organization owns the</a:t>
            </a:r>
          </a:p>
          <a:p>
            <a:r>
              <a:t>policy and employees receive</a:t>
            </a:r>
          </a:p>
          <a:p>
            <a:r>
              <a:t>certificates of insurance:</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330</a:t>
            </a:r>
          </a:p>
        </p:txBody>
      </p:sp>
      <p:sp>
        <p:nvSpPr>
          <p:cNvPr id="3" name="Content Placeholder 2"/>
          <p:cNvSpPr>
            <a:spLocks noGrp="1"/>
          </p:cNvSpPr>
          <p:nvPr>
            <p:ph idx="1"/>
          </p:nvPr>
        </p:nvSpPr>
        <p:spPr/>
        <p:txBody>
          <a:bodyPr/>
          <a:lstStyle/>
          <a:p/>
          <a:p>
            <a:r>
              <a:t>☐ Credit life insurance</a:t>
            </a:r>
          </a:p>
          <a:p>
            <a:pPr>
              <a:defRPr b="1"/>
            </a:pPr>
            <a:r>
              <a:t>✅ @ Kevceconincuranes</a:t>
            </a:r>
          </a:p>
          <a:p>
            <a:r>
              <a:t>☐ Group life insurance</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331</a:t>
            </a:r>
          </a:p>
        </p:txBody>
      </p:sp>
      <p:sp>
        <p:nvSpPr>
          <p:cNvPr id="3" name="Content Placeholder 2"/>
          <p:cNvSpPr>
            <a:spLocks noGrp="1"/>
          </p:cNvSpPr>
          <p:nvPr>
            <p:ph idx="1"/>
          </p:nvPr>
        </p:nvSpPr>
        <p:spPr/>
        <p:txBody>
          <a:bodyPr/>
          <a:lstStyle/>
          <a:p>
            <a:r>
              <a:t>A federal law that protects employees'</a:t>
            </a:r>
          </a:p>
          <a:p>
            <a:r>
              <a:t>retirement plan benefits by setting</a:t>
            </a:r>
          </a:p>
          <a:p>
            <a:r>
              <a:t>participation, funding, and reporting</a:t>
            </a:r>
          </a:p>
          <a:p>
            <a:r>
              <a:t>requirements:</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331</a:t>
            </a:r>
          </a:p>
        </p:txBody>
      </p:sp>
      <p:sp>
        <p:nvSpPr>
          <p:cNvPr id="3" name="Content Placeholder 2"/>
          <p:cNvSpPr>
            <a:spLocks noGrp="1"/>
          </p:cNvSpPr>
          <p:nvPr>
            <p:ph idx="1"/>
          </p:nvPr>
        </p:nvSpPr>
        <p:spPr/>
        <p:txBody>
          <a:bodyPr/>
          <a:lstStyle/>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332</a:t>
            </a:r>
          </a:p>
        </p:txBody>
      </p:sp>
      <p:sp>
        <p:nvSpPr>
          <p:cNvPr id="3" name="Content Placeholder 2"/>
          <p:cNvSpPr>
            <a:spLocks noGrp="1"/>
          </p:cNvSpPr>
          <p:nvPr>
            <p:ph idx="1"/>
          </p:nvPr>
        </p:nvSpPr>
        <p:spPr/>
        <p:txBody>
          <a:bodyPr/>
          <a:lstStyle/>
          <a:p>
            <a:r>
              <a:t>The following benefits are provided</a:t>
            </a:r>
          </a:p>
          <a:p>
            <a:r>
              <a:t>under Social Security EXCEPT:</a:t>
            </a:r>
          </a:p>
          <a:p>
            <a:r>
              <a:t>Retirement income</a:t>
            </a:r>
          </a:p>
          <a:p>
            <a:r>
              <a:t>Disability income</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332</a:t>
            </a:r>
          </a:p>
        </p:txBody>
      </p:sp>
      <p:sp>
        <p:nvSpPr>
          <p:cNvPr id="3" name="Content Placeholder 2"/>
          <p:cNvSpPr>
            <a:spLocks noGrp="1"/>
          </p:cNvSpPr>
          <p:nvPr>
            <p:ph idx="1"/>
          </p:nvPr>
        </p:nvSpPr>
        <p:spPr/>
        <p:txBody>
          <a:bodyPr/>
          <a:lstStyle/>
          <a:p/>
          <a:p>
            <a:r>
              <a:t>☐ | Question 115 Select the appropriate response The following benefits are provided under Social Security EXCEPT: Retirement income Disability income</a:t>
            </a:r>
          </a:p>
          <a:p>
            <a:pPr>
              <a:defRPr b="1"/>
            </a:pPr>
            <a:r>
              <a:t>✅ Tax-free investment growth Survivor benefits</a:t>
            </a:r>
          </a:p>
          <a:p>
            <a:r>
              <a:t>☐ nvestment growth—benefits may be taxable based on total annual income, unlike tax-deferred accounts &gt;| % 4a ..rancelicense.myabsorb.com (© &lt; + [22]</a:t>
            </a:r>
          </a:p>
          <a:p>
            <a:br/>
            <a:pPr>
              <a:defRPr sz="1400" i="1"/>
            </a:pPr>
            <a:r>
              <a:t>Explanation: Social Security does not provide tax-free</a:t>
            </a:r>
            <a:br/>
            <a:r>
              <a:t>investment growth—benefits may be taxable based</a:t>
            </a:r>
            <a:br/>
            <a:r>
              <a:t>on total annual income, unlike tax-deferred accounts</a:t>
            </a:r>
            <a:br/>
            <a:r>
              <a:t>&gt;|...</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333</a:t>
            </a:r>
          </a:p>
        </p:txBody>
      </p:sp>
      <p:sp>
        <p:nvSpPr>
          <p:cNvPr id="3" name="Content Placeholder 2"/>
          <p:cNvSpPr>
            <a:spLocks noGrp="1"/>
          </p:cNvSpPr>
          <p:nvPr>
            <p:ph idx="1"/>
          </p:nvPr>
        </p:nvSpPr>
        <p:spPr/>
        <p:txBody>
          <a:bodyPr/>
          <a:lstStyle/>
          <a:p>
            <a:r>
              <a:t>John owns a small business and is</a:t>
            </a:r>
          </a:p>
          <a:p>
            <a:r>
              <a:t>looking for life insurance that will allow</a:t>
            </a:r>
          </a:p>
          <a:p>
            <a:r>
              <a:t>him to provide financial security for his</a:t>
            </a:r>
          </a:p>
          <a:p>
            <a:r>
              <a:t>family and business partners. He also</a:t>
            </a:r>
          </a:p>
          <a:p>
            <a:r>
              <a:t>wants a policy that builds cash value</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333</a:t>
            </a:r>
          </a:p>
        </p:txBody>
      </p:sp>
      <p:sp>
        <p:nvSpPr>
          <p:cNvPr id="3" name="Content Placeholder 2"/>
          <p:cNvSpPr>
            <a:spLocks noGrp="1"/>
          </p:cNvSpPr>
          <p:nvPr>
            <p:ph idx="1"/>
          </p:nvPr>
        </p:nvSpPr>
        <p:spPr/>
        <p:txBody>
          <a:bodyPr/>
          <a:lstStyle/>
          <a:p/>
          <a:p>
            <a:br/>
            <a:pPr>
              <a:defRPr sz="1400" i="1"/>
            </a:pPr>
            <a:r>
              <a:t>Explanation: looking for life insurance that will allow</a:t>
            </a:r>
            <a:br/>
            <a:r>
              <a:t>him to provide financial security for his</a:t>
            </a:r>
            <a:br/>
            <a:r>
              <a:t>family and business partners. He also</a:t>
            </a:r>
            <a:br/>
            <a:r>
              <a:t>wants a policy that builds cash value</a:t>
            </a:r>
            <a:br/>
            <a:r>
              <a:t>over time. Which type of insurance is</a:t>
            </a:r>
            <a:br/>
            <a:r>
              <a:t>b...</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334</a:t>
            </a:r>
          </a:p>
        </p:txBody>
      </p:sp>
      <p:sp>
        <p:nvSpPr>
          <p:cNvPr id="3" name="Content Placeholder 2"/>
          <p:cNvSpPr>
            <a:spLocks noGrp="1"/>
          </p:cNvSpPr>
          <p:nvPr>
            <p:ph idx="1"/>
          </p:nvPr>
        </p:nvSpPr>
        <p:spPr/>
        <p:txBody>
          <a:bodyPr/>
          <a:lstStyle/>
          <a:p>
            <a:r>
              <a:t>Mary wants an annuity that provides</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334</a:t>
            </a:r>
          </a:p>
        </p:txBody>
      </p:sp>
      <p:sp>
        <p:nvSpPr>
          <p:cNvPr id="3" name="Content Placeholder 2"/>
          <p:cNvSpPr>
            <a:spLocks noGrp="1"/>
          </p:cNvSpPr>
          <p:nvPr>
            <p:ph idx="1"/>
          </p:nvPr>
        </p:nvSpPr>
        <p:spPr/>
        <p:txBody>
          <a:bodyPr/>
          <a:lstStyle/>
          <a:p/>
          <a:p>
            <a:r>
              <a:t>☐ ncome payments shortly after purchasing it. Which type of annuity best suits her needs? Immediate annuity</a:t>
            </a:r>
          </a:p>
          <a:p>
            <a:r>
              <a:t>☐ Indexed annuity € © Deferred annuity</a:t>
            </a:r>
          </a:p>
          <a:p>
            <a:r>
              <a:t>☐ Variable annuity</a:t>
            </a:r>
          </a:p>
          <a:p>
            <a:r>
              <a:t>☐ X Immediate annuities begin making payments a a a a Ye cert a A &gt;| &amp; a ..rancelicense.myabsorb.com (© &lt; &gt; + [22]</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335</a:t>
            </a:r>
          </a:p>
        </p:txBody>
      </p:sp>
      <p:sp>
        <p:nvSpPr>
          <p:cNvPr id="3" name="Content Placeholder 2"/>
          <p:cNvSpPr>
            <a:spLocks noGrp="1"/>
          </p:cNvSpPr>
          <p:nvPr>
            <p:ph idx="1"/>
          </p:nvPr>
        </p:nvSpPr>
        <p:spPr/>
        <p:txBody>
          <a:bodyPr/>
          <a:lstStyle/>
          <a:p>
            <a:r>
              <a:t>Michael is reviewing his life insurance</a:t>
            </a:r>
          </a:p>
          <a:p>
            <a:r>
              <a:t>policy options. He wants a policy that</a:t>
            </a:r>
          </a:p>
          <a:p>
            <a:r>
              <a:t>allows him to adjust his premium</a:t>
            </a:r>
          </a:p>
          <a:p>
            <a:r>
              <a:t>payments based on his changing</a:t>
            </a:r>
          </a:p>
          <a:p>
            <a:r>
              <a:t>financial situation. Which type of policy</a:t>
            </a:r>
          </a:p>
          <a:p>
            <a:r>
              <a:t>should he consider?</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335</a:t>
            </a:r>
          </a:p>
        </p:txBody>
      </p:sp>
      <p:sp>
        <p:nvSpPr>
          <p:cNvPr id="3" name="Content Placeholder 2"/>
          <p:cNvSpPr>
            <a:spLocks noGrp="1"/>
          </p:cNvSpPr>
          <p:nvPr>
            <p:ph idx="1"/>
          </p:nvPr>
        </p:nvSpPr>
        <p:spPr/>
        <p:txBody>
          <a:bodyPr/>
          <a:lstStyle/>
          <a:p/>
          <a:p>
            <a:r>
              <a:t>☐ Term life insurance 3) Whole life insurance</a:t>
            </a:r>
          </a:p>
          <a:p>
            <a:r>
              <a:t>☐ e Variable life insurance Universal life insurance</a:t>
            </a:r>
          </a:p>
          <a:p>
            <a:br/>
            <a:pPr>
              <a:defRPr sz="1400" i="1"/>
            </a:pPr>
            <a:r>
              <a:t>Explanation: reviewing his life insurance</a:t>
            </a:r>
            <a:br/>
            <a:r>
              <a:t>policy options. He wants a policy that</a:t>
            </a:r>
            <a:br/>
            <a:r>
              <a:t>allows him to adjust his premium</a:t>
            </a:r>
            <a:br/>
            <a:r>
              <a:t>payments based on his changing</a:t>
            </a:r>
            <a:br/>
            <a:r>
              <a:t>financial situation. Which type of policy</a:t>
            </a:r>
            <a:br/>
            <a:r>
              <a:t>should he consider?</a:t>
            </a:r>
            <a:br/>
            <a:r>
              <a:t>x) Ter...</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336</a:t>
            </a:r>
          </a:p>
        </p:txBody>
      </p:sp>
      <p:sp>
        <p:nvSpPr>
          <p:cNvPr id="3" name="Content Placeholder 2"/>
          <p:cNvSpPr>
            <a:spLocks noGrp="1"/>
          </p:cNvSpPr>
          <p:nvPr>
            <p:ph idx="1"/>
          </p:nvPr>
        </p:nvSpPr>
        <p:spPr/>
        <p:txBody>
          <a:bodyPr/>
          <a:lstStyle/>
          <a:p>
            <a:r>
              <a:t>Lisa is 55 and withdrawing money</a:t>
            </a:r>
          </a:p>
          <a:p>
            <a:r>
              <a:t>from her 401(k) plan. What penalty</a:t>
            </a:r>
          </a:p>
          <a:p>
            <a:r>
              <a:t>might she face?</a:t>
            </a:r>
          </a:p>
          <a:p>
            <a:r>
              <a:t>A tax-free withdrawal if used for non-</a:t>
            </a:r>
          </a:p>
          <a:p>
            <a:r>
              <a:t>retirement expenses</a:t>
            </a:r>
          </a:p>
          <a:p>
            <a:r>
              <a:t>No penalty, since she is over 50</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336</a:t>
            </a:r>
          </a:p>
        </p:txBody>
      </p:sp>
      <p:sp>
        <p:nvSpPr>
          <p:cNvPr id="3" name="Content Placeholder 2"/>
          <p:cNvSpPr>
            <a:spLocks noGrp="1"/>
          </p:cNvSpPr>
          <p:nvPr>
            <p:ph idx="1"/>
          </p:nvPr>
        </p:nvSpPr>
        <p:spPr/>
        <p:txBody>
          <a:bodyPr/>
          <a:lstStyle/>
          <a:p/>
          <a:p>
            <a:r>
              <a:t>☐ S| Question 119 Select the appropriate response Lisa is 55 and withdrawing money from her 401(k) plan. What penalty might she face? A tax-free withdrawal if used for non- retirement expenses No penalty, since she is over 50</a:t>
            </a:r>
          </a:p>
          <a:p>
            <a:pPr>
              <a:defRPr b="1"/>
            </a:pPr>
            <a:r>
              <a:t>✅ A 10% penalty, unless an exception applies A 25% penalty on all withdrawals</a:t>
            </a:r>
          </a:p>
          <a:p>
            <a:br/>
            <a:pPr>
              <a:defRPr sz="1400" i="1"/>
            </a:pPr>
            <a:r>
              <a:t>Explanation: 55 and withdrawing money</a:t>
            </a:r>
            <a:br/>
            <a:r>
              <a:t>from her 401(k) plan. What penalty</a:t>
            </a:r>
            <a:br/>
            <a:r>
              <a:t>might she face?</a:t>
            </a:r>
            <a:br/>
            <a:r>
              <a:t>A tax-free withdrawal if used for non-</a:t>
            </a:r>
            <a:br/>
            <a:r>
              <a:t>retirement expenses</a:t>
            </a:r>
            <a:br/>
            <a:r>
              <a:t>No penalty, since she is over 50</a:t>
            </a:r>
            <a:br/>
            <a:r>
              <a:t>g A 10% penalty, unless an excep...</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337</a:t>
            </a:r>
          </a:p>
        </p:txBody>
      </p:sp>
      <p:sp>
        <p:nvSpPr>
          <p:cNvPr id="3" name="Content Placeholder 2"/>
          <p:cNvSpPr>
            <a:spLocks noGrp="1"/>
          </p:cNvSpPr>
          <p:nvPr>
            <p:ph idx="1"/>
          </p:nvPr>
        </p:nvSpPr>
        <p:spPr/>
        <p:txBody>
          <a:bodyPr/>
          <a:lstStyle/>
          <a:p>
            <a:r>
              <a:t>The process by which a stock</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337</a:t>
            </a:r>
          </a:p>
        </p:txBody>
      </p:sp>
      <p:sp>
        <p:nvSpPr>
          <p:cNvPr id="3" name="Content Placeholder 2"/>
          <p:cNvSpPr>
            <a:spLocks noGrp="1"/>
          </p:cNvSpPr>
          <p:nvPr>
            <p:ph idx="1"/>
          </p:nvPr>
        </p:nvSpPr>
        <p:spPr/>
        <p:txBody>
          <a:bodyPr/>
          <a:lstStyle/>
          <a:p/>
          <a:p>
            <a:r>
              <a:t>☐ | Question 120 Select the appropriate response The process by which a stock</a:t>
            </a:r>
          </a:p>
          <a:p>
            <a:r>
              <a:t>☐ nsurance company transitions into a mutual insurance company: Reciprocal conversion</a:t>
            </a:r>
          </a:p>
          <a:p>
            <a:pPr>
              <a:defRPr b="1"/>
            </a:pPr>
            <a:r>
              <a:t>✅ Mutualization Retained earnings allocation Demutualization</a:t>
            </a:r>
          </a:p>
          <a:p>
            <a:r>
              <a:t>☐ nto a mutual company, meaning policyholders become the owners. &gt;| % 4a ..rancelicense.myabsorb.com (© &lt; + [22]</a:t>
            </a:r>
          </a:p>
          <a:p>
            <a:br/>
            <a:pPr>
              <a:defRPr sz="1400" i="1"/>
            </a:pPr>
            <a:r>
              <a:t>Explanation: 9 Mutualization is when a stock company converts</a:t>
            </a:r>
            <a:br/>
            <a:r>
              <a:t>into a mutual company, meaning policyholders</a:t>
            </a:r>
            <a:br/>
            <a:r>
              <a:t>become the owners.</a:t>
            </a:r>
            <a:br/>
            <a:r>
              <a:t>&gt;|...</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338</a:t>
            </a:r>
          </a:p>
        </p:txBody>
      </p:sp>
      <p:sp>
        <p:nvSpPr>
          <p:cNvPr id="3" name="Content Placeholder 2"/>
          <p:cNvSpPr>
            <a:spLocks noGrp="1"/>
          </p:cNvSpPr>
          <p:nvPr>
            <p:ph idx="1"/>
          </p:nvPr>
        </p:nvSpPr>
        <p:spPr/>
        <p:txBody>
          <a:bodyPr/>
          <a:lstStyle/>
          <a:p>
            <a:r>
              <a:t>What happens when a life insurance</a:t>
            </a:r>
          </a:p>
          <a:p>
            <a:r>
              <a:t>policy owner selects the Paid-Up</a:t>
            </a:r>
          </a:p>
          <a:p>
            <a:r>
              <a:t>Additions Dividend Option?</a:t>
            </a:r>
          </a:p>
          <a:p>
            <a:r>
              <a:t>The policy term is extended</a:t>
            </a:r>
          </a:p>
          <a:p>
            <a:r>
              <a:t>The policy is automatically renewed</a:t>
            </a:r>
          </a:p>
          <a:p>
            <a:r>
              <a:t>Additional whole life insurance is purchased</a:t>
            </a:r>
          </a:p>
          <a:p>
            <a:r>
              <a:t>using dividends</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338</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extended</a:t>
            </a:r>
            <a:br/>
            <a:r>
              <a:t>The policy is automatically renewed</a:t>
            </a:r>
            <a:br/>
            <a:r>
              <a:t>Additional whole life insurance is purchased</a:t>
            </a:r>
            <a:br/>
            <a:r>
              <a:t>using dividends</a:t>
            </a:r>
            <a:br/>
            <a:r>
              <a:t>Proceed —_</a:t>
            </a:r>
            <a:br/>
            <a:r>
              <a:t>I&lt; A &gt;|</a:t>
            </a:r>
            <a:br/>
            <a:r>
              <a:t>a ..rancelicense.myabsorb.com (</a:t>
            </a:r>
            <a:br/>
            <a:r>
              <a:t>&lt; &gt; +...</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339</a:t>
            </a:r>
          </a:p>
        </p:txBody>
      </p:sp>
      <p:sp>
        <p:nvSpPr>
          <p:cNvPr id="3" name="Content Placeholder 2"/>
          <p:cNvSpPr>
            <a:spLocks noGrp="1"/>
          </p:cNvSpPr>
          <p:nvPr>
            <p:ph idx="1"/>
          </p:nvPr>
        </p:nvSpPr>
        <p:spPr/>
        <p:txBody>
          <a:bodyPr/>
          <a:lstStyle/>
          <a:p>
            <a:r>
              <a:t>Which plan provides funds for a</a:t>
            </a:r>
          </a:p>
          <a:p>
            <a:r>
              <a:t>partner to buy out a deceased</a:t>
            </a:r>
          </a:p>
          <a:p>
            <a:r>
              <a:t>partner’s share in a business?</a:t>
            </a:r>
          </a:p>
          <a:p>
            <a:r>
              <a:t>Entity Plan</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339</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for a</a:t>
            </a:r>
            <a:br/>
            <a:r>
              <a:t>partner to buy out a deceased</a:t>
            </a:r>
            <a:br/>
            <a:r>
              <a:t>partner’s share in a business?</a:t>
            </a:r>
            <a:br/>
            <a:r>
              <a:t>Entity Plan</a:t>
            </a:r>
            <a:br/>
            <a:r>
              <a:t>Proceed =&gt;</a:t>
            </a:r>
            <a:br/>
            <a:r>
              <a:t>I&lt; A &gt;|</a:t>
            </a:r>
            <a:br/>
            <a:r>
              <a:t>a ..rancelicense.myabsorb.com (</a:t>
            </a:r>
            <a:br/>
            <a:r>
              <a:t>&lt; &gt; +...</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340</a:t>
            </a:r>
          </a:p>
        </p:txBody>
      </p:sp>
      <p:sp>
        <p:nvSpPr>
          <p:cNvPr id="3" name="Content Placeholder 2"/>
          <p:cNvSpPr>
            <a:spLocks noGrp="1"/>
          </p:cNvSpPr>
          <p:nvPr>
            <p:ph idx="1"/>
          </p:nvPr>
        </p:nvSpPr>
        <p:spPr/>
        <p:txBody>
          <a:bodyPr/>
          <a:lstStyle/>
          <a:p>
            <a:r>
              <a:t>Which of the following is not a source of agent</a:t>
            </a:r>
          </a:p>
          <a:p>
            <a:r>
              <a:t>authority?</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340</a:t>
            </a:r>
          </a:p>
        </p:txBody>
      </p:sp>
      <p:sp>
        <p:nvSpPr>
          <p:cNvPr id="3" name="Content Placeholder 2"/>
          <p:cNvSpPr>
            <a:spLocks noGrp="1"/>
          </p:cNvSpPr>
          <p:nvPr>
            <p:ph idx="1"/>
          </p:nvPr>
        </p:nvSpPr>
        <p:spPr/>
        <p:txBody>
          <a:bodyPr/>
          <a:lstStyle/>
          <a:p/>
          <a:p>
            <a:pPr>
              <a:defRPr b="1"/>
            </a:pPr>
            <a:r>
              <a:t>✅ e Absolute</a:t>
            </a:r>
          </a:p>
          <a:p>
            <a:r>
              <a:t>☐ a ..rancelicense.myabsorb.com (© &lt; &gt; +</a:t>
            </a:r>
          </a:p>
          <a:p>
            <a:br/>
            <a:pPr>
              <a:defRPr sz="1400" i="1"/>
            </a:pPr>
            <a:r>
              <a:t>Explanation: not a source of agent</a:t>
            </a:r>
            <a:br/>
            <a:r>
              <a:t>authority?</a:t>
            </a:r>
            <a:br/>
            <a:r>
              <a:t>Implied</a:t>
            </a:r>
            <a:br/>
            <a:r>
              <a:t>Express</a:t>
            </a:r>
            <a:br/>
            <a:r>
              <a:t>g e Absolute</a:t>
            </a:r>
            <a:br/>
            <a:r>
              <a:t>Proceed —_»&gt;</a:t>
            </a:r>
            <a:br/>
            <a:r>
              <a:t>I&lt; A &gt;|</a:t>
            </a:r>
            <a:br/>
            <a:r>
              <a:t>a ..rancelicense.myabsorb.com (</a:t>
            </a:r>
            <a:br/>
            <a:r>
              <a:t>&lt; &gt; +...</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341</a:t>
            </a:r>
          </a:p>
        </p:txBody>
      </p:sp>
      <p:sp>
        <p:nvSpPr>
          <p:cNvPr id="3" name="Content Placeholder 2"/>
          <p:cNvSpPr>
            <a:spLocks noGrp="1"/>
          </p:cNvSpPr>
          <p:nvPr>
            <p:ph idx="1"/>
          </p:nvPr>
        </p:nvSpPr>
        <p:spPr/>
        <p:txBody>
          <a:bodyPr/>
          <a:lstStyle/>
          <a:p>
            <a:r>
              <a:t>Which of the following best describes</a:t>
            </a:r>
          </a:p>
          <a:p>
            <a:r>
              <a:t>'Reinsurance'?</a:t>
            </a:r>
          </a:p>
          <a:p>
            <a:r>
              <a:t>A reserve fund set aside by insurance</a:t>
            </a:r>
          </a:p>
          <a:p>
            <a:r>
              <a:t>companies for unexpected claims.</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341</a:t>
            </a:r>
          </a:p>
        </p:txBody>
      </p:sp>
      <p:sp>
        <p:nvSpPr>
          <p:cNvPr id="3" name="Content Placeholder 2"/>
          <p:cNvSpPr>
            <a:spLocks noGrp="1"/>
          </p:cNvSpPr>
          <p:nvPr>
            <p:ph idx="1"/>
          </p:nvPr>
        </p:nvSpPr>
        <p:spPr/>
        <p:txBody>
          <a:bodyPr/>
          <a:lstStyle/>
          <a:p/>
          <a:p>
            <a:r>
              <a:t>☐ nsurance for individuals who have high-risk profiles.</a:t>
            </a:r>
          </a:p>
          <a:p>
            <a:pPr>
              <a:defRPr b="1"/>
            </a:pPr>
            <a:r>
              <a:t>✅ a ..rancelicense.myabsorb.com (© &lt; &gt; +</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342</a:t>
            </a:r>
          </a:p>
        </p:txBody>
      </p:sp>
      <p:sp>
        <p:nvSpPr>
          <p:cNvPr id="3" name="Content Placeholder 2"/>
          <p:cNvSpPr>
            <a:spLocks noGrp="1"/>
          </p:cNvSpPr>
          <p:nvPr>
            <p:ph idx="1"/>
          </p:nvPr>
        </p:nvSpPr>
        <p:spPr/>
        <p:txBody>
          <a:bodyPr/>
          <a:lstStyle/>
          <a:p>
            <a:r>
              <a:t>What can a 'Cash Value Loan'</a:t>
            </a:r>
          </a:p>
          <a:p>
            <a:r>
              <a:t>provision be used for?</a:t>
            </a:r>
          </a:p>
          <a:p>
            <a:r>
              <a:t>@  Borrowing against the policy’s value.</a:t>
            </a:r>
          </a:p>
          <a:p>
            <a:r>
              <a:t>Extending policy term.</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342</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343</a:t>
            </a:r>
          </a:p>
        </p:txBody>
      </p:sp>
      <p:sp>
        <p:nvSpPr>
          <p:cNvPr id="3" name="Content Placeholder 2"/>
          <p:cNvSpPr>
            <a:spLocks noGrp="1"/>
          </p:cNvSpPr>
          <p:nvPr>
            <p:ph idx="1"/>
          </p:nvPr>
        </p:nvSpPr>
        <p:spPr/>
        <p:txBody>
          <a:bodyPr/>
          <a:lstStyle/>
          <a:p>
            <a:r>
              <a:t>John applies for a life insurance policy</a:t>
            </a:r>
          </a:p>
          <a:p>
            <a:r>
              <a:t>and mentions his skydiving hobby on</a:t>
            </a:r>
          </a:p>
          <a:p>
            <a:r>
              <a:t>the application. What additional step</a:t>
            </a:r>
          </a:p>
          <a:p>
            <a:r>
              <a:t>might the insurance company require</a:t>
            </a:r>
          </a:p>
          <a:p>
            <a:r>
              <a:t>before approving his policy?</a:t>
            </a:r>
          </a:p>
          <a:p>
            <a:r>
              <a:t>A letter of recommendation.</a:t>
            </a:r>
          </a:p>
          <a:p>
            <a:r>
              <a:t>An immediate premium increase.</a:t>
            </a:r>
          </a:p>
          <a:p>
            <a:r>
              <a:t>@  Aspecial aviation questionnaire.</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343</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skydiving hobby on</a:t>
            </a:r>
            <a:br/>
            <a:r>
              <a:t>the application. What additional step</a:t>
            </a:r>
            <a:br/>
            <a:r>
              <a:t>might the insurance company require</a:t>
            </a:r>
            <a:br/>
            <a:r>
              <a:t>before approving his policy?</a:t>
            </a:r>
            <a:br/>
            <a:r>
              <a:t>A letter of recommendation.</a:t>
            </a:r>
            <a:br/>
            <a:r>
              <a:t>An immediate premium increase.</a:t>
            </a:r>
            <a:br/>
            <a:r>
              <a:t>@  Aspecial aviatio...</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344</a:t>
            </a:r>
          </a:p>
        </p:txBody>
      </p:sp>
      <p:sp>
        <p:nvSpPr>
          <p:cNvPr id="3" name="Content Placeholder 2"/>
          <p:cNvSpPr>
            <a:spLocks noGrp="1"/>
          </p:cNvSpPr>
          <p:nvPr>
            <p:ph idx="1"/>
          </p:nvPr>
        </p:nvSpPr>
        <p:spPr/>
        <p:txBody>
          <a:bodyPr/>
          <a:lstStyle/>
          <a:p>
            <a:r>
              <a:t>The type of annuity offering the highest</a:t>
            </a:r>
          </a:p>
          <a:p>
            <a:r>
              <a:t>possible monthly income to a single</a:t>
            </a:r>
          </a:p>
          <a:p>
            <a:r>
              <a:t>annuitant is known as a(n):</a:t>
            </a:r>
          </a:p>
          <a:p>
            <a:r>
              <a:t>Life Annuity with Period Certain</a:t>
            </a:r>
          </a:p>
          <a:p>
            <a:r>
              <a:t>Joint And Survivor</a:t>
            </a:r>
          </a:p>
          <a:p>
            <a:r>
              <a:t>Systematic Withdrawal</a:t>
            </a:r>
          </a:p>
          <a:p>
            <a:r>
              <a:t>@  Straight Life Annuity</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344</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known as a(n):</a:t>
            </a:r>
            <a:br/>
            <a:r>
              <a:t>Life Annuity with Period Certain</a:t>
            </a:r>
            <a:br/>
            <a:r>
              <a:t>Joint And Survivor</a:t>
            </a:r>
            <a:br/>
            <a:r>
              <a:t>Systematic Withdrawal</a:t>
            </a:r>
            <a:br/>
            <a:r>
              <a:t>@  Straight Life Annuity</a:t>
            </a:r>
            <a:br/>
            <a:r>
              <a:t>Proceed =&gt;</a:t>
            </a:r>
            <a:br/>
            <a:r>
              <a:t>I&lt; A &gt;|</a:t>
            </a:r>
            <a:br/>
            <a:r>
              <a:t>a ..rancelicense.myabsorb.com (</a:t>
            </a:r>
            <a:br/>
            <a:r>
              <a:t>&lt; &gt; +...</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345</a:t>
            </a:r>
          </a:p>
        </p:txBody>
      </p:sp>
      <p:sp>
        <p:nvSpPr>
          <p:cNvPr id="3" name="Content Placeholder 2"/>
          <p:cNvSpPr>
            <a:spLocks noGrp="1"/>
          </p:cNvSpPr>
          <p:nvPr>
            <p:ph idx="1"/>
          </p:nvPr>
        </p:nvSpPr>
        <p:spPr/>
        <p:txBody>
          <a:bodyPr/>
          <a:lstStyle/>
          <a:p>
            <a:r>
              <a:t>What kind of annuity ties benefits to</a:t>
            </a:r>
          </a:p>
          <a:p>
            <a:r>
              <a:t>market performance?</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345</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346</a:t>
            </a:r>
          </a:p>
        </p:txBody>
      </p:sp>
      <p:sp>
        <p:nvSpPr>
          <p:cNvPr id="3" name="Content Placeholder 2"/>
          <p:cNvSpPr>
            <a:spLocks noGrp="1"/>
          </p:cNvSpPr>
          <p:nvPr>
            <p:ph idx="1"/>
          </p:nvPr>
        </p:nvSpPr>
        <p:spPr/>
        <p:txBody>
          <a:bodyPr/>
          <a:lstStyle/>
          <a:p>
            <a:r>
              <a:t>What happens if an insured individual</a:t>
            </a:r>
          </a:p>
          <a:p>
            <a:r>
              <a:t>dies during the Grace Period of their</a:t>
            </a:r>
          </a:p>
          <a:p>
            <a:r>
              <a:t>life insurance policy?</a:t>
            </a:r>
          </a:p>
          <a:p>
            <a:r>
              <a:t>Full benefits are paid without any</a:t>
            </a:r>
          </a:p>
          <a:p>
            <a:r>
              <a:t>deductions.</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346</a:t>
            </a:r>
          </a:p>
        </p:txBody>
      </p:sp>
      <p:sp>
        <p:nvSpPr>
          <p:cNvPr id="3" name="Content Placeholder 2"/>
          <p:cNvSpPr>
            <a:spLocks noGrp="1"/>
          </p:cNvSpPr>
          <p:nvPr>
            <p:ph idx="1"/>
          </p:nvPr>
        </p:nvSpPr>
        <p:spPr/>
        <p:txBody>
          <a:bodyPr/>
          <a:lstStyle/>
          <a:p/>
          <a:p>
            <a:pPr>
              <a:defRPr b="1"/>
            </a:pPr>
            <a:r>
              <a:t>✅ e The policy's death benefit is reduced by the unpaid premium.</a:t>
            </a:r>
          </a:p>
          <a:p>
            <a:r>
              <a:t>☐ a ..rancelicense.myabsorb.com (© &lt; &gt; +</a:t>
            </a:r>
          </a:p>
          <a:p>
            <a:br/>
            <a:pPr>
              <a:defRPr sz="1400" i="1"/>
            </a:pPr>
            <a:r>
              <a:t>Explanation: reduced by the</a:t>
            </a:r>
            <a:br/>
            <a:r>
              <a:t>unpaid premium.</a:t>
            </a:r>
            <a:br/>
            <a:r>
              <a:t>Proceed =&gt;</a:t>
            </a:r>
            <a:br/>
            <a:r>
              <a:t>I&lt; A &gt;|</a:t>
            </a:r>
            <a:br/>
            <a:r>
              <a:t>a ..rancelicense.myabsorb.com (</a:t>
            </a:r>
            <a:br/>
            <a:r>
              <a:t>&lt; &gt; +...</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347</a:t>
            </a:r>
          </a:p>
        </p:txBody>
      </p:sp>
      <p:sp>
        <p:nvSpPr>
          <p:cNvPr id="3" name="Content Placeholder 2"/>
          <p:cNvSpPr>
            <a:spLocks noGrp="1"/>
          </p:cNvSpPr>
          <p:nvPr>
            <p:ph idx="1"/>
          </p:nvPr>
        </p:nvSpPr>
        <p:spPr/>
        <p:txBody>
          <a:bodyPr/>
          <a:lstStyle/>
          <a:p>
            <a:r>
              <a:t>The USA Patriot Act requires insurance</a:t>
            </a:r>
          </a:p>
          <a:p>
            <a:r>
              <a:t>companies to establish formal programs for:</a:t>
            </a:r>
          </a:p>
          <a:p>
            <a:r>
              <a:t>) Underwriting speed</a:t>
            </a:r>
          </a:p>
          <a:p>
            <a:r>
              <a:t>@  Anti-money laundering (x)</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347</a:t>
            </a:r>
          </a:p>
        </p:txBody>
      </p:sp>
      <p:sp>
        <p:nvSpPr>
          <p:cNvPr id="3" name="Content Placeholder 2"/>
          <p:cNvSpPr>
            <a:spLocks noGrp="1"/>
          </p:cNvSpPr>
          <p:nvPr>
            <p:ph idx="1"/>
          </p:nvPr>
        </p:nvSpPr>
        <p:spPr/>
        <p:txBody>
          <a:bodyPr/>
          <a:lstStyle/>
          <a:p/>
          <a:p>
            <a:r>
              <a:t>☐ Policy delivery efficiency</a:t>
            </a:r>
          </a:p>
          <a:p>
            <a:pPr>
              <a:defRPr b="1"/>
            </a:pPr>
            <a:r>
              <a:t>✅ a ..rancelicense.myabsorb.com (© &lt; &gt; +</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348</a:t>
            </a:r>
          </a:p>
        </p:txBody>
      </p:sp>
      <p:sp>
        <p:nvSpPr>
          <p:cNvPr id="3" name="Content Placeholder 2"/>
          <p:cNvSpPr>
            <a:spLocks noGrp="1"/>
          </p:cNvSpPr>
          <p:nvPr>
            <p:ph idx="1"/>
          </p:nvPr>
        </p:nvSpPr>
        <p:spPr/>
        <p:txBody>
          <a:bodyPr/>
          <a:lstStyle/>
          <a:p>
            <a:r>
              <a:t>How many times can an applicant</a:t>
            </a:r>
          </a:p>
          <a:p>
            <a:r>
              <a:t>attempt the insurance licensing exam</a:t>
            </a:r>
          </a:p>
          <a:p>
            <a:r>
              <a:t>within a twelve-month period in</a:t>
            </a:r>
          </a:p>
          <a:p>
            <a:r>
              <a:t>Arizona?</a:t>
            </a:r>
          </a:p>
          <a:p>
            <a:r>
              <a:t>Two</a:t>
            </a:r>
          </a:p>
          <a:p>
            <a:r>
              <a:t>Unlimited</a:t>
            </a:r>
          </a:p>
          <a:p>
            <a:r>
              <a:t>Three</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348</a:t>
            </a:r>
          </a:p>
        </p:txBody>
      </p:sp>
      <p:sp>
        <p:nvSpPr>
          <p:cNvPr id="3" name="Content Placeholder 2"/>
          <p:cNvSpPr>
            <a:spLocks noGrp="1"/>
          </p:cNvSpPr>
          <p:nvPr>
            <p:ph idx="1"/>
          </p:nvPr>
        </p:nvSpPr>
        <p:spPr/>
        <p:txBody>
          <a:bodyPr/>
          <a:lstStyle/>
          <a:p/>
          <a:p>
            <a:pPr>
              <a:defRPr b="1"/>
            </a:pPr>
            <a:r>
              <a:t>✅ e Four</a:t>
            </a:r>
          </a:p>
          <a:p>
            <a:r>
              <a:t>☐ a ..rancelicense.myabsorb.com (© &lt; &gt; +</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349</a:t>
            </a:r>
          </a:p>
        </p:txBody>
      </p:sp>
      <p:sp>
        <p:nvSpPr>
          <p:cNvPr id="3" name="Content Placeholder 2"/>
          <p:cNvSpPr>
            <a:spLocks noGrp="1"/>
          </p:cNvSpPr>
          <p:nvPr>
            <p:ph idx="1"/>
          </p:nvPr>
        </p:nvSpPr>
        <p:spPr/>
        <p:txBody>
          <a:bodyPr/>
          <a:lstStyle/>
          <a:p>
            <a:r>
              <a:t>What is the primary purpose of Term</a:t>
            </a:r>
          </a:p>
          <a:p>
            <a:r>
              <a:t>Life Insurance?</a:t>
            </a:r>
          </a:p>
          <a:p>
            <a:r>
              <a:t>To cover multiple individuals under one</a:t>
            </a:r>
          </a:p>
          <a:p>
            <a:r>
              <a:t>PA e To provide temporary coverage for a</a:t>
            </a:r>
          </a:p>
          <a:p>
            <a:r>
              <a:t>epeciied Period</a:t>
            </a:r>
          </a:p>
          <a:p>
            <a:r>
              <a:t>To offer lifelong coverage</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349</a:t>
            </a:r>
          </a:p>
        </p:txBody>
      </p:sp>
      <p:sp>
        <p:nvSpPr>
          <p:cNvPr id="3" name="Content Placeholder 2"/>
          <p:cNvSpPr>
            <a:spLocks noGrp="1"/>
          </p:cNvSpPr>
          <p:nvPr>
            <p:ph idx="1"/>
          </p:nvPr>
        </p:nvSpPr>
        <p:spPr/>
        <p:txBody>
          <a:bodyPr/>
          <a:lstStyle/>
          <a:p/>
          <a:p>
            <a:pPr>
              <a:defRPr b="1"/>
            </a:pPr>
            <a:r>
              <a:t>✅ To accumulate cash value over time</a:t>
            </a:r>
          </a:p>
          <a:p>
            <a:r>
              <a:t>☐ a ..rancelicense.myabsorb.com (© &lt; &gt; +</a:t>
            </a:r>
          </a:p>
          <a:p>
            <a:br/>
            <a:pPr>
              <a:defRPr sz="1400" i="1"/>
            </a:pPr>
            <a:r>
              <a:t>Explanation: the primary purpose of Term</a:t>
            </a:r>
            <a:br/>
            <a:r>
              <a:t>Life Insurance?</a:t>
            </a:r>
            <a:br/>
            <a:r>
              <a:t>To cover multiple individuals under one</a:t>
            </a:r>
            <a:br/>
            <a:r>
              <a:t>PA e To provide temporary coverage for a</a:t>
            </a:r>
            <a:br/>
            <a:r>
              <a:t>epeciied Period</a:t>
            </a:r>
            <a:br/>
            <a:r>
              <a:t>To offer lifelong coverage</a:t>
            </a:r>
            <a:br/>
            <a:r>
              <a:t>x To accumulate cash value over ...</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350</a:t>
            </a:r>
          </a:p>
        </p:txBody>
      </p:sp>
      <p:sp>
        <p:nvSpPr>
          <p:cNvPr id="3" name="Content Placeholder 2"/>
          <p:cNvSpPr>
            <a:spLocks noGrp="1"/>
          </p:cNvSpPr>
          <p:nvPr>
            <p:ph idx="1"/>
          </p:nvPr>
        </p:nvSpPr>
        <p:spPr/>
        <p:txBody>
          <a:bodyPr/>
          <a:lstStyle/>
          <a:p>
            <a:r>
              <a:t>What is the typical consequence for a</a:t>
            </a:r>
          </a:p>
          <a:p>
            <a:r>
              <a:t>life insurance policy if the insured dies</a:t>
            </a:r>
          </a:p>
          <a:p>
            <a:r>
              <a:t>from engaging in a hazardous hobby?</a:t>
            </a:r>
          </a:p>
          <a:p>
            <a:r>
              <a:t>The policy is transferred to a relative</a:t>
            </a:r>
          </a:p>
          <a:p>
            <a:r>
              <a:t>The death benefit is doubled</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350</a:t>
            </a:r>
          </a:p>
        </p:txBody>
      </p:sp>
      <p:sp>
        <p:nvSpPr>
          <p:cNvPr id="3" name="Content Placeholder 2"/>
          <p:cNvSpPr>
            <a:spLocks noGrp="1"/>
          </p:cNvSpPr>
          <p:nvPr>
            <p:ph idx="1"/>
          </p:nvPr>
        </p:nvSpPr>
        <p:spPr/>
        <p:txBody>
          <a:bodyPr/>
          <a:lstStyle/>
          <a:p/>
          <a:p>
            <a:pPr>
              <a:defRPr b="1"/>
            </a:pPr>
            <a:r>
              <a:t>✅ e The death benefit may be excluded or a higher premium charged</a:t>
            </a:r>
          </a:p>
          <a:p>
            <a:r>
              <a:t>☐ a ..rancelicense.myabsorb.com (© &lt; &gt; +</a:t>
            </a:r>
          </a:p>
          <a:p>
            <a:br/>
            <a:pPr>
              <a:defRPr sz="1400" i="1"/>
            </a:pPr>
            <a:r>
              <a:t>Explanation: the typical consequence for a</a:t>
            </a:r>
            <a:br/>
            <a:r>
              <a:t>life insurance policy if the insured dies</a:t>
            </a:r>
            <a:br/>
            <a:r>
              <a:t>from engaging in a hazardous hobby?</a:t>
            </a:r>
            <a:br/>
            <a:r>
              <a:t>The policy is transferred to a relative</a:t>
            </a:r>
            <a:br/>
            <a:r>
              <a:t>The death benefit is doubled</a:t>
            </a:r>
            <a:br/>
            <a:r>
              <a:t>g e The death benefit m...</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351</a:t>
            </a:r>
          </a:p>
        </p:txBody>
      </p:sp>
      <p:sp>
        <p:nvSpPr>
          <p:cNvPr id="3" name="Content Placeholder 2"/>
          <p:cNvSpPr>
            <a:spLocks noGrp="1"/>
          </p:cNvSpPr>
          <p:nvPr>
            <p:ph idx="1"/>
          </p:nvPr>
        </p:nvSpPr>
        <p:spPr/>
        <p:txBody>
          <a:bodyPr/>
          <a:lstStyle/>
          <a:p>
            <a:r>
              <a:t>Which act governs the sending of</a:t>
            </a:r>
          </a:p>
          <a:p>
            <a:r>
              <a:t>commercial emails and sets rules for</a:t>
            </a:r>
          </a:p>
          <a:p>
            <a:r>
              <a:t>commercial messaging?</a:t>
            </a:r>
          </a:p>
          <a:p>
            <a:r>
              <a:t>@  CAN-SPAM Act of 2003</a:t>
            </a:r>
          </a:p>
          <a:p>
            <a:r>
              <a:t>Telemarketing Sales Rule</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351</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352</a:t>
            </a:r>
          </a:p>
        </p:txBody>
      </p:sp>
      <p:sp>
        <p:nvSpPr>
          <p:cNvPr id="3" name="Content Placeholder 2"/>
          <p:cNvSpPr>
            <a:spLocks noGrp="1"/>
          </p:cNvSpPr>
          <p:nvPr>
            <p:ph idx="1"/>
          </p:nvPr>
        </p:nvSpPr>
        <p:spPr/>
        <p:txBody>
          <a:bodyPr/>
          <a:lstStyle/>
          <a:p>
            <a:r>
              <a:t>What is characteristic of a fixed</a:t>
            </a:r>
          </a:p>
          <a:p>
            <a:r>
              <a:t>annuity?</a:t>
            </a:r>
          </a:p>
          <a:p>
            <a:r>
              <a:t>Benefits fluctuate with market</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352</a:t>
            </a:r>
          </a:p>
        </p:txBody>
      </p:sp>
      <p:sp>
        <p:nvSpPr>
          <p:cNvPr id="3" name="Content Placeholder 2"/>
          <p:cNvSpPr>
            <a:spLocks noGrp="1"/>
          </p:cNvSpPr>
          <p:nvPr>
            <p:ph idx="1"/>
          </p:nvPr>
        </p:nvSpPr>
        <p:spPr/>
        <p:txBody>
          <a:bodyPr/>
          <a:lstStyle/>
          <a:p/>
          <a:p>
            <a:pPr>
              <a:defRPr b="1"/>
            </a:pPr>
            <a:r>
              <a:t>✅ e Guaranteed minimum interest rate</a:t>
            </a:r>
          </a:p>
          <a:p>
            <a:r>
              <a:t>☐ a ..rancelicense.myabsorb.com (© &lt; &gt; +</a:t>
            </a:r>
          </a:p>
          <a:p>
            <a:br/>
            <a:pPr>
              <a:defRPr sz="1400" i="1"/>
            </a:pPr>
            <a:r>
              <a:t>Explanation: characteristic of a fixed</a:t>
            </a:r>
            <a:br/>
            <a:r>
              <a:t>annuity?</a:t>
            </a:r>
            <a:br/>
            <a:r>
              <a:t>Benefits fluctuate with market</a:t>
            </a:r>
            <a:br/>
            <a:r>
              <a:t>g e Guaranteed minimum interest rate</a:t>
            </a:r>
            <a:br/>
            <a:r>
              <a:t>Proceed —_</a:t>
            </a:r>
            <a:br/>
            <a:r>
              <a:t>I&lt; A &gt;|</a:t>
            </a:r>
            <a:br/>
            <a:r>
              <a:t>a ..rancelicense.myabsorb.com (</a:t>
            </a:r>
            <a:br/>
            <a:r>
              <a:t>&lt; &gt; +...</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353</a:t>
            </a:r>
          </a:p>
        </p:txBody>
      </p:sp>
      <p:sp>
        <p:nvSpPr>
          <p:cNvPr id="3" name="Content Placeholder 2"/>
          <p:cNvSpPr>
            <a:spLocks noGrp="1"/>
          </p:cNvSpPr>
          <p:nvPr>
            <p:ph idx="1"/>
          </p:nvPr>
        </p:nvSpPr>
        <p:spPr/>
        <p:txBody>
          <a:bodyPr/>
          <a:lstStyle/>
          <a:p>
            <a:r>
              <a:t>An individual applying for an insurance</a:t>
            </a:r>
          </a:p>
          <a:p>
            <a:r>
              <a:t>producer license in Arizona must</a:t>
            </a:r>
          </a:p>
          <a:p>
            <a:r>
              <a:t>affirm that the information provided in</a:t>
            </a:r>
          </a:p>
          <a:p>
            <a:r>
              <a:t>the application is:</a:t>
            </a:r>
          </a:p>
          <a:p>
            <a:r>
              <a:t>@  Accurate, complete, and true</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353</a:t>
            </a:r>
          </a:p>
        </p:txBody>
      </p:sp>
      <p:sp>
        <p:nvSpPr>
          <p:cNvPr id="3" name="Content Placeholder 2"/>
          <p:cNvSpPr>
            <a:spLocks noGrp="1"/>
          </p:cNvSpPr>
          <p:nvPr>
            <p:ph idx="1"/>
          </p:nvPr>
        </p:nvSpPr>
        <p:spPr/>
        <p:txBody>
          <a:bodyPr/>
          <a:lstStyle/>
          <a:p/>
          <a:p>
            <a:r>
              <a:t>☐ Sufficient</a:t>
            </a:r>
          </a:p>
          <a:p>
            <a:r>
              <a:t>☐ Notarized</a:t>
            </a:r>
          </a:p>
          <a:p>
            <a:r>
              <a:t>☐ Endorsed by a current licensee</a:t>
            </a:r>
          </a:p>
          <a:p>
            <a:pPr>
              <a:defRPr b="1"/>
            </a:pPr>
            <a:r>
              <a:t>✅ a ..rancelicense.myabsorb.com (© &lt; &gt; +</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354</a:t>
            </a:r>
          </a:p>
        </p:txBody>
      </p:sp>
      <p:sp>
        <p:nvSpPr>
          <p:cNvPr id="3" name="Content Placeholder 2"/>
          <p:cNvSpPr>
            <a:spLocks noGrp="1"/>
          </p:cNvSpPr>
          <p:nvPr>
            <p:ph idx="1"/>
          </p:nvPr>
        </p:nvSpPr>
        <p:spPr/>
        <p:txBody>
          <a:bodyPr/>
          <a:lstStyle/>
          <a:p>
            <a:r>
              <a:t>Which type of insurance is</a:t>
            </a:r>
          </a:p>
          <a:p>
            <a:r>
              <a:t>specifically designed to decrease in</a:t>
            </a:r>
          </a:p>
          <a:p>
            <a:r>
              <a:t>face amount over time?</a:t>
            </a:r>
          </a:p>
          <a:p>
            <a:r>
              <a:t>@  Decreasing Term Insurance</a:t>
            </a:r>
          </a:p>
          <a:p>
            <a:r>
              <a:t>Whole Life Insurance</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354</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specifically designed to decrease in</a:t>
            </a:r>
            <a:br/>
            <a:r>
              <a:t>face amount over time?</a:t>
            </a:r>
            <a:br/>
            <a:r>
              <a:t>@  Decreasing Term Insurance</a:t>
            </a:r>
            <a:br/>
            <a:r>
              <a:t>Whole Life Insurance</a:t>
            </a:r>
            <a:br/>
            <a:r>
              <a:t>Increasing Term Insurance</a:t>
            </a:r>
            <a:br/>
            <a:r>
              <a:t>Term Life Insurance</a:t>
            </a:r>
            <a:br/>
            <a:r>
              <a:t>I&lt; A &gt;|</a:t>
            </a:r>
            <a:br/>
            <a:r>
              <a:t>a ..rancelicense.myabsorb.com (</a:t>
            </a:r>
            <a:br/>
            <a:r>
              <a:t>&lt; &gt; ...</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355</a:t>
            </a:r>
          </a:p>
        </p:txBody>
      </p:sp>
      <p:sp>
        <p:nvSpPr>
          <p:cNvPr id="3" name="Content Placeholder 2"/>
          <p:cNvSpPr>
            <a:spLocks noGrp="1"/>
          </p:cNvSpPr>
          <p:nvPr>
            <p:ph idx="1"/>
          </p:nvPr>
        </p:nvSpPr>
        <p:spPr/>
        <p:txBody>
          <a:bodyPr/>
          <a:lstStyle/>
          <a:p>
            <a:r>
              <a:t>When is coverage effective under an</a:t>
            </a:r>
          </a:p>
          <a:p>
            <a:r>
              <a:t>Approval Receipt in a life insurance</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355</a:t>
            </a:r>
          </a:p>
        </p:txBody>
      </p:sp>
      <p:sp>
        <p:nvSpPr>
          <p:cNvPr id="3" name="Content Placeholder 2"/>
          <p:cNvSpPr>
            <a:spLocks noGrp="1"/>
          </p:cNvSpPr>
          <p:nvPr>
            <p:ph idx="1"/>
          </p:nvPr>
        </p:nvSpPr>
        <p:spPr/>
        <p:txBody>
          <a:bodyPr/>
          <a:lstStyle/>
          <a:p/>
          <a:p>
            <a:r>
              <a:t>☐ nce the applicant passes a medical examination. After the insurer approves the application. Immediately upon application submission.</a:t>
            </a:r>
          </a:p>
          <a:p>
            <a:pPr>
              <a:defRPr b="1"/>
            </a:pPr>
            <a:r>
              <a:t>✅ n the policy delivery date.</a:t>
            </a:r>
          </a:p>
          <a:p>
            <a:r>
              <a:t>☐ a ..rancelicense.myabsorb.com (© &gt; +</a:t>
            </a:r>
          </a:p>
          <a:p>
            <a:br/>
            <a:pPr>
              <a:defRPr sz="1400" i="1"/>
            </a:pPr>
            <a:r>
              <a:t>Explanation: coverage effective under an</a:t>
            </a:r>
            <a:br/>
            <a:r>
              <a:t>Approval Receipt in a life insurance</a:t>
            </a:r>
            <a:br/>
            <a:r>
              <a:t>Once the applicant passes a medical</a:t>
            </a:r>
            <a:br/>
            <a:r>
              <a:t>examination.</a:t>
            </a:r>
            <a:br/>
            <a:r>
              <a:t>After the insurer approves the application.</a:t>
            </a:r>
            <a:br/>
            <a:r>
              <a:t>Immediately upon application submission.</a:t>
            </a:r>
            <a:br/>
            <a:r>
              <a:t>O...</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356</a:t>
            </a:r>
          </a:p>
        </p:txBody>
      </p:sp>
      <p:sp>
        <p:nvSpPr>
          <p:cNvPr id="3" name="Content Placeholder 2"/>
          <p:cNvSpPr>
            <a:spLocks noGrp="1"/>
          </p:cNvSpPr>
          <p:nvPr>
            <p:ph idx="1"/>
          </p:nvPr>
        </p:nvSpPr>
        <p:spPr/>
        <p:txBody>
          <a:bodyPr/>
          <a:lstStyle/>
          <a:p>
            <a:r>
              <a:t>Under the Fair Credit Reporting Act,</a:t>
            </a:r>
          </a:p>
          <a:p>
            <a:r>
              <a:t>what must insurers provide to an</a:t>
            </a:r>
          </a:p>
          <a:p>
            <a:r>
              <a:t>applicant when they use a credit report</a:t>
            </a:r>
          </a:p>
          <a:p>
            <a:r>
              <a:t>to make an underwriting decision?</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356</a:t>
            </a:r>
          </a:p>
        </p:txBody>
      </p:sp>
      <p:sp>
        <p:nvSpPr>
          <p:cNvPr id="3" name="Content Placeholder 2"/>
          <p:cNvSpPr>
            <a:spLocks noGrp="1"/>
          </p:cNvSpPr>
          <p:nvPr>
            <p:ph idx="1"/>
          </p:nvPr>
        </p:nvSpPr>
        <p:spPr/>
        <p:txBody>
          <a:bodyPr/>
          <a:lstStyle/>
          <a:p/>
          <a:p>
            <a:r>
              <a:t>☐ A comprehensive financial plan</a:t>
            </a:r>
          </a:p>
          <a:p>
            <a:pPr>
              <a:defRPr b="1"/>
            </a:pPr>
            <a:r>
              <a:t>✅ e The name and address of the consumer reporting agency that supplied the report</a:t>
            </a:r>
          </a:p>
          <a:p>
            <a:r>
              <a:t>☐ A list of all policy types available ' ¢) Details on how premiums are calculated</a:t>
            </a:r>
          </a:p>
          <a:p>
            <a:r>
              <a:t>☐ a ..rancelicense.myabsorb.com (© &lt; &gt; +</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357</a:t>
            </a:r>
          </a:p>
        </p:txBody>
      </p:sp>
      <p:sp>
        <p:nvSpPr>
          <p:cNvPr id="3" name="Content Placeholder 2"/>
          <p:cNvSpPr>
            <a:spLocks noGrp="1"/>
          </p:cNvSpPr>
          <p:nvPr>
            <p:ph idx="1"/>
          </p:nvPr>
        </p:nvSpPr>
        <p:spPr/>
        <p:txBody>
          <a:bodyPr/>
          <a:lstStyle/>
          <a:p>
            <a:r>
              <a:t>What does the 'Grace Period'</a:t>
            </a:r>
          </a:p>
          <a:p>
            <a:r>
              <a:t>provision in life insurance policies</a:t>
            </a:r>
          </a:p>
          <a:p>
            <a:r>
              <a:t>provide?</a:t>
            </a:r>
          </a:p>
          <a:p>
            <a:r>
              <a:t>Extension for policy renewal.</a:t>
            </a:r>
          </a:p>
          <a:p>
            <a:r>
              <a:t>Delay for policy activation.</a:t>
            </a:r>
          </a:p>
          <a:p>
            <a:r>
              <a:t>@  Extension to pay overdue premiums.</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357</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358</a:t>
            </a:r>
          </a:p>
        </p:txBody>
      </p:sp>
      <p:sp>
        <p:nvSpPr>
          <p:cNvPr id="3" name="Content Placeholder 2"/>
          <p:cNvSpPr>
            <a:spLocks noGrp="1"/>
          </p:cNvSpPr>
          <p:nvPr>
            <p:ph idx="1"/>
          </p:nvPr>
        </p:nvSpPr>
        <p:spPr/>
        <p:txBody>
          <a:bodyPr/>
          <a:lstStyle/>
          <a:p>
            <a:r>
              <a:t>What is an example of a contract not</a:t>
            </a:r>
          </a:p>
          <a:p>
            <a:r>
              <a:t>having a lawful purpose?</a:t>
            </a:r>
          </a:p>
          <a:p>
            <a:r>
              <a:t>A contract for the sale of a house</a:t>
            </a:r>
          </a:p>
          <a:p>
            <a:r>
              <a:t>Acontract for employment benefits</a:t>
            </a:r>
          </a:p>
          <a:p>
            <a:r>
              <a:t>A contract involving a payment for</a:t>
            </a:r>
          </a:p>
          <a:p>
            <a:r>
              <a:t>committing an illegal act, like murder</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358</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an example of a contract not</a:t>
            </a:r>
            <a:br/>
            <a:r>
              <a:t>having a lawful purpose?</a:t>
            </a:r>
            <a:br/>
            <a:r>
              <a:t>A contract for the sale of a house</a:t>
            </a:r>
            <a:br/>
            <a:r>
              <a:t>Acontract for employment benefits</a:t>
            </a:r>
            <a:br/>
            <a:r>
              <a:t>A contract involving a payment for</a:t>
            </a:r>
            <a:br/>
            <a:r>
              <a:t>committing an illegal act, like murder</a:t>
            </a:r>
            <a:br/>
            <a:r>
              <a:t>Pro...</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359</a:t>
            </a:r>
          </a:p>
        </p:txBody>
      </p:sp>
      <p:sp>
        <p:nvSpPr>
          <p:cNvPr id="3" name="Content Placeholder 2"/>
          <p:cNvSpPr>
            <a:spLocks noGrp="1"/>
          </p:cNvSpPr>
          <p:nvPr>
            <p:ph idx="1"/>
          </p:nvPr>
        </p:nvSpPr>
        <p:spPr/>
        <p:txBody>
          <a:bodyPr/>
          <a:lstStyle/>
          <a:p>
            <a:r>
              <a:t>Which of these mandates do insurers</a:t>
            </a:r>
          </a:p>
          <a:p>
            <a:r>
              <a:t>reveal when investigating an</a:t>
            </a:r>
          </a:p>
          <a:p>
            <a:r>
              <a:t>applicant's consumer or credit history?</a:t>
            </a:r>
          </a:p>
          <a:p>
            <a:r>
              <a:t>1958 - Federal Trade Commission's</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359</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360</a:t>
            </a:r>
          </a:p>
        </p:txBody>
      </p:sp>
      <p:sp>
        <p:nvSpPr>
          <p:cNvPr id="3" name="Content Placeholder 2"/>
          <p:cNvSpPr>
            <a:spLocks noGrp="1"/>
          </p:cNvSpPr>
          <p:nvPr>
            <p:ph idx="1"/>
          </p:nvPr>
        </p:nvSpPr>
        <p:spPr/>
        <p:txBody>
          <a:bodyPr/>
          <a:lstStyle/>
          <a:p>
            <a:r>
              <a:t>What is required for a life insurance</a:t>
            </a:r>
          </a:p>
          <a:p>
            <a:r>
              <a:t>contract to be legally enforceable?</a:t>
            </a:r>
          </a:p>
          <a:p>
            <a:r>
              <a:t>Legal documentation of the insured's</a:t>
            </a:r>
          </a:p>
          <a:p>
            <a:r>
              <a:t>health.</a:t>
            </a:r>
          </a:p>
          <a:p>
            <a:r>
              <a:t>Unlimited insurable interest.</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360</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required for a life insurance</a:t>
            </a:r>
            <a:br/>
            <a:r>
              <a:t>contract to be legally enforceable?</a:t>
            </a:r>
            <a:br/>
            <a:r>
              <a:t>Legal documentation of the insured's</a:t>
            </a:r>
            <a:br/>
            <a:r>
              <a:t>health.</a:t>
            </a:r>
            <a:br/>
            <a:r>
              <a:t>Unlimited insurable interest.</a:t>
            </a:r>
            <a:br/>
            <a:r>
              <a:t>Insurable interest at the time of the</a:t>
            </a:r>
            <a:br/>
            <a:r>
              <a:t>application.</a:t>
            </a:r>
            <a:br/>
            <a:r>
              <a:t>Insurabl...</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361</a:t>
            </a:r>
          </a:p>
        </p:txBody>
      </p:sp>
      <p:sp>
        <p:nvSpPr>
          <p:cNvPr id="3" name="Content Placeholder 2"/>
          <p:cNvSpPr>
            <a:spLocks noGrp="1"/>
          </p:cNvSpPr>
          <p:nvPr>
            <p:ph idx="1"/>
          </p:nvPr>
        </p:nvSpPr>
        <p:spPr/>
        <p:txBody>
          <a:bodyPr/>
          <a:lstStyle/>
          <a:p>
            <a:r>
              <a:t>Which action constitutes the</a:t>
            </a:r>
          </a:p>
          <a:p>
            <a:r>
              <a:t>"transaction" of insurance business in</a:t>
            </a:r>
          </a:p>
          <a:p>
            <a:r>
              <a:t>Arizona?</a:t>
            </a:r>
          </a:p>
          <a:p>
            <a:r>
              <a:t>Handling administrative tasks for an</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361</a:t>
            </a:r>
          </a:p>
        </p:txBody>
      </p:sp>
      <p:sp>
        <p:nvSpPr>
          <p:cNvPr id="3" name="Content Placeholder 2"/>
          <p:cNvSpPr>
            <a:spLocks noGrp="1"/>
          </p:cNvSpPr>
          <p:nvPr>
            <p:ph idx="1"/>
          </p:nvPr>
        </p:nvSpPr>
        <p:spPr/>
        <p:txBody>
          <a:bodyPr/>
          <a:lstStyle/>
          <a:p/>
          <a:p>
            <a:r>
              <a:t>☐ nsurance company Providing financial advice on insurance Selling, soliciting, and negotiating insurance</a:t>
            </a:r>
          </a:p>
          <a:p>
            <a:r>
              <a:t>☐ nly the selling of insurance policies</a:t>
            </a:r>
          </a:p>
          <a:p>
            <a:pPr>
              <a:defRPr b="1"/>
            </a:pPr>
            <a:r>
              <a:t>✅ a ..rancelicense.myabsorb.com (© &lt; &gt; +</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362</a:t>
            </a:r>
          </a:p>
        </p:txBody>
      </p:sp>
      <p:sp>
        <p:nvSpPr>
          <p:cNvPr id="3" name="Content Placeholder 2"/>
          <p:cNvSpPr>
            <a:spLocks noGrp="1"/>
          </p:cNvSpPr>
          <p:nvPr>
            <p:ph idx="1"/>
          </p:nvPr>
        </p:nvSpPr>
        <p:spPr/>
        <p:txBody>
          <a:bodyPr/>
          <a:lstStyle/>
          <a:p>
            <a:r>
              <a:t>What does an immediate annuity</a:t>
            </a:r>
          </a:p>
          <a:p>
            <a:r>
              <a:t>provide?</a:t>
            </a:r>
          </a:p>
          <a:p>
            <a:r>
              <a:t>Payments starting after five years</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362</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363</a:t>
            </a:r>
          </a:p>
        </p:txBody>
      </p:sp>
      <p:sp>
        <p:nvSpPr>
          <p:cNvPr id="3" name="Content Placeholder 2"/>
          <p:cNvSpPr>
            <a:spLocks noGrp="1"/>
          </p:cNvSpPr>
          <p:nvPr>
            <p:ph idx="1"/>
          </p:nvPr>
        </p:nvSpPr>
        <p:spPr/>
        <p:txBody>
          <a:bodyPr/>
          <a:lstStyle/>
          <a:p>
            <a:r>
              <a:t>The Fair Credit Reporting Act requires</a:t>
            </a:r>
          </a:p>
          <a:p>
            <a:r>
              <a:t>Consumer Information Reports can be</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363</a:t>
            </a:r>
          </a:p>
        </p:txBody>
      </p:sp>
      <p:sp>
        <p:nvSpPr>
          <p:cNvPr id="3" name="Content Placeholder 2"/>
          <p:cNvSpPr>
            <a:spLocks noGrp="1"/>
          </p:cNvSpPr>
          <p:nvPr>
            <p:ph idx="1"/>
          </p:nvPr>
        </p:nvSpPr>
        <p:spPr/>
        <p:txBody>
          <a:bodyPr/>
          <a:lstStyle/>
          <a:p/>
          <a:p>
            <a:r>
              <a:t>☐ nspection company is investigating them.</a:t>
            </a:r>
          </a:p>
          <a:p>
            <a:pPr>
              <a:defRPr b="1"/>
            </a:pPr>
            <a:r>
              <a:t>✅ a ..rancelicense.myabsorb.com (© &lt; &gt; +</a:t>
            </a:r>
          </a:p>
          <a:p>
            <a:br/>
            <a:pPr>
              <a:defRPr sz="1400" i="1"/>
            </a:pPr>
            <a:r>
              <a:t>Explanation: investigating them.</a:t>
            </a:r>
            <a:br/>
            <a:r>
              <a:t>Proceed —_</a:t>
            </a:r>
            <a:br/>
            <a:r>
              <a:t>I&lt; A &gt;|</a:t>
            </a:r>
            <a:br/>
            <a:r>
              <a:t>a ..rancelicense.myabsorb.com (</a:t>
            </a:r>
            <a:br/>
            <a:r>
              <a:t>&lt; &gt; +...</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364</a:t>
            </a:r>
          </a:p>
        </p:txBody>
      </p:sp>
      <p:sp>
        <p:nvSpPr>
          <p:cNvPr id="3" name="Content Placeholder 2"/>
          <p:cNvSpPr>
            <a:spLocks noGrp="1"/>
          </p:cNvSpPr>
          <p:nvPr>
            <p:ph idx="1"/>
          </p:nvPr>
        </p:nvSpPr>
        <p:spPr/>
        <p:txBody>
          <a:bodyPr/>
          <a:lstStyle/>
          <a:p>
            <a:r>
              <a:t>What type of term life insurance is</a:t>
            </a:r>
          </a:p>
          <a:p>
            <a:r>
              <a:t>typically used for mortgage protection?</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364</a:t>
            </a:r>
          </a:p>
        </p:txBody>
      </p:sp>
      <p:sp>
        <p:nvSpPr>
          <p:cNvPr id="3" name="Content Placeholder 2"/>
          <p:cNvSpPr>
            <a:spLocks noGrp="1"/>
          </p:cNvSpPr>
          <p:nvPr>
            <p:ph idx="1"/>
          </p:nvPr>
        </p:nvSpPr>
        <p:spPr/>
        <p:txBody>
          <a:bodyPr/>
          <a:lstStyle/>
          <a:p/>
          <a:p>
            <a:r>
              <a:t>☐ Increasing Term @ © Decreasing Term</a:t>
            </a:r>
          </a:p>
          <a:p>
            <a:r>
              <a:t>☐ Level Term Renewable Term</a:t>
            </a:r>
          </a:p>
          <a:p>
            <a:pPr>
              <a:defRPr b="1"/>
            </a:pPr>
            <a:r>
              <a:t>✅ a ..rancelicense.myabsorb.com (© &lt; &gt; +</a:t>
            </a:r>
          </a:p>
          <a:p>
            <a:br/>
            <a:pPr>
              <a:defRPr sz="1400" i="1"/>
            </a:pPr>
            <a:r>
              <a:t>Explanation: typically used for mortgage protection?</a:t>
            </a:r>
            <a:br/>
            <a:r>
              <a:t>x) Increasing Term</a:t>
            </a:r>
            <a:br/>
            <a:r>
              <a:t>@  Decreasing Term</a:t>
            </a:r>
            <a:br/>
            <a:r>
              <a:t>x) Level Term</a:t>
            </a:r>
            <a:br/>
            <a:r>
              <a:t>Renewable Term</a:t>
            </a:r>
            <a:br/>
            <a:r>
              <a:t>Proceed =&gt;</a:t>
            </a:r>
            <a:br/>
            <a:r>
              <a:t>I&lt; A &gt;|</a:t>
            </a:r>
            <a:br/>
            <a:r>
              <a:t>a ..rancelicense.myabsorb.com (</a:t>
            </a:r>
            <a:br/>
            <a:r>
              <a:t>&lt; &gt; +...</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365</a:t>
            </a:r>
          </a:p>
        </p:txBody>
      </p:sp>
      <p:sp>
        <p:nvSpPr>
          <p:cNvPr id="3" name="Content Placeholder 2"/>
          <p:cNvSpPr>
            <a:spLocks noGrp="1"/>
          </p:cNvSpPr>
          <p:nvPr>
            <p:ph idx="1"/>
          </p:nvPr>
        </p:nvSpPr>
        <p:spPr/>
        <p:txBody>
          <a:bodyPr/>
          <a:lstStyle/>
          <a:p>
            <a:r>
              <a:t>What is the primary role of an</a:t>
            </a:r>
          </a:p>
          <a:p>
            <a:r>
              <a:t>underwriter in the insurance industry?</a:t>
            </a:r>
          </a:p>
          <a:p>
            <a:r>
              <a:t>e To assess the risk and determine the</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365</a:t>
            </a:r>
          </a:p>
        </p:txBody>
      </p:sp>
      <p:sp>
        <p:nvSpPr>
          <p:cNvPr id="3" name="Content Placeholder 2"/>
          <p:cNvSpPr>
            <a:spLocks noGrp="1"/>
          </p:cNvSpPr>
          <p:nvPr>
            <p:ph idx="1"/>
          </p:nvPr>
        </p:nvSpPr>
        <p:spPr/>
        <p:txBody>
          <a:bodyPr/>
          <a:lstStyle/>
          <a:p/>
          <a:p>
            <a:r>
              <a:t>☐ nsurability of applicants To design insurance products To process claims and disburse payments</a:t>
            </a:r>
          </a:p>
          <a:p>
            <a:pPr>
              <a:defRPr b="1"/>
            </a:pPr>
            <a:r>
              <a:t>✅ a ..rancelicense.myabsorb.com (© &lt; &gt; +</a:t>
            </a:r>
          </a:p>
          <a:p>
            <a:br/>
            <a:pPr>
              <a:defRPr sz="1400" i="1"/>
            </a:pPr>
            <a:r>
              <a:t>Explanation: the primary role of an</a:t>
            </a:r>
            <a:br/>
            <a:r>
              <a:t>underwriter in the insurance industry?</a:t>
            </a:r>
            <a:br/>
            <a:r>
              <a:t>e To assess the risk and determine the</a:t>
            </a:r>
            <a:br/>
            <a:r>
              <a:t>insurability of applicants</a:t>
            </a:r>
            <a:br/>
            <a:r>
              <a:t>To design insurance products</a:t>
            </a:r>
            <a:br/>
            <a:r>
              <a:t>To process claims and disburse payments</a:t>
            </a:r>
            <a:br/>
            <a:r>
              <a:t>Pro...</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366</a:t>
            </a:r>
          </a:p>
        </p:txBody>
      </p:sp>
      <p:sp>
        <p:nvSpPr>
          <p:cNvPr id="3" name="Content Placeholder 2"/>
          <p:cNvSpPr>
            <a:spLocks noGrp="1"/>
          </p:cNvSpPr>
          <p:nvPr>
            <p:ph idx="1"/>
          </p:nvPr>
        </p:nvSpPr>
        <p:spPr/>
        <p:txBody>
          <a:bodyPr/>
          <a:lstStyle/>
          <a:p>
            <a:r>
              <a:t>In a Money Purchase Plan, what</a:t>
            </a:r>
          </a:p>
          <a:p>
            <a:r>
              <a:t>determines the future benefits to a</a:t>
            </a:r>
          </a:p>
          <a:p>
            <a:r>
              <a:t>participant?</a:t>
            </a:r>
          </a:p>
          <a:p>
            <a:r>
              <a:t>Total amounts contributed plus interest and</a:t>
            </a:r>
          </a:p>
          <a:p>
            <a:r>
              <a:t>dividends earned</a:t>
            </a:r>
          </a:p>
          <a:p>
            <a:r>
              <a:t>The average salary of the participant in their</a:t>
            </a:r>
          </a:p>
          <a:p>
            <a:r>
              <a:t>last 5 years of employment</a:t>
            </a:r>
          </a:p>
          <a:p>
            <a:r>
              <a:t>The performance of the company's stocks</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366</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earned</a:t>
            </a:r>
            <a:br/>
            <a:r>
              <a:t>The average salary of the participant in their</a:t>
            </a:r>
            <a:br/>
            <a:r>
              <a:t>last 5 years of employment</a:t>
            </a:r>
            <a:br/>
            <a:r>
              <a:t>The performance of the company's stocks</a:t>
            </a:r>
            <a:br/>
            <a:r>
              <a:t>I&lt; A &gt;|</a:t>
            </a:r>
            <a:br/>
            <a:r>
              <a:t>a ..rancelicense.myabsorb.com (</a:t>
            </a:r>
            <a:br/>
            <a:r>
              <a:t>&lt; &gt; +...</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367</a:t>
            </a:r>
          </a:p>
        </p:txBody>
      </p:sp>
      <p:sp>
        <p:nvSpPr>
          <p:cNvPr id="3" name="Content Placeholder 2"/>
          <p:cNvSpPr>
            <a:spLocks noGrp="1"/>
          </p:cNvSpPr>
          <p:nvPr>
            <p:ph idx="1"/>
          </p:nvPr>
        </p:nvSpPr>
        <p:spPr/>
        <p:txBody>
          <a:bodyPr/>
          <a:lstStyle/>
          <a:p>
            <a:r>
              <a:t>How does the Needs Approach differ</a:t>
            </a:r>
          </a:p>
          <a:p>
            <a:r>
              <a:t>from the Human Life Value Approach?</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367</a:t>
            </a:r>
          </a:p>
        </p:txBody>
      </p:sp>
      <p:sp>
        <p:nvSpPr>
          <p:cNvPr id="3" name="Content Placeholder 2"/>
          <p:cNvSpPr>
            <a:spLocks noGrp="1"/>
          </p:cNvSpPr>
          <p:nvPr>
            <p:ph idx="1"/>
          </p:nvPr>
        </p:nvSpPr>
        <p:spPr/>
        <p:txBody>
          <a:bodyPr/>
          <a:lstStyle/>
          <a:p/>
          <a:p>
            <a:pPr>
              <a:defRPr b="1"/>
            </a:pPr>
            <a:r>
              <a:t>✅ It only covers medical expenses.</a:t>
            </a:r>
          </a:p>
          <a:p>
            <a:r>
              <a:t>☐ a ..rancelicense.myabsorb.com (© &lt; &gt; +</a:t>
            </a:r>
          </a:p>
          <a:p>
            <a:br/>
            <a:pPr>
              <a:defRPr sz="1400" i="1"/>
            </a:pPr>
            <a:r>
              <a:t>Explanation: Approach differ</a:t>
            </a:r>
            <a:br/>
            <a:r>
              <a:t>from the Human Life Value Approach?</a:t>
            </a:r>
            <a:br/>
            <a:r>
              <a:t>It bases insurance needs solely on the</a:t>
            </a:r>
            <a:br/>
            <a:r>
              <a:t>policyholder’s income.</a:t>
            </a:r>
            <a:br/>
            <a:r>
              <a:t>It is used only for calculating retirement</a:t>
            </a:r>
            <a:br/>
            <a:r>
              <a:t>benefits.</a:t>
            </a:r>
            <a:br/>
            <a:r>
              <a:t>It calculates based on specific f...</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368</a:t>
            </a:r>
          </a:p>
        </p:txBody>
      </p:sp>
      <p:sp>
        <p:nvSpPr>
          <p:cNvPr id="3" name="Content Placeholder 2"/>
          <p:cNvSpPr>
            <a:spLocks noGrp="1"/>
          </p:cNvSpPr>
          <p:nvPr>
            <p:ph idx="1"/>
          </p:nvPr>
        </p:nvSpPr>
        <p:spPr/>
        <p:txBody>
          <a:bodyPr/>
          <a:lstStyle/>
          <a:p>
            <a:r>
              <a:t>What action must be taken if there is a</a:t>
            </a:r>
          </a:p>
          <a:p>
            <a:r>
              <a:t>change among the members,</a:t>
            </a:r>
          </a:p>
          <a:p>
            <a:r>
              <a:t>directors, or officers of a business</a:t>
            </a:r>
          </a:p>
          <a:p>
            <a:r>
              <a:t>entity licensed as an insurance</a:t>
            </a:r>
          </a:p>
          <a:p>
            <a:r>
              <a:t>producer in Arizona?</a:t>
            </a:r>
          </a:p>
          <a:p>
            <a:r>
              <a:t>Apply for a new license</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368</a:t>
            </a:r>
          </a:p>
        </p:txBody>
      </p:sp>
      <p:sp>
        <p:nvSpPr>
          <p:cNvPr id="3" name="Content Placeholder 2"/>
          <p:cNvSpPr>
            <a:spLocks noGrp="1"/>
          </p:cNvSpPr>
          <p:nvPr>
            <p:ph idx="1"/>
          </p:nvPr>
        </p:nvSpPr>
        <p:spPr/>
        <p:txBody>
          <a:bodyPr/>
          <a:lstStyle/>
          <a:p/>
          <a:p>
            <a:r>
              <a:t>☐ Report the change to the IRS @ © Notify the Director within 30 days ' ¢) Hold a general meeting</a:t>
            </a:r>
          </a:p>
          <a:p>
            <a:pPr>
              <a:defRPr b="1"/>
            </a:pPr>
            <a:r>
              <a:t>✅ a ..rancelicense.myabsorb.com (© &lt; &gt; +</a:t>
            </a:r>
          </a:p>
          <a:p>
            <a:br/>
            <a:pPr>
              <a:defRPr sz="1400" i="1"/>
            </a:pPr>
            <a:r>
              <a:t>Explanation: a</a:t>
            </a:r>
            <a:br/>
            <a:r>
              <a:t>change among the members,</a:t>
            </a:r>
            <a:br/>
            <a:r>
              <a:t>directors, or officers of a business</a:t>
            </a:r>
            <a:br/>
            <a:r>
              <a:t>entity licensed as an insurance</a:t>
            </a:r>
            <a:br/>
            <a:r>
              <a:t>producer in Arizona?</a:t>
            </a:r>
            <a:br/>
            <a:r>
              <a:t>Apply for a new license</a:t>
            </a:r>
            <a:br/>
            <a:r>
              <a:t>x Report the change to the IRS</a:t>
            </a:r>
            <a:br/>
            <a:r>
              <a:t>@  Notify the Director with...</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369</a:t>
            </a:r>
          </a:p>
        </p:txBody>
      </p:sp>
      <p:sp>
        <p:nvSpPr>
          <p:cNvPr id="3" name="Content Placeholder 2"/>
          <p:cNvSpPr>
            <a:spLocks noGrp="1"/>
          </p:cNvSpPr>
          <p:nvPr>
            <p:ph idx="1"/>
          </p:nvPr>
        </p:nvSpPr>
        <p:spPr/>
        <p:txBody>
          <a:bodyPr/>
          <a:lstStyle/>
          <a:p>
            <a:r>
              <a:t>What does the Fair Credit Reporting</a:t>
            </a:r>
          </a:p>
          <a:p>
            <a:r>
              <a:t>Act regulate?</a:t>
            </a:r>
          </a:p>
          <a:p>
            <a:r>
              <a:t>The methods by which companies can</a:t>
            </a:r>
          </a:p>
          <a:p>
            <a:r>
              <a:t>market products over the phone</a:t>
            </a:r>
          </a:p>
          <a:p>
            <a:r>
              <a:t>The accuracy and privacy of consumer</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369</a:t>
            </a:r>
          </a:p>
        </p:txBody>
      </p:sp>
      <p:sp>
        <p:nvSpPr>
          <p:cNvPr id="3" name="Content Placeholder 2"/>
          <p:cNvSpPr>
            <a:spLocks noGrp="1"/>
          </p:cNvSpPr>
          <p:nvPr>
            <p:ph idx="1"/>
          </p:nvPr>
        </p:nvSpPr>
        <p:spPr/>
        <p:txBody>
          <a:bodyPr/>
          <a:lstStyle/>
          <a:p/>
          <a:p>
            <a:r>
              <a:t>☐ nformation in credit reports The way insurance companies report credit transactions The handling and disclosure of non-public personal information</a:t>
            </a:r>
          </a:p>
          <a:p>
            <a:pPr>
              <a:defRPr b="1"/>
            </a:pPr>
            <a:r>
              <a:t>✅ a ..rancelicense.myabsorb.com (© &lt; &gt; +</a:t>
            </a:r>
          </a:p>
          <a:p>
            <a:br/>
            <a:pPr>
              <a:defRPr sz="1400" i="1"/>
            </a:pPr>
            <a:r>
              <a:t>Explanation: by which companies can</a:t>
            </a:r>
            <a:br/>
            <a:r>
              <a:t>market products over the phone</a:t>
            </a:r>
            <a:br/>
            <a:r>
              <a:t>The accuracy and privacy of consumer</a:t>
            </a:r>
            <a:br/>
            <a:r>
              <a:t>information in credit reports</a:t>
            </a:r>
            <a:br/>
            <a:r>
              <a:t>The way insurance companies report credit</a:t>
            </a:r>
            <a:br/>
            <a:r>
              <a:t>transactions</a:t>
            </a:r>
            <a:br/>
            <a:r>
              <a:t>The handling and disclos...</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370</a:t>
            </a:r>
          </a:p>
        </p:txBody>
      </p:sp>
      <p:sp>
        <p:nvSpPr>
          <p:cNvPr id="3" name="Content Placeholder 2"/>
          <p:cNvSpPr>
            <a:spLocks noGrp="1"/>
          </p:cNvSpPr>
          <p:nvPr>
            <p:ph idx="1"/>
          </p:nvPr>
        </p:nvSpPr>
        <p:spPr/>
        <p:txBody>
          <a:bodyPr/>
          <a:lstStyle/>
          <a:p>
            <a:r>
              <a:t>What type of business information</a:t>
            </a:r>
          </a:p>
          <a:p>
            <a:r>
              <a:t>must be reported to the Director when</a:t>
            </a:r>
          </a:p>
          <a:p>
            <a:r>
              <a:t>there is a change?</a:t>
            </a:r>
          </a:p>
          <a:p>
            <a:r>
              <a:t>Change in service pricing</a:t>
            </a:r>
          </a:p>
          <a:p>
            <a:r>
              <a:t>Change in business hours</a:t>
            </a:r>
          </a:p>
          <a:p>
            <a:r>
              <a:t>@  Change in business address</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370</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a change?</a:t>
            </a:r>
            <a:br/>
            <a:r>
              <a:t>Change in service pricing</a:t>
            </a:r>
            <a:br/>
            <a:r>
              <a:t>Change in business hours</a:t>
            </a:r>
            <a:br/>
            <a:r>
              <a:t>@  Change in business address</a:t>
            </a:r>
            <a:br/>
            <a:r>
              <a:t>Proceed =&gt;</a:t>
            </a:r>
            <a:br/>
            <a:r>
              <a:t>I&lt; A &gt;|</a:t>
            </a:r>
            <a:br/>
            <a:r>
              <a:t>a ..rancelicense.myabsorb.com (</a:t>
            </a:r>
            <a:br/>
            <a:r>
              <a:t>&lt; &gt; +...</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371</a:t>
            </a:r>
          </a:p>
        </p:txBody>
      </p:sp>
      <p:sp>
        <p:nvSpPr>
          <p:cNvPr id="3" name="Content Placeholder 2"/>
          <p:cNvSpPr>
            <a:spLocks noGrp="1"/>
          </p:cNvSpPr>
          <p:nvPr>
            <p:ph idx="1"/>
          </p:nvPr>
        </p:nvSpPr>
        <p:spPr/>
        <p:txBody>
          <a:bodyPr/>
          <a:lstStyle/>
          <a:p>
            <a:r>
              <a:t>What is the age requirement to apply</a:t>
            </a:r>
          </a:p>
          <a:p>
            <a:r>
              <a:t>for an insurance producer license in</a:t>
            </a:r>
          </a:p>
          <a:p>
            <a:r>
              <a:t>Arizona?</a:t>
            </a:r>
          </a:p>
          <a:p>
            <a:r>
              <a:t>16 years</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371</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the age requirement to apply</a:t>
            </a:r>
            <a:br/>
            <a:r>
              <a:t>for an insurance producer license in</a:t>
            </a:r>
            <a:br/>
            <a:r>
              <a:t>Arizona?</a:t>
            </a:r>
            <a:br/>
            <a:r>
              <a:t>16 years</a:t>
            </a:r>
            <a:br/>
            <a:r>
              <a:t>Proceed =&gt;</a:t>
            </a:r>
            <a:br/>
            <a:r>
              <a:t>I&lt; A &gt;|</a:t>
            </a:r>
            <a:br/>
            <a:r>
              <a:t>a ..rancelicense.myabsorb.com (</a:t>
            </a:r>
            <a:br/>
            <a:r>
              <a:t>&lt; &gt; +...</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372</a:t>
            </a:r>
          </a:p>
        </p:txBody>
      </p:sp>
      <p:sp>
        <p:nvSpPr>
          <p:cNvPr id="3" name="Content Placeholder 2"/>
          <p:cNvSpPr>
            <a:spLocks noGrp="1"/>
          </p:cNvSpPr>
          <p:nvPr>
            <p:ph idx="1"/>
          </p:nvPr>
        </p:nvSpPr>
        <p:spPr/>
        <p:txBody>
          <a:bodyPr/>
          <a:lstStyle/>
          <a:p>
            <a:r>
              <a:t>What is the purpose of an Accelerated</a:t>
            </a:r>
          </a:p>
          <a:p>
            <a:r>
              <a:t>Benefit Rider in life insurance?</a:t>
            </a:r>
          </a:p>
          <a:p>
            <a:r>
              <a:t>@  Toaccess part of the death benefit early in</a:t>
            </a:r>
          </a:p>
          <a:p>
            <a:r>
              <a:t>case of terminal illness</a:t>
            </a:r>
          </a:p>
          <a:p>
            <a:r>
              <a:t>To reduce the premium cost</a:t>
            </a:r>
          </a:p>
          <a:p>
            <a:r>
              <a:t>To extend the policy term</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372</a:t>
            </a:r>
          </a:p>
        </p:txBody>
      </p:sp>
      <p:sp>
        <p:nvSpPr>
          <p:cNvPr id="3" name="Content Placeholder 2"/>
          <p:cNvSpPr>
            <a:spLocks noGrp="1"/>
          </p:cNvSpPr>
          <p:nvPr>
            <p:ph idx="1"/>
          </p:nvPr>
        </p:nvSpPr>
        <p:spPr/>
        <p:txBody>
          <a:bodyPr/>
          <a:lstStyle/>
          <a:p/>
          <a:p>
            <a:pPr>
              <a:defRPr b="1"/>
            </a:pPr>
            <a:r>
              <a:t>✅ a ..rancelicense.myabsorb.com (© &lt; &gt; + --- Folder 7 ---</a:t>
            </a:r>
          </a:p>
          <a:p>
            <a:br/>
            <a:pPr>
              <a:defRPr sz="1400" i="1"/>
            </a:pPr>
            <a:r>
              <a:t>Explanation: the purpose of an Accelerated</a:t>
            </a:r>
            <a:br/>
            <a:r>
              <a:t>Benefit Rider in life insurance?</a:t>
            </a:r>
            <a:br/>
            <a:r>
              <a:t>@  Toaccess part of the death benefit early in</a:t>
            </a:r>
            <a:br/>
            <a:r>
              <a:t>case of terminal illness</a:t>
            </a:r>
            <a:br/>
            <a:r>
              <a:t>To reduce the premium cost</a:t>
            </a:r>
            <a:br/>
            <a:r>
              <a:t>To extend the policy term</a:t>
            </a:r>
            <a:br/>
            <a:r>
              <a:t>Proceed =&gt;</a:t>
            </a:r>
            <a:br/>
            <a:r>
              <a:t>I...</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373</a:t>
            </a:r>
          </a:p>
        </p:txBody>
      </p:sp>
      <p:sp>
        <p:nvSpPr>
          <p:cNvPr id="3" name="Content Placeholder 2"/>
          <p:cNvSpPr>
            <a:spLocks noGrp="1"/>
          </p:cNvSpPr>
          <p:nvPr>
            <p:ph idx="1"/>
          </p:nvPr>
        </p:nvSpPr>
        <p:spPr/>
        <p:txBody>
          <a:bodyPr/>
          <a:lstStyle/>
          <a:p>
            <a:r>
              <a:t>Which entity in Arizona is responsible</a:t>
            </a:r>
          </a:p>
          <a:p>
            <a:r>
              <a:t>for verifying that a license applicant</a:t>
            </a:r>
          </a:p>
          <a:p>
            <a:r>
              <a:t>has not engaged in activities that</a:t>
            </a:r>
          </a:p>
          <a:p>
            <a:r>
              <a:t>would justify license denial,</a:t>
            </a:r>
          </a:p>
          <a:p>
            <a:r>
              <a:t>suspension, or revocation?</a:t>
            </a:r>
          </a:p>
          <a:p>
            <a:r>
              <a:t>The Governor's Office</a:t>
            </a:r>
          </a:p>
          <a:p>
            <a:r>
              <a:t>The State Police</a:t>
            </a:r>
          </a:p>
          <a:p>
            <a:r>
              <a:t>The Department of State</a:t>
            </a:r>
          </a:p>
          <a:p>
            <a:r>
              <a:t>@  The Director of the Department of Insurance</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373</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responsible</a:t>
            </a:r>
            <a:br/>
            <a:r>
              <a:t>for verifying that a license applicant</a:t>
            </a:r>
            <a:br/>
            <a:r>
              <a:t>has not engaged in activities that</a:t>
            </a:r>
            <a:br/>
            <a:r>
              <a:t>would justify license denial,</a:t>
            </a:r>
            <a:br/>
            <a:r>
              <a:t>suspension, or revocation?</a:t>
            </a:r>
            <a:br/>
            <a:r>
              <a:t>The Governor's Office</a:t>
            </a:r>
            <a:br/>
            <a:r>
              <a:t>The State Police</a:t>
            </a:r>
            <a:br/>
            <a:r>
              <a:t>The Department of ...</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374</a:t>
            </a:r>
          </a:p>
        </p:txBody>
      </p:sp>
      <p:sp>
        <p:nvSpPr>
          <p:cNvPr id="3" name="Content Placeholder 2"/>
          <p:cNvSpPr>
            <a:spLocks noGrp="1"/>
          </p:cNvSpPr>
          <p:nvPr>
            <p:ph idx="1"/>
          </p:nvPr>
        </p:nvSpPr>
        <p:spPr/>
        <p:txBody>
          <a:bodyPr/>
          <a:lstStyle/>
          <a:p>
            <a:r>
              <a:t>What does a Deferred Compensation</a:t>
            </a:r>
          </a:p>
          <a:p>
            <a:r>
              <a:t>Plan primarily offer to an employee?</a:t>
            </a:r>
          </a:p>
          <a:p>
            <a:r>
              <a:t>@  Away to defer income to retirement or</a:t>
            </a:r>
          </a:p>
          <a:p>
            <a:r>
              <a:t>another future date, often funded through</a:t>
            </a:r>
          </a:p>
          <a:p>
            <a:r>
              <a:t>life insurance.</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374</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375</a:t>
            </a:r>
          </a:p>
        </p:txBody>
      </p:sp>
      <p:sp>
        <p:nvSpPr>
          <p:cNvPr id="3" name="Content Placeholder 2"/>
          <p:cNvSpPr>
            <a:spLocks noGrp="1"/>
          </p:cNvSpPr>
          <p:nvPr>
            <p:ph idx="1"/>
          </p:nvPr>
        </p:nvSpPr>
        <p:spPr/>
        <p:txBody>
          <a:bodyPr/>
          <a:lstStyle/>
          <a:p>
            <a:r>
              <a:t>What is the purpose of the 'Free Look'</a:t>
            </a:r>
          </a:p>
          <a:p>
            <a:r>
              <a:t>period in insurance policies?</a:t>
            </a:r>
          </a:p>
          <a:p>
            <a:r>
              <a:t>Apply for additional coverage.</a:t>
            </a:r>
          </a:p>
          <a:p>
            <a:r>
              <a:t>Change the premium payment schedule.</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375</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the purpose of the 'Free Look'</a:t>
            </a:r>
            <a:br/>
            <a:r>
              <a:t>period in insurance policies?</a:t>
            </a:r>
            <a:br/>
            <a:r>
              <a:t>Apply for additional coverage.</a:t>
            </a:r>
            <a:br/>
            <a:r>
              <a:t>Change the premium payment schedule.</a:t>
            </a:r>
            <a:br/>
            <a:r>
              <a:t>Proceed —_</a:t>
            </a:r>
            <a:br/>
            <a:r>
              <a:t>A &gt;|</a:t>
            </a:r>
            <a:br/>
            <a:r>
              <a:t>a ..rancelicense.myabsorb.com (</a:t>
            </a:r>
            <a:br/>
            <a:r>
              <a:t>&lt; &gt; +...</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376</a:t>
            </a:r>
          </a:p>
        </p:txBody>
      </p:sp>
      <p:sp>
        <p:nvSpPr>
          <p:cNvPr id="3" name="Content Placeholder 2"/>
          <p:cNvSpPr>
            <a:spLocks noGrp="1"/>
          </p:cNvSpPr>
          <p:nvPr>
            <p:ph idx="1"/>
          </p:nvPr>
        </p:nvSpPr>
        <p:spPr/>
        <p:txBody>
          <a:bodyPr/>
          <a:lstStyle/>
          <a:p>
            <a:r>
              <a:t>What is required for a person or entity</a:t>
            </a:r>
          </a:p>
          <a:p>
            <a:r>
              <a:t>to transact insurance business in</a:t>
            </a:r>
          </a:p>
          <a:p>
            <a:r>
              <a:t>Arizona?</a:t>
            </a:r>
          </a:p>
          <a:p>
            <a:r>
              <a:t>Membership in a state insurance</a:t>
            </a:r>
          </a:p>
          <a:p>
            <a:r>
              <a:t>association</a:t>
            </a:r>
          </a:p>
          <a:p>
            <a:r>
              <a:t>A bond of indemnity</a:t>
            </a:r>
          </a:p>
          <a:p>
            <a:r>
              <a:t>A certificate of authority</a:t>
            </a:r>
          </a:p>
          <a:p>
            <a:r>
              <a:t>A business license</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376</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required for a person or entity</a:t>
            </a:r>
            <a:br/>
            <a:r>
              <a:t>to transact insurance business in</a:t>
            </a:r>
            <a:br/>
            <a:r>
              <a:t>Arizona?</a:t>
            </a:r>
            <a:br/>
            <a:r>
              <a:t>Membership in a state insurance</a:t>
            </a:r>
            <a:br/>
            <a:r>
              <a:t>association</a:t>
            </a:r>
            <a:br/>
            <a:r>
              <a:t>A bond of indemnity</a:t>
            </a:r>
            <a:br/>
            <a:r>
              <a:t>A certificate of authority</a:t>
            </a:r>
            <a:br/>
            <a:r>
              <a:t>A business license</a:t>
            </a:r>
            <a:br/>
            <a:r>
              <a:t>Proceed =</a:t>
            </a:r>
            <a:br/>
            <a:r>
              <a:t>I&lt; A ...</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377</a:t>
            </a:r>
          </a:p>
        </p:txBody>
      </p:sp>
      <p:sp>
        <p:nvSpPr>
          <p:cNvPr id="3" name="Content Placeholder 2"/>
          <p:cNvSpPr>
            <a:spLocks noGrp="1"/>
          </p:cNvSpPr>
          <p:nvPr>
            <p:ph idx="1"/>
          </p:nvPr>
        </p:nvSpPr>
        <p:spPr/>
        <p:txBody>
          <a:bodyPr/>
          <a:lstStyle/>
          <a:p>
            <a:r>
              <a:t>How does a 'Single Premium Whole</a:t>
            </a:r>
          </a:p>
          <a:p>
            <a:r>
              <a:t>Life' policy operate?</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377</a:t>
            </a:r>
          </a:p>
        </p:txBody>
      </p:sp>
      <p:sp>
        <p:nvSpPr>
          <p:cNvPr id="3" name="Content Placeholder 2"/>
          <p:cNvSpPr>
            <a:spLocks noGrp="1"/>
          </p:cNvSpPr>
          <p:nvPr>
            <p:ph idx="1"/>
          </p:nvPr>
        </p:nvSpPr>
        <p:spPr/>
        <p:txBody>
          <a:bodyPr/>
          <a:lstStyle/>
          <a:p/>
          <a:p>
            <a:r>
              <a:t>☐ Premiums vary annually &amp; Premiums increase with age</a:t>
            </a:r>
          </a:p>
          <a:p>
            <a:r>
              <a:t>☐ Dividends pay the premiums @ © Entire premium paid in one lump sum</a:t>
            </a:r>
          </a:p>
          <a:p>
            <a:pPr>
              <a:defRPr b="1"/>
            </a:pPr>
            <a:r>
              <a:t>✅ a ..rancelicense.myabsorb.com (© &lt; &gt; +</a:t>
            </a:r>
          </a:p>
          <a:p>
            <a:br/>
            <a:pPr>
              <a:defRPr sz="1400" i="1"/>
            </a:pPr>
            <a:r>
              <a:t>Explanation: pay the premiums</a:t>
            </a:r>
            <a:br/>
            <a:r>
              <a:t>@  Entire premium paid in one lump sum</a:t>
            </a:r>
            <a:br/>
            <a:r>
              <a:t>Proceed =&gt;</a:t>
            </a:r>
            <a:br/>
            <a:r>
              <a:t>I&lt; A &gt;|</a:t>
            </a:r>
            <a:br/>
            <a:r>
              <a:t>a ..rancelicense.myabsorb.com (</a:t>
            </a:r>
            <a:br/>
            <a:r>
              <a:t>&lt; &gt; +...</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378</a:t>
            </a:r>
          </a:p>
        </p:txBody>
      </p:sp>
      <p:sp>
        <p:nvSpPr>
          <p:cNvPr id="3" name="Content Placeholder 2"/>
          <p:cNvSpPr>
            <a:spLocks noGrp="1"/>
          </p:cNvSpPr>
          <p:nvPr>
            <p:ph idx="1"/>
          </p:nvPr>
        </p:nvSpPr>
        <p:spPr/>
        <p:txBody>
          <a:bodyPr/>
          <a:lstStyle/>
          <a:p>
            <a:r>
              <a:t>After securing a large loan, Sarah</a:t>
            </a:r>
          </a:p>
          <a:p>
            <a:r>
              <a:t>decides to buy a life insurance policy</a:t>
            </a:r>
          </a:p>
          <a:p>
            <a:r>
              <a:t>and names her creditor as the</a:t>
            </a:r>
          </a:p>
          <a:p>
            <a:r>
              <a:t>beneficiary. What does this scenario</a:t>
            </a:r>
          </a:p>
          <a:p>
            <a:r>
              <a:t>exemplify?</a:t>
            </a:r>
          </a:p>
          <a:p>
            <a:r>
              <a:t>An example of a revocable beneficiary.</a:t>
            </a:r>
          </a:p>
          <a:p>
            <a:r>
              <a:t>@  Aninsurable interest existing between</a:t>
            </a:r>
          </a:p>
          <a:p>
            <a:r>
              <a:t>Sarah and her creditor.</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378</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scenario</a:t>
            </a:r>
            <a:br/>
            <a:r>
              <a:t>exemplify?</a:t>
            </a:r>
            <a:br/>
            <a:r>
              <a:t>An example of a revocable beneficiary.</a:t>
            </a:r>
            <a:br/>
            <a:r>
              <a:t>@  Aninsurable interest existing between</a:t>
            </a:r>
            <a:br/>
            <a:r>
              <a:t>Sarah and her creditor.</a:t>
            </a:r>
            <a:br/>
            <a:r>
              <a:t>I&lt; A &gt;|</a:t>
            </a:r>
            <a:br/>
            <a:r>
              <a:t>a ..rancelicense.myabsorb.com (</a:t>
            </a:r>
            <a:br/>
            <a:r>
              <a:t>&lt; &gt; +...</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379</a:t>
            </a:r>
          </a:p>
        </p:txBody>
      </p:sp>
      <p:sp>
        <p:nvSpPr>
          <p:cNvPr id="3" name="Content Placeholder 2"/>
          <p:cNvSpPr>
            <a:spLocks noGrp="1"/>
          </p:cNvSpPr>
          <p:nvPr>
            <p:ph idx="1"/>
          </p:nvPr>
        </p:nvSpPr>
        <p:spPr/>
        <p:txBody>
          <a:bodyPr/>
          <a:lstStyle/>
          <a:p>
            <a:r>
              <a:t>For a married couple filing jointly, at</a:t>
            </a:r>
          </a:p>
          <a:p>
            <a:r>
              <a:t>what combined annual income will</a:t>
            </a:r>
          </a:p>
          <a:p>
            <a:r>
              <a:t>they start paying federal income tax on</a:t>
            </a:r>
          </a:p>
          <a:p>
            <a:r>
              <a:t>their Social Security benefits?</a:t>
            </a:r>
          </a:p>
          <a:p>
            <a:r>
              <a:t>@ « $32,000</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379</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380</a:t>
            </a:r>
          </a:p>
        </p:txBody>
      </p:sp>
      <p:sp>
        <p:nvSpPr>
          <p:cNvPr id="3" name="Content Placeholder 2"/>
          <p:cNvSpPr>
            <a:spLocks noGrp="1"/>
          </p:cNvSpPr>
          <p:nvPr>
            <p:ph idx="1"/>
          </p:nvPr>
        </p:nvSpPr>
        <p:spPr/>
        <p:txBody>
          <a:bodyPr/>
          <a:lstStyle/>
          <a:p>
            <a:r>
              <a:t>What is required for a contract to be</a:t>
            </a:r>
          </a:p>
          <a:p>
            <a:r>
              <a:t>considered legally enforceable?</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380</a:t>
            </a:r>
          </a:p>
        </p:txBody>
      </p:sp>
      <p:sp>
        <p:nvSpPr>
          <p:cNvPr id="3" name="Content Placeholder 2"/>
          <p:cNvSpPr>
            <a:spLocks noGrp="1"/>
          </p:cNvSpPr>
          <p:nvPr>
            <p:ph idx="1"/>
          </p:nvPr>
        </p:nvSpPr>
        <p:spPr/>
        <p:txBody>
          <a:bodyPr/>
          <a:lstStyle/>
          <a:p/>
          <a:p>
            <a:pPr>
              <a:defRPr b="1"/>
            </a:pPr>
            <a:r>
              <a:t>✅ e Specific essential elements like offer, acceptance, and consideration Payment of a fee to a legal authority An agreement beneficial to all parties Approval by a government official</a:t>
            </a:r>
          </a:p>
          <a:p>
            <a:r>
              <a:t>☐ a ..rancelicense.myabsorb.com (© &lt; &gt; +</a:t>
            </a:r>
          </a:p>
          <a:p>
            <a:br/>
            <a:pPr>
              <a:defRPr sz="1400" i="1"/>
            </a:pPr>
            <a:r>
              <a:t>Explanation: required for a contract to be</a:t>
            </a:r>
            <a:br/>
            <a:r>
              <a:t>considered legally enforceable?</a:t>
            </a:r>
            <a:br/>
            <a:r>
              <a:t>g e Specific essential elements like offer,</a:t>
            </a:r>
            <a:br/>
            <a:r>
              <a:t>acceptance, and consideration</a:t>
            </a:r>
            <a:br/>
            <a:r>
              <a:t>Payment of a fee to a legal authority</a:t>
            </a:r>
            <a:br/>
            <a:r>
              <a:t>An agreement beneficial to...</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381</a:t>
            </a:r>
          </a:p>
        </p:txBody>
      </p:sp>
      <p:sp>
        <p:nvSpPr>
          <p:cNvPr id="3" name="Content Placeholder 2"/>
          <p:cNvSpPr>
            <a:spLocks noGrp="1"/>
          </p:cNvSpPr>
          <p:nvPr>
            <p:ph idx="1"/>
          </p:nvPr>
        </p:nvSpPr>
        <p:spPr/>
        <p:txBody>
          <a:bodyPr/>
          <a:lstStyle/>
          <a:p>
            <a:r>
              <a:t>What role does a Salary Continuation</a:t>
            </a:r>
          </a:p>
          <a:p>
            <a:r>
              <a:t>Plan play in employee benefits?</a:t>
            </a:r>
          </a:p>
          <a:p>
            <a:r>
              <a:t>Acts as an additional health insurance fund.</a:t>
            </a:r>
          </a:p>
          <a:p>
            <a:r>
              <a:t>Covers educational expenses for</a:t>
            </a:r>
          </a:p>
          <a:p>
            <a:r>
              <a:t>employees’ children.</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381</a:t>
            </a:r>
          </a:p>
        </p:txBody>
      </p:sp>
      <p:sp>
        <p:nvSpPr>
          <p:cNvPr id="3" name="Content Placeholder 2"/>
          <p:cNvSpPr>
            <a:spLocks noGrp="1"/>
          </p:cNvSpPr>
          <p:nvPr>
            <p:ph idx="1"/>
          </p:nvPr>
        </p:nvSpPr>
        <p:spPr/>
        <p:txBody>
          <a:bodyPr/>
          <a:lstStyle/>
          <a:p/>
          <a:p>
            <a:r>
              <a:t>☐ ffers a one-time payment to employees upon unexpected business closure. Provides ongoing financial support under specific circumstances such as retirement or disability.</a:t>
            </a:r>
          </a:p>
          <a:p>
            <a:pPr>
              <a:defRPr b="1"/>
            </a:pPr>
            <a:r>
              <a:t>✅ a ..rancelicense.myabsorb.com (© &lt; &gt; +</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382</a:t>
            </a:r>
          </a:p>
        </p:txBody>
      </p:sp>
      <p:sp>
        <p:nvSpPr>
          <p:cNvPr id="3" name="Content Placeholder 2"/>
          <p:cNvSpPr>
            <a:spLocks noGrp="1"/>
          </p:cNvSpPr>
          <p:nvPr>
            <p:ph idx="1"/>
          </p:nvPr>
        </p:nvSpPr>
        <p:spPr/>
        <p:txBody>
          <a:bodyPr/>
          <a:lstStyle/>
          <a:p>
            <a:r>
              <a:t>Which of the following describes</a:t>
            </a:r>
          </a:p>
          <a:p>
            <a:r>
              <a:t>‘consideration' in an insurance</a:t>
            </a:r>
          </a:p>
          <a:p>
            <a:r>
              <a:t>contract?</a:t>
            </a:r>
          </a:p>
          <a:p>
            <a:r>
              <a:t>The negotiation process between the</a:t>
            </a:r>
          </a:p>
          <a:p>
            <a:r>
              <a:t>applicant and the insurance company</a:t>
            </a:r>
          </a:p>
          <a:p>
            <a:r>
              <a:t>The exchange of value in the form of</a:t>
            </a:r>
          </a:p>
          <a:p>
            <a:r>
              <a:t>premium payments and coverage promise</a:t>
            </a:r>
          </a:p>
          <a:p>
            <a:r>
              <a:t>The final approval of the insurance</a:t>
            </a:r>
          </a:p>
          <a:p>
            <a:r>
              <a:t>application</a:t>
            </a:r>
          </a:p>
          <a:p>
            <a:r>
              <a:t>The legal advice received when entering the</a:t>
            </a:r>
          </a:p>
          <a:p>
            <a:r>
              <a:t>contract</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382</a:t>
            </a:r>
          </a:p>
        </p:txBody>
      </p:sp>
      <p:sp>
        <p:nvSpPr>
          <p:cNvPr id="3" name="Content Placeholder 2"/>
          <p:cNvSpPr>
            <a:spLocks noGrp="1"/>
          </p:cNvSpPr>
          <p:nvPr>
            <p:ph idx="1"/>
          </p:nvPr>
        </p:nvSpPr>
        <p:spPr/>
        <p:txBody>
          <a:bodyPr/>
          <a:lstStyle/>
          <a:p/>
          <a:p>
            <a:pPr>
              <a:defRPr b="1"/>
            </a:pPr>
            <a:r>
              <a:t>✅ a ..rancelicense.myabsorb.com (© &lt; &gt; +</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383</a:t>
            </a:r>
          </a:p>
        </p:txBody>
      </p:sp>
      <p:sp>
        <p:nvSpPr>
          <p:cNvPr id="3" name="Content Placeholder 2"/>
          <p:cNvSpPr>
            <a:spLocks noGrp="1"/>
          </p:cNvSpPr>
          <p:nvPr>
            <p:ph idx="1"/>
          </p:nvPr>
        </p:nvSpPr>
        <p:spPr/>
        <p:txBody>
          <a:bodyPr/>
          <a:lstStyle/>
          <a:p>
            <a:r>
              <a:t>Which rider provides coverage for total</a:t>
            </a:r>
          </a:p>
          <a:p>
            <a:r>
              <a:t>disability by waiving premiums?</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383</a:t>
            </a:r>
          </a:p>
        </p:txBody>
      </p:sp>
      <p:sp>
        <p:nvSpPr>
          <p:cNvPr id="3" name="Content Placeholder 2"/>
          <p:cNvSpPr>
            <a:spLocks noGrp="1"/>
          </p:cNvSpPr>
          <p:nvPr>
            <p:ph idx="1"/>
          </p:nvPr>
        </p:nvSpPr>
        <p:spPr/>
        <p:txBody>
          <a:bodyPr/>
          <a:lstStyle/>
          <a:p/>
          <a:p>
            <a:pPr>
              <a:defRPr b="1"/>
            </a:pPr>
            <a:r>
              <a:t>✅ e Waiver of Premium Rider. Disability Provision. Accidental Death Benefit Rider. Guaranteed Insurability Rider.</a:t>
            </a:r>
          </a:p>
          <a:p>
            <a:r>
              <a:t>☐ a ..rancelicense.myabsorb.com (© &lt; &gt; +</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384</a:t>
            </a:r>
          </a:p>
        </p:txBody>
      </p:sp>
      <p:sp>
        <p:nvSpPr>
          <p:cNvPr id="3" name="Content Placeholder 2"/>
          <p:cNvSpPr>
            <a:spLocks noGrp="1"/>
          </p:cNvSpPr>
          <p:nvPr>
            <p:ph idx="1"/>
          </p:nvPr>
        </p:nvSpPr>
        <p:spPr/>
        <p:txBody>
          <a:bodyPr/>
          <a:lstStyle/>
          <a:p>
            <a:r>
              <a:t>annuity disburses</a:t>
            </a:r>
          </a:p>
          <a:p>
            <a:r>
              <a:t>benefits in units instead of fixed dollar</a:t>
            </a:r>
          </a:p>
          <a:p>
            <a:r>
              <a:t>amounts.</a:t>
            </a:r>
          </a:p>
          <a:p>
            <a:r>
              <a:t>Fixed</a:t>
            </a:r>
          </a:p>
          <a:p>
            <a:r>
              <a:t>%) e Indexed</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384</a:t>
            </a:r>
          </a:p>
        </p:txBody>
      </p:sp>
      <p:sp>
        <p:nvSpPr>
          <p:cNvPr id="3" name="Content Placeholder 2"/>
          <p:cNvSpPr>
            <a:spLocks noGrp="1"/>
          </p:cNvSpPr>
          <p:nvPr>
            <p:ph idx="1"/>
          </p:nvPr>
        </p:nvSpPr>
        <p:spPr/>
        <p:txBody>
          <a:bodyPr/>
          <a:lstStyle/>
          <a:p/>
          <a:p>
            <a:pPr>
              <a:defRPr b="1"/>
            </a:pPr>
            <a:r>
              <a:t>✅ Variable</a:t>
            </a:r>
          </a:p>
          <a:p>
            <a:r>
              <a:t>☐ a ..rancelicense.myabsorb.com (© &lt; &gt; +</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385</a:t>
            </a:r>
          </a:p>
        </p:txBody>
      </p:sp>
      <p:sp>
        <p:nvSpPr>
          <p:cNvPr id="3" name="Content Placeholder 2"/>
          <p:cNvSpPr>
            <a:spLocks noGrp="1"/>
          </p:cNvSpPr>
          <p:nvPr>
            <p:ph idx="1"/>
          </p:nvPr>
        </p:nvSpPr>
        <p:spPr/>
        <p:txBody>
          <a:bodyPr/>
          <a:lstStyle/>
          <a:p>
            <a:r>
              <a:t>After reviewing his new life insurance</a:t>
            </a:r>
          </a:p>
          <a:p>
            <a:r>
              <a:t>policy, Robert decides it doesn't meet</a:t>
            </a:r>
          </a:p>
          <a:p>
            <a:r>
              <a:t>his needs within the first week. He</a:t>
            </a:r>
          </a:p>
          <a:p>
            <a:r>
              <a:t>knows he has a specific period during</a:t>
            </a:r>
          </a:p>
          <a:p>
            <a:r>
              <a:t>which he can cancel the policy for a</a:t>
            </a:r>
          </a:p>
          <a:p>
            <a:r>
              <a:t>full refund. This period is known as</a:t>
            </a:r>
          </a:p>
          <a:p>
            <a:r>
              <a:t>the:</a:t>
            </a:r>
          </a:p>
          <a:p>
            <a:r>
              <a:t>Cooling-off period.</a:t>
            </a:r>
          </a:p>
          <a:p>
            <a:r>
              <a:t>@  Free-look period.</a:t>
            </a:r>
          </a:p>
          <a:p>
            <a:r>
              <a:t>Trial period.</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385</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new life insurance</a:t>
            </a:r>
            <a:br/>
            <a:r>
              <a:t>policy, Robert decides it doesn't meet</a:t>
            </a:r>
            <a:br/>
            <a:r>
              <a:t>his needs within the first week. He</a:t>
            </a:r>
            <a:br/>
            <a:r>
              <a:t>knows he has a specific period during</a:t>
            </a:r>
            <a:br/>
            <a:r>
              <a:t>which he can cancel the policy for a</a:t>
            </a:r>
            <a:br/>
            <a:r>
              <a:t>full refund. This period is kno...</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386</a:t>
            </a:r>
          </a:p>
        </p:txBody>
      </p:sp>
      <p:sp>
        <p:nvSpPr>
          <p:cNvPr id="3" name="Content Placeholder 2"/>
          <p:cNvSpPr>
            <a:spLocks noGrp="1"/>
          </p:cNvSpPr>
          <p:nvPr>
            <p:ph idx="1"/>
          </p:nvPr>
        </p:nvSpPr>
        <p:spPr/>
        <p:txBody>
          <a:bodyPr/>
          <a:lstStyle/>
          <a:p>
            <a:r>
              <a:t>Which of the following is a</a:t>
            </a:r>
          </a:p>
          <a:p>
            <a:r>
              <a:t>characteristic of whole life insurance?</a:t>
            </a:r>
          </a:p>
          <a:p>
            <a:r>
              <a:t>Flexible Premiums</a:t>
            </a:r>
          </a:p>
          <a:p>
            <a:r>
              <a:t>Temporary Coverage</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386</a:t>
            </a:r>
          </a:p>
        </p:txBody>
      </p:sp>
      <p:sp>
        <p:nvSpPr>
          <p:cNvPr id="3" name="Content Placeholder 2"/>
          <p:cNvSpPr>
            <a:spLocks noGrp="1"/>
          </p:cNvSpPr>
          <p:nvPr>
            <p:ph idx="1"/>
          </p:nvPr>
        </p:nvSpPr>
        <p:spPr/>
        <p:txBody>
          <a:bodyPr/>
          <a:lstStyle/>
          <a:p/>
          <a:p>
            <a:pPr>
              <a:defRPr b="1"/>
            </a:pPr>
            <a:r>
              <a:t>✅ a ..rancelicense.myabsorb.com (© &lt; &gt; +</a:t>
            </a:r>
          </a:p>
          <a:p>
            <a:br/>
            <a:pPr>
              <a:defRPr sz="1400" i="1"/>
            </a:pPr>
            <a:r>
              <a:t>Explanation: a</a:t>
            </a:r>
            <a:br/>
            <a:r>
              <a:t>characteristic of whole life insurance?</a:t>
            </a:r>
            <a:br/>
            <a:r>
              <a:t>Flexible Premiums</a:t>
            </a:r>
            <a:br/>
            <a:r>
              <a:t>Temporary Coverage</a:t>
            </a:r>
            <a:br/>
            <a:r>
              <a:t>Proceed —_</a:t>
            </a:r>
            <a:br/>
            <a:r>
              <a:t>I&lt; A &gt;|</a:t>
            </a:r>
            <a:br/>
            <a:r>
              <a:t>a ..rancelicense.myabsorb.com (</a:t>
            </a:r>
            <a:br/>
            <a:r>
              <a:t>&lt; &gt; +...</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387</a:t>
            </a:r>
          </a:p>
        </p:txBody>
      </p:sp>
      <p:sp>
        <p:nvSpPr>
          <p:cNvPr id="3" name="Content Placeholder 2"/>
          <p:cNvSpPr>
            <a:spLocks noGrp="1"/>
          </p:cNvSpPr>
          <p:nvPr>
            <p:ph idx="1"/>
          </p:nvPr>
        </p:nvSpPr>
        <p:spPr/>
        <p:txBody>
          <a:bodyPr/>
          <a:lstStyle/>
          <a:p>
            <a:r>
              <a:t>What is the 'Automatic Premium Loan'</a:t>
            </a:r>
          </a:p>
          <a:p>
            <a:r>
              <a:t>feature designed to prevent?</a:t>
            </a:r>
          </a:p>
          <a:p>
            <a:r>
              <a:t>Excessive interest on loans.</a:t>
            </a:r>
          </a:p>
          <a:p>
            <a:r>
              <a:t>The sale of the policy.</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 387</a:t>
            </a:r>
          </a:p>
        </p:txBody>
      </p:sp>
      <p:sp>
        <p:nvSpPr>
          <p:cNvPr id="3" name="Content Placeholder 2"/>
          <p:cNvSpPr>
            <a:spLocks noGrp="1"/>
          </p:cNvSpPr>
          <p:nvPr>
            <p:ph idx="1"/>
          </p:nvPr>
        </p:nvSpPr>
        <p:spPr/>
        <p:txBody>
          <a:bodyPr/>
          <a:lstStyle/>
          <a:p/>
          <a:p>
            <a:pPr>
              <a:defRPr b="1"/>
            </a:pPr>
            <a:r>
              <a:t>✅ Policy cancellation due to non-payment. Unauthorized beneficiary changes.</a:t>
            </a:r>
          </a:p>
          <a:p>
            <a:br/>
            <a:pPr>
              <a:defRPr sz="1400" i="1"/>
            </a:pPr>
            <a:r>
              <a:t>Explanation: the 'Automatic Premium Loan'</a:t>
            </a:r>
            <a:br/>
            <a:r>
              <a:t>feature designed to prevent?</a:t>
            </a:r>
            <a:br/>
            <a:r>
              <a:t>Excessive interest on loans.</a:t>
            </a:r>
            <a:br/>
            <a:r>
              <a:t>The sale of the policy.</a:t>
            </a:r>
            <a:br/>
            <a:r>
              <a:t>g Policy cancellation due to non-payment.</a:t>
            </a:r>
            <a:br/>
            <a:r>
              <a:t>Unauthorized beneficiary changes.</a:t>
            </a:r>
            <a:br/>
            <a:r>
              <a:t>@</a:t>
            </a:r>
            <a:br/>
            <a:r>
              <a:t>&lt;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